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3716000" cy="10287000"/>
  <p:notesSz cx="10287000" cy="13716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Lesson 1 covers the version control skills everyone needs before we hand a repository to a coding agent in Lesson 2. No prior Git experience is assumed. We'll spend about 15 minutes on concepts, 30 minutes of guided exercises with GitHub Desktop, and 5 minutes on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The goal is practical fluency, not Git mastery. Everything we do today maps directly onto how a coding agent like Codex delivers work: it commits to a branch and opens a pull request, and you review and merge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Ideally participants complete this before class. Government or managed laptops may block installs, so coordinate with IT ahead of time. Use whatever account type your organization directs; the lesson works the same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engineers already do version control by hand with file names and email. Git does the same job with a complete, searchable record. This matters more with agents: an agent may change many files at once, and you need to see exactly what changed and be able to back it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is the version control engine. It runs on your computer and keeps history in a hidden .git folder inside your project. GitHub is a website that hosts a copy of the repository so others, including coding agents, can reach it. GitHub Desktop is a point-and-click app that runs Git for you and talks to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vocabulary for the rest of the course. Lesson 2 opens with this same table as a review. Point out that the right column is the button or menu you'll click in GitHub Desktop.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bridge to Lesson 2. Cloud coding agents such as ChatGPT Codex work from a GitHub repository. The agent never touches your laptop. It delivers changes as commits on a branch, usually with a pull request. Every skill in today's exercises is a step in that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Exercises start here. Walk the room and confirm everyone is signed in. The name and email under Options › Git are stamped on every commit, so use your real name. On a Mac, Options is under GitHub Desktop ›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practice project is deliberately tiny: one script that computes the tip deflection of a cantilever beam. The engineering is trivial so attention stays on Git. Point out README, .gitignore, and AGENTS.md; we'll come back to them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the template gives each participant their own copy with full write access, which a plain clone of the instructor repo would not. Recommend keeping repos out of OneDrive-synced folders; OneDrive and Git can fight over the same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participants don't do this in class. This is how they'll put their own existing course code on GitHub before Lesson 2. Emphasize the private checkbox on Publish.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loop: edit, review the diff, commit, push. Make them read the diff before committing; that is the same habit they'll need when reviewing agent output. A commit only saves locally; nothing reaches GitHub until Push. If you commit by mistake, Desktop shows an Undo button right after the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Editing on github.com simulates a collaborator or an agent pushing a commit. Fetch only checks; it never changes your files. Pull brings the commits down. Habit: pull before you start working, push when you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them switch back to main after committing on the branch and look at beam.m: it says steel again. Then switch to the branch: aluminum. Same folder, two versions. This is how an agent's work stays out of main until you approve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Files changed tab is where review happens. In Lesson 2 the agent opens this pull request for you; your job is everything from step 3 on. After merging, the local copy of main is behind GitHub until you pull.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Conflicts are normal and not an error. Git refuses to guess when two commits changed the same lines. In VS Code, the Accept Current / Accept Incoming buttons above the markers make this a click. The file must have no markers left before Desktop lets you continue the merge.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levels of undo. Discard is for changes you haven't committed. Undo removes the last commit but only if it hasn't been pushed. Revert is the safe choice for anything already on GitHub: it adds a new commit that reverses the old one, so history stays intact. This is how you back out a bad agent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small files make a repo usable by people and agents. README tells anyone how to run it. .gitignore keeps generated files, data, and secrets out of commits. AGENTS.md is the instruction file Codex reads at the start of every task; Claude Code uses CLAUDE.md for the same purpose. We'll write a real one in Lesson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points to stress. First, Git history is permanent: deleting a file in a later commit leaves it in every earlier commit. If a secret is pushed, assume it's compromised and rotate it. Second, connecting a repo to a coding agent sends its contents to that service. Follow current USAFA and DAF guidance on GenAI tools and data. A private repo is not an approval to store controlled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Homework before Lesson 2: pick one of your own projects and bring it to this state. Lesson 2 starts from a repo that meets this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row is the one everyone hits. Desktop is telling you GitHub has commits you don't. Pull first, then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open exercise time. Participants can print it or keep it as a reference for Lesson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The change was saved but not committed and pushed; check the Changes tab, commit, then Push origin. 2: Fetch checks GitHub for new commits without changing your files; Pull downloads them and updates your files. 3: A branch keeps main working while the change is reviewed; nothing reaches main until the pull request is merged. 4: Pull origin, resolve any conflicts, then push. 5: No. The key is still in history and must be treated as compromised; revoke and replace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sv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543050" cy="10287000"/>
          </a:xfrm>
          <a:prstGeom prst="rect">
            <a:avLst/>
          </a:prstGeom>
          <a:solidFill>
            <a:srgbClr val="E6E6E6"/>
          </a:solidFill>
          <a:ln/>
        </p:spPr>
      </p:sp>
      <p:pic>
        <p:nvPicPr>
          <p:cNvPr id="3" name="Image 0" descr="preencoded.png">    </p:cNvPr>
          <p:cNvPicPr>
            <a:picLocks noChangeAspect="1"/>
          </p:cNvPicPr>
          <p:nvPr/>
        </p:nvPicPr>
        <p:blipFill>
          <a:blip r:embed="rId1"/>
          <a:stretch>
            <a:fillRect/>
          </a:stretch>
        </p:blipFill>
        <p:spPr>
          <a:xfrm>
            <a:off x="200025" y="133350"/>
            <a:ext cx="1143000" cy="1143000"/>
          </a:xfrm>
          <a:prstGeom prst="rect">
            <a:avLst/>
          </a:prstGeom>
        </p:spPr>
      </p:pic>
      <p:sp>
        <p:nvSpPr>
          <p:cNvPr id="4" name="Text 1"/>
          <p:cNvSpPr/>
          <p:nvPr/>
        </p:nvSpPr>
        <p:spPr>
          <a:xfrm>
            <a:off x="1676400" y="152400"/>
            <a:ext cx="11525250" cy="1104900"/>
          </a:xfrm>
          <a:prstGeom prst="rect">
            <a:avLst/>
          </a:prstGeom>
          <a:noFill/>
          <a:ln/>
        </p:spPr>
        <p:txBody>
          <a:bodyPr wrap="square" lIns="25400" tIns="25400" rIns="25400" bIns="25400" rtlCol="0" anchor="ctr">
            <a:normAutofit/>
          </a:bodyPr>
          <a:lstStyle/>
          <a:p>
            <a:pPr algn="l" indent="0" marL="0">
              <a:lnSpc>
                <a:spcPct val="75000"/>
              </a:lnSpc>
              <a:buNone/>
            </a:pPr>
            <a:r>
              <a:rPr lang="en-US" sz="5400" b="1" dirty="0">
                <a:solidFill>
                  <a:srgbClr val="000000"/>
                </a:solidFill>
                <a:latin typeface="Segoe UI" pitchFamily="34" charset="0"/>
                <a:ea typeface="Segoe UI" pitchFamily="34" charset="-122"/>
                <a:cs typeface="Segoe UI" pitchFamily="34" charset="-120"/>
              </a:rPr>
              <a:t>Agentic AI for Engineering</a:t>
            </a:r>
            <a:endParaRPr lang="en-US" sz="5400" dirty="0"/>
          </a:p>
        </p:txBody>
      </p:sp>
      <p:sp>
        <p:nvSpPr>
          <p:cNvPr id="5" name="Shape 2"/>
          <p:cNvSpPr/>
          <p:nvPr/>
        </p:nvSpPr>
        <p:spPr>
          <a:xfrm>
            <a:off x="1657350" y="1219200"/>
            <a:ext cx="11925300" cy="66675"/>
          </a:xfrm>
          <a:prstGeom prst="rect">
            <a:avLst/>
          </a:prstGeom>
          <a:solidFill>
            <a:srgbClr val="000000"/>
          </a:solidFill>
          <a:ln/>
        </p:spPr>
      </p:sp>
      <p:sp>
        <p:nvSpPr>
          <p:cNvPr id="6" name="Text 3"/>
          <p:cNvSpPr/>
          <p:nvPr/>
        </p:nvSpPr>
        <p:spPr>
          <a:xfrm>
            <a:off x="5115149" y="2476500"/>
            <a:ext cx="5028655" cy="1181100"/>
          </a:xfrm>
          <a:prstGeom prst="rect">
            <a:avLst/>
          </a:prstGeom>
          <a:noFill/>
          <a:ln/>
        </p:spPr>
        <p:txBody>
          <a:bodyPr wrap="square" lIns="25400" tIns="25400" rIns="25400" bIns="25400" rtlCol="0" anchor="t">
            <a:normAutofit/>
          </a:bodyPr>
          <a:lstStyle/>
          <a:p>
            <a:pPr algn="ctr" indent="0" marL="0">
              <a:lnSpc>
                <a:spcPct val="75314"/>
              </a:lnSpc>
              <a:buNone/>
            </a:pPr>
            <a:r>
              <a:rPr lang="en-US" sz="9000" b="1" dirty="0">
                <a:solidFill>
                  <a:srgbClr val="000000"/>
                </a:solidFill>
                <a:latin typeface="Segoe UI" pitchFamily="34" charset="0"/>
                <a:ea typeface="Segoe UI" pitchFamily="34" charset="-122"/>
                <a:cs typeface="Segoe UI" pitchFamily="34" charset="-120"/>
              </a:rPr>
              <a:t>Lesson 1</a:t>
            </a:r>
            <a:endParaRPr lang="en-US" sz="9000" dirty="0"/>
          </a:p>
        </p:txBody>
      </p:sp>
      <p:sp>
        <p:nvSpPr>
          <p:cNvPr id="7" name="Text 4"/>
          <p:cNvSpPr/>
          <p:nvPr/>
        </p:nvSpPr>
        <p:spPr>
          <a:xfrm>
            <a:off x="2452554" y="3886200"/>
            <a:ext cx="10353844" cy="750491"/>
          </a:xfrm>
          <a:prstGeom prst="rect">
            <a:avLst/>
          </a:prstGeom>
          <a:noFill/>
          <a:ln/>
        </p:spPr>
        <p:txBody>
          <a:bodyPr wrap="square" lIns="25400" tIns="25400" rIns="25400" bIns="25400" rtlCol="0" anchor="t">
            <a:normAutofit/>
          </a:bodyPr>
          <a:lstStyle/>
          <a:p>
            <a:pPr algn="ctr" indent="0" marL="0">
              <a:lnSpc>
                <a:spcPct val="82500"/>
              </a:lnSpc>
              <a:buNone/>
            </a:pPr>
            <a:r>
              <a:rPr lang="en-US" sz="5100" b="1" dirty="0">
                <a:solidFill>
                  <a:srgbClr val="000000"/>
                </a:solidFill>
                <a:latin typeface="Segoe UI" pitchFamily="34" charset="0"/>
                <a:ea typeface="Segoe UI" pitchFamily="34" charset="-122"/>
                <a:cs typeface="Segoe UI" pitchFamily="34" charset="-120"/>
              </a:rPr>
              <a:t>Introduction to Git and GitHub</a:t>
            </a:r>
            <a:endParaRPr lang="en-US" sz="5100" dirty="0"/>
          </a:p>
        </p:txBody>
      </p:sp>
      <p:sp>
        <p:nvSpPr>
          <p:cNvPr id="8" name="Text 5"/>
          <p:cNvSpPr/>
          <p:nvPr/>
        </p:nvSpPr>
        <p:spPr>
          <a:xfrm>
            <a:off x="4228817" y="4865291"/>
            <a:ext cx="6801317" cy="596900"/>
          </a:xfrm>
          <a:prstGeom prst="rect">
            <a:avLst/>
          </a:prstGeom>
          <a:noFill/>
          <a:ln/>
        </p:spPr>
        <p:txBody>
          <a:bodyPr wrap="square" lIns="25400" tIns="25400" rIns="25400" bIns="25400" rtlCol="0" anchor="t">
            <a:normAutofit/>
          </a:bodyPr>
          <a:lstStyle/>
          <a:p>
            <a:pPr algn="ctr" indent="0" marL="0">
              <a:buNone/>
            </a:pPr>
            <a:r>
              <a:rPr lang="en-US" sz="3300" b="1" dirty="0">
                <a:solidFill>
                  <a:srgbClr val="000000"/>
                </a:solidFill>
                <a:latin typeface="Segoe UI" pitchFamily="34" charset="0"/>
                <a:ea typeface="Segoe UI" pitchFamily="34" charset="-122"/>
                <a:cs typeface="Segoe UI" pitchFamily="34" charset="-120"/>
              </a:rPr>
              <a:t>Hands-on with GitHub Desktop</a:t>
            </a:r>
            <a:endParaRPr lang="en-US" sz="3300" dirty="0"/>
          </a:p>
        </p:txBody>
      </p:sp>
      <p:sp>
        <p:nvSpPr>
          <p:cNvPr id="9" name="Text 6"/>
          <p:cNvSpPr/>
          <p:nvPr/>
        </p:nvSpPr>
        <p:spPr>
          <a:xfrm>
            <a:off x="3289007" y="5690791"/>
            <a:ext cx="8680936" cy="495300"/>
          </a:xfrm>
          <a:prstGeom prst="rect">
            <a:avLst/>
          </a:prstGeom>
          <a:noFill/>
          <a:ln/>
        </p:spPr>
        <p:txBody>
          <a:bodyPr wrap="square" lIns="25400" tIns="25400" rIns="25400" bIns="25400" rtlCol="0" anchor="t">
            <a:normAutofit/>
          </a:bodyPr>
          <a:lstStyle/>
          <a:p>
            <a:pPr algn="ctr" indent="0" marL="0">
              <a:buNone/>
            </a:pPr>
            <a:r>
              <a:rPr lang="en-US" sz="2700" dirty="0">
                <a:solidFill>
                  <a:srgbClr val="404040"/>
                </a:solidFill>
                <a:latin typeface="Segoe UI" pitchFamily="34" charset="0"/>
                <a:ea typeface="Segoe UI" pitchFamily="34" charset="-122"/>
                <a:cs typeface="Segoe UI" pitchFamily="34" charset="-120"/>
              </a:rPr>
              <a:t>Version control skills for working with coding agents</a:t>
            </a:r>
            <a:endParaRPr lang="en-US" sz="2700" dirty="0"/>
          </a:p>
        </p:txBody>
      </p:sp>
      <p:sp>
        <p:nvSpPr>
          <p:cNvPr id="10" name="Text 7"/>
          <p:cNvSpPr/>
          <p:nvPr/>
        </p:nvSpPr>
        <p:spPr>
          <a:xfrm>
            <a:off x="934403" y="9382125"/>
            <a:ext cx="13390245" cy="546100"/>
          </a:xfrm>
          <a:prstGeom prst="rect">
            <a:avLst/>
          </a:prstGeom>
          <a:noFill/>
          <a:ln/>
        </p:spPr>
        <p:txBody>
          <a:bodyPr wrap="square" lIns="25400" tIns="25400" rIns="25400" bIns="25400" rtlCol="0" anchor="t">
            <a:normAutofit/>
          </a:bodyPr>
          <a:lstStyle/>
          <a:p>
            <a:pPr algn="ctr" indent="0" marL="0">
              <a:buNone/>
            </a:pPr>
            <a:r>
              <a:rPr lang="en-US" sz="3000" b="1" dirty="0">
                <a:solidFill>
                  <a:srgbClr val="000000"/>
                </a:solidFill>
                <a:latin typeface="Segoe UI" pitchFamily="34" charset="0"/>
                <a:ea typeface="Segoe UI" pitchFamily="34" charset="-122"/>
                <a:cs typeface="Segoe UI" pitchFamily="34" charset="-120"/>
              </a:rPr>
              <a:t>USAFA Instructor Short Course</a:t>
            </a: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543050" cy="10287000"/>
          </a:xfrm>
          <a:prstGeom prst="rect">
            <a:avLst/>
          </a:prstGeom>
          <a:solidFill>
            <a:srgbClr val="E6E6E6"/>
          </a:solidFill>
          <a:ln/>
        </p:spPr>
      </p:sp>
      <p:pic>
        <p:nvPicPr>
          <p:cNvPr id="3" name="Image 0" descr="preencoded.png">    </p:cNvPr>
          <p:cNvPicPr>
            <a:picLocks noChangeAspect="1"/>
          </p:cNvPicPr>
          <p:nvPr/>
        </p:nvPicPr>
        <p:blipFill>
          <a:blip r:embed="rId1"/>
          <a:stretch>
            <a:fillRect/>
          </a:stretch>
        </p:blipFill>
        <p:spPr>
          <a:xfrm>
            <a:off x="200025" y="133350"/>
            <a:ext cx="1143000" cy="1143000"/>
          </a:xfrm>
          <a:prstGeom prst="rect">
            <a:avLst/>
          </a:prstGeom>
        </p:spPr>
      </p:pic>
      <p:sp>
        <p:nvSpPr>
          <p:cNvPr id="4" name="Text 1"/>
          <p:cNvSpPr/>
          <p:nvPr/>
        </p:nvSpPr>
        <p:spPr>
          <a:xfrm>
            <a:off x="133350" y="2381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Overview</a:t>
            </a:r>
            <a:endParaRPr lang="en-US" sz="1800" dirty="0"/>
          </a:p>
        </p:txBody>
      </p:sp>
      <p:sp>
        <p:nvSpPr>
          <p:cNvPr id="5" name="Text 2"/>
          <p:cNvSpPr/>
          <p:nvPr/>
        </p:nvSpPr>
        <p:spPr>
          <a:xfrm>
            <a:off x="133350" y="2762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Concepts</a:t>
            </a:r>
            <a:endParaRPr lang="en-US" sz="1800" dirty="0"/>
          </a:p>
        </p:txBody>
      </p:sp>
      <p:sp>
        <p:nvSpPr>
          <p:cNvPr id="6" name="Text 3"/>
          <p:cNvSpPr/>
          <p:nvPr/>
        </p:nvSpPr>
        <p:spPr>
          <a:xfrm>
            <a:off x="133350" y="3143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Setup</a:t>
            </a:r>
            <a:endParaRPr lang="en-US" sz="1800" dirty="0"/>
          </a:p>
        </p:txBody>
      </p:sp>
      <p:sp>
        <p:nvSpPr>
          <p:cNvPr id="7" name="Text 4"/>
          <p:cNvSpPr/>
          <p:nvPr/>
        </p:nvSpPr>
        <p:spPr>
          <a:xfrm>
            <a:off x="133350" y="3524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Clone</a:t>
            </a:r>
            <a:endParaRPr lang="en-US" sz="1800" dirty="0"/>
          </a:p>
        </p:txBody>
      </p:sp>
      <p:sp>
        <p:nvSpPr>
          <p:cNvPr id="8" name="Text 5"/>
          <p:cNvSpPr/>
          <p:nvPr/>
        </p:nvSpPr>
        <p:spPr>
          <a:xfrm>
            <a:off x="133350" y="3905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Commit</a:t>
            </a:r>
            <a:endParaRPr lang="en-US" sz="1800" dirty="0"/>
          </a:p>
        </p:txBody>
      </p:sp>
      <p:sp>
        <p:nvSpPr>
          <p:cNvPr id="9" name="Text 6"/>
          <p:cNvSpPr/>
          <p:nvPr/>
        </p:nvSpPr>
        <p:spPr>
          <a:xfrm>
            <a:off x="133350" y="4286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Sync</a:t>
            </a:r>
            <a:endParaRPr lang="en-US" sz="1800" dirty="0"/>
          </a:p>
        </p:txBody>
      </p:sp>
      <p:sp>
        <p:nvSpPr>
          <p:cNvPr id="10" name="Text 7"/>
          <p:cNvSpPr/>
          <p:nvPr/>
        </p:nvSpPr>
        <p:spPr>
          <a:xfrm>
            <a:off x="133350" y="4667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Branches</a:t>
            </a:r>
            <a:endParaRPr lang="en-US" sz="1800" dirty="0"/>
          </a:p>
        </p:txBody>
      </p:sp>
      <p:sp>
        <p:nvSpPr>
          <p:cNvPr id="11" name="Text 8"/>
          <p:cNvSpPr/>
          <p:nvPr/>
        </p:nvSpPr>
        <p:spPr>
          <a:xfrm>
            <a:off x="133350" y="5048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Conflicts</a:t>
            </a:r>
            <a:endParaRPr lang="en-US" sz="1800" dirty="0"/>
          </a:p>
        </p:txBody>
      </p:sp>
      <p:sp>
        <p:nvSpPr>
          <p:cNvPr id="12" name="Text 9"/>
          <p:cNvSpPr/>
          <p:nvPr/>
        </p:nvSpPr>
        <p:spPr>
          <a:xfrm>
            <a:off x="133350" y="5429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History</a:t>
            </a:r>
            <a:endParaRPr lang="en-US" sz="1800" dirty="0"/>
          </a:p>
        </p:txBody>
      </p:sp>
      <p:sp>
        <p:nvSpPr>
          <p:cNvPr id="13" name="Text 10"/>
          <p:cNvSpPr/>
          <p:nvPr/>
        </p:nvSpPr>
        <p:spPr>
          <a:xfrm>
            <a:off x="133350" y="5810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Agent-Ready</a:t>
            </a:r>
            <a:endParaRPr lang="en-US" sz="1800" dirty="0"/>
          </a:p>
        </p:txBody>
      </p:sp>
      <p:sp>
        <p:nvSpPr>
          <p:cNvPr id="14" name="Text 11"/>
          <p:cNvSpPr/>
          <p:nvPr/>
        </p:nvSpPr>
        <p:spPr>
          <a:xfrm>
            <a:off x="133350" y="6191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Review</a:t>
            </a:r>
            <a:endParaRPr lang="en-US" sz="1800" dirty="0"/>
          </a:p>
        </p:txBody>
      </p:sp>
      <p:sp>
        <p:nvSpPr>
          <p:cNvPr id="15" name="Text 12"/>
          <p:cNvSpPr/>
          <p:nvPr/>
        </p:nvSpPr>
        <p:spPr>
          <a:xfrm>
            <a:off x="1657350" y="200025"/>
            <a:ext cx="10988040" cy="1057275"/>
          </a:xfrm>
          <a:prstGeom prst="rect">
            <a:avLst/>
          </a:prstGeom>
          <a:noFill/>
          <a:ln/>
        </p:spPr>
        <p:txBody>
          <a:bodyPr wrap="square" lIns="25400" tIns="25400" rIns="25400" bIns="25400" rtlCol="0" anchor="ctr">
            <a:norm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Lesson Objectives</a:t>
            </a:r>
            <a:endParaRPr lang="en-US" sz="4800" dirty="0"/>
          </a:p>
        </p:txBody>
      </p:sp>
      <p:sp>
        <p:nvSpPr>
          <p:cNvPr id="16" name="Text 13"/>
          <p:cNvSpPr/>
          <p:nvPr/>
        </p:nvSpPr>
        <p:spPr>
          <a:xfrm>
            <a:off x="12515950" y="133350"/>
            <a:ext cx="1142901"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1</a:t>
            </a:r>
            <a:endParaRPr lang="en-US" sz="2100" dirty="0"/>
          </a:p>
        </p:txBody>
      </p:sp>
      <p:sp>
        <p:nvSpPr>
          <p:cNvPr id="17" name="Shape 14"/>
          <p:cNvSpPr/>
          <p:nvPr/>
        </p:nvSpPr>
        <p:spPr>
          <a:xfrm>
            <a:off x="1657350" y="1219200"/>
            <a:ext cx="11925300" cy="66675"/>
          </a:xfrm>
          <a:prstGeom prst="rect">
            <a:avLst/>
          </a:prstGeom>
          <a:solidFill>
            <a:srgbClr val="000000"/>
          </a:solidFill>
          <a:ln/>
        </p:spPr>
      </p:sp>
      <p:sp>
        <p:nvSpPr>
          <p:cNvPr id="18" name="Text 15"/>
          <p:cNvSpPr/>
          <p:nvPr/>
        </p:nvSpPr>
        <p:spPr>
          <a:xfrm>
            <a:off x="1809750" y="1619250"/>
            <a:ext cx="12845415" cy="393700"/>
          </a:xfrm>
          <a:prstGeom prst="rect">
            <a:avLst/>
          </a:prstGeom>
          <a:noFill/>
          <a:ln/>
        </p:spPr>
        <p:txBody>
          <a:bodyPr wrap="square" lIns="25400" tIns="25400" rIns="25400" bIns="25400" rtlCol="0" anchor="t">
            <a:normAutofit/>
          </a:bodyPr>
          <a:lstStyle/>
          <a:p>
            <a:pPr algn="l" indent="0" marL="0">
              <a:buNone/>
            </a:pPr>
            <a:r>
              <a:rPr lang="en-US" sz="2100" dirty="0">
                <a:solidFill>
                  <a:srgbClr val="000000"/>
                </a:solidFill>
                <a:latin typeface="Segoe UI" pitchFamily="34" charset="0"/>
                <a:ea typeface="Segoe UI" pitchFamily="34" charset="-122"/>
                <a:cs typeface="Segoe UI" pitchFamily="34" charset="-120"/>
              </a:rPr>
              <a:t>By the end of this lesson you can:</a:t>
            </a:r>
            <a:endParaRPr lang="en-US" sz="2100" dirty="0"/>
          </a:p>
        </p:txBody>
      </p:sp>
      <p:sp>
        <p:nvSpPr>
          <p:cNvPr id="19" name="Text 16"/>
          <p:cNvSpPr/>
          <p:nvPr/>
        </p:nvSpPr>
        <p:spPr>
          <a:xfrm>
            <a:off x="1809750" y="2184400"/>
            <a:ext cx="609600" cy="409575"/>
          </a:xfrm>
          <a:prstGeom prst="rect">
            <a:avLst/>
          </a:prstGeom>
          <a:noFill/>
          <a:ln/>
        </p:spPr>
        <p:txBody>
          <a:bodyPr wrap="square" lIns="25400" tIns="25400" rIns="25400" bIns="25400" rtlCol="0" anchor="t">
            <a:normAutofit/>
          </a:bodyPr>
          <a:lstStyle/>
          <a:p>
            <a:pPr algn="l" indent="0" marL="0">
              <a:lnSpc>
                <a:spcPct val="97500"/>
              </a:lnSpc>
              <a:buNone/>
            </a:pPr>
            <a:r>
              <a:rPr lang="en-US" sz="2250" b="1" dirty="0">
                <a:solidFill>
                  <a:srgbClr val="1F6FB2"/>
                </a:solidFill>
                <a:latin typeface="Segoe UI" pitchFamily="34" charset="0"/>
                <a:ea typeface="Segoe UI" pitchFamily="34" charset="-122"/>
                <a:cs typeface="Segoe UI" pitchFamily="34" charset="-120"/>
              </a:rPr>
              <a:t>1</a:t>
            </a:r>
            <a:endParaRPr lang="en-US" sz="2250" dirty="0"/>
          </a:p>
        </p:txBody>
      </p:sp>
      <p:sp>
        <p:nvSpPr>
          <p:cNvPr id="20" name="Text 17"/>
          <p:cNvSpPr/>
          <p:nvPr/>
        </p:nvSpPr>
        <p:spPr>
          <a:xfrm>
            <a:off x="2343150" y="2209800"/>
            <a:ext cx="12258675" cy="384770"/>
          </a:xfrm>
          <a:prstGeom prst="rect">
            <a:avLst/>
          </a:prstGeom>
          <a:noFill/>
          <a:ln/>
        </p:spPr>
        <p:txBody>
          <a:bodyPr wrap="square" lIns="25400" tIns="25400" rIns="25400" bIns="25400" rtlCol="0" anchor="t">
            <a:normAutofit/>
          </a:bodyPr>
          <a:lstStyle/>
          <a:p>
            <a:pPr algn="l" indent="0" marL="0">
              <a:lnSpc>
                <a:spcPct val="97500"/>
              </a:lnSpc>
              <a:buNone/>
            </a:pPr>
            <a:r>
              <a:rPr lang="en-US" sz="2100" dirty="0">
                <a:solidFill>
                  <a:srgbClr val="000000"/>
                </a:solidFill>
                <a:latin typeface="Segoe UI" pitchFamily="34" charset="0"/>
                <a:ea typeface="Segoe UI" pitchFamily="34" charset="-122"/>
                <a:cs typeface="Segoe UI" pitchFamily="34" charset="-120"/>
              </a:rPr>
              <a:t>Explain what Git and GitHub each do, and how they differ</a:t>
            </a:r>
            <a:endParaRPr lang="en-US" sz="2100" dirty="0"/>
          </a:p>
        </p:txBody>
      </p:sp>
      <p:sp>
        <p:nvSpPr>
          <p:cNvPr id="21" name="Text 18"/>
          <p:cNvSpPr/>
          <p:nvPr/>
        </p:nvSpPr>
        <p:spPr>
          <a:xfrm>
            <a:off x="1809750" y="2727920"/>
            <a:ext cx="609600" cy="409575"/>
          </a:xfrm>
          <a:prstGeom prst="rect">
            <a:avLst/>
          </a:prstGeom>
          <a:noFill/>
          <a:ln/>
        </p:spPr>
        <p:txBody>
          <a:bodyPr wrap="square" lIns="25400" tIns="25400" rIns="25400" bIns="25400" rtlCol="0" anchor="t">
            <a:normAutofit/>
          </a:bodyPr>
          <a:lstStyle/>
          <a:p>
            <a:pPr algn="l" indent="0" marL="0">
              <a:lnSpc>
                <a:spcPct val="97500"/>
              </a:lnSpc>
              <a:buNone/>
            </a:pPr>
            <a:r>
              <a:rPr lang="en-US" sz="2250" b="1" dirty="0">
                <a:solidFill>
                  <a:srgbClr val="1F6FB2"/>
                </a:solidFill>
                <a:latin typeface="Segoe UI" pitchFamily="34" charset="0"/>
                <a:ea typeface="Segoe UI" pitchFamily="34" charset="-122"/>
                <a:cs typeface="Segoe UI" pitchFamily="34" charset="-120"/>
              </a:rPr>
              <a:t>2</a:t>
            </a:r>
            <a:endParaRPr lang="en-US" sz="2250" dirty="0"/>
          </a:p>
        </p:txBody>
      </p:sp>
      <p:sp>
        <p:nvSpPr>
          <p:cNvPr id="22" name="Text 19"/>
          <p:cNvSpPr/>
          <p:nvPr/>
        </p:nvSpPr>
        <p:spPr>
          <a:xfrm>
            <a:off x="2343150" y="2753320"/>
            <a:ext cx="12258675" cy="384770"/>
          </a:xfrm>
          <a:prstGeom prst="rect">
            <a:avLst/>
          </a:prstGeom>
          <a:noFill/>
          <a:ln/>
        </p:spPr>
        <p:txBody>
          <a:bodyPr wrap="square" lIns="25400" tIns="25400" rIns="25400" bIns="25400" rtlCol="0" anchor="t">
            <a:normAutofit/>
          </a:bodyPr>
          <a:lstStyle/>
          <a:p>
            <a:pPr algn="l" indent="0" marL="0">
              <a:lnSpc>
                <a:spcPct val="97500"/>
              </a:lnSpc>
              <a:buNone/>
            </a:pPr>
            <a:r>
              <a:rPr lang="en-US" sz="2100" dirty="0">
                <a:solidFill>
                  <a:srgbClr val="000000"/>
                </a:solidFill>
                <a:latin typeface="Segoe UI" pitchFamily="34" charset="0"/>
                <a:ea typeface="Segoe UI" pitchFamily="34" charset="-122"/>
                <a:cs typeface="Segoe UI" pitchFamily="34" charset="-120"/>
              </a:rPr>
              <a:t>Clone, commit, push, and pull with GitHub Desktop</a:t>
            </a:r>
            <a:endParaRPr lang="en-US" sz="2100" dirty="0"/>
          </a:p>
        </p:txBody>
      </p:sp>
      <p:sp>
        <p:nvSpPr>
          <p:cNvPr id="23" name="Text 20"/>
          <p:cNvSpPr/>
          <p:nvPr/>
        </p:nvSpPr>
        <p:spPr>
          <a:xfrm>
            <a:off x="1809750" y="3271441"/>
            <a:ext cx="609600" cy="409575"/>
          </a:xfrm>
          <a:prstGeom prst="rect">
            <a:avLst/>
          </a:prstGeom>
          <a:noFill/>
          <a:ln/>
        </p:spPr>
        <p:txBody>
          <a:bodyPr wrap="square" lIns="25400" tIns="25400" rIns="25400" bIns="25400" rtlCol="0" anchor="t">
            <a:normAutofit/>
          </a:bodyPr>
          <a:lstStyle/>
          <a:p>
            <a:pPr algn="l" indent="0" marL="0">
              <a:lnSpc>
                <a:spcPct val="97500"/>
              </a:lnSpc>
              <a:buNone/>
            </a:pPr>
            <a:r>
              <a:rPr lang="en-US" sz="2250" b="1" dirty="0">
                <a:solidFill>
                  <a:srgbClr val="1F6FB2"/>
                </a:solidFill>
                <a:latin typeface="Segoe UI" pitchFamily="34" charset="0"/>
                <a:ea typeface="Segoe UI" pitchFamily="34" charset="-122"/>
                <a:cs typeface="Segoe UI" pitchFamily="34" charset="-120"/>
              </a:rPr>
              <a:t>3</a:t>
            </a:r>
            <a:endParaRPr lang="en-US" sz="2250" dirty="0"/>
          </a:p>
        </p:txBody>
      </p:sp>
      <p:sp>
        <p:nvSpPr>
          <p:cNvPr id="24" name="Text 21"/>
          <p:cNvSpPr/>
          <p:nvPr/>
        </p:nvSpPr>
        <p:spPr>
          <a:xfrm>
            <a:off x="2343150" y="3296841"/>
            <a:ext cx="12258675" cy="384770"/>
          </a:xfrm>
          <a:prstGeom prst="rect">
            <a:avLst/>
          </a:prstGeom>
          <a:noFill/>
          <a:ln/>
        </p:spPr>
        <p:txBody>
          <a:bodyPr wrap="square" lIns="25400" tIns="25400" rIns="25400" bIns="25400" rtlCol="0" anchor="t">
            <a:normAutofit/>
          </a:bodyPr>
          <a:lstStyle/>
          <a:p>
            <a:pPr algn="l" indent="0" marL="0">
              <a:lnSpc>
                <a:spcPct val="97500"/>
              </a:lnSpc>
              <a:buNone/>
            </a:pPr>
            <a:r>
              <a:rPr lang="en-US" sz="2100" dirty="0">
                <a:solidFill>
                  <a:srgbClr val="000000"/>
                </a:solidFill>
                <a:latin typeface="Segoe UI" pitchFamily="34" charset="0"/>
                <a:ea typeface="Segoe UI" pitchFamily="34" charset="-122"/>
                <a:cs typeface="Segoe UI" pitchFamily="34" charset="-120"/>
              </a:rPr>
              <a:t>Use branches and pull requests to review a change before it reaches main</a:t>
            </a:r>
            <a:endParaRPr lang="en-US" sz="2100" dirty="0"/>
          </a:p>
        </p:txBody>
      </p:sp>
      <p:sp>
        <p:nvSpPr>
          <p:cNvPr id="25" name="Text 22"/>
          <p:cNvSpPr/>
          <p:nvPr/>
        </p:nvSpPr>
        <p:spPr>
          <a:xfrm>
            <a:off x="1809750" y="3814961"/>
            <a:ext cx="609600" cy="409575"/>
          </a:xfrm>
          <a:prstGeom prst="rect">
            <a:avLst/>
          </a:prstGeom>
          <a:noFill/>
          <a:ln/>
        </p:spPr>
        <p:txBody>
          <a:bodyPr wrap="square" lIns="25400" tIns="25400" rIns="25400" bIns="25400" rtlCol="0" anchor="t">
            <a:normAutofit/>
          </a:bodyPr>
          <a:lstStyle/>
          <a:p>
            <a:pPr algn="l" indent="0" marL="0">
              <a:lnSpc>
                <a:spcPct val="97500"/>
              </a:lnSpc>
              <a:buNone/>
            </a:pPr>
            <a:r>
              <a:rPr lang="en-US" sz="2250" b="1" dirty="0">
                <a:solidFill>
                  <a:srgbClr val="1F6FB2"/>
                </a:solidFill>
                <a:latin typeface="Segoe UI" pitchFamily="34" charset="0"/>
                <a:ea typeface="Segoe UI" pitchFamily="34" charset="-122"/>
                <a:cs typeface="Segoe UI" pitchFamily="34" charset="-120"/>
              </a:rPr>
              <a:t>4</a:t>
            </a:r>
            <a:endParaRPr lang="en-US" sz="2250" dirty="0"/>
          </a:p>
        </p:txBody>
      </p:sp>
      <p:sp>
        <p:nvSpPr>
          <p:cNvPr id="26" name="Text 23"/>
          <p:cNvSpPr/>
          <p:nvPr/>
        </p:nvSpPr>
        <p:spPr>
          <a:xfrm>
            <a:off x="2343150" y="3840361"/>
            <a:ext cx="12258675" cy="384770"/>
          </a:xfrm>
          <a:prstGeom prst="rect">
            <a:avLst/>
          </a:prstGeom>
          <a:noFill/>
          <a:ln/>
        </p:spPr>
        <p:txBody>
          <a:bodyPr wrap="square" lIns="25400" tIns="25400" rIns="25400" bIns="25400" rtlCol="0" anchor="t">
            <a:normAutofit/>
          </a:bodyPr>
          <a:lstStyle/>
          <a:p>
            <a:pPr algn="l" indent="0" marL="0">
              <a:lnSpc>
                <a:spcPct val="97500"/>
              </a:lnSpc>
              <a:buNone/>
            </a:pPr>
            <a:r>
              <a:rPr lang="en-US" sz="2100" dirty="0">
                <a:solidFill>
                  <a:srgbClr val="000000"/>
                </a:solidFill>
                <a:latin typeface="Segoe UI" pitchFamily="34" charset="0"/>
                <a:ea typeface="Segoe UI" pitchFamily="34" charset="-122"/>
                <a:cs typeface="Segoe UI" pitchFamily="34" charset="-120"/>
              </a:rPr>
              <a:t>Resolve a simple merge conflict and undo a change</a:t>
            </a:r>
            <a:endParaRPr lang="en-US" sz="2100" dirty="0"/>
          </a:p>
        </p:txBody>
      </p:sp>
      <p:sp>
        <p:nvSpPr>
          <p:cNvPr id="27" name="Text 24"/>
          <p:cNvSpPr/>
          <p:nvPr/>
        </p:nvSpPr>
        <p:spPr>
          <a:xfrm>
            <a:off x="1809750" y="4358481"/>
            <a:ext cx="609600" cy="409575"/>
          </a:xfrm>
          <a:prstGeom prst="rect">
            <a:avLst/>
          </a:prstGeom>
          <a:noFill/>
          <a:ln/>
        </p:spPr>
        <p:txBody>
          <a:bodyPr wrap="square" lIns="25400" tIns="25400" rIns="25400" bIns="25400" rtlCol="0" anchor="t">
            <a:normAutofit/>
          </a:bodyPr>
          <a:lstStyle/>
          <a:p>
            <a:pPr algn="l" indent="0" marL="0">
              <a:lnSpc>
                <a:spcPct val="97500"/>
              </a:lnSpc>
              <a:buNone/>
            </a:pPr>
            <a:r>
              <a:rPr lang="en-US" sz="2250" b="1" dirty="0">
                <a:solidFill>
                  <a:srgbClr val="1F6FB2"/>
                </a:solidFill>
                <a:latin typeface="Segoe UI" pitchFamily="34" charset="0"/>
                <a:ea typeface="Segoe UI" pitchFamily="34" charset="-122"/>
                <a:cs typeface="Segoe UI" pitchFamily="34" charset="-120"/>
              </a:rPr>
              <a:t>5</a:t>
            </a:r>
            <a:endParaRPr lang="en-US" sz="2250" dirty="0"/>
          </a:p>
        </p:txBody>
      </p:sp>
      <p:sp>
        <p:nvSpPr>
          <p:cNvPr id="28" name="Text 25"/>
          <p:cNvSpPr/>
          <p:nvPr/>
        </p:nvSpPr>
        <p:spPr>
          <a:xfrm>
            <a:off x="2343150" y="4383881"/>
            <a:ext cx="12258675" cy="384770"/>
          </a:xfrm>
          <a:prstGeom prst="rect">
            <a:avLst/>
          </a:prstGeom>
          <a:noFill/>
          <a:ln/>
        </p:spPr>
        <p:txBody>
          <a:bodyPr wrap="square" lIns="25400" tIns="25400" rIns="25400" bIns="25400" rtlCol="0" anchor="t">
            <a:normAutofit/>
          </a:bodyPr>
          <a:lstStyle/>
          <a:p>
            <a:pPr algn="l" indent="0" marL="0">
              <a:lnSpc>
                <a:spcPct val="97500"/>
              </a:lnSpc>
              <a:buNone/>
            </a:pPr>
            <a:r>
              <a:rPr lang="en-US" sz="2100" dirty="0">
                <a:solidFill>
                  <a:srgbClr val="000000"/>
                </a:solidFill>
                <a:latin typeface="Segoe UI" pitchFamily="34" charset="0"/>
                <a:ea typeface="Segoe UI" pitchFamily="34" charset="-122"/>
                <a:cs typeface="Segoe UI" pitchFamily="34" charset="-120"/>
              </a:rPr>
              <a:t>Prepare a repository that a coding agent can work in</a:t>
            </a:r>
            <a:endParaRPr lang="en-US" sz="2100" dirty="0"/>
          </a:p>
        </p:txBody>
      </p:sp>
      <p:sp>
        <p:nvSpPr>
          <p:cNvPr id="29" name="Text 26"/>
          <p:cNvSpPr/>
          <p:nvPr/>
        </p:nvSpPr>
        <p:spPr>
          <a:xfrm>
            <a:off x="1809750" y="5149652"/>
            <a:ext cx="12845415"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Agenda (50 min)</a:t>
            </a:r>
            <a:endParaRPr lang="en-US" sz="2100" dirty="0"/>
          </a:p>
        </p:txBody>
      </p:sp>
      <p:sp>
        <p:nvSpPr>
          <p:cNvPr id="30" name="Shape 27"/>
          <p:cNvSpPr/>
          <p:nvPr/>
        </p:nvSpPr>
        <p:spPr>
          <a:xfrm>
            <a:off x="1809750" y="5714802"/>
            <a:ext cx="3457575" cy="990600"/>
          </a:xfrm>
          <a:prstGeom prst="rect">
            <a:avLst/>
          </a:prstGeom>
          <a:solidFill>
            <a:srgbClr val="152A47"/>
          </a:solidFill>
          <a:ln/>
        </p:spPr>
      </p:sp>
      <p:sp>
        <p:nvSpPr>
          <p:cNvPr id="31" name="Text 28"/>
          <p:cNvSpPr/>
          <p:nvPr/>
        </p:nvSpPr>
        <p:spPr>
          <a:xfrm>
            <a:off x="2000250" y="5886252"/>
            <a:ext cx="3384233"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Segoe UI" pitchFamily="34" charset="0"/>
                <a:ea typeface="Segoe UI" pitchFamily="34" charset="-122"/>
                <a:cs typeface="Segoe UI" pitchFamily="34" charset="-120"/>
              </a:rPr>
              <a:t>0–15 min</a:t>
            </a:r>
            <a:endParaRPr lang="en-US" sz="1800" dirty="0"/>
          </a:p>
        </p:txBody>
      </p:sp>
      <p:sp>
        <p:nvSpPr>
          <p:cNvPr id="32" name="Text 29"/>
          <p:cNvSpPr/>
          <p:nvPr/>
        </p:nvSpPr>
        <p:spPr>
          <a:xfrm>
            <a:off x="2000250" y="6229152"/>
            <a:ext cx="3384233" cy="342900"/>
          </a:xfrm>
          <a:prstGeom prst="rect">
            <a:avLst/>
          </a:prstGeom>
          <a:noFill/>
          <a:ln/>
        </p:spPr>
        <p:txBody>
          <a:bodyPr wrap="square" lIns="25400" tIns="25400" rIns="25400" bIns="25400" rtlCol="0" anchor="t">
            <a:normAutofit/>
          </a:bodyPr>
          <a:lstStyle/>
          <a:p>
            <a:pPr algn="l" indent="0" marL="0">
              <a:buNone/>
            </a:pPr>
            <a:r>
              <a:rPr lang="en-US" sz="1800" dirty="0">
                <a:solidFill>
                  <a:srgbClr val="FFFFFF"/>
                </a:solidFill>
                <a:latin typeface="Segoe UI" pitchFamily="34" charset="0"/>
                <a:ea typeface="Segoe UI" pitchFamily="34" charset="-122"/>
                <a:cs typeface="Segoe UI" pitchFamily="34" charset="-120"/>
              </a:rPr>
              <a:t>Concepts</a:t>
            </a:r>
            <a:endParaRPr lang="en-US" sz="1800" dirty="0"/>
          </a:p>
        </p:txBody>
      </p:sp>
      <p:sp>
        <p:nvSpPr>
          <p:cNvPr id="33" name="Shape 30"/>
          <p:cNvSpPr/>
          <p:nvPr/>
        </p:nvSpPr>
        <p:spPr>
          <a:xfrm>
            <a:off x="5343525" y="5714802"/>
            <a:ext cx="6915150" cy="990600"/>
          </a:xfrm>
          <a:prstGeom prst="rect">
            <a:avLst/>
          </a:prstGeom>
          <a:solidFill>
            <a:srgbClr val="1F6FB2"/>
          </a:solidFill>
          <a:ln/>
        </p:spPr>
      </p:sp>
      <p:sp>
        <p:nvSpPr>
          <p:cNvPr id="34" name="Text 31"/>
          <p:cNvSpPr/>
          <p:nvPr/>
        </p:nvSpPr>
        <p:spPr>
          <a:xfrm>
            <a:off x="5534025" y="5886252"/>
            <a:ext cx="7187565"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Segoe UI" pitchFamily="34" charset="0"/>
                <a:ea typeface="Segoe UI" pitchFamily="34" charset="-122"/>
                <a:cs typeface="Segoe UI" pitchFamily="34" charset="-120"/>
              </a:rPr>
              <a:t>15–45 min</a:t>
            </a:r>
            <a:endParaRPr lang="en-US" sz="1800" dirty="0"/>
          </a:p>
        </p:txBody>
      </p:sp>
      <p:sp>
        <p:nvSpPr>
          <p:cNvPr id="35" name="Text 32"/>
          <p:cNvSpPr/>
          <p:nvPr/>
        </p:nvSpPr>
        <p:spPr>
          <a:xfrm>
            <a:off x="5534025" y="6229152"/>
            <a:ext cx="7187565" cy="342900"/>
          </a:xfrm>
          <a:prstGeom prst="rect">
            <a:avLst/>
          </a:prstGeom>
          <a:noFill/>
          <a:ln/>
        </p:spPr>
        <p:txBody>
          <a:bodyPr wrap="square" lIns="25400" tIns="25400" rIns="25400" bIns="25400" rtlCol="0" anchor="t">
            <a:normAutofit/>
          </a:bodyPr>
          <a:lstStyle/>
          <a:p>
            <a:pPr algn="l" indent="0" marL="0">
              <a:buNone/>
            </a:pPr>
            <a:r>
              <a:rPr lang="en-US" sz="1800" dirty="0">
                <a:solidFill>
                  <a:srgbClr val="FFFFFF"/>
                </a:solidFill>
                <a:latin typeface="Segoe UI" pitchFamily="34" charset="0"/>
                <a:ea typeface="Segoe UI" pitchFamily="34" charset="-122"/>
                <a:cs typeface="Segoe UI" pitchFamily="34" charset="-120"/>
              </a:rPr>
              <a:t>Guided exercises in GitHub Desktop</a:t>
            </a:r>
            <a:endParaRPr lang="en-US" sz="1800" dirty="0"/>
          </a:p>
        </p:txBody>
      </p:sp>
      <p:sp>
        <p:nvSpPr>
          <p:cNvPr id="36" name="Shape 33"/>
          <p:cNvSpPr/>
          <p:nvPr/>
        </p:nvSpPr>
        <p:spPr>
          <a:xfrm>
            <a:off x="12334875" y="5714802"/>
            <a:ext cx="1152525" cy="990600"/>
          </a:xfrm>
          <a:prstGeom prst="rect">
            <a:avLst/>
          </a:prstGeom>
          <a:solidFill>
            <a:srgbClr val="595959"/>
          </a:solidFill>
          <a:ln/>
        </p:spPr>
      </p:sp>
      <p:sp>
        <p:nvSpPr>
          <p:cNvPr id="37" name="Text 34"/>
          <p:cNvSpPr/>
          <p:nvPr/>
        </p:nvSpPr>
        <p:spPr>
          <a:xfrm>
            <a:off x="12449175" y="5886252"/>
            <a:ext cx="1000125"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Segoe UI" pitchFamily="34" charset="0"/>
                <a:ea typeface="Segoe UI" pitchFamily="34" charset="-122"/>
                <a:cs typeface="Segoe UI" pitchFamily="34" charset="-120"/>
              </a:rPr>
              <a:t>45–50</a:t>
            </a:r>
            <a:endParaRPr lang="en-US" sz="1800" dirty="0"/>
          </a:p>
        </p:txBody>
      </p:sp>
      <p:sp>
        <p:nvSpPr>
          <p:cNvPr id="38" name="Text 35"/>
          <p:cNvSpPr/>
          <p:nvPr/>
        </p:nvSpPr>
        <p:spPr>
          <a:xfrm>
            <a:off x="12449175" y="6229152"/>
            <a:ext cx="1000125" cy="342900"/>
          </a:xfrm>
          <a:prstGeom prst="rect">
            <a:avLst/>
          </a:prstGeom>
          <a:noFill/>
          <a:ln/>
        </p:spPr>
        <p:txBody>
          <a:bodyPr wrap="square" lIns="25400" tIns="25400" rIns="25400" bIns="25400" rtlCol="0" anchor="t">
            <a:normAutofit/>
          </a:bodyPr>
          <a:lstStyle/>
          <a:p>
            <a:pPr algn="l" indent="0" marL="0">
              <a:buNone/>
            </a:pPr>
            <a:r>
              <a:rPr lang="en-US" sz="1800" dirty="0">
                <a:solidFill>
                  <a:srgbClr val="FFFFFF"/>
                </a:solidFill>
                <a:latin typeface="Segoe UI" pitchFamily="34" charset="0"/>
                <a:ea typeface="Segoe UI" pitchFamily="34" charset="-122"/>
                <a:cs typeface="Segoe UI" pitchFamily="34" charset="-120"/>
              </a:rPr>
              <a:t>Review</a:t>
            </a:r>
            <a:endParaRPr lang="en-US" sz="1800" dirty="0"/>
          </a:p>
        </p:txBody>
      </p:sp>
      <p:sp>
        <p:nvSpPr>
          <p:cNvPr id="39" name="Text 36"/>
          <p:cNvSpPr/>
          <p:nvPr/>
        </p:nvSpPr>
        <p:spPr>
          <a:xfrm>
            <a:off x="1054418" y="9810750"/>
            <a:ext cx="13264515"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1</a:t>
            </a:r>
            <a:endParaRPr lang="en-US" sz="1800" dirty="0"/>
          </a:p>
        </p:txBody>
      </p:sp>
      <p:sp>
        <p:nvSpPr>
          <p:cNvPr id="40" name="Text 37"/>
          <p:cNvSpPr/>
          <p:nvPr/>
        </p:nvSpPr>
        <p:spPr>
          <a:xfrm>
            <a:off x="13459420" y="9810750"/>
            <a:ext cx="19943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2</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543050" cy="10287000"/>
          </a:xfrm>
          <a:prstGeom prst="rect">
            <a:avLst/>
          </a:prstGeom>
          <a:solidFill>
            <a:srgbClr val="E6E6E6"/>
          </a:solidFill>
          <a:ln/>
        </p:spPr>
      </p:sp>
      <p:pic>
        <p:nvPicPr>
          <p:cNvPr id="3" name="Image 0" descr="preencoded.png">    </p:cNvPr>
          <p:cNvPicPr>
            <a:picLocks noChangeAspect="1"/>
          </p:cNvPicPr>
          <p:nvPr/>
        </p:nvPicPr>
        <p:blipFill>
          <a:blip r:embed="rId1"/>
          <a:stretch>
            <a:fillRect/>
          </a:stretch>
        </p:blipFill>
        <p:spPr>
          <a:xfrm>
            <a:off x="200025" y="133350"/>
            <a:ext cx="1143000" cy="1143000"/>
          </a:xfrm>
          <a:prstGeom prst="rect">
            <a:avLst/>
          </a:prstGeom>
        </p:spPr>
      </p:pic>
      <p:sp>
        <p:nvSpPr>
          <p:cNvPr id="4" name="Text 1"/>
          <p:cNvSpPr/>
          <p:nvPr/>
        </p:nvSpPr>
        <p:spPr>
          <a:xfrm>
            <a:off x="133350" y="2381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Overview</a:t>
            </a:r>
            <a:endParaRPr lang="en-US" sz="1800" dirty="0"/>
          </a:p>
        </p:txBody>
      </p:sp>
      <p:sp>
        <p:nvSpPr>
          <p:cNvPr id="5" name="Text 2"/>
          <p:cNvSpPr/>
          <p:nvPr/>
        </p:nvSpPr>
        <p:spPr>
          <a:xfrm>
            <a:off x="133350" y="2762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Concepts</a:t>
            </a:r>
            <a:endParaRPr lang="en-US" sz="1800" dirty="0"/>
          </a:p>
        </p:txBody>
      </p:sp>
      <p:sp>
        <p:nvSpPr>
          <p:cNvPr id="6" name="Text 3"/>
          <p:cNvSpPr/>
          <p:nvPr/>
        </p:nvSpPr>
        <p:spPr>
          <a:xfrm>
            <a:off x="133350" y="3143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Setup</a:t>
            </a:r>
            <a:endParaRPr lang="en-US" sz="1800" dirty="0"/>
          </a:p>
        </p:txBody>
      </p:sp>
      <p:sp>
        <p:nvSpPr>
          <p:cNvPr id="7" name="Text 4"/>
          <p:cNvSpPr/>
          <p:nvPr/>
        </p:nvSpPr>
        <p:spPr>
          <a:xfrm>
            <a:off x="133350" y="3524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Clone</a:t>
            </a:r>
            <a:endParaRPr lang="en-US" sz="1800" dirty="0"/>
          </a:p>
        </p:txBody>
      </p:sp>
      <p:sp>
        <p:nvSpPr>
          <p:cNvPr id="8" name="Text 5"/>
          <p:cNvSpPr/>
          <p:nvPr/>
        </p:nvSpPr>
        <p:spPr>
          <a:xfrm>
            <a:off x="133350" y="3905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Commit</a:t>
            </a:r>
            <a:endParaRPr lang="en-US" sz="1800" dirty="0"/>
          </a:p>
        </p:txBody>
      </p:sp>
      <p:sp>
        <p:nvSpPr>
          <p:cNvPr id="9" name="Text 6"/>
          <p:cNvSpPr/>
          <p:nvPr/>
        </p:nvSpPr>
        <p:spPr>
          <a:xfrm>
            <a:off x="133350" y="4286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Sync</a:t>
            </a:r>
            <a:endParaRPr lang="en-US" sz="1800" dirty="0"/>
          </a:p>
        </p:txBody>
      </p:sp>
      <p:sp>
        <p:nvSpPr>
          <p:cNvPr id="10" name="Text 7"/>
          <p:cNvSpPr/>
          <p:nvPr/>
        </p:nvSpPr>
        <p:spPr>
          <a:xfrm>
            <a:off x="133350" y="4667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Branches</a:t>
            </a:r>
            <a:endParaRPr lang="en-US" sz="1800" dirty="0"/>
          </a:p>
        </p:txBody>
      </p:sp>
      <p:sp>
        <p:nvSpPr>
          <p:cNvPr id="11" name="Text 8"/>
          <p:cNvSpPr/>
          <p:nvPr/>
        </p:nvSpPr>
        <p:spPr>
          <a:xfrm>
            <a:off x="133350" y="5048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Conflicts</a:t>
            </a:r>
            <a:endParaRPr lang="en-US" sz="1800" dirty="0"/>
          </a:p>
        </p:txBody>
      </p:sp>
      <p:sp>
        <p:nvSpPr>
          <p:cNvPr id="12" name="Text 9"/>
          <p:cNvSpPr/>
          <p:nvPr/>
        </p:nvSpPr>
        <p:spPr>
          <a:xfrm>
            <a:off x="133350" y="5429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History</a:t>
            </a:r>
            <a:endParaRPr lang="en-US" sz="1800" dirty="0"/>
          </a:p>
        </p:txBody>
      </p:sp>
      <p:sp>
        <p:nvSpPr>
          <p:cNvPr id="13" name="Text 10"/>
          <p:cNvSpPr/>
          <p:nvPr/>
        </p:nvSpPr>
        <p:spPr>
          <a:xfrm>
            <a:off x="133350" y="5810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Agent-Ready</a:t>
            </a:r>
            <a:endParaRPr lang="en-US" sz="1800" dirty="0"/>
          </a:p>
        </p:txBody>
      </p:sp>
      <p:sp>
        <p:nvSpPr>
          <p:cNvPr id="14" name="Text 11"/>
          <p:cNvSpPr/>
          <p:nvPr/>
        </p:nvSpPr>
        <p:spPr>
          <a:xfrm>
            <a:off x="133350" y="6191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Review</a:t>
            </a:r>
            <a:endParaRPr lang="en-US" sz="1800" dirty="0"/>
          </a:p>
        </p:txBody>
      </p:sp>
      <p:sp>
        <p:nvSpPr>
          <p:cNvPr id="15" name="Text 12"/>
          <p:cNvSpPr/>
          <p:nvPr/>
        </p:nvSpPr>
        <p:spPr>
          <a:xfrm>
            <a:off x="1657350" y="200025"/>
            <a:ext cx="10988040" cy="1057275"/>
          </a:xfrm>
          <a:prstGeom prst="rect">
            <a:avLst/>
          </a:prstGeom>
          <a:noFill/>
          <a:ln/>
        </p:spPr>
        <p:txBody>
          <a:bodyPr wrap="square" lIns="25400" tIns="25400" rIns="25400" bIns="25400" rtlCol="0" anchor="ctr">
            <a:norm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Prerequisites</a:t>
            </a:r>
            <a:endParaRPr lang="en-US" sz="4800" dirty="0"/>
          </a:p>
        </p:txBody>
      </p:sp>
      <p:sp>
        <p:nvSpPr>
          <p:cNvPr id="16" name="Text 13"/>
          <p:cNvSpPr/>
          <p:nvPr/>
        </p:nvSpPr>
        <p:spPr>
          <a:xfrm>
            <a:off x="12515950" y="133350"/>
            <a:ext cx="1142901"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1</a:t>
            </a:r>
            <a:endParaRPr lang="en-US" sz="2100" dirty="0"/>
          </a:p>
        </p:txBody>
      </p:sp>
      <p:sp>
        <p:nvSpPr>
          <p:cNvPr id="17" name="Shape 14"/>
          <p:cNvSpPr/>
          <p:nvPr/>
        </p:nvSpPr>
        <p:spPr>
          <a:xfrm>
            <a:off x="1657350" y="1219200"/>
            <a:ext cx="11925300" cy="66675"/>
          </a:xfrm>
          <a:prstGeom prst="rect">
            <a:avLst/>
          </a:prstGeom>
          <a:solidFill>
            <a:srgbClr val="000000"/>
          </a:solidFill>
          <a:ln/>
        </p:spPr>
      </p:sp>
      <p:sp>
        <p:nvSpPr>
          <p:cNvPr id="18" name="Text 15"/>
          <p:cNvSpPr/>
          <p:nvPr/>
        </p:nvSpPr>
        <p:spPr>
          <a:xfrm>
            <a:off x="1809750" y="1619250"/>
            <a:ext cx="12845415" cy="393700"/>
          </a:xfrm>
          <a:prstGeom prst="rect">
            <a:avLst/>
          </a:prstGeom>
          <a:noFill/>
          <a:ln/>
        </p:spPr>
        <p:txBody>
          <a:bodyPr wrap="square" lIns="25400" tIns="25400" rIns="25400" bIns="25400" rtlCol="0" anchor="t">
            <a:normAutofit/>
          </a:bodyPr>
          <a:lstStyle/>
          <a:p>
            <a:pPr algn="l" indent="0" marL="0">
              <a:buNone/>
            </a:pPr>
            <a:r>
              <a:rPr lang="en-US" sz="2100" dirty="0">
                <a:solidFill>
                  <a:srgbClr val="000000"/>
                </a:solidFill>
                <a:latin typeface="Segoe UI" pitchFamily="34" charset="0"/>
                <a:ea typeface="Segoe UI" pitchFamily="34" charset="-122"/>
                <a:cs typeface="Segoe UI" pitchFamily="34" charset="-120"/>
              </a:rPr>
              <a:t>Complete before class:</a:t>
            </a:r>
            <a:endParaRPr lang="en-US" sz="2100" dirty="0"/>
          </a:p>
        </p:txBody>
      </p:sp>
      <p:sp>
        <p:nvSpPr>
          <p:cNvPr id="19" name="Shape 16"/>
          <p:cNvSpPr/>
          <p:nvPr/>
        </p:nvSpPr>
        <p:spPr>
          <a:xfrm>
            <a:off x="1809750" y="2165350"/>
            <a:ext cx="11677650" cy="19050"/>
          </a:xfrm>
          <a:prstGeom prst="rect">
            <a:avLst/>
          </a:prstGeom>
          <a:solidFill>
            <a:srgbClr val="BFBFBF"/>
          </a:solidFill>
          <a:ln/>
        </p:spPr>
      </p:sp>
      <p:sp>
        <p:nvSpPr>
          <p:cNvPr id="20" name="Shape 17"/>
          <p:cNvSpPr/>
          <p:nvPr/>
        </p:nvSpPr>
        <p:spPr>
          <a:xfrm>
            <a:off x="1809750" y="3195836"/>
            <a:ext cx="3143250" cy="19050"/>
          </a:xfrm>
          <a:prstGeom prst="rect">
            <a:avLst/>
          </a:prstGeom>
          <a:solidFill>
            <a:srgbClr val="BFBFBF"/>
          </a:solidFill>
          <a:ln/>
        </p:spPr>
      </p:sp>
      <p:sp>
        <p:nvSpPr>
          <p:cNvPr id="21" name="Text 18"/>
          <p:cNvSpPr/>
          <p:nvPr/>
        </p:nvSpPr>
        <p:spPr>
          <a:xfrm>
            <a:off x="1981200" y="2355850"/>
            <a:ext cx="2894648" cy="706636"/>
          </a:xfrm>
          <a:prstGeom prst="rect">
            <a:avLst/>
          </a:prstGeom>
          <a:noFill/>
          <a:ln/>
        </p:spPr>
        <p:txBody>
          <a:bodyPr wrap="square" lIns="25400" tIns="25400" rIns="25400" bIns="25400" rtlCol="0" anchor="t">
            <a:normAutofit/>
          </a:bodyPr>
          <a:lstStyle/>
          <a:p>
            <a:pPr algn="l" indent="0" marL="0">
              <a:lnSpc>
                <a:spcPct val="101250"/>
              </a:lnSpc>
              <a:buNone/>
            </a:pPr>
            <a:r>
              <a:rPr lang="en-US" sz="1950" b="1" dirty="0">
                <a:solidFill>
                  <a:srgbClr val="000000"/>
                </a:solidFill>
                <a:latin typeface="Segoe UI" pitchFamily="34" charset="0"/>
                <a:ea typeface="Segoe UI" pitchFamily="34" charset="-122"/>
                <a:cs typeface="Segoe UI" pitchFamily="34" charset="-120"/>
              </a:rPr>
              <a:t>GitHub account</a:t>
            </a:r>
            <a:endParaRPr lang="en-US" sz="1950" dirty="0"/>
          </a:p>
        </p:txBody>
      </p:sp>
      <p:sp>
        <p:nvSpPr>
          <p:cNvPr id="22" name="Shape 19"/>
          <p:cNvSpPr/>
          <p:nvPr/>
        </p:nvSpPr>
        <p:spPr>
          <a:xfrm>
            <a:off x="4953000" y="3195836"/>
            <a:ext cx="8534400" cy="19050"/>
          </a:xfrm>
          <a:prstGeom prst="rect">
            <a:avLst/>
          </a:prstGeom>
          <a:solidFill>
            <a:srgbClr val="BFBFBF"/>
          </a:solidFill>
          <a:ln/>
        </p:spPr>
      </p:sp>
      <p:sp>
        <p:nvSpPr>
          <p:cNvPr id="23" name="Text 20"/>
          <p:cNvSpPr/>
          <p:nvPr/>
        </p:nvSpPr>
        <p:spPr>
          <a:xfrm>
            <a:off x="5124450" y="2355850"/>
            <a:ext cx="8447532" cy="706636"/>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Sign up at github.com. Use the account type your organization directs (personal or institutional). Turn on two-factor authentication.</a:t>
            </a:r>
            <a:endParaRPr lang="en-US" sz="1950" dirty="0"/>
          </a:p>
        </p:txBody>
      </p:sp>
      <p:sp>
        <p:nvSpPr>
          <p:cNvPr id="24" name="Shape 21"/>
          <p:cNvSpPr/>
          <p:nvPr/>
        </p:nvSpPr>
        <p:spPr>
          <a:xfrm>
            <a:off x="1809750" y="3892054"/>
            <a:ext cx="3143250" cy="19050"/>
          </a:xfrm>
          <a:prstGeom prst="rect">
            <a:avLst/>
          </a:prstGeom>
          <a:solidFill>
            <a:srgbClr val="BFBFBF"/>
          </a:solidFill>
          <a:ln/>
        </p:spPr>
      </p:sp>
      <p:sp>
        <p:nvSpPr>
          <p:cNvPr id="25" name="Text 22"/>
          <p:cNvSpPr/>
          <p:nvPr/>
        </p:nvSpPr>
        <p:spPr>
          <a:xfrm>
            <a:off x="1981200" y="3386336"/>
            <a:ext cx="2894648"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b="1" dirty="0">
                <a:solidFill>
                  <a:srgbClr val="000000"/>
                </a:solidFill>
                <a:latin typeface="Segoe UI" pitchFamily="34" charset="0"/>
                <a:ea typeface="Segoe UI" pitchFamily="34" charset="-122"/>
                <a:cs typeface="Segoe UI" pitchFamily="34" charset="-120"/>
              </a:rPr>
              <a:t>GitHub Desktop</a:t>
            </a:r>
            <a:endParaRPr lang="en-US" sz="1950" dirty="0"/>
          </a:p>
        </p:txBody>
      </p:sp>
      <p:sp>
        <p:nvSpPr>
          <p:cNvPr id="26" name="Shape 23"/>
          <p:cNvSpPr/>
          <p:nvPr/>
        </p:nvSpPr>
        <p:spPr>
          <a:xfrm>
            <a:off x="4953000" y="3892054"/>
            <a:ext cx="8534400" cy="19050"/>
          </a:xfrm>
          <a:prstGeom prst="rect">
            <a:avLst/>
          </a:prstGeom>
          <a:solidFill>
            <a:srgbClr val="BFBFBF"/>
          </a:solidFill>
          <a:ln/>
        </p:spPr>
      </p:sp>
      <p:sp>
        <p:nvSpPr>
          <p:cNvPr id="27" name="Text 24"/>
          <p:cNvSpPr/>
          <p:nvPr/>
        </p:nvSpPr>
        <p:spPr>
          <a:xfrm>
            <a:off x="5124450" y="3386336"/>
            <a:ext cx="8447532"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Install from desktop.github.com. On a managed laptop, check with IT first.</a:t>
            </a:r>
            <a:endParaRPr lang="en-US" sz="1950" dirty="0"/>
          </a:p>
        </p:txBody>
      </p:sp>
      <p:sp>
        <p:nvSpPr>
          <p:cNvPr id="28" name="Shape 25"/>
          <p:cNvSpPr/>
          <p:nvPr/>
        </p:nvSpPr>
        <p:spPr>
          <a:xfrm>
            <a:off x="1809750" y="4588272"/>
            <a:ext cx="3143250" cy="19050"/>
          </a:xfrm>
          <a:prstGeom prst="rect">
            <a:avLst/>
          </a:prstGeom>
          <a:solidFill>
            <a:srgbClr val="BFBFBF"/>
          </a:solidFill>
          <a:ln/>
        </p:spPr>
      </p:sp>
      <p:sp>
        <p:nvSpPr>
          <p:cNvPr id="29" name="Text 26"/>
          <p:cNvSpPr/>
          <p:nvPr/>
        </p:nvSpPr>
        <p:spPr>
          <a:xfrm>
            <a:off x="1981200" y="4082554"/>
            <a:ext cx="2894648"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b="1" dirty="0">
                <a:solidFill>
                  <a:srgbClr val="000000"/>
                </a:solidFill>
                <a:latin typeface="Segoe UI" pitchFamily="34" charset="0"/>
                <a:ea typeface="Segoe UI" pitchFamily="34" charset="-122"/>
                <a:cs typeface="Segoe UI" pitchFamily="34" charset="-120"/>
              </a:rPr>
              <a:t>Text editor</a:t>
            </a:r>
            <a:endParaRPr lang="en-US" sz="1950" dirty="0"/>
          </a:p>
        </p:txBody>
      </p:sp>
      <p:sp>
        <p:nvSpPr>
          <p:cNvPr id="30" name="Shape 27"/>
          <p:cNvSpPr/>
          <p:nvPr/>
        </p:nvSpPr>
        <p:spPr>
          <a:xfrm>
            <a:off x="4953000" y="4588272"/>
            <a:ext cx="8534400" cy="19050"/>
          </a:xfrm>
          <a:prstGeom prst="rect">
            <a:avLst/>
          </a:prstGeom>
          <a:solidFill>
            <a:srgbClr val="BFBFBF"/>
          </a:solidFill>
          <a:ln/>
        </p:spPr>
      </p:sp>
      <p:sp>
        <p:nvSpPr>
          <p:cNvPr id="31" name="Text 28"/>
          <p:cNvSpPr/>
          <p:nvPr/>
        </p:nvSpPr>
        <p:spPr>
          <a:xfrm>
            <a:off x="5124450" y="4082554"/>
            <a:ext cx="8447532"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VS Code recommended. GitHub Desktop can open repos in it directly.</a:t>
            </a:r>
            <a:endParaRPr lang="en-US" sz="1950" dirty="0"/>
          </a:p>
        </p:txBody>
      </p:sp>
      <p:sp>
        <p:nvSpPr>
          <p:cNvPr id="32" name="Shape 29"/>
          <p:cNvSpPr/>
          <p:nvPr/>
        </p:nvSpPr>
        <p:spPr>
          <a:xfrm>
            <a:off x="1809750" y="5284490"/>
            <a:ext cx="3143250" cy="19050"/>
          </a:xfrm>
          <a:prstGeom prst="rect">
            <a:avLst/>
          </a:prstGeom>
          <a:solidFill>
            <a:srgbClr val="BFBFBF"/>
          </a:solidFill>
          <a:ln/>
        </p:spPr>
      </p:sp>
      <p:sp>
        <p:nvSpPr>
          <p:cNvPr id="33" name="Text 30"/>
          <p:cNvSpPr/>
          <p:nvPr/>
        </p:nvSpPr>
        <p:spPr>
          <a:xfrm>
            <a:off x="1981200" y="4778772"/>
            <a:ext cx="2894648"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b="1" dirty="0">
                <a:solidFill>
                  <a:srgbClr val="000000"/>
                </a:solidFill>
                <a:latin typeface="Segoe UI" pitchFamily="34" charset="0"/>
                <a:ea typeface="Segoe UI" pitchFamily="34" charset="-122"/>
                <a:cs typeface="Segoe UI" pitchFamily="34" charset="-120"/>
              </a:rPr>
              <a:t>MATLAB (optional)</a:t>
            </a:r>
            <a:endParaRPr lang="en-US" sz="1950" dirty="0"/>
          </a:p>
        </p:txBody>
      </p:sp>
      <p:sp>
        <p:nvSpPr>
          <p:cNvPr id="34" name="Shape 31"/>
          <p:cNvSpPr/>
          <p:nvPr/>
        </p:nvSpPr>
        <p:spPr>
          <a:xfrm>
            <a:off x="4953000" y="5284490"/>
            <a:ext cx="8534400" cy="19050"/>
          </a:xfrm>
          <a:prstGeom prst="rect">
            <a:avLst/>
          </a:prstGeom>
          <a:solidFill>
            <a:srgbClr val="BFBFBF"/>
          </a:solidFill>
          <a:ln/>
        </p:spPr>
      </p:sp>
      <p:sp>
        <p:nvSpPr>
          <p:cNvPr id="35" name="Text 32"/>
          <p:cNvSpPr/>
          <p:nvPr/>
        </p:nvSpPr>
        <p:spPr>
          <a:xfrm>
            <a:off x="5124450" y="4778772"/>
            <a:ext cx="8447532"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Lets you run the practice project. Not required to learn Git.</a:t>
            </a:r>
            <a:endParaRPr lang="en-US" sz="1950" dirty="0"/>
          </a:p>
        </p:txBody>
      </p:sp>
      <p:sp>
        <p:nvSpPr>
          <p:cNvPr id="36" name="Shape 33"/>
          <p:cNvSpPr/>
          <p:nvPr/>
        </p:nvSpPr>
        <p:spPr>
          <a:xfrm>
            <a:off x="1809750" y="5993111"/>
            <a:ext cx="3143250" cy="19050"/>
          </a:xfrm>
          <a:prstGeom prst="rect">
            <a:avLst/>
          </a:prstGeom>
          <a:solidFill>
            <a:srgbClr val="BFBFBF"/>
          </a:solidFill>
          <a:ln/>
        </p:spPr>
      </p:sp>
      <p:sp>
        <p:nvSpPr>
          <p:cNvPr id="37" name="Text 34"/>
          <p:cNvSpPr/>
          <p:nvPr/>
        </p:nvSpPr>
        <p:spPr>
          <a:xfrm>
            <a:off x="1981200" y="5474990"/>
            <a:ext cx="2894648" cy="384770"/>
          </a:xfrm>
          <a:prstGeom prst="rect">
            <a:avLst/>
          </a:prstGeom>
          <a:noFill/>
          <a:ln/>
        </p:spPr>
        <p:txBody>
          <a:bodyPr wrap="square" lIns="25400" tIns="25400" rIns="25400" bIns="25400" rtlCol="0" anchor="t">
            <a:normAutofit/>
          </a:bodyPr>
          <a:lstStyle/>
          <a:p>
            <a:pPr algn="l" indent="0" marL="0">
              <a:lnSpc>
                <a:spcPct val="101250"/>
              </a:lnSpc>
              <a:buNone/>
            </a:pPr>
            <a:r>
              <a:rPr lang="en-US" sz="1950" b="1" dirty="0">
                <a:solidFill>
                  <a:srgbClr val="000000"/>
                </a:solidFill>
                <a:latin typeface="Segoe UI" pitchFamily="34" charset="0"/>
                <a:ea typeface="Segoe UI" pitchFamily="34" charset="-122"/>
                <a:cs typeface="Segoe UI" pitchFamily="34" charset="-120"/>
              </a:rPr>
              <a:t>Practice repo link</a:t>
            </a:r>
            <a:endParaRPr lang="en-US" sz="1950" dirty="0"/>
          </a:p>
        </p:txBody>
      </p:sp>
      <p:sp>
        <p:nvSpPr>
          <p:cNvPr id="38" name="Shape 35"/>
          <p:cNvSpPr/>
          <p:nvPr/>
        </p:nvSpPr>
        <p:spPr>
          <a:xfrm>
            <a:off x="4953000" y="5993111"/>
            <a:ext cx="8534400" cy="19050"/>
          </a:xfrm>
          <a:prstGeom prst="rect">
            <a:avLst/>
          </a:prstGeom>
          <a:solidFill>
            <a:srgbClr val="BFBFBF"/>
          </a:solidFill>
          <a:ln/>
        </p:spPr>
      </p:sp>
      <p:sp>
        <p:nvSpPr>
          <p:cNvPr id="39" name="Text 36"/>
          <p:cNvSpPr/>
          <p:nvPr/>
        </p:nvSpPr>
        <p:spPr>
          <a:xfrm>
            <a:off x="5124450" y="5474990"/>
            <a:ext cx="8447532" cy="384770"/>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Provided by the instructor: the </a:t>
            </a:r>
            <a:pPr algn="l" indent="0" marL="0">
              <a:lnSpc>
                <a:spcPct val="101250"/>
              </a:lnSpc>
              <a:buNone/>
            </a:pPr>
            <a:r>
              <a:rPr lang="en-US" sz="1800" dirty="0">
                <a:solidFill>
                  <a:srgbClr val="000000"/>
                </a:solidFill>
                <a:latin typeface="Cascadia Mono" pitchFamily="34" charset="0"/>
                <a:ea typeface="Cascadia Mono" pitchFamily="34" charset="-122"/>
                <a:cs typeface="Cascadia Mono" pitchFamily="34" charset="-120"/>
              </a:rPr>
              <a:t>beam-calc </a:t>
            </a:r>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template repository.</a:t>
            </a:r>
            <a:endParaRPr lang="en-US" sz="1950" dirty="0"/>
          </a:p>
        </p:txBody>
      </p:sp>
      <p:sp>
        <p:nvSpPr>
          <p:cNvPr id="40" name="Text 37"/>
          <p:cNvSpPr/>
          <p:nvPr/>
        </p:nvSpPr>
        <p:spPr>
          <a:xfrm>
            <a:off x="1809750" y="6259810"/>
            <a:ext cx="12845415" cy="368300"/>
          </a:xfrm>
          <a:prstGeom prst="rect">
            <a:avLst/>
          </a:prstGeom>
          <a:noFill/>
          <a:ln/>
        </p:spPr>
        <p:txBody>
          <a:bodyPr wrap="square" lIns="25400" tIns="25400" rIns="25400" bIns="25400" rtlCol="0" anchor="t">
            <a:normAutofit/>
          </a:bodyPr>
          <a:lstStyle/>
          <a:p>
            <a:pPr algn="l" indent="0" marL="0">
              <a:buNone/>
            </a:pPr>
            <a:r>
              <a:rPr lang="en-US" sz="1950" dirty="0">
                <a:solidFill>
                  <a:srgbClr val="404040"/>
                </a:solidFill>
                <a:latin typeface="Segoe UI" pitchFamily="34" charset="0"/>
                <a:ea typeface="Segoe UI" pitchFamily="34" charset="-122"/>
                <a:cs typeface="Segoe UI" pitchFamily="34" charset="-120"/>
              </a:rPr>
              <a:t>You do not need the Git command line for this course. GitHub Desktop includes Git.</a:t>
            </a:r>
            <a:endParaRPr lang="en-US" sz="1950" dirty="0"/>
          </a:p>
        </p:txBody>
      </p:sp>
      <p:sp>
        <p:nvSpPr>
          <p:cNvPr id="41" name="Text 38"/>
          <p:cNvSpPr/>
          <p:nvPr/>
        </p:nvSpPr>
        <p:spPr>
          <a:xfrm>
            <a:off x="1054418" y="9810750"/>
            <a:ext cx="13264515"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1</a:t>
            </a:r>
            <a:endParaRPr lang="en-US" sz="1800" dirty="0"/>
          </a:p>
        </p:txBody>
      </p:sp>
      <p:sp>
        <p:nvSpPr>
          <p:cNvPr id="42" name="Text 39"/>
          <p:cNvSpPr/>
          <p:nvPr/>
        </p:nvSpPr>
        <p:spPr>
          <a:xfrm>
            <a:off x="13459420" y="9810750"/>
            <a:ext cx="19943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3</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543050" cy="10287000"/>
          </a:xfrm>
          <a:prstGeom prst="rect">
            <a:avLst/>
          </a:prstGeom>
          <a:solidFill>
            <a:srgbClr val="E6E6E6"/>
          </a:solidFill>
          <a:ln/>
        </p:spPr>
      </p:sp>
      <p:pic>
        <p:nvPicPr>
          <p:cNvPr id="3" name="Image 0" descr="preencoded.png">    </p:cNvPr>
          <p:cNvPicPr>
            <a:picLocks noChangeAspect="1"/>
          </p:cNvPicPr>
          <p:nvPr/>
        </p:nvPicPr>
        <p:blipFill>
          <a:blip r:embed="rId1"/>
          <a:stretch>
            <a:fillRect/>
          </a:stretch>
        </p:blipFill>
        <p:spPr>
          <a:xfrm>
            <a:off x="200025" y="133350"/>
            <a:ext cx="1143000" cy="1143000"/>
          </a:xfrm>
          <a:prstGeom prst="rect">
            <a:avLst/>
          </a:prstGeom>
        </p:spPr>
      </p:pic>
      <p:sp>
        <p:nvSpPr>
          <p:cNvPr id="4" name="Text 1"/>
          <p:cNvSpPr/>
          <p:nvPr/>
        </p:nvSpPr>
        <p:spPr>
          <a:xfrm>
            <a:off x="133350" y="2381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Overview</a:t>
            </a:r>
            <a:endParaRPr lang="en-US" sz="1800" dirty="0"/>
          </a:p>
        </p:txBody>
      </p:sp>
      <p:sp>
        <p:nvSpPr>
          <p:cNvPr id="5" name="Text 2"/>
          <p:cNvSpPr/>
          <p:nvPr/>
        </p:nvSpPr>
        <p:spPr>
          <a:xfrm>
            <a:off x="133350" y="2762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Concepts</a:t>
            </a:r>
            <a:endParaRPr lang="en-US" sz="1800" dirty="0"/>
          </a:p>
        </p:txBody>
      </p:sp>
      <p:sp>
        <p:nvSpPr>
          <p:cNvPr id="6" name="Text 3"/>
          <p:cNvSpPr/>
          <p:nvPr/>
        </p:nvSpPr>
        <p:spPr>
          <a:xfrm>
            <a:off x="133350" y="3143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Setup</a:t>
            </a:r>
            <a:endParaRPr lang="en-US" sz="1800" dirty="0"/>
          </a:p>
        </p:txBody>
      </p:sp>
      <p:sp>
        <p:nvSpPr>
          <p:cNvPr id="7" name="Text 4"/>
          <p:cNvSpPr/>
          <p:nvPr/>
        </p:nvSpPr>
        <p:spPr>
          <a:xfrm>
            <a:off x="133350" y="3524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Clone</a:t>
            </a:r>
            <a:endParaRPr lang="en-US" sz="1800" dirty="0"/>
          </a:p>
        </p:txBody>
      </p:sp>
      <p:sp>
        <p:nvSpPr>
          <p:cNvPr id="8" name="Text 5"/>
          <p:cNvSpPr/>
          <p:nvPr/>
        </p:nvSpPr>
        <p:spPr>
          <a:xfrm>
            <a:off x="133350" y="3905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Commit</a:t>
            </a:r>
            <a:endParaRPr lang="en-US" sz="1800" dirty="0"/>
          </a:p>
        </p:txBody>
      </p:sp>
      <p:sp>
        <p:nvSpPr>
          <p:cNvPr id="9" name="Text 6"/>
          <p:cNvSpPr/>
          <p:nvPr/>
        </p:nvSpPr>
        <p:spPr>
          <a:xfrm>
            <a:off x="133350" y="4286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Sync</a:t>
            </a:r>
            <a:endParaRPr lang="en-US" sz="1800" dirty="0"/>
          </a:p>
        </p:txBody>
      </p:sp>
      <p:sp>
        <p:nvSpPr>
          <p:cNvPr id="10" name="Text 7"/>
          <p:cNvSpPr/>
          <p:nvPr/>
        </p:nvSpPr>
        <p:spPr>
          <a:xfrm>
            <a:off x="133350" y="4667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Branches</a:t>
            </a:r>
            <a:endParaRPr lang="en-US" sz="1800" dirty="0"/>
          </a:p>
        </p:txBody>
      </p:sp>
      <p:sp>
        <p:nvSpPr>
          <p:cNvPr id="11" name="Text 8"/>
          <p:cNvSpPr/>
          <p:nvPr/>
        </p:nvSpPr>
        <p:spPr>
          <a:xfrm>
            <a:off x="133350" y="5048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Conflicts</a:t>
            </a:r>
            <a:endParaRPr lang="en-US" sz="1800" dirty="0"/>
          </a:p>
        </p:txBody>
      </p:sp>
      <p:sp>
        <p:nvSpPr>
          <p:cNvPr id="12" name="Text 9"/>
          <p:cNvSpPr/>
          <p:nvPr/>
        </p:nvSpPr>
        <p:spPr>
          <a:xfrm>
            <a:off x="133350" y="5429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History</a:t>
            </a:r>
            <a:endParaRPr lang="en-US" sz="1800" dirty="0"/>
          </a:p>
        </p:txBody>
      </p:sp>
      <p:sp>
        <p:nvSpPr>
          <p:cNvPr id="13" name="Text 10"/>
          <p:cNvSpPr/>
          <p:nvPr/>
        </p:nvSpPr>
        <p:spPr>
          <a:xfrm>
            <a:off x="133350" y="5810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Agent-Ready</a:t>
            </a:r>
            <a:endParaRPr lang="en-US" sz="1800" dirty="0"/>
          </a:p>
        </p:txBody>
      </p:sp>
      <p:sp>
        <p:nvSpPr>
          <p:cNvPr id="14" name="Text 11"/>
          <p:cNvSpPr/>
          <p:nvPr/>
        </p:nvSpPr>
        <p:spPr>
          <a:xfrm>
            <a:off x="133350" y="6191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Review</a:t>
            </a:r>
            <a:endParaRPr lang="en-US" sz="1800" dirty="0"/>
          </a:p>
        </p:txBody>
      </p:sp>
      <p:sp>
        <p:nvSpPr>
          <p:cNvPr id="15" name="Text 12"/>
          <p:cNvSpPr/>
          <p:nvPr/>
        </p:nvSpPr>
        <p:spPr>
          <a:xfrm>
            <a:off x="1657350" y="200025"/>
            <a:ext cx="10988040" cy="1057275"/>
          </a:xfrm>
          <a:prstGeom prst="rect">
            <a:avLst/>
          </a:prstGeom>
          <a:noFill/>
          <a:ln/>
        </p:spPr>
        <p:txBody>
          <a:bodyPr wrap="square" lIns="25400" tIns="25400" rIns="25400" bIns="25400" rtlCol="0" anchor="ctr">
            <a:norm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Why Version Control?</a:t>
            </a:r>
            <a:endParaRPr lang="en-US" sz="4800" dirty="0"/>
          </a:p>
        </p:txBody>
      </p:sp>
      <p:sp>
        <p:nvSpPr>
          <p:cNvPr id="16" name="Text 13"/>
          <p:cNvSpPr/>
          <p:nvPr/>
        </p:nvSpPr>
        <p:spPr>
          <a:xfrm>
            <a:off x="12515950" y="133350"/>
            <a:ext cx="1142901"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1</a:t>
            </a:r>
            <a:endParaRPr lang="en-US" sz="2100" dirty="0"/>
          </a:p>
        </p:txBody>
      </p:sp>
      <p:sp>
        <p:nvSpPr>
          <p:cNvPr id="17" name="Shape 14"/>
          <p:cNvSpPr/>
          <p:nvPr/>
        </p:nvSpPr>
        <p:spPr>
          <a:xfrm>
            <a:off x="1657350" y="1219200"/>
            <a:ext cx="11925300" cy="66675"/>
          </a:xfrm>
          <a:prstGeom prst="rect">
            <a:avLst/>
          </a:prstGeom>
          <a:solidFill>
            <a:srgbClr val="000000"/>
          </a:solidFill>
          <a:ln/>
        </p:spPr>
      </p:sp>
      <p:sp>
        <p:nvSpPr>
          <p:cNvPr id="18" name="Text 15"/>
          <p:cNvSpPr/>
          <p:nvPr/>
        </p:nvSpPr>
        <p:spPr>
          <a:xfrm>
            <a:off x="1809750" y="1619250"/>
            <a:ext cx="6234113" cy="419100"/>
          </a:xfrm>
          <a:prstGeom prst="rect">
            <a:avLst/>
          </a:prstGeom>
          <a:noFill/>
          <a:ln/>
        </p:spPr>
        <p:txBody>
          <a:bodyPr wrap="square" lIns="25400" tIns="25400" rIns="25400" bIns="25400" rtlCol="0" anchor="t">
            <a:normAutofit/>
          </a:bodyPr>
          <a:lstStyle/>
          <a:p>
            <a:pPr algn="l" indent="0" marL="0">
              <a:buNone/>
            </a:pPr>
            <a:r>
              <a:rPr lang="en-US" sz="2250" b="1" dirty="0">
                <a:solidFill>
                  <a:srgbClr val="000000"/>
                </a:solidFill>
                <a:latin typeface="Segoe UI" pitchFamily="34" charset="0"/>
                <a:ea typeface="Segoe UI" pitchFamily="34" charset="-122"/>
                <a:cs typeface="Segoe UI" pitchFamily="34" charset="-120"/>
              </a:rPr>
              <a:t>Without it</a:t>
            </a:r>
            <a:endParaRPr lang="en-US" sz="2250" dirty="0"/>
          </a:p>
        </p:txBody>
      </p:sp>
      <p:sp>
        <p:nvSpPr>
          <p:cNvPr id="19" name="Shape 16"/>
          <p:cNvSpPr/>
          <p:nvPr/>
        </p:nvSpPr>
        <p:spPr>
          <a:xfrm>
            <a:off x="1809750" y="2171700"/>
            <a:ext cx="5667375" cy="2323902"/>
          </a:xfrm>
          <a:prstGeom prst="roundRect">
            <a:avLst>
              <a:gd name="adj" fmla="val 4918"/>
            </a:avLst>
          </a:prstGeom>
          <a:solidFill>
            <a:srgbClr val="1E1E1E"/>
          </a:solidFill>
          <a:ln/>
        </p:spPr>
      </p:sp>
      <p:sp>
        <p:nvSpPr>
          <p:cNvPr id="20" name="Text 17"/>
          <p:cNvSpPr/>
          <p:nvPr/>
        </p:nvSpPr>
        <p:spPr>
          <a:xfrm>
            <a:off x="2076450" y="2419350"/>
            <a:ext cx="5303996" cy="1866702"/>
          </a:xfrm>
          <a:prstGeom prst="rect">
            <a:avLst/>
          </a:prstGeom>
          <a:noFill/>
          <a:ln/>
        </p:spPr>
        <p:txBody>
          <a:bodyPr wrap="square" lIns="25400" tIns="25400" rIns="25400" bIns="25400" rtlCol="0" anchor="t">
            <a:normAutofit/>
          </a:bodyPr>
          <a:lstStyle/>
          <a:p>
            <a:pPr algn="l" indent="0" marL="0">
              <a:lnSpc>
                <a:spcPct val="140488"/>
              </a:lnSpc>
              <a:buNone/>
            </a:pPr>
            <a:r>
              <a:rPr lang="en-US" sz="1800" dirty="0">
                <a:solidFill>
                  <a:srgbClr val="D4D4D4"/>
                </a:solidFill>
                <a:highlight>
                  <a:srgbClr val="1E1E1E"/>
                </a:highlight>
                <a:latin typeface="Cascadia Mono" pitchFamily="34" charset="0"/>
                <a:ea typeface="Cascadia Mono" pitchFamily="34" charset="-122"/>
                <a:cs typeface="Cascadia Mono" pitchFamily="34" charset="-120"/>
              </a:rPr>
              <a:t>beam.m beam_v2.py beam_v2_final.py beam_v2_final_FIXED.py beam_v3_from_email.py</a:t>
            </a:r>
            <a:endParaRPr lang="en-US" sz="1800" dirty="0"/>
          </a:p>
        </p:txBody>
      </p:sp>
      <p:sp>
        <p:nvSpPr>
          <p:cNvPr id="21" name="Text 18"/>
          <p:cNvSpPr/>
          <p:nvPr/>
        </p:nvSpPr>
        <p:spPr>
          <a:xfrm>
            <a:off x="1809750" y="4667052"/>
            <a:ext cx="5837396" cy="731441"/>
          </a:xfrm>
          <a:prstGeom prst="rect">
            <a:avLst/>
          </a:prstGeom>
          <a:noFill/>
          <a:ln/>
        </p:spPr>
        <p:txBody>
          <a:bodyPr wrap="square" lIns="25400" tIns="25400" rIns="25400" bIns="25400" rtlCol="0" anchor="t">
            <a:normAutofit/>
          </a:bodyPr>
          <a:lstStyle/>
          <a:p>
            <a:pPr algn="l" indent="0" marL="0">
              <a:lnSpc>
                <a:spcPct val="105000"/>
              </a:lnSpc>
              <a:buNone/>
            </a:pPr>
            <a:r>
              <a:rPr lang="en-US" sz="1950" dirty="0">
                <a:solidFill>
                  <a:srgbClr val="404040"/>
                </a:solidFill>
                <a:latin typeface="Segoe UI" pitchFamily="34" charset="0"/>
                <a:ea typeface="Segoe UI" pitchFamily="34" charset="-122"/>
                <a:cs typeface="Segoe UI" pitchFamily="34" charset="-120"/>
              </a:rPr>
              <a:t>Which one is current? What changed between them, and why?</a:t>
            </a:r>
            <a:endParaRPr lang="en-US" sz="1950" dirty="0"/>
          </a:p>
        </p:txBody>
      </p:sp>
      <p:sp>
        <p:nvSpPr>
          <p:cNvPr id="22" name="Text 19"/>
          <p:cNvSpPr/>
          <p:nvPr/>
        </p:nvSpPr>
        <p:spPr>
          <a:xfrm>
            <a:off x="7820025" y="1619250"/>
            <a:ext cx="6234113" cy="419100"/>
          </a:xfrm>
          <a:prstGeom prst="rect">
            <a:avLst/>
          </a:prstGeom>
          <a:noFill/>
          <a:ln/>
        </p:spPr>
        <p:txBody>
          <a:bodyPr wrap="square" lIns="25400" tIns="25400" rIns="25400" bIns="25400" rtlCol="0" anchor="t">
            <a:normAutofit/>
          </a:bodyPr>
          <a:lstStyle/>
          <a:p>
            <a:pPr algn="l" indent="0" marL="0">
              <a:buNone/>
            </a:pPr>
            <a:r>
              <a:rPr lang="en-US" sz="2250" b="1" dirty="0">
                <a:solidFill>
                  <a:srgbClr val="000000"/>
                </a:solidFill>
                <a:latin typeface="Segoe UI" pitchFamily="34" charset="0"/>
                <a:ea typeface="Segoe UI" pitchFamily="34" charset="-122"/>
                <a:cs typeface="Segoe UI" pitchFamily="34" charset="-120"/>
              </a:rPr>
              <a:t>With Git</a:t>
            </a:r>
            <a:endParaRPr lang="en-US" sz="2250" dirty="0"/>
          </a:p>
        </p:txBody>
      </p:sp>
      <p:sp>
        <p:nvSpPr>
          <p:cNvPr id="23" name="Shape 20"/>
          <p:cNvSpPr/>
          <p:nvPr/>
        </p:nvSpPr>
        <p:spPr>
          <a:xfrm>
            <a:off x="7820025" y="2171700"/>
            <a:ext cx="5667375" cy="1958181"/>
          </a:xfrm>
          <a:prstGeom prst="roundRect">
            <a:avLst>
              <a:gd name="adj" fmla="val 5837"/>
            </a:avLst>
          </a:prstGeom>
          <a:solidFill>
            <a:srgbClr val="1E1E1E"/>
          </a:solidFill>
          <a:ln/>
        </p:spPr>
      </p:sp>
      <p:sp>
        <p:nvSpPr>
          <p:cNvPr id="24" name="Text 21"/>
          <p:cNvSpPr/>
          <p:nvPr/>
        </p:nvSpPr>
        <p:spPr>
          <a:xfrm>
            <a:off x="8086725" y="2419350"/>
            <a:ext cx="5303996" cy="1500981"/>
          </a:xfrm>
          <a:prstGeom prst="rect">
            <a:avLst/>
          </a:prstGeom>
          <a:noFill/>
          <a:ln/>
        </p:spPr>
        <p:txBody>
          <a:bodyPr wrap="square" lIns="25400" tIns="25400" rIns="25400" bIns="25400" rtlCol="0" anchor="t">
            <a:normAutofit/>
          </a:bodyPr>
          <a:lstStyle/>
          <a:p>
            <a:pPr algn="l" indent="0" marL="0">
              <a:lnSpc>
                <a:spcPct val="140488"/>
              </a:lnSpc>
              <a:buNone/>
            </a:pPr>
            <a:r>
              <a:rPr lang="en-US" sz="1800" dirty="0">
                <a:solidFill>
                  <a:srgbClr val="D4D4D4"/>
                </a:solidFill>
                <a:highlight>
                  <a:srgbClr val="1E1E1E"/>
                </a:highlight>
                <a:latin typeface="Cascadia Mono" pitchFamily="34" charset="0"/>
                <a:ea typeface="Cascadia Mono" pitchFamily="34" charset="-122"/>
                <a:cs typeface="Cascadia Mono" pitchFamily="34" charset="-120"/>
              </a:rPr>
              <a:t>beam.m </a:t>
            </a:r>
            <a:pPr algn="l" indent="0" marL="0">
              <a:lnSpc>
                <a:spcPct val="140488"/>
              </a:lnSpc>
              <a:buNone/>
            </a:pPr>
            <a:r>
              <a:rPr lang="en-US" sz="1800" dirty="0">
                <a:solidFill>
                  <a:srgbClr val="8C8C8C"/>
                </a:solidFill>
                <a:latin typeface="Cascadia Mono" pitchFamily="34" charset="0"/>
                <a:ea typeface="Cascadia Mono" pitchFamily="34" charset="-122"/>
                <a:cs typeface="Cascadia Mono" pitchFamily="34" charset="-120"/>
              </a:rPr>
              <a:t>e4f5a6b Switch to aluminum a1b2c3d Fix units on load P 9c8d7e6 Initial version</a:t>
            </a:r>
            <a:endParaRPr lang="en-US" sz="1800" dirty="0"/>
          </a:p>
        </p:txBody>
      </p:sp>
      <p:sp>
        <p:nvSpPr>
          <p:cNvPr id="25" name="Text 22"/>
          <p:cNvSpPr/>
          <p:nvPr/>
        </p:nvSpPr>
        <p:spPr>
          <a:xfrm>
            <a:off x="7820025" y="4301331"/>
            <a:ext cx="5837396" cy="731441"/>
          </a:xfrm>
          <a:prstGeom prst="rect">
            <a:avLst/>
          </a:prstGeom>
          <a:noFill/>
          <a:ln/>
        </p:spPr>
        <p:txBody>
          <a:bodyPr wrap="square" lIns="25400" tIns="25400" rIns="25400" bIns="25400" rtlCol="0" anchor="t">
            <a:normAutofit/>
          </a:bodyPr>
          <a:lstStyle/>
          <a:p>
            <a:pPr algn="l" indent="0" marL="0">
              <a:lnSpc>
                <a:spcPct val="105000"/>
              </a:lnSpc>
              <a:buNone/>
            </a:pPr>
            <a:r>
              <a:rPr lang="en-US" sz="1950" dirty="0">
                <a:solidFill>
                  <a:srgbClr val="404040"/>
                </a:solidFill>
                <a:latin typeface="Segoe UI" pitchFamily="34" charset="0"/>
                <a:ea typeface="Segoe UI" pitchFamily="34" charset="-122"/>
                <a:cs typeface="Segoe UI" pitchFamily="34" charset="-120"/>
              </a:rPr>
              <a:t>One file. Every saved version, with who, when, and why.</a:t>
            </a:r>
            <a:endParaRPr lang="en-US" sz="1950" dirty="0"/>
          </a:p>
        </p:txBody>
      </p:sp>
      <p:sp>
        <p:nvSpPr>
          <p:cNvPr id="26" name="Shape 23"/>
          <p:cNvSpPr/>
          <p:nvPr/>
        </p:nvSpPr>
        <p:spPr>
          <a:xfrm>
            <a:off x="1809750" y="5893793"/>
            <a:ext cx="2805113" cy="1442641"/>
          </a:xfrm>
          <a:prstGeom prst="rect">
            <a:avLst/>
          </a:prstGeom>
          <a:solidFill>
            <a:srgbClr val="F2F2F2"/>
          </a:solidFill>
          <a:ln/>
        </p:spPr>
      </p:sp>
      <p:sp>
        <p:nvSpPr>
          <p:cNvPr id="27" name="Text 24"/>
          <p:cNvSpPr/>
          <p:nvPr/>
        </p:nvSpPr>
        <p:spPr>
          <a:xfrm>
            <a:off x="2019300" y="6103343"/>
            <a:ext cx="2624614" cy="368300"/>
          </a:xfrm>
          <a:prstGeom prst="rect">
            <a:avLst/>
          </a:prstGeom>
          <a:noFill/>
          <a:ln/>
        </p:spPr>
        <p:txBody>
          <a:bodyPr wrap="square" lIns="25400" tIns="25400" rIns="25400" bIns="25400" rtlCol="0" anchor="t">
            <a:normAutofit/>
          </a:bodyPr>
          <a:lstStyle/>
          <a:p>
            <a:pPr algn="l" indent="0" marL="0">
              <a:buNone/>
            </a:pPr>
            <a:r>
              <a:rPr lang="en-US" sz="1950" b="1" dirty="0">
                <a:solidFill>
                  <a:srgbClr val="152A47"/>
                </a:solidFill>
                <a:latin typeface="Segoe UI" pitchFamily="34" charset="0"/>
                <a:ea typeface="Segoe UI" pitchFamily="34" charset="-122"/>
                <a:cs typeface="Segoe UI" pitchFamily="34" charset="-120"/>
              </a:rPr>
              <a:t>History</a:t>
            </a:r>
            <a:endParaRPr lang="en-US" sz="1950" dirty="0"/>
          </a:p>
        </p:txBody>
      </p:sp>
      <p:sp>
        <p:nvSpPr>
          <p:cNvPr id="28" name="Text 25"/>
          <p:cNvSpPr/>
          <p:nvPr/>
        </p:nvSpPr>
        <p:spPr>
          <a:xfrm>
            <a:off x="2019300" y="6509742"/>
            <a:ext cx="2624614" cy="346670"/>
          </a:xfrm>
          <a:prstGeom prst="rect">
            <a:avLst/>
          </a:prstGeom>
          <a:noFill/>
          <a:ln/>
        </p:spPr>
        <p:txBody>
          <a:bodyPr wrap="square" lIns="25400" tIns="25400" rIns="25400" bIns="25400" rtlCol="0" anchor="t">
            <a:normAutofit/>
          </a:bodyPr>
          <a:lstStyle/>
          <a:p>
            <a:pPr algn="l" indent="0" marL="0">
              <a:lnSpc>
                <a:spcPct val="101250"/>
              </a:lnSpc>
              <a:buNone/>
            </a:pPr>
            <a:r>
              <a:rPr lang="en-US" sz="1800" dirty="0">
                <a:solidFill>
                  <a:srgbClr val="000000"/>
                </a:solidFill>
                <a:latin typeface="Segoe UI" pitchFamily="34" charset="0"/>
                <a:ea typeface="Segoe UI" pitchFamily="34" charset="-122"/>
                <a:cs typeface="Segoe UI" pitchFamily="34" charset="-120"/>
              </a:rPr>
              <a:t>See any past version</a:t>
            </a:r>
            <a:endParaRPr lang="en-US" sz="1800" dirty="0"/>
          </a:p>
        </p:txBody>
      </p:sp>
      <p:sp>
        <p:nvSpPr>
          <p:cNvPr id="29" name="Shape 26"/>
          <p:cNvSpPr/>
          <p:nvPr/>
        </p:nvSpPr>
        <p:spPr>
          <a:xfrm>
            <a:off x="4767263" y="5893793"/>
            <a:ext cx="2805113" cy="1442641"/>
          </a:xfrm>
          <a:prstGeom prst="rect">
            <a:avLst/>
          </a:prstGeom>
          <a:solidFill>
            <a:srgbClr val="F2F2F2"/>
          </a:solidFill>
          <a:ln/>
        </p:spPr>
      </p:sp>
      <p:sp>
        <p:nvSpPr>
          <p:cNvPr id="30" name="Text 27"/>
          <p:cNvSpPr/>
          <p:nvPr/>
        </p:nvSpPr>
        <p:spPr>
          <a:xfrm>
            <a:off x="4976813" y="6103343"/>
            <a:ext cx="2624614" cy="368300"/>
          </a:xfrm>
          <a:prstGeom prst="rect">
            <a:avLst/>
          </a:prstGeom>
          <a:noFill/>
          <a:ln/>
        </p:spPr>
        <p:txBody>
          <a:bodyPr wrap="square" lIns="25400" tIns="25400" rIns="25400" bIns="25400" rtlCol="0" anchor="t">
            <a:normAutofit/>
          </a:bodyPr>
          <a:lstStyle/>
          <a:p>
            <a:pPr algn="l" indent="0" marL="0">
              <a:buNone/>
            </a:pPr>
            <a:r>
              <a:rPr lang="en-US" sz="1950" b="1" dirty="0">
                <a:solidFill>
                  <a:srgbClr val="152A47"/>
                </a:solidFill>
                <a:latin typeface="Segoe UI" pitchFamily="34" charset="0"/>
                <a:ea typeface="Segoe UI" pitchFamily="34" charset="-122"/>
                <a:cs typeface="Segoe UI" pitchFamily="34" charset="-120"/>
              </a:rPr>
              <a:t>Undo</a:t>
            </a:r>
            <a:endParaRPr lang="en-US" sz="1950" dirty="0"/>
          </a:p>
        </p:txBody>
      </p:sp>
      <p:sp>
        <p:nvSpPr>
          <p:cNvPr id="31" name="Text 28"/>
          <p:cNvSpPr/>
          <p:nvPr/>
        </p:nvSpPr>
        <p:spPr>
          <a:xfrm>
            <a:off x="4976813" y="6509742"/>
            <a:ext cx="2462213" cy="655241"/>
          </a:xfrm>
          <a:prstGeom prst="rect">
            <a:avLst/>
          </a:prstGeom>
          <a:noFill/>
          <a:ln/>
        </p:spPr>
        <p:txBody>
          <a:bodyPr wrap="square" lIns="25400" tIns="25400" rIns="25400" bIns="25400" rtlCol="0" anchor="t">
            <a:normAutofit/>
          </a:bodyPr>
          <a:lstStyle/>
          <a:p>
            <a:pPr algn="l" indent="0" marL="0">
              <a:lnSpc>
                <a:spcPct val="101250"/>
              </a:lnSpc>
              <a:buNone/>
            </a:pPr>
            <a:r>
              <a:rPr lang="en-US" sz="1800" dirty="0">
                <a:solidFill>
                  <a:srgbClr val="000000"/>
                </a:solidFill>
                <a:latin typeface="Segoe UI" pitchFamily="34" charset="0"/>
                <a:ea typeface="Segoe UI" pitchFamily="34" charset="-122"/>
                <a:cs typeface="Segoe UI" pitchFamily="34" charset="-120"/>
              </a:rPr>
              <a:t>Roll back one change safely</a:t>
            </a:r>
            <a:endParaRPr lang="en-US" sz="1800" dirty="0"/>
          </a:p>
        </p:txBody>
      </p:sp>
      <p:sp>
        <p:nvSpPr>
          <p:cNvPr id="32" name="Shape 29"/>
          <p:cNvSpPr/>
          <p:nvPr/>
        </p:nvSpPr>
        <p:spPr>
          <a:xfrm>
            <a:off x="7724775" y="5893793"/>
            <a:ext cx="2805113" cy="1442641"/>
          </a:xfrm>
          <a:prstGeom prst="rect">
            <a:avLst/>
          </a:prstGeom>
          <a:solidFill>
            <a:srgbClr val="F2F2F2"/>
          </a:solidFill>
          <a:ln/>
        </p:spPr>
      </p:sp>
      <p:sp>
        <p:nvSpPr>
          <p:cNvPr id="33" name="Text 30"/>
          <p:cNvSpPr/>
          <p:nvPr/>
        </p:nvSpPr>
        <p:spPr>
          <a:xfrm>
            <a:off x="7934325" y="6103343"/>
            <a:ext cx="2624614" cy="368300"/>
          </a:xfrm>
          <a:prstGeom prst="rect">
            <a:avLst/>
          </a:prstGeom>
          <a:noFill/>
          <a:ln/>
        </p:spPr>
        <p:txBody>
          <a:bodyPr wrap="square" lIns="25400" tIns="25400" rIns="25400" bIns="25400" rtlCol="0" anchor="t">
            <a:normAutofit/>
          </a:bodyPr>
          <a:lstStyle/>
          <a:p>
            <a:pPr algn="l" indent="0" marL="0">
              <a:buNone/>
            </a:pPr>
            <a:r>
              <a:rPr lang="en-US" sz="1950" b="1" dirty="0">
                <a:solidFill>
                  <a:srgbClr val="152A47"/>
                </a:solidFill>
                <a:latin typeface="Segoe UI" pitchFamily="34" charset="0"/>
                <a:ea typeface="Segoe UI" pitchFamily="34" charset="-122"/>
                <a:cs typeface="Segoe UI" pitchFamily="34" charset="-120"/>
              </a:rPr>
              <a:t>Parallel work</a:t>
            </a:r>
            <a:endParaRPr lang="en-US" sz="1950" dirty="0"/>
          </a:p>
        </p:txBody>
      </p:sp>
      <p:sp>
        <p:nvSpPr>
          <p:cNvPr id="34" name="Text 31"/>
          <p:cNvSpPr/>
          <p:nvPr/>
        </p:nvSpPr>
        <p:spPr>
          <a:xfrm>
            <a:off x="7934325" y="6509742"/>
            <a:ext cx="2462213" cy="655241"/>
          </a:xfrm>
          <a:prstGeom prst="rect">
            <a:avLst/>
          </a:prstGeom>
          <a:noFill/>
          <a:ln/>
        </p:spPr>
        <p:txBody>
          <a:bodyPr wrap="square" lIns="25400" tIns="25400" rIns="25400" bIns="25400" rtlCol="0" anchor="t">
            <a:normAutofit/>
          </a:bodyPr>
          <a:lstStyle/>
          <a:p>
            <a:pPr algn="l" indent="0" marL="0">
              <a:lnSpc>
                <a:spcPct val="101250"/>
              </a:lnSpc>
              <a:buNone/>
            </a:pPr>
            <a:r>
              <a:rPr lang="en-US" sz="1800" dirty="0">
                <a:solidFill>
                  <a:srgbClr val="000000"/>
                </a:solidFill>
                <a:latin typeface="Segoe UI" pitchFamily="34" charset="0"/>
                <a:ea typeface="Segoe UI" pitchFamily="34" charset="-122"/>
                <a:cs typeface="Segoe UI" pitchFamily="34" charset="-120"/>
              </a:rPr>
              <a:t>Try ideas without breaking main</a:t>
            </a:r>
            <a:endParaRPr lang="en-US" sz="1800" dirty="0"/>
          </a:p>
        </p:txBody>
      </p:sp>
      <p:sp>
        <p:nvSpPr>
          <p:cNvPr id="35" name="Shape 32"/>
          <p:cNvSpPr/>
          <p:nvPr/>
        </p:nvSpPr>
        <p:spPr>
          <a:xfrm>
            <a:off x="10682288" y="5893793"/>
            <a:ext cx="2805113" cy="1442641"/>
          </a:xfrm>
          <a:prstGeom prst="rect">
            <a:avLst/>
          </a:prstGeom>
          <a:solidFill>
            <a:srgbClr val="F2F2F2"/>
          </a:solidFill>
          <a:ln/>
        </p:spPr>
      </p:sp>
      <p:sp>
        <p:nvSpPr>
          <p:cNvPr id="36" name="Text 33"/>
          <p:cNvSpPr/>
          <p:nvPr/>
        </p:nvSpPr>
        <p:spPr>
          <a:xfrm>
            <a:off x="10891838" y="6103343"/>
            <a:ext cx="2624614" cy="368300"/>
          </a:xfrm>
          <a:prstGeom prst="rect">
            <a:avLst/>
          </a:prstGeom>
          <a:noFill/>
          <a:ln/>
        </p:spPr>
        <p:txBody>
          <a:bodyPr wrap="square" lIns="25400" tIns="25400" rIns="25400" bIns="25400" rtlCol="0" anchor="t">
            <a:normAutofit/>
          </a:bodyPr>
          <a:lstStyle/>
          <a:p>
            <a:pPr algn="l" indent="0" marL="0">
              <a:buNone/>
            </a:pPr>
            <a:r>
              <a:rPr lang="en-US" sz="1950" b="1" dirty="0">
                <a:solidFill>
                  <a:srgbClr val="152A47"/>
                </a:solidFill>
                <a:latin typeface="Segoe UI" pitchFamily="34" charset="0"/>
                <a:ea typeface="Segoe UI" pitchFamily="34" charset="-122"/>
                <a:cs typeface="Segoe UI" pitchFamily="34" charset="-120"/>
              </a:rPr>
              <a:t>Review</a:t>
            </a:r>
            <a:endParaRPr lang="en-US" sz="1950" dirty="0"/>
          </a:p>
        </p:txBody>
      </p:sp>
      <p:sp>
        <p:nvSpPr>
          <p:cNvPr id="37" name="Text 34"/>
          <p:cNvSpPr/>
          <p:nvPr/>
        </p:nvSpPr>
        <p:spPr>
          <a:xfrm>
            <a:off x="10891838" y="6509742"/>
            <a:ext cx="2462213" cy="655241"/>
          </a:xfrm>
          <a:prstGeom prst="rect">
            <a:avLst/>
          </a:prstGeom>
          <a:noFill/>
          <a:ln/>
        </p:spPr>
        <p:txBody>
          <a:bodyPr wrap="square" lIns="25400" tIns="25400" rIns="25400" bIns="25400" rtlCol="0" anchor="t">
            <a:normAutofit/>
          </a:bodyPr>
          <a:lstStyle/>
          <a:p>
            <a:pPr algn="l" indent="0" marL="0">
              <a:lnSpc>
                <a:spcPct val="101250"/>
              </a:lnSpc>
              <a:buNone/>
            </a:pPr>
            <a:r>
              <a:rPr lang="en-US" sz="1800" dirty="0">
                <a:solidFill>
                  <a:srgbClr val="000000"/>
                </a:solidFill>
                <a:latin typeface="Segoe UI" pitchFamily="34" charset="0"/>
                <a:ea typeface="Segoe UI" pitchFamily="34" charset="-122"/>
                <a:cs typeface="Segoe UI" pitchFamily="34" charset="-120"/>
              </a:rPr>
              <a:t>Read every line an agent changed</a:t>
            </a:r>
            <a:endParaRPr lang="en-US" sz="1800" dirty="0"/>
          </a:p>
        </p:txBody>
      </p:sp>
      <p:sp>
        <p:nvSpPr>
          <p:cNvPr id="38" name="Text 35"/>
          <p:cNvSpPr/>
          <p:nvPr/>
        </p:nvSpPr>
        <p:spPr>
          <a:xfrm>
            <a:off x="1054418" y="9810750"/>
            <a:ext cx="13264515"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1</a:t>
            </a:r>
            <a:endParaRPr lang="en-US" sz="1800" dirty="0"/>
          </a:p>
        </p:txBody>
      </p:sp>
      <p:sp>
        <p:nvSpPr>
          <p:cNvPr id="39" name="Text 36"/>
          <p:cNvSpPr/>
          <p:nvPr/>
        </p:nvSpPr>
        <p:spPr>
          <a:xfrm>
            <a:off x="13459420" y="9810750"/>
            <a:ext cx="19943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4</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543050" cy="10287000"/>
          </a:xfrm>
          <a:prstGeom prst="rect">
            <a:avLst/>
          </a:prstGeom>
          <a:solidFill>
            <a:srgbClr val="E6E6E6"/>
          </a:solidFill>
          <a:ln/>
        </p:spPr>
      </p:sp>
      <p:pic>
        <p:nvPicPr>
          <p:cNvPr id="3" name="Image 0" descr="preencoded.png">    </p:cNvPr>
          <p:cNvPicPr>
            <a:picLocks noChangeAspect="1"/>
          </p:cNvPicPr>
          <p:nvPr/>
        </p:nvPicPr>
        <p:blipFill>
          <a:blip r:embed="rId1"/>
          <a:stretch>
            <a:fillRect/>
          </a:stretch>
        </p:blipFill>
        <p:spPr>
          <a:xfrm>
            <a:off x="200025" y="133350"/>
            <a:ext cx="1143000" cy="1143000"/>
          </a:xfrm>
          <a:prstGeom prst="rect">
            <a:avLst/>
          </a:prstGeom>
        </p:spPr>
      </p:pic>
      <p:sp>
        <p:nvSpPr>
          <p:cNvPr id="4" name="Text 1"/>
          <p:cNvSpPr/>
          <p:nvPr/>
        </p:nvSpPr>
        <p:spPr>
          <a:xfrm>
            <a:off x="133350" y="2381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Overview</a:t>
            </a:r>
            <a:endParaRPr lang="en-US" sz="1800" dirty="0"/>
          </a:p>
        </p:txBody>
      </p:sp>
      <p:sp>
        <p:nvSpPr>
          <p:cNvPr id="5" name="Text 2"/>
          <p:cNvSpPr/>
          <p:nvPr/>
        </p:nvSpPr>
        <p:spPr>
          <a:xfrm>
            <a:off x="133350" y="2762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Concepts</a:t>
            </a:r>
            <a:endParaRPr lang="en-US" sz="1800" dirty="0"/>
          </a:p>
        </p:txBody>
      </p:sp>
      <p:sp>
        <p:nvSpPr>
          <p:cNvPr id="6" name="Text 3"/>
          <p:cNvSpPr/>
          <p:nvPr/>
        </p:nvSpPr>
        <p:spPr>
          <a:xfrm>
            <a:off x="133350" y="3143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Setup</a:t>
            </a:r>
            <a:endParaRPr lang="en-US" sz="1800" dirty="0"/>
          </a:p>
        </p:txBody>
      </p:sp>
      <p:sp>
        <p:nvSpPr>
          <p:cNvPr id="7" name="Text 4"/>
          <p:cNvSpPr/>
          <p:nvPr/>
        </p:nvSpPr>
        <p:spPr>
          <a:xfrm>
            <a:off x="133350" y="3524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Clone</a:t>
            </a:r>
            <a:endParaRPr lang="en-US" sz="1800" dirty="0"/>
          </a:p>
        </p:txBody>
      </p:sp>
      <p:sp>
        <p:nvSpPr>
          <p:cNvPr id="8" name="Text 5"/>
          <p:cNvSpPr/>
          <p:nvPr/>
        </p:nvSpPr>
        <p:spPr>
          <a:xfrm>
            <a:off x="133350" y="3905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Commit</a:t>
            </a:r>
            <a:endParaRPr lang="en-US" sz="1800" dirty="0"/>
          </a:p>
        </p:txBody>
      </p:sp>
      <p:sp>
        <p:nvSpPr>
          <p:cNvPr id="9" name="Text 6"/>
          <p:cNvSpPr/>
          <p:nvPr/>
        </p:nvSpPr>
        <p:spPr>
          <a:xfrm>
            <a:off x="133350" y="4286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Sync</a:t>
            </a:r>
            <a:endParaRPr lang="en-US" sz="1800" dirty="0"/>
          </a:p>
        </p:txBody>
      </p:sp>
      <p:sp>
        <p:nvSpPr>
          <p:cNvPr id="10" name="Text 7"/>
          <p:cNvSpPr/>
          <p:nvPr/>
        </p:nvSpPr>
        <p:spPr>
          <a:xfrm>
            <a:off x="133350" y="4667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Branches</a:t>
            </a:r>
            <a:endParaRPr lang="en-US" sz="1800" dirty="0"/>
          </a:p>
        </p:txBody>
      </p:sp>
      <p:sp>
        <p:nvSpPr>
          <p:cNvPr id="11" name="Text 8"/>
          <p:cNvSpPr/>
          <p:nvPr/>
        </p:nvSpPr>
        <p:spPr>
          <a:xfrm>
            <a:off x="133350" y="5048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Conflicts</a:t>
            </a:r>
            <a:endParaRPr lang="en-US" sz="1800" dirty="0"/>
          </a:p>
        </p:txBody>
      </p:sp>
      <p:sp>
        <p:nvSpPr>
          <p:cNvPr id="12" name="Text 9"/>
          <p:cNvSpPr/>
          <p:nvPr/>
        </p:nvSpPr>
        <p:spPr>
          <a:xfrm>
            <a:off x="133350" y="5429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History</a:t>
            </a:r>
            <a:endParaRPr lang="en-US" sz="1800" dirty="0"/>
          </a:p>
        </p:txBody>
      </p:sp>
      <p:sp>
        <p:nvSpPr>
          <p:cNvPr id="13" name="Text 10"/>
          <p:cNvSpPr/>
          <p:nvPr/>
        </p:nvSpPr>
        <p:spPr>
          <a:xfrm>
            <a:off x="133350" y="5810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Agent-Ready</a:t>
            </a:r>
            <a:endParaRPr lang="en-US" sz="1800" dirty="0"/>
          </a:p>
        </p:txBody>
      </p:sp>
      <p:sp>
        <p:nvSpPr>
          <p:cNvPr id="14" name="Text 11"/>
          <p:cNvSpPr/>
          <p:nvPr/>
        </p:nvSpPr>
        <p:spPr>
          <a:xfrm>
            <a:off x="133350" y="6191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Review</a:t>
            </a:r>
            <a:endParaRPr lang="en-US" sz="1800" dirty="0"/>
          </a:p>
        </p:txBody>
      </p:sp>
      <p:sp>
        <p:nvSpPr>
          <p:cNvPr id="15" name="Text 12"/>
          <p:cNvSpPr/>
          <p:nvPr/>
        </p:nvSpPr>
        <p:spPr>
          <a:xfrm>
            <a:off x="1657350" y="200025"/>
            <a:ext cx="10988040" cy="1057275"/>
          </a:xfrm>
          <a:prstGeom prst="rect">
            <a:avLst/>
          </a:prstGeom>
          <a:noFill/>
          <a:ln/>
        </p:spPr>
        <p:txBody>
          <a:bodyPr wrap="square" lIns="25400" tIns="25400" rIns="25400" bIns="25400" rtlCol="0" anchor="ctr">
            <a:norm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Git vs. GitHub</a:t>
            </a:r>
            <a:endParaRPr lang="en-US" sz="4800" dirty="0"/>
          </a:p>
        </p:txBody>
      </p:sp>
      <p:sp>
        <p:nvSpPr>
          <p:cNvPr id="16" name="Text 13"/>
          <p:cNvSpPr/>
          <p:nvPr/>
        </p:nvSpPr>
        <p:spPr>
          <a:xfrm>
            <a:off x="12515950" y="133350"/>
            <a:ext cx="1142901"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1</a:t>
            </a:r>
            <a:endParaRPr lang="en-US" sz="2100" dirty="0"/>
          </a:p>
        </p:txBody>
      </p:sp>
      <p:sp>
        <p:nvSpPr>
          <p:cNvPr id="17" name="Shape 14"/>
          <p:cNvSpPr/>
          <p:nvPr/>
        </p:nvSpPr>
        <p:spPr>
          <a:xfrm>
            <a:off x="1657350" y="1219200"/>
            <a:ext cx="11925300" cy="66675"/>
          </a:xfrm>
          <a:prstGeom prst="rect">
            <a:avLst/>
          </a:prstGeom>
          <a:solidFill>
            <a:srgbClr val="000000"/>
          </a:solidFill>
          <a:ln/>
        </p:spPr>
      </p:sp>
      <p:sp>
        <p:nvSpPr>
          <p:cNvPr id="18" name="Shape 15"/>
          <p:cNvSpPr/>
          <p:nvPr/>
        </p:nvSpPr>
        <p:spPr>
          <a:xfrm>
            <a:off x="1809750" y="1619250"/>
            <a:ext cx="3810000" cy="1212850"/>
          </a:xfrm>
          <a:prstGeom prst="roundRect">
            <a:avLst>
              <a:gd name="adj" fmla="val 10995"/>
            </a:avLst>
          </a:prstGeom>
          <a:ln w="25400">
            <a:solidFill>
              <a:srgbClr val="152A47"/>
            </a:solidFill>
            <a:prstDash val="solid"/>
          </a:ln>
        </p:spPr>
      </p:sp>
      <p:sp>
        <p:nvSpPr>
          <p:cNvPr id="19" name="Text 16"/>
          <p:cNvSpPr/>
          <p:nvPr/>
        </p:nvSpPr>
        <p:spPr>
          <a:xfrm>
            <a:off x="1877695" y="1854200"/>
            <a:ext cx="3674110" cy="419100"/>
          </a:xfrm>
          <a:prstGeom prst="rect">
            <a:avLst/>
          </a:prstGeom>
          <a:noFill/>
          <a:ln/>
        </p:spPr>
        <p:txBody>
          <a:bodyPr wrap="square" lIns="25400" tIns="25400" rIns="25400" bIns="25400" rtlCol="0" anchor="t">
            <a:normAutofit/>
          </a:bodyPr>
          <a:lstStyle/>
          <a:p>
            <a:pPr algn="ctr" indent="0" marL="0">
              <a:buNone/>
            </a:pPr>
            <a:r>
              <a:rPr lang="en-US" sz="2250" b="1" dirty="0">
                <a:solidFill>
                  <a:srgbClr val="000000"/>
                </a:solidFill>
                <a:latin typeface="Segoe UI" pitchFamily="34" charset="0"/>
                <a:ea typeface="Segoe UI" pitchFamily="34" charset="-122"/>
                <a:cs typeface="Segoe UI" pitchFamily="34" charset="-120"/>
              </a:rPr>
              <a:t>Local repo</a:t>
            </a:r>
            <a:endParaRPr lang="en-US" sz="2250" dirty="0"/>
          </a:p>
        </p:txBody>
      </p:sp>
      <p:sp>
        <p:nvSpPr>
          <p:cNvPr id="20" name="Text 17"/>
          <p:cNvSpPr/>
          <p:nvPr/>
        </p:nvSpPr>
        <p:spPr>
          <a:xfrm>
            <a:off x="1877695" y="2292350"/>
            <a:ext cx="3674110"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000000"/>
                </a:solidFill>
                <a:latin typeface="Segoe UI" pitchFamily="34" charset="0"/>
                <a:ea typeface="Segoe UI" pitchFamily="34" charset="-122"/>
                <a:cs typeface="Segoe UI" pitchFamily="34" charset="-120"/>
              </a:rPr>
              <a:t>your laptop (Git)</a:t>
            </a:r>
            <a:endParaRPr lang="en-US" sz="1800" dirty="0"/>
          </a:p>
        </p:txBody>
      </p:sp>
      <p:sp>
        <p:nvSpPr>
          <p:cNvPr id="21" name="Text 18"/>
          <p:cNvSpPr/>
          <p:nvPr/>
        </p:nvSpPr>
        <p:spPr>
          <a:xfrm>
            <a:off x="5605463" y="1698625"/>
            <a:ext cx="4086225" cy="298450"/>
          </a:xfrm>
          <a:prstGeom prst="rect">
            <a:avLst/>
          </a:prstGeom>
          <a:noFill/>
          <a:ln/>
        </p:spPr>
        <p:txBody>
          <a:bodyPr wrap="square" lIns="25400" tIns="25400" rIns="25400" bIns="25400" rtlCol="0" anchor="t">
            <a:normAutofit/>
          </a:bodyPr>
          <a:lstStyle/>
          <a:p>
            <a:pPr algn="ctr" indent="0" marL="0">
              <a:buNone/>
            </a:pPr>
            <a:r>
              <a:rPr lang="en-US" sz="1800" dirty="0">
                <a:solidFill>
                  <a:srgbClr val="000000"/>
                </a:solidFill>
                <a:latin typeface="Cascadia Mono" pitchFamily="34" charset="0"/>
                <a:ea typeface="Cascadia Mono" pitchFamily="34" charset="-122"/>
                <a:cs typeface="Cascadia Mono" pitchFamily="34" charset="-120"/>
              </a:rPr>
              <a:t>push</a:t>
            </a:r>
            <a:endParaRPr lang="en-US" sz="1800" dirty="0"/>
          </a:p>
        </p:txBody>
      </p:sp>
      <p:sp>
        <p:nvSpPr>
          <p:cNvPr id="22" name="Shape 19"/>
          <p:cNvSpPr/>
          <p:nvPr/>
        </p:nvSpPr>
        <p:spPr>
          <a:xfrm>
            <a:off x="5791200" y="2073275"/>
            <a:ext cx="3714750" cy="28575"/>
          </a:xfrm>
          <a:prstGeom prst="rect">
            <a:avLst/>
          </a:prstGeom>
          <a:solidFill>
            <a:srgbClr val="000000"/>
          </a:solidFill>
          <a:ln/>
        </p:spPr>
      </p:sp>
      <p:sp>
        <p:nvSpPr>
          <p:cNvPr id="23" name="Shape 20"/>
          <p:cNvSpPr/>
          <p:nvPr/>
        </p:nvSpPr>
        <p:spPr>
          <a:xfrm>
            <a:off x="9372600" y="1997075"/>
            <a:ext cx="152400" cy="165100"/>
          </a:xfrm>
          <a:prstGeom prst="rect">
            <a:avLst/>
          </a:prstGeom>
          <a:solidFill>
            <a:srgbClr val="000000"/>
          </a:solidFill>
          <a:ln/>
        </p:spPr>
      </p:sp>
      <p:sp>
        <p:nvSpPr>
          <p:cNvPr id="24" name="Shape 21"/>
          <p:cNvSpPr/>
          <p:nvPr/>
        </p:nvSpPr>
        <p:spPr>
          <a:xfrm>
            <a:off x="5791200" y="2349500"/>
            <a:ext cx="3714750" cy="28575"/>
          </a:xfrm>
          <a:prstGeom prst="rect">
            <a:avLst/>
          </a:prstGeom>
          <a:solidFill>
            <a:srgbClr val="000000"/>
          </a:solidFill>
          <a:ln/>
        </p:spPr>
      </p:sp>
      <p:sp>
        <p:nvSpPr>
          <p:cNvPr id="25" name="Shape 22"/>
          <p:cNvSpPr/>
          <p:nvPr/>
        </p:nvSpPr>
        <p:spPr>
          <a:xfrm>
            <a:off x="5772150" y="2273300"/>
            <a:ext cx="152400" cy="165100"/>
          </a:xfrm>
          <a:prstGeom prst="rect">
            <a:avLst/>
          </a:prstGeom>
          <a:solidFill>
            <a:srgbClr val="000000"/>
          </a:solidFill>
          <a:ln/>
        </p:spPr>
      </p:sp>
      <p:sp>
        <p:nvSpPr>
          <p:cNvPr id="26" name="Text 23"/>
          <p:cNvSpPr/>
          <p:nvPr/>
        </p:nvSpPr>
        <p:spPr>
          <a:xfrm>
            <a:off x="5605463" y="2492375"/>
            <a:ext cx="4086225" cy="298450"/>
          </a:xfrm>
          <a:prstGeom prst="rect">
            <a:avLst/>
          </a:prstGeom>
          <a:noFill/>
          <a:ln/>
        </p:spPr>
        <p:txBody>
          <a:bodyPr wrap="square" lIns="25400" tIns="25400" rIns="25400" bIns="25400" rtlCol="0" anchor="t">
            <a:normAutofit/>
          </a:bodyPr>
          <a:lstStyle/>
          <a:p>
            <a:pPr algn="ctr" indent="0" marL="0">
              <a:buNone/>
            </a:pPr>
            <a:r>
              <a:rPr lang="en-US" sz="1800" dirty="0">
                <a:solidFill>
                  <a:srgbClr val="000000"/>
                </a:solidFill>
                <a:latin typeface="Cascadia Mono" pitchFamily="34" charset="0"/>
                <a:ea typeface="Cascadia Mono" pitchFamily="34" charset="-122"/>
                <a:cs typeface="Cascadia Mono" pitchFamily="34" charset="-120"/>
              </a:rPr>
              <a:t>fetch / pull</a:t>
            </a:r>
            <a:endParaRPr lang="en-US" sz="1800" dirty="0"/>
          </a:p>
        </p:txBody>
      </p:sp>
      <p:sp>
        <p:nvSpPr>
          <p:cNvPr id="27" name="Shape 24"/>
          <p:cNvSpPr/>
          <p:nvPr/>
        </p:nvSpPr>
        <p:spPr>
          <a:xfrm>
            <a:off x="9677400" y="1619250"/>
            <a:ext cx="3810000" cy="1212850"/>
          </a:xfrm>
          <a:prstGeom prst="roundRect">
            <a:avLst>
              <a:gd name="adj" fmla="val 10995"/>
            </a:avLst>
          </a:prstGeom>
          <a:ln w="25400">
            <a:solidFill>
              <a:srgbClr val="152A47"/>
            </a:solidFill>
            <a:prstDash val="solid"/>
          </a:ln>
        </p:spPr>
      </p:sp>
      <p:sp>
        <p:nvSpPr>
          <p:cNvPr id="28" name="Text 25"/>
          <p:cNvSpPr/>
          <p:nvPr/>
        </p:nvSpPr>
        <p:spPr>
          <a:xfrm>
            <a:off x="9745346" y="1854200"/>
            <a:ext cx="3674110" cy="419100"/>
          </a:xfrm>
          <a:prstGeom prst="rect">
            <a:avLst/>
          </a:prstGeom>
          <a:noFill/>
          <a:ln/>
        </p:spPr>
        <p:txBody>
          <a:bodyPr wrap="square" lIns="25400" tIns="25400" rIns="25400" bIns="25400" rtlCol="0" anchor="t">
            <a:normAutofit/>
          </a:bodyPr>
          <a:lstStyle/>
          <a:p>
            <a:pPr algn="ctr" indent="0" marL="0">
              <a:buNone/>
            </a:pPr>
            <a:r>
              <a:rPr lang="en-US" sz="2250" b="1" dirty="0">
                <a:solidFill>
                  <a:srgbClr val="000000"/>
                </a:solidFill>
                <a:latin typeface="Segoe UI" pitchFamily="34" charset="0"/>
                <a:ea typeface="Segoe UI" pitchFamily="34" charset="-122"/>
                <a:cs typeface="Segoe UI" pitchFamily="34" charset="-120"/>
              </a:rPr>
              <a:t>Remote repo</a:t>
            </a:r>
            <a:endParaRPr lang="en-US" sz="2250" dirty="0"/>
          </a:p>
        </p:txBody>
      </p:sp>
      <p:sp>
        <p:nvSpPr>
          <p:cNvPr id="29" name="Text 26"/>
          <p:cNvSpPr/>
          <p:nvPr/>
        </p:nvSpPr>
        <p:spPr>
          <a:xfrm>
            <a:off x="9745346" y="2292350"/>
            <a:ext cx="3674110"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000000"/>
                </a:solidFill>
                <a:latin typeface="Segoe UI" pitchFamily="34" charset="0"/>
                <a:ea typeface="Segoe UI" pitchFamily="34" charset="-122"/>
                <a:cs typeface="Segoe UI" pitchFamily="34" charset="-120"/>
              </a:rPr>
              <a:t>GitHub (origin)</a:t>
            </a:r>
            <a:endParaRPr lang="en-US" sz="1800" dirty="0"/>
          </a:p>
        </p:txBody>
      </p:sp>
      <p:sp>
        <p:nvSpPr>
          <p:cNvPr id="30" name="Shape 27"/>
          <p:cNvSpPr/>
          <p:nvPr/>
        </p:nvSpPr>
        <p:spPr>
          <a:xfrm>
            <a:off x="1809750" y="3175000"/>
            <a:ext cx="3740150" cy="57150"/>
          </a:xfrm>
          <a:prstGeom prst="rect">
            <a:avLst/>
          </a:prstGeom>
          <a:solidFill>
            <a:srgbClr val="152A47"/>
          </a:solidFill>
          <a:ln/>
        </p:spPr>
      </p:sp>
      <p:sp>
        <p:nvSpPr>
          <p:cNvPr id="31" name="Text 28"/>
          <p:cNvSpPr/>
          <p:nvPr/>
        </p:nvSpPr>
        <p:spPr>
          <a:xfrm>
            <a:off x="1809750" y="3403600"/>
            <a:ext cx="4114165" cy="419100"/>
          </a:xfrm>
          <a:prstGeom prst="rect">
            <a:avLst/>
          </a:prstGeom>
          <a:noFill/>
          <a:ln/>
        </p:spPr>
        <p:txBody>
          <a:bodyPr wrap="square" lIns="25400" tIns="25400" rIns="25400" bIns="25400" rtlCol="0" anchor="t">
            <a:normAutofit/>
          </a:bodyPr>
          <a:lstStyle/>
          <a:p>
            <a:pPr algn="l" indent="0" marL="0">
              <a:buNone/>
            </a:pPr>
            <a:r>
              <a:rPr lang="en-US" sz="2250" b="1" dirty="0">
                <a:solidFill>
                  <a:srgbClr val="000000"/>
                </a:solidFill>
                <a:latin typeface="Segoe UI" pitchFamily="34" charset="0"/>
                <a:ea typeface="Segoe UI" pitchFamily="34" charset="-122"/>
                <a:cs typeface="Segoe UI" pitchFamily="34" charset="-120"/>
              </a:rPr>
              <a:t>Git</a:t>
            </a:r>
            <a:endParaRPr lang="en-US" sz="2250" dirty="0"/>
          </a:p>
        </p:txBody>
      </p:sp>
      <p:sp>
        <p:nvSpPr>
          <p:cNvPr id="32" name="Text 29"/>
          <p:cNvSpPr/>
          <p:nvPr/>
        </p:nvSpPr>
        <p:spPr>
          <a:xfrm>
            <a:off x="1809750" y="3898900"/>
            <a:ext cx="3852355" cy="1082576"/>
          </a:xfrm>
          <a:prstGeom prst="rect">
            <a:avLst/>
          </a:prstGeom>
          <a:noFill/>
          <a:ln/>
        </p:spPr>
        <p:txBody>
          <a:bodyPr wrap="square" lIns="25400" tIns="25400" rIns="25400" bIns="25400" rtlCol="0" anchor="t">
            <a:normAutofit/>
          </a:bodyPr>
          <a:lstStyle/>
          <a:p>
            <a:pPr algn="l" indent="0" marL="0">
              <a:lnSpc>
                <a:spcPct val="105000"/>
              </a:lnSpc>
              <a:buNone/>
            </a:pPr>
            <a:r>
              <a:rPr lang="en-US" sz="1950" dirty="0">
                <a:solidFill>
                  <a:srgbClr val="000000"/>
                </a:solidFill>
                <a:latin typeface="Segoe UI" pitchFamily="34" charset="0"/>
                <a:ea typeface="Segoe UI" pitchFamily="34" charset="-122"/>
                <a:cs typeface="Segoe UI" pitchFamily="34" charset="-120"/>
              </a:rPr>
              <a:t>Version control software. Runs on your computer. Stores history in a hidden </a:t>
            </a:r>
            <a:pPr algn="l" indent="0" marL="0">
              <a:lnSpc>
                <a:spcPct val="105000"/>
              </a:lnSpc>
              <a:buNone/>
            </a:pPr>
            <a:r>
              <a:rPr lang="en-US" sz="1725" dirty="0">
                <a:solidFill>
                  <a:srgbClr val="000000"/>
                </a:solidFill>
                <a:latin typeface="Cascadia Mono" pitchFamily="34" charset="0"/>
                <a:ea typeface="Cascadia Mono" pitchFamily="34" charset="-122"/>
                <a:cs typeface="Cascadia Mono" pitchFamily="34" charset="-120"/>
              </a:rPr>
              <a:t>.git </a:t>
            </a:r>
            <a:pPr algn="l" indent="0" marL="0">
              <a:lnSpc>
                <a:spcPct val="105000"/>
              </a:lnSpc>
              <a:buNone/>
            </a:pPr>
            <a:r>
              <a:rPr lang="en-US" sz="1950" dirty="0">
                <a:solidFill>
                  <a:srgbClr val="000000"/>
                </a:solidFill>
                <a:latin typeface="Segoe UI" pitchFamily="34" charset="0"/>
                <a:ea typeface="Segoe UI" pitchFamily="34" charset="-122"/>
                <a:cs typeface="Segoe UI" pitchFamily="34" charset="-120"/>
              </a:rPr>
              <a:t>folder in the project.</a:t>
            </a:r>
            <a:endParaRPr lang="en-US" sz="1950" dirty="0"/>
          </a:p>
        </p:txBody>
      </p:sp>
      <p:sp>
        <p:nvSpPr>
          <p:cNvPr id="33" name="Shape 30"/>
          <p:cNvSpPr/>
          <p:nvPr/>
        </p:nvSpPr>
        <p:spPr>
          <a:xfrm>
            <a:off x="5778500" y="3175000"/>
            <a:ext cx="3740150" cy="57150"/>
          </a:xfrm>
          <a:prstGeom prst="rect">
            <a:avLst/>
          </a:prstGeom>
          <a:solidFill>
            <a:srgbClr val="1F6FB2"/>
          </a:solidFill>
          <a:ln/>
        </p:spPr>
      </p:sp>
      <p:sp>
        <p:nvSpPr>
          <p:cNvPr id="34" name="Text 31"/>
          <p:cNvSpPr/>
          <p:nvPr/>
        </p:nvSpPr>
        <p:spPr>
          <a:xfrm>
            <a:off x="5778500" y="3403600"/>
            <a:ext cx="4114165" cy="419100"/>
          </a:xfrm>
          <a:prstGeom prst="rect">
            <a:avLst/>
          </a:prstGeom>
          <a:noFill/>
          <a:ln/>
        </p:spPr>
        <p:txBody>
          <a:bodyPr wrap="square" lIns="25400" tIns="25400" rIns="25400" bIns="25400" rtlCol="0" anchor="t">
            <a:normAutofit/>
          </a:bodyPr>
          <a:lstStyle/>
          <a:p>
            <a:pPr algn="l" indent="0" marL="0">
              <a:buNone/>
            </a:pPr>
            <a:r>
              <a:rPr lang="en-US" sz="2250" b="1" dirty="0">
                <a:solidFill>
                  <a:srgbClr val="000000"/>
                </a:solidFill>
                <a:latin typeface="Segoe UI" pitchFamily="34" charset="0"/>
                <a:ea typeface="Segoe UI" pitchFamily="34" charset="-122"/>
                <a:cs typeface="Segoe UI" pitchFamily="34" charset="-120"/>
              </a:rPr>
              <a:t>GitHub</a:t>
            </a:r>
            <a:endParaRPr lang="en-US" sz="2250" dirty="0"/>
          </a:p>
        </p:txBody>
      </p:sp>
      <p:sp>
        <p:nvSpPr>
          <p:cNvPr id="35" name="Text 32"/>
          <p:cNvSpPr/>
          <p:nvPr/>
        </p:nvSpPr>
        <p:spPr>
          <a:xfrm>
            <a:off x="5778500" y="3898900"/>
            <a:ext cx="3852355" cy="1424781"/>
          </a:xfrm>
          <a:prstGeom prst="rect">
            <a:avLst/>
          </a:prstGeom>
          <a:noFill/>
          <a:ln/>
        </p:spPr>
        <p:txBody>
          <a:bodyPr wrap="square" lIns="25400" tIns="25400" rIns="25400" bIns="25400" rtlCol="0" anchor="t">
            <a:normAutofit/>
          </a:bodyPr>
          <a:lstStyle/>
          <a:p>
            <a:pPr algn="l" indent="0" marL="0">
              <a:lnSpc>
                <a:spcPct val="105000"/>
              </a:lnSpc>
              <a:buNone/>
            </a:pPr>
            <a:r>
              <a:rPr lang="en-US" sz="1950" dirty="0">
                <a:solidFill>
                  <a:srgbClr val="000000"/>
                </a:solidFill>
                <a:latin typeface="Segoe UI" pitchFamily="34" charset="0"/>
                <a:ea typeface="Segoe UI" pitchFamily="34" charset="-122"/>
                <a:cs typeface="Segoe UI" pitchFamily="34" charset="-120"/>
              </a:rPr>
              <a:t>A website that hosts repos. Adds sharing, pull requests, and access control. Coding agents connect here.</a:t>
            </a:r>
            <a:endParaRPr lang="en-US" sz="1950" dirty="0"/>
          </a:p>
        </p:txBody>
      </p:sp>
      <p:sp>
        <p:nvSpPr>
          <p:cNvPr id="36" name="Shape 33"/>
          <p:cNvSpPr/>
          <p:nvPr/>
        </p:nvSpPr>
        <p:spPr>
          <a:xfrm>
            <a:off x="9747250" y="3175000"/>
            <a:ext cx="3740150" cy="57150"/>
          </a:xfrm>
          <a:prstGeom prst="rect">
            <a:avLst/>
          </a:prstGeom>
          <a:solidFill>
            <a:srgbClr val="00B0F0"/>
          </a:solidFill>
          <a:ln/>
        </p:spPr>
      </p:sp>
      <p:sp>
        <p:nvSpPr>
          <p:cNvPr id="37" name="Text 34"/>
          <p:cNvSpPr/>
          <p:nvPr/>
        </p:nvSpPr>
        <p:spPr>
          <a:xfrm>
            <a:off x="9747250" y="3403600"/>
            <a:ext cx="4114165" cy="419100"/>
          </a:xfrm>
          <a:prstGeom prst="rect">
            <a:avLst/>
          </a:prstGeom>
          <a:noFill/>
          <a:ln/>
        </p:spPr>
        <p:txBody>
          <a:bodyPr wrap="square" lIns="25400" tIns="25400" rIns="25400" bIns="25400" rtlCol="0" anchor="t">
            <a:normAutofit/>
          </a:bodyPr>
          <a:lstStyle/>
          <a:p>
            <a:pPr algn="l" indent="0" marL="0">
              <a:buNone/>
            </a:pPr>
            <a:r>
              <a:rPr lang="en-US" sz="2250" b="1" dirty="0">
                <a:solidFill>
                  <a:srgbClr val="000000"/>
                </a:solidFill>
                <a:latin typeface="Segoe UI" pitchFamily="34" charset="0"/>
                <a:ea typeface="Segoe UI" pitchFamily="34" charset="-122"/>
                <a:cs typeface="Segoe UI" pitchFamily="34" charset="-120"/>
              </a:rPr>
              <a:t>GitHub Desktop</a:t>
            </a:r>
            <a:endParaRPr lang="en-US" sz="2250" dirty="0"/>
          </a:p>
        </p:txBody>
      </p:sp>
      <p:sp>
        <p:nvSpPr>
          <p:cNvPr id="38" name="Text 35"/>
          <p:cNvSpPr/>
          <p:nvPr/>
        </p:nvSpPr>
        <p:spPr>
          <a:xfrm>
            <a:off x="9747250" y="3898900"/>
            <a:ext cx="3852355" cy="1078111"/>
          </a:xfrm>
          <a:prstGeom prst="rect">
            <a:avLst/>
          </a:prstGeom>
          <a:noFill/>
          <a:ln/>
        </p:spPr>
        <p:txBody>
          <a:bodyPr wrap="square" lIns="25400" tIns="25400" rIns="25400" bIns="25400" rtlCol="0" anchor="t">
            <a:normAutofit/>
          </a:bodyPr>
          <a:lstStyle/>
          <a:p>
            <a:pPr algn="l" indent="0" marL="0">
              <a:lnSpc>
                <a:spcPct val="105000"/>
              </a:lnSpc>
              <a:buNone/>
            </a:pPr>
            <a:r>
              <a:rPr lang="en-US" sz="1950" dirty="0">
                <a:solidFill>
                  <a:srgbClr val="000000"/>
                </a:solidFill>
                <a:latin typeface="Segoe UI" pitchFamily="34" charset="0"/>
                <a:ea typeface="Segoe UI" pitchFamily="34" charset="-122"/>
                <a:cs typeface="Segoe UI" pitchFamily="34" charset="-120"/>
              </a:rPr>
              <a:t>A free app with buttons for Git commands. Links your local repo to GitHub.</a:t>
            </a:r>
            <a:endParaRPr lang="en-US" sz="1950" dirty="0"/>
          </a:p>
        </p:txBody>
      </p:sp>
      <p:sp>
        <p:nvSpPr>
          <p:cNvPr id="39" name="Text 36"/>
          <p:cNvSpPr/>
          <p:nvPr/>
        </p:nvSpPr>
        <p:spPr>
          <a:xfrm>
            <a:off x="1809750" y="5628481"/>
            <a:ext cx="12845415" cy="368300"/>
          </a:xfrm>
          <a:prstGeom prst="rect">
            <a:avLst/>
          </a:prstGeom>
          <a:noFill/>
          <a:ln/>
        </p:spPr>
        <p:txBody>
          <a:bodyPr wrap="square" lIns="25400" tIns="25400" rIns="25400" bIns="25400" rtlCol="0" anchor="t">
            <a:normAutofit/>
          </a:bodyPr>
          <a:lstStyle/>
          <a:p>
            <a:pPr algn="l" indent="0" marL="0">
              <a:buNone/>
            </a:pPr>
            <a:r>
              <a:rPr lang="en-US" sz="1950" dirty="0">
                <a:solidFill>
                  <a:srgbClr val="404040"/>
                </a:solidFill>
                <a:latin typeface="Segoe UI" pitchFamily="34" charset="0"/>
                <a:ea typeface="Segoe UI" pitchFamily="34" charset="-122"/>
                <a:cs typeface="Segoe UI" pitchFamily="34" charset="-120"/>
              </a:rPr>
              <a:t>Git works offline. GitHub is only needed to share or back up your work.</a:t>
            </a:r>
            <a:endParaRPr lang="en-US" sz="1950" dirty="0"/>
          </a:p>
        </p:txBody>
      </p:sp>
      <p:sp>
        <p:nvSpPr>
          <p:cNvPr id="40" name="Text 37"/>
          <p:cNvSpPr/>
          <p:nvPr/>
        </p:nvSpPr>
        <p:spPr>
          <a:xfrm>
            <a:off x="1054418" y="9810750"/>
            <a:ext cx="13264515"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1</a:t>
            </a:r>
            <a:endParaRPr lang="en-US" sz="1800" dirty="0"/>
          </a:p>
        </p:txBody>
      </p:sp>
      <p:sp>
        <p:nvSpPr>
          <p:cNvPr id="41" name="Text 38"/>
          <p:cNvSpPr/>
          <p:nvPr/>
        </p:nvSpPr>
        <p:spPr>
          <a:xfrm>
            <a:off x="13459420" y="9810750"/>
            <a:ext cx="19943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5</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543050" cy="10287000"/>
          </a:xfrm>
          <a:prstGeom prst="rect">
            <a:avLst/>
          </a:prstGeom>
          <a:solidFill>
            <a:srgbClr val="E6E6E6"/>
          </a:solidFill>
          <a:ln/>
        </p:spPr>
      </p:sp>
      <p:pic>
        <p:nvPicPr>
          <p:cNvPr id="3" name="Image 0" descr="preencoded.png">    </p:cNvPr>
          <p:cNvPicPr>
            <a:picLocks noChangeAspect="1"/>
          </p:cNvPicPr>
          <p:nvPr/>
        </p:nvPicPr>
        <p:blipFill>
          <a:blip r:embed="rId1"/>
          <a:stretch>
            <a:fillRect/>
          </a:stretch>
        </p:blipFill>
        <p:spPr>
          <a:xfrm>
            <a:off x="200025" y="133350"/>
            <a:ext cx="1143000" cy="1143000"/>
          </a:xfrm>
          <a:prstGeom prst="rect">
            <a:avLst/>
          </a:prstGeom>
        </p:spPr>
      </p:pic>
      <p:sp>
        <p:nvSpPr>
          <p:cNvPr id="4" name="Text 1"/>
          <p:cNvSpPr/>
          <p:nvPr/>
        </p:nvSpPr>
        <p:spPr>
          <a:xfrm>
            <a:off x="133350" y="2381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Overview</a:t>
            </a:r>
            <a:endParaRPr lang="en-US" sz="1800" dirty="0"/>
          </a:p>
        </p:txBody>
      </p:sp>
      <p:sp>
        <p:nvSpPr>
          <p:cNvPr id="5" name="Text 2"/>
          <p:cNvSpPr/>
          <p:nvPr/>
        </p:nvSpPr>
        <p:spPr>
          <a:xfrm>
            <a:off x="133350" y="2762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Concepts</a:t>
            </a:r>
            <a:endParaRPr lang="en-US" sz="1800" dirty="0"/>
          </a:p>
        </p:txBody>
      </p:sp>
      <p:sp>
        <p:nvSpPr>
          <p:cNvPr id="6" name="Text 3"/>
          <p:cNvSpPr/>
          <p:nvPr/>
        </p:nvSpPr>
        <p:spPr>
          <a:xfrm>
            <a:off x="133350" y="3143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Setup</a:t>
            </a:r>
            <a:endParaRPr lang="en-US" sz="1800" dirty="0"/>
          </a:p>
        </p:txBody>
      </p:sp>
      <p:sp>
        <p:nvSpPr>
          <p:cNvPr id="7" name="Text 4"/>
          <p:cNvSpPr/>
          <p:nvPr/>
        </p:nvSpPr>
        <p:spPr>
          <a:xfrm>
            <a:off x="133350" y="3524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Clone</a:t>
            </a:r>
            <a:endParaRPr lang="en-US" sz="1800" dirty="0"/>
          </a:p>
        </p:txBody>
      </p:sp>
      <p:sp>
        <p:nvSpPr>
          <p:cNvPr id="8" name="Text 5"/>
          <p:cNvSpPr/>
          <p:nvPr/>
        </p:nvSpPr>
        <p:spPr>
          <a:xfrm>
            <a:off x="133350" y="3905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Commit</a:t>
            </a:r>
            <a:endParaRPr lang="en-US" sz="1800" dirty="0"/>
          </a:p>
        </p:txBody>
      </p:sp>
      <p:sp>
        <p:nvSpPr>
          <p:cNvPr id="9" name="Text 6"/>
          <p:cNvSpPr/>
          <p:nvPr/>
        </p:nvSpPr>
        <p:spPr>
          <a:xfrm>
            <a:off x="133350" y="4286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Sync</a:t>
            </a:r>
            <a:endParaRPr lang="en-US" sz="1800" dirty="0"/>
          </a:p>
        </p:txBody>
      </p:sp>
      <p:sp>
        <p:nvSpPr>
          <p:cNvPr id="10" name="Text 7"/>
          <p:cNvSpPr/>
          <p:nvPr/>
        </p:nvSpPr>
        <p:spPr>
          <a:xfrm>
            <a:off x="133350" y="4667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Branches</a:t>
            </a:r>
            <a:endParaRPr lang="en-US" sz="1800" dirty="0"/>
          </a:p>
        </p:txBody>
      </p:sp>
      <p:sp>
        <p:nvSpPr>
          <p:cNvPr id="11" name="Text 8"/>
          <p:cNvSpPr/>
          <p:nvPr/>
        </p:nvSpPr>
        <p:spPr>
          <a:xfrm>
            <a:off x="133350" y="5048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Conflicts</a:t>
            </a:r>
            <a:endParaRPr lang="en-US" sz="1800" dirty="0"/>
          </a:p>
        </p:txBody>
      </p:sp>
      <p:sp>
        <p:nvSpPr>
          <p:cNvPr id="12" name="Text 9"/>
          <p:cNvSpPr/>
          <p:nvPr/>
        </p:nvSpPr>
        <p:spPr>
          <a:xfrm>
            <a:off x="133350" y="5429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History</a:t>
            </a:r>
            <a:endParaRPr lang="en-US" sz="1800" dirty="0"/>
          </a:p>
        </p:txBody>
      </p:sp>
      <p:sp>
        <p:nvSpPr>
          <p:cNvPr id="13" name="Text 10"/>
          <p:cNvSpPr/>
          <p:nvPr/>
        </p:nvSpPr>
        <p:spPr>
          <a:xfrm>
            <a:off x="133350" y="5810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Agent-Ready</a:t>
            </a:r>
            <a:endParaRPr lang="en-US" sz="1800" dirty="0"/>
          </a:p>
        </p:txBody>
      </p:sp>
      <p:sp>
        <p:nvSpPr>
          <p:cNvPr id="14" name="Text 11"/>
          <p:cNvSpPr/>
          <p:nvPr/>
        </p:nvSpPr>
        <p:spPr>
          <a:xfrm>
            <a:off x="133350" y="6191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Review</a:t>
            </a:r>
            <a:endParaRPr lang="en-US" sz="1800" dirty="0"/>
          </a:p>
        </p:txBody>
      </p:sp>
      <p:sp>
        <p:nvSpPr>
          <p:cNvPr id="15" name="Text 12"/>
          <p:cNvSpPr/>
          <p:nvPr/>
        </p:nvSpPr>
        <p:spPr>
          <a:xfrm>
            <a:off x="1657350" y="200025"/>
            <a:ext cx="10988040" cy="1057275"/>
          </a:xfrm>
          <a:prstGeom prst="rect">
            <a:avLst/>
          </a:prstGeom>
          <a:noFill/>
          <a:ln/>
        </p:spPr>
        <p:txBody>
          <a:bodyPr wrap="square" lIns="25400" tIns="25400" rIns="25400" bIns="25400" rtlCol="0" anchor="ctr">
            <a:norm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Key Terms</a:t>
            </a:r>
            <a:endParaRPr lang="en-US" sz="4800" dirty="0"/>
          </a:p>
        </p:txBody>
      </p:sp>
      <p:sp>
        <p:nvSpPr>
          <p:cNvPr id="16" name="Text 13"/>
          <p:cNvSpPr/>
          <p:nvPr/>
        </p:nvSpPr>
        <p:spPr>
          <a:xfrm>
            <a:off x="12515950" y="133350"/>
            <a:ext cx="1142901"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1</a:t>
            </a:r>
            <a:endParaRPr lang="en-US" sz="2100" dirty="0"/>
          </a:p>
        </p:txBody>
      </p:sp>
      <p:sp>
        <p:nvSpPr>
          <p:cNvPr id="17" name="Shape 14"/>
          <p:cNvSpPr/>
          <p:nvPr/>
        </p:nvSpPr>
        <p:spPr>
          <a:xfrm>
            <a:off x="1657350" y="1219200"/>
            <a:ext cx="11925300" cy="66675"/>
          </a:xfrm>
          <a:prstGeom prst="rect">
            <a:avLst/>
          </a:prstGeom>
          <a:solidFill>
            <a:srgbClr val="000000"/>
          </a:solidFill>
          <a:ln/>
        </p:spPr>
      </p:sp>
      <p:sp>
        <p:nvSpPr>
          <p:cNvPr id="18" name="Shape 15"/>
          <p:cNvSpPr/>
          <p:nvPr/>
        </p:nvSpPr>
        <p:spPr>
          <a:xfrm>
            <a:off x="1809750" y="1571625"/>
            <a:ext cx="2571750" cy="614363"/>
          </a:xfrm>
          <a:prstGeom prst="rect">
            <a:avLst/>
          </a:prstGeom>
          <a:solidFill>
            <a:srgbClr val="152A47"/>
          </a:solidFill>
          <a:ln/>
        </p:spPr>
      </p:sp>
      <p:sp>
        <p:nvSpPr>
          <p:cNvPr id="19" name="Text 16"/>
          <p:cNvSpPr/>
          <p:nvPr/>
        </p:nvSpPr>
        <p:spPr>
          <a:xfrm>
            <a:off x="1981200" y="1724025"/>
            <a:ext cx="230600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Segoe UI" pitchFamily="34" charset="0"/>
                <a:ea typeface="Segoe UI" pitchFamily="34" charset="-122"/>
                <a:cs typeface="Segoe UI" pitchFamily="34" charset="-120"/>
              </a:rPr>
              <a:t>Term</a:t>
            </a:r>
            <a:endParaRPr lang="en-US" sz="1875" dirty="0"/>
          </a:p>
        </p:txBody>
      </p:sp>
      <p:sp>
        <p:nvSpPr>
          <p:cNvPr id="20" name="Shape 17"/>
          <p:cNvSpPr/>
          <p:nvPr/>
        </p:nvSpPr>
        <p:spPr>
          <a:xfrm>
            <a:off x="4381500" y="1571625"/>
            <a:ext cx="5391150" cy="614363"/>
          </a:xfrm>
          <a:prstGeom prst="rect">
            <a:avLst/>
          </a:prstGeom>
          <a:solidFill>
            <a:srgbClr val="152A47"/>
          </a:solidFill>
          <a:ln/>
        </p:spPr>
      </p:sp>
      <p:sp>
        <p:nvSpPr>
          <p:cNvPr id="21" name="Text 18"/>
          <p:cNvSpPr/>
          <p:nvPr/>
        </p:nvSpPr>
        <p:spPr>
          <a:xfrm>
            <a:off x="4552950" y="1724025"/>
            <a:ext cx="5209985"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Segoe UI" pitchFamily="34" charset="0"/>
                <a:ea typeface="Segoe UI" pitchFamily="34" charset="-122"/>
                <a:cs typeface="Segoe UI" pitchFamily="34" charset="-120"/>
              </a:rPr>
              <a:t>Meaning</a:t>
            </a:r>
            <a:endParaRPr lang="en-US" sz="1875" dirty="0"/>
          </a:p>
        </p:txBody>
      </p:sp>
      <p:sp>
        <p:nvSpPr>
          <p:cNvPr id="22" name="Shape 19"/>
          <p:cNvSpPr/>
          <p:nvPr/>
        </p:nvSpPr>
        <p:spPr>
          <a:xfrm>
            <a:off x="9772650" y="1571625"/>
            <a:ext cx="3714750" cy="614363"/>
          </a:xfrm>
          <a:prstGeom prst="rect">
            <a:avLst/>
          </a:prstGeom>
          <a:solidFill>
            <a:srgbClr val="152A47"/>
          </a:solidFill>
          <a:ln/>
        </p:spPr>
      </p:sp>
      <p:sp>
        <p:nvSpPr>
          <p:cNvPr id="23" name="Text 20"/>
          <p:cNvSpPr/>
          <p:nvPr/>
        </p:nvSpPr>
        <p:spPr>
          <a:xfrm>
            <a:off x="9944100" y="1724025"/>
            <a:ext cx="348329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Segoe UI" pitchFamily="34" charset="0"/>
                <a:ea typeface="Segoe UI" pitchFamily="34" charset="-122"/>
                <a:cs typeface="Segoe UI" pitchFamily="34" charset="-120"/>
              </a:rPr>
              <a:t>GitHub Desktop</a:t>
            </a:r>
            <a:endParaRPr lang="en-US" sz="1875" dirty="0"/>
          </a:p>
        </p:txBody>
      </p:sp>
      <p:sp>
        <p:nvSpPr>
          <p:cNvPr id="24" name="Shape 21"/>
          <p:cNvSpPr/>
          <p:nvPr/>
        </p:nvSpPr>
        <p:spPr>
          <a:xfrm>
            <a:off x="1809750" y="2743200"/>
            <a:ext cx="2571750" cy="19050"/>
          </a:xfrm>
          <a:prstGeom prst="rect">
            <a:avLst/>
          </a:prstGeom>
          <a:solidFill>
            <a:srgbClr val="BFBFBF"/>
          </a:solidFill>
          <a:ln/>
        </p:spPr>
      </p:sp>
      <p:sp>
        <p:nvSpPr>
          <p:cNvPr id="25" name="Text 22"/>
          <p:cNvSpPr/>
          <p:nvPr/>
        </p:nvSpPr>
        <p:spPr>
          <a:xfrm>
            <a:off x="1981200" y="2309813"/>
            <a:ext cx="230600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Segoe UI" pitchFamily="34" charset="0"/>
                <a:ea typeface="Segoe UI" pitchFamily="34" charset="-122"/>
                <a:cs typeface="Segoe UI" pitchFamily="34" charset="-120"/>
              </a:rPr>
              <a:t>Repository</a:t>
            </a:r>
            <a:endParaRPr lang="en-US" sz="1875" dirty="0"/>
          </a:p>
        </p:txBody>
      </p:sp>
      <p:sp>
        <p:nvSpPr>
          <p:cNvPr id="26" name="Shape 23"/>
          <p:cNvSpPr/>
          <p:nvPr/>
        </p:nvSpPr>
        <p:spPr>
          <a:xfrm>
            <a:off x="4381500" y="2743200"/>
            <a:ext cx="5391150" cy="19050"/>
          </a:xfrm>
          <a:prstGeom prst="rect">
            <a:avLst/>
          </a:prstGeom>
          <a:solidFill>
            <a:srgbClr val="BFBFBF"/>
          </a:solidFill>
          <a:ln/>
        </p:spPr>
      </p:sp>
      <p:sp>
        <p:nvSpPr>
          <p:cNvPr id="27" name="Text 24"/>
          <p:cNvSpPr/>
          <p:nvPr/>
        </p:nvSpPr>
        <p:spPr>
          <a:xfrm>
            <a:off x="4552950" y="2309813"/>
            <a:ext cx="5209985"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A project folder whose full history Git tracks</a:t>
            </a:r>
            <a:endParaRPr lang="en-US" sz="1875" dirty="0"/>
          </a:p>
        </p:txBody>
      </p:sp>
      <p:sp>
        <p:nvSpPr>
          <p:cNvPr id="28" name="Shape 25"/>
          <p:cNvSpPr/>
          <p:nvPr/>
        </p:nvSpPr>
        <p:spPr>
          <a:xfrm>
            <a:off x="9772650" y="2743200"/>
            <a:ext cx="3714750" cy="19050"/>
          </a:xfrm>
          <a:prstGeom prst="rect">
            <a:avLst/>
          </a:prstGeom>
          <a:solidFill>
            <a:srgbClr val="BFBFBF"/>
          </a:solidFill>
          <a:ln/>
        </p:spPr>
      </p:sp>
      <p:sp>
        <p:nvSpPr>
          <p:cNvPr id="29" name="Text 26"/>
          <p:cNvSpPr/>
          <p:nvPr/>
        </p:nvSpPr>
        <p:spPr>
          <a:xfrm>
            <a:off x="9944100" y="2309813"/>
            <a:ext cx="348329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New / Add / Clone repository</a:t>
            </a:r>
            <a:endParaRPr lang="en-US" sz="1875" dirty="0"/>
          </a:p>
        </p:txBody>
      </p:sp>
      <p:sp>
        <p:nvSpPr>
          <p:cNvPr id="30" name="Shape 27"/>
          <p:cNvSpPr/>
          <p:nvPr/>
        </p:nvSpPr>
        <p:spPr>
          <a:xfrm>
            <a:off x="1809750" y="3319463"/>
            <a:ext cx="2571750" cy="19050"/>
          </a:xfrm>
          <a:prstGeom prst="rect">
            <a:avLst/>
          </a:prstGeom>
          <a:solidFill>
            <a:srgbClr val="BFBFBF"/>
          </a:solidFill>
          <a:ln/>
        </p:spPr>
      </p:sp>
      <p:sp>
        <p:nvSpPr>
          <p:cNvPr id="31" name="Text 28"/>
          <p:cNvSpPr/>
          <p:nvPr/>
        </p:nvSpPr>
        <p:spPr>
          <a:xfrm>
            <a:off x="1981200" y="2886075"/>
            <a:ext cx="230600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Segoe UI" pitchFamily="34" charset="0"/>
                <a:ea typeface="Segoe UI" pitchFamily="34" charset="-122"/>
                <a:cs typeface="Segoe UI" pitchFamily="34" charset="-120"/>
              </a:rPr>
              <a:t>Clone</a:t>
            </a:r>
            <a:endParaRPr lang="en-US" sz="1875" dirty="0"/>
          </a:p>
        </p:txBody>
      </p:sp>
      <p:sp>
        <p:nvSpPr>
          <p:cNvPr id="32" name="Shape 29"/>
          <p:cNvSpPr/>
          <p:nvPr/>
        </p:nvSpPr>
        <p:spPr>
          <a:xfrm>
            <a:off x="4381500" y="3319463"/>
            <a:ext cx="5391150" cy="19050"/>
          </a:xfrm>
          <a:prstGeom prst="rect">
            <a:avLst/>
          </a:prstGeom>
          <a:solidFill>
            <a:srgbClr val="BFBFBF"/>
          </a:solidFill>
          <a:ln/>
        </p:spPr>
      </p:sp>
      <p:sp>
        <p:nvSpPr>
          <p:cNvPr id="33" name="Text 30"/>
          <p:cNvSpPr/>
          <p:nvPr/>
        </p:nvSpPr>
        <p:spPr>
          <a:xfrm>
            <a:off x="4552950" y="2886075"/>
            <a:ext cx="5209985"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Download a repo from GitHub, with its history</a:t>
            </a:r>
            <a:endParaRPr lang="en-US" sz="1875" dirty="0"/>
          </a:p>
        </p:txBody>
      </p:sp>
      <p:sp>
        <p:nvSpPr>
          <p:cNvPr id="34" name="Shape 31"/>
          <p:cNvSpPr/>
          <p:nvPr/>
        </p:nvSpPr>
        <p:spPr>
          <a:xfrm>
            <a:off x="9772650" y="3319463"/>
            <a:ext cx="3714750" cy="19050"/>
          </a:xfrm>
          <a:prstGeom prst="rect">
            <a:avLst/>
          </a:prstGeom>
          <a:solidFill>
            <a:srgbClr val="BFBFBF"/>
          </a:solidFill>
          <a:ln/>
        </p:spPr>
      </p:sp>
      <p:sp>
        <p:nvSpPr>
          <p:cNvPr id="35" name="Text 32"/>
          <p:cNvSpPr/>
          <p:nvPr/>
        </p:nvSpPr>
        <p:spPr>
          <a:xfrm>
            <a:off x="9944100" y="2886075"/>
            <a:ext cx="348329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File › Clone repository</a:t>
            </a:r>
            <a:endParaRPr lang="en-US" sz="1875" dirty="0"/>
          </a:p>
        </p:txBody>
      </p:sp>
      <p:sp>
        <p:nvSpPr>
          <p:cNvPr id="36" name="Shape 33"/>
          <p:cNvSpPr/>
          <p:nvPr/>
        </p:nvSpPr>
        <p:spPr>
          <a:xfrm>
            <a:off x="1809750" y="3895725"/>
            <a:ext cx="2571750" cy="19050"/>
          </a:xfrm>
          <a:prstGeom prst="rect">
            <a:avLst/>
          </a:prstGeom>
          <a:solidFill>
            <a:srgbClr val="BFBFBF"/>
          </a:solidFill>
          <a:ln/>
        </p:spPr>
      </p:sp>
      <p:sp>
        <p:nvSpPr>
          <p:cNvPr id="37" name="Text 34"/>
          <p:cNvSpPr/>
          <p:nvPr/>
        </p:nvSpPr>
        <p:spPr>
          <a:xfrm>
            <a:off x="1981200" y="3462337"/>
            <a:ext cx="230600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Segoe UI" pitchFamily="34" charset="0"/>
                <a:ea typeface="Segoe UI" pitchFamily="34" charset="-122"/>
                <a:cs typeface="Segoe UI" pitchFamily="34" charset="-120"/>
              </a:rPr>
              <a:t>Commit</a:t>
            </a:r>
            <a:endParaRPr lang="en-US" sz="1875" dirty="0"/>
          </a:p>
        </p:txBody>
      </p:sp>
      <p:sp>
        <p:nvSpPr>
          <p:cNvPr id="38" name="Shape 35"/>
          <p:cNvSpPr/>
          <p:nvPr/>
        </p:nvSpPr>
        <p:spPr>
          <a:xfrm>
            <a:off x="4381500" y="3895725"/>
            <a:ext cx="5391150" cy="19050"/>
          </a:xfrm>
          <a:prstGeom prst="rect">
            <a:avLst/>
          </a:prstGeom>
          <a:solidFill>
            <a:srgbClr val="BFBFBF"/>
          </a:solidFill>
          <a:ln/>
        </p:spPr>
      </p:sp>
      <p:sp>
        <p:nvSpPr>
          <p:cNvPr id="39" name="Text 36"/>
          <p:cNvSpPr/>
          <p:nvPr/>
        </p:nvSpPr>
        <p:spPr>
          <a:xfrm>
            <a:off x="4552950" y="3462337"/>
            <a:ext cx="5209985"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A saved snapshot of changes, with a message</a:t>
            </a:r>
            <a:endParaRPr lang="en-US" sz="1875" dirty="0"/>
          </a:p>
        </p:txBody>
      </p:sp>
      <p:sp>
        <p:nvSpPr>
          <p:cNvPr id="40" name="Shape 37"/>
          <p:cNvSpPr/>
          <p:nvPr/>
        </p:nvSpPr>
        <p:spPr>
          <a:xfrm>
            <a:off x="9772650" y="3895725"/>
            <a:ext cx="3714750" cy="19050"/>
          </a:xfrm>
          <a:prstGeom prst="rect">
            <a:avLst/>
          </a:prstGeom>
          <a:solidFill>
            <a:srgbClr val="BFBFBF"/>
          </a:solidFill>
          <a:ln/>
        </p:spPr>
      </p:sp>
      <p:sp>
        <p:nvSpPr>
          <p:cNvPr id="41" name="Text 38"/>
          <p:cNvSpPr/>
          <p:nvPr/>
        </p:nvSpPr>
        <p:spPr>
          <a:xfrm>
            <a:off x="9944100" y="3462337"/>
            <a:ext cx="348329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Commit to &lt;branch&gt;</a:t>
            </a:r>
            <a:endParaRPr lang="en-US" sz="1875" dirty="0"/>
          </a:p>
        </p:txBody>
      </p:sp>
      <p:sp>
        <p:nvSpPr>
          <p:cNvPr id="42" name="Shape 39"/>
          <p:cNvSpPr/>
          <p:nvPr/>
        </p:nvSpPr>
        <p:spPr>
          <a:xfrm>
            <a:off x="1809750" y="4471988"/>
            <a:ext cx="2571750" cy="19050"/>
          </a:xfrm>
          <a:prstGeom prst="rect">
            <a:avLst/>
          </a:prstGeom>
          <a:solidFill>
            <a:srgbClr val="BFBFBF"/>
          </a:solidFill>
          <a:ln/>
        </p:spPr>
      </p:sp>
      <p:sp>
        <p:nvSpPr>
          <p:cNvPr id="43" name="Text 40"/>
          <p:cNvSpPr/>
          <p:nvPr/>
        </p:nvSpPr>
        <p:spPr>
          <a:xfrm>
            <a:off x="1981200" y="4038600"/>
            <a:ext cx="230600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Segoe UI" pitchFamily="34" charset="0"/>
                <a:ea typeface="Segoe UI" pitchFamily="34" charset="-122"/>
                <a:cs typeface="Segoe UI" pitchFamily="34" charset="-120"/>
              </a:rPr>
              <a:t>Push</a:t>
            </a:r>
            <a:endParaRPr lang="en-US" sz="1875" dirty="0"/>
          </a:p>
        </p:txBody>
      </p:sp>
      <p:sp>
        <p:nvSpPr>
          <p:cNvPr id="44" name="Shape 41"/>
          <p:cNvSpPr/>
          <p:nvPr/>
        </p:nvSpPr>
        <p:spPr>
          <a:xfrm>
            <a:off x="4381500" y="4471988"/>
            <a:ext cx="5391150" cy="19050"/>
          </a:xfrm>
          <a:prstGeom prst="rect">
            <a:avLst/>
          </a:prstGeom>
          <a:solidFill>
            <a:srgbClr val="BFBFBF"/>
          </a:solidFill>
          <a:ln/>
        </p:spPr>
      </p:sp>
      <p:sp>
        <p:nvSpPr>
          <p:cNvPr id="45" name="Text 42"/>
          <p:cNvSpPr/>
          <p:nvPr/>
        </p:nvSpPr>
        <p:spPr>
          <a:xfrm>
            <a:off x="4552950" y="4038600"/>
            <a:ext cx="5209985"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Send your commits to GitHub</a:t>
            </a:r>
            <a:endParaRPr lang="en-US" sz="1875" dirty="0"/>
          </a:p>
        </p:txBody>
      </p:sp>
      <p:sp>
        <p:nvSpPr>
          <p:cNvPr id="46" name="Shape 43"/>
          <p:cNvSpPr/>
          <p:nvPr/>
        </p:nvSpPr>
        <p:spPr>
          <a:xfrm>
            <a:off x="9772650" y="4471988"/>
            <a:ext cx="3714750" cy="19050"/>
          </a:xfrm>
          <a:prstGeom prst="rect">
            <a:avLst/>
          </a:prstGeom>
          <a:solidFill>
            <a:srgbClr val="BFBFBF"/>
          </a:solidFill>
          <a:ln/>
        </p:spPr>
      </p:sp>
      <p:sp>
        <p:nvSpPr>
          <p:cNvPr id="47" name="Text 44"/>
          <p:cNvSpPr/>
          <p:nvPr/>
        </p:nvSpPr>
        <p:spPr>
          <a:xfrm>
            <a:off x="9944100" y="4038600"/>
            <a:ext cx="348329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Push origin</a:t>
            </a:r>
            <a:endParaRPr lang="en-US" sz="1875" dirty="0"/>
          </a:p>
        </p:txBody>
      </p:sp>
      <p:sp>
        <p:nvSpPr>
          <p:cNvPr id="48" name="Shape 45"/>
          <p:cNvSpPr/>
          <p:nvPr/>
        </p:nvSpPr>
        <p:spPr>
          <a:xfrm>
            <a:off x="1809750" y="5048250"/>
            <a:ext cx="2571750" cy="19050"/>
          </a:xfrm>
          <a:prstGeom prst="rect">
            <a:avLst/>
          </a:prstGeom>
          <a:solidFill>
            <a:srgbClr val="BFBFBF"/>
          </a:solidFill>
          <a:ln/>
        </p:spPr>
      </p:sp>
      <p:sp>
        <p:nvSpPr>
          <p:cNvPr id="49" name="Text 46"/>
          <p:cNvSpPr/>
          <p:nvPr/>
        </p:nvSpPr>
        <p:spPr>
          <a:xfrm>
            <a:off x="1981200" y="4614863"/>
            <a:ext cx="230600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Segoe UI" pitchFamily="34" charset="0"/>
                <a:ea typeface="Segoe UI" pitchFamily="34" charset="-122"/>
                <a:cs typeface="Segoe UI" pitchFamily="34" charset="-120"/>
              </a:rPr>
              <a:t>Fetch / Pull</a:t>
            </a:r>
            <a:endParaRPr lang="en-US" sz="1875" dirty="0"/>
          </a:p>
        </p:txBody>
      </p:sp>
      <p:sp>
        <p:nvSpPr>
          <p:cNvPr id="50" name="Shape 47"/>
          <p:cNvSpPr/>
          <p:nvPr/>
        </p:nvSpPr>
        <p:spPr>
          <a:xfrm>
            <a:off x="4381500" y="5048250"/>
            <a:ext cx="5391150" cy="19050"/>
          </a:xfrm>
          <a:prstGeom prst="rect">
            <a:avLst/>
          </a:prstGeom>
          <a:solidFill>
            <a:srgbClr val="BFBFBF"/>
          </a:solidFill>
          <a:ln/>
        </p:spPr>
      </p:sp>
      <p:sp>
        <p:nvSpPr>
          <p:cNvPr id="51" name="Text 48"/>
          <p:cNvSpPr/>
          <p:nvPr/>
        </p:nvSpPr>
        <p:spPr>
          <a:xfrm>
            <a:off x="4552950" y="4614863"/>
            <a:ext cx="5209985"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Check for / download commits from GitHub</a:t>
            </a:r>
            <a:endParaRPr lang="en-US" sz="1875" dirty="0"/>
          </a:p>
        </p:txBody>
      </p:sp>
      <p:sp>
        <p:nvSpPr>
          <p:cNvPr id="52" name="Shape 49"/>
          <p:cNvSpPr/>
          <p:nvPr/>
        </p:nvSpPr>
        <p:spPr>
          <a:xfrm>
            <a:off x="9772650" y="5048250"/>
            <a:ext cx="3714750" cy="19050"/>
          </a:xfrm>
          <a:prstGeom prst="rect">
            <a:avLst/>
          </a:prstGeom>
          <a:solidFill>
            <a:srgbClr val="BFBFBF"/>
          </a:solidFill>
          <a:ln/>
        </p:spPr>
      </p:sp>
      <p:sp>
        <p:nvSpPr>
          <p:cNvPr id="53" name="Text 50"/>
          <p:cNvSpPr/>
          <p:nvPr/>
        </p:nvSpPr>
        <p:spPr>
          <a:xfrm>
            <a:off x="9944100" y="4614863"/>
            <a:ext cx="348329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Fetch origin / Pull origin</a:t>
            </a:r>
            <a:endParaRPr lang="en-US" sz="1875" dirty="0"/>
          </a:p>
        </p:txBody>
      </p:sp>
      <p:sp>
        <p:nvSpPr>
          <p:cNvPr id="54" name="Shape 51"/>
          <p:cNvSpPr/>
          <p:nvPr/>
        </p:nvSpPr>
        <p:spPr>
          <a:xfrm>
            <a:off x="1809750" y="5624513"/>
            <a:ext cx="2571750" cy="19050"/>
          </a:xfrm>
          <a:prstGeom prst="rect">
            <a:avLst/>
          </a:prstGeom>
          <a:solidFill>
            <a:srgbClr val="BFBFBF"/>
          </a:solidFill>
          <a:ln/>
        </p:spPr>
      </p:sp>
      <p:sp>
        <p:nvSpPr>
          <p:cNvPr id="55" name="Text 52"/>
          <p:cNvSpPr/>
          <p:nvPr/>
        </p:nvSpPr>
        <p:spPr>
          <a:xfrm>
            <a:off x="1981200" y="5191125"/>
            <a:ext cx="230600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Segoe UI" pitchFamily="34" charset="0"/>
                <a:ea typeface="Segoe UI" pitchFamily="34" charset="-122"/>
                <a:cs typeface="Segoe UI" pitchFamily="34" charset="-120"/>
              </a:rPr>
              <a:t>Branch</a:t>
            </a:r>
            <a:endParaRPr lang="en-US" sz="1875" dirty="0"/>
          </a:p>
        </p:txBody>
      </p:sp>
      <p:sp>
        <p:nvSpPr>
          <p:cNvPr id="56" name="Shape 53"/>
          <p:cNvSpPr/>
          <p:nvPr/>
        </p:nvSpPr>
        <p:spPr>
          <a:xfrm>
            <a:off x="4381500" y="5624513"/>
            <a:ext cx="5391150" cy="19050"/>
          </a:xfrm>
          <a:prstGeom prst="rect">
            <a:avLst/>
          </a:prstGeom>
          <a:solidFill>
            <a:srgbClr val="BFBFBF"/>
          </a:solidFill>
          <a:ln/>
        </p:spPr>
      </p:sp>
      <p:sp>
        <p:nvSpPr>
          <p:cNvPr id="57" name="Text 54"/>
          <p:cNvSpPr/>
          <p:nvPr/>
        </p:nvSpPr>
        <p:spPr>
          <a:xfrm>
            <a:off x="4552950" y="5191125"/>
            <a:ext cx="5209985"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A separate line of commits; main is the default</a:t>
            </a:r>
            <a:endParaRPr lang="en-US" sz="1875" dirty="0"/>
          </a:p>
        </p:txBody>
      </p:sp>
      <p:sp>
        <p:nvSpPr>
          <p:cNvPr id="58" name="Shape 55"/>
          <p:cNvSpPr/>
          <p:nvPr/>
        </p:nvSpPr>
        <p:spPr>
          <a:xfrm>
            <a:off x="9772650" y="5624513"/>
            <a:ext cx="3714750" cy="19050"/>
          </a:xfrm>
          <a:prstGeom prst="rect">
            <a:avLst/>
          </a:prstGeom>
          <a:solidFill>
            <a:srgbClr val="BFBFBF"/>
          </a:solidFill>
          <a:ln/>
        </p:spPr>
      </p:sp>
      <p:sp>
        <p:nvSpPr>
          <p:cNvPr id="59" name="Text 56"/>
          <p:cNvSpPr/>
          <p:nvPr/>
        </p:nvSpPr>
        <p:spPr>
          <a:xfrm>
            <a:off x="9944100" y="5191125"/>
            <a:ext cx="348329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Current branch menu</a:t>
            </a:r>
            <a:endParaRPr lang="en-US" sz="1875" dirty="0"/>
          </a:p>
        </p:txBody>
      </p:sp>
      <p:sp>
        <p:nvSpPr>
          <p:cNvPr id="60" name="Shape 57"/>
          <p:cNvSpPr/>
          <p:nvPr/>
        </p:nvSpPr>
        <p:spPr>
          <a:xfrm>
            <a:off x="1809750" y="6200775"/>
            <a:ext cx="2571750" cy="19050"/>
          </a:xfrm>
          <a:prstGeom prst="rect">
            <a:avLst/>
          </a:prstGeom>
          <a:solidFill>
            <a:srgbClr val="BFBFBF"/>
          </a:solidFill>
          <a:ln/>
        </p:spPr>
      </p:sp>
      <p:sp>
        <p:nvSpPr>
          <p:cNvPr id="61" name="Text 58"/>
          <p:cNvSpPr/>
          <p:nvPr/>
        </p:nvSpPr>
        <p:spPr>
          <a:xfrm>
            <a:off x="1981200" y="5767388"/>
            <a:ext cx="230600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Segoe UI" pitchFamily="34" charset="0"/>
                <a:ea typeface="Segoe UI" pitchFamily="34" charset="-122"/>
                <a:cs typeface="Segoe UI" pitchFamily="34" charset="-120"/>
              </a:rPr>
              <a:t>Diff</a:t>
            </a:r>
            <a:endParaRPr lang="en-US" sz="1875" dirty="0"/>
          </a:p>
        </p:txBody>
      </p:sp>
      <p:sp>
        <p:nvSpPr>
          <p:cNvPr id="62" name="Shape 59"/>
          <p:cNvSpPr/>
          <p:nvPr/>
        </p:nvSpPr>
        <p:spPr>
          <a:xfrm>
            <a:off x="4381500" y="6200775"/>
            <a:ext cx="5391150" cy="19050"/>
          </a:xfrm>
          <a:prstGeom prst="rect">
            <a:avLst/>
          </a:prstGeom>
          <a:solidFill>
            <a:srgbClr val="BFBFBF"/>
          </a:solidFill>
          <a:ln/>
        </p:spPr>
      </p:sp>
      <p:sp>
        <p:nvSpPr>
          <p:cNvPr id="63" name="Text 60"/>
          <p:cNvSpPr/>
          <p:nvPr/>
        </p:nvSpPr>
        <p:spPr>
          <a:xfrm>
            <a:off x="4552950" y="5767388"/>
            <a:ext cx="5209985"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Line-by-line changes: + added, − removed</a:t>
            </a:r>
            <a:endParaRPr lang="en-US" sz="1875" dirty="0"/>
          </a:p>
        </p:txBody>
      </p:sp>
      <p:sp>
        <p:nvSpPr>
          <p:cNvPr id="64" name="Shape 61"/>
          <p:cNvSpPr/>
          <p:nvPr/>
        </p:nvSpPr>
        <p:spPr>
          <a:xfrm>
            <a:off x="9772650" y="6200775"/>
            <a:ext cx="3714750" cy="19050"/>
          </a:xfrm>
          <a:prstGeom prst="rect">
            <a:avLst/>
          </a:prstGeom>
          <a:solidFill>
            <a:srgbClr val="BFBFBF"/>
          </a:solidFill>
          <a:ln/>
        </p:spPr>
      </p:sp>
      <p:sp>
        <p:nvSpPr>
          <p:cNvPr id="65" name="Text 62"/>
          <p:cNvSpPr/>
          <p:nvPr/>
        </p:nvSpPr>
        <p:spPr>
          <a:xfrm>
            <a:off x="9944100" y="5767388"/>
            <a:ext cx="348329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Changes tab / History tab</a:t>
            </a:r>
            <a:endParaRPr lang="en-US" sz="1875" dirty="0"/>
          </a:p>
        </p:txBody>
      </p:sp>
      <p:sp>
        <p:nvSpPr>
          <p:cNvPr id="66" name="Shape 63"/>
          <p:cNvSpPr/>
          <p:nvPr/>
        </p:nvSpPr>
        <p:spPr>
          <a:xfrm>
            <a:off x="1809750" y="7086600"/>
            <a:ext cx="2571750" cy="19050"/>
          </a:xfrm>
          <a:prstGeom prst="rect">
            <a:avLst/>
          </a:prstGeom>
          <a:solidFill>
            <a:srgbClr val="BFBFBF"/>
          </a:solidFill>
          <a:ln/>
        </p:spPr>
      </p:sp>
      <p:sp>
        <p:nvSpPr>
          <p:cNvPr id="67" name="Text 64"/>
          <p:cNvSpPr/>
          <p:nvPr/>
        </p:nvSpPr>
        <p:spPr>
          <a:xfrm>
            <a:off x="1981200" y="6343650"/>
            <a:ext cx="2306003"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Segoe UI" pitchFamily="34" charset="0"/>
                <a:ea typeface="Segoe UI" pitchFamily="34" charset="-122"/>
                <a:cs typeface="Segoe UI" pitchFamily="34" charset="-120"/>
              </a:rPr>
              <a:t>Pull request</a:t>
            </a:r>
            <a:endParaRPr lang="en-US" sz="1875" dirty="0"/>
          </a:p>
        </p:txBody>
      </p:sp>
      <p:sp>
        <p:nvSpPr>
          <p:cNvPr id="68" name="Shape 65"/>
          <p:cNvSpPr/>
          <p:nvPr/>
        </p:nvSpPr>
        <p:spPr>
          <a:xfrm>
            <a:off x="4381500" y="7086600"/>
            <a:ext cx="5391150" cy="19050"/>
          </a:xfrm>
          <a:prstGeom prst="rect">
            <a:avLst/>
          </a:prstGeom>
          <a:solidFill>
            <a:srgbClr val="BFBFBF"/>
          </a:solidFill>
          <a:ln/>
        </p:spPr>
      </p:sp>
      <p:sp>
        <p:nvSpPr>
          <p:cNvPr id="69" name="Text 66"/>
          <p:cNvSpPr/>
          <p:nvPr/>
        </p:nvSpPr>
        <p:spPr>
          <a:xfrm>
            <a:off x="4552950" y="6343650"/>
            <a:ext cx="5209985"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A request on GitHub to review and merge one branch into another</a:t>
            </a:r>
            <a:endParaRPr lang="en-US" sz="1875" dirty="0"/>
          </a:p>
        </p:txBody>
      </p:sp>
      <p:sp>
        <p:nvSpPr>
          <p:cNvPr id="70" name="Shape 67"/>
          <p:cNvSpPr/>
          <p:nvPr/>
        </p:nvSpPr>
        <p:spPr>
          <a:xfrm>
            <a:off x="9772650" y="7086600"/>
            <a:ext cx="3714750" cy="19050"/>
          </a:xfrm>
          <a:prstGeom prst="rect">
            <a:avLst/>
          </a:prstGeom>
          <a:solidFill>
            <a:srgbClr val="BFBFBF"/>
          </a:solidFill>
          <a:ln/>
        </p:spPr>
      </p:sp>
      <p:sp>
        <p:nvSpPr>
          <p:cNvPr id="71" name="Text 68"/>
          <p:cNvSpPr/>
          <p:nvPr/>
        </p:nvSpPr>
        <p:spPr>
          <a:xfrm>
            <a:off x="9944100" y="6343650"/>
            <a:ext cx="3483293"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Create Pull Request</a:t>
            </a:r>
            <a:endParaRPr lang="en-US" sz="1875" dirty="0"/>
          </a:p>
        </p:txBody>
      </p:sp>
      <p:sp>
        <p:nvSpPr>
          <p:cNvPr id="72" name="Shape 69"/>
          <p:cNvSpPr/>
          <p:nvPr/>
        </p:nvSpPr>
        <p:spPr>
          <a:xfrm>
            <a:off x="1809750" y="7972425"/>
            <a:ext cx="2571750" cy="19050"/>
          </a:xfrm>
          <a:prstGeom prst="rect">
            <a:avLst/>
          </a:prstGeom>
          <a:solidFill>
            <a:srgbClr val="BFBFBF"/>
          </a:solidFill>
          <a:ln/>
        </p:spPr>
      </p:sp>
      <p:sp>
        <p:nvSpPr>
          <p:cNvPr id="73" name="Text 70"/>
          <p:cNvSpPr/>
          <p:nvPr/>
        </p:nvSpPr>
        <p:spPr>
          <a:xfrm>
            <a:off x="1981200" y="7229475"/>
            <a:ext cx="2306003"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Segoe UI" pitchFamily="34" charset="0"/>
                <a:ea typeface="Segoe UI" pitchFamily="34" charset="-122"/>
                <a:cs typeface="Segoe UI" pitchFamily="34" charset="-120"/>
              </a:rPr>
              <a:t>Merge conflict</a:t>
            </a:r>
            <a:endParaRPr lang="en-US" sz="1875" dirty="0"/>
          </a:p>
        </p:txBody>
      </p:sp>
      <p:sp>
        <p:nvSpPr>
          <p:cNvPr id="74" name="Shape 71"/>
          <p:cNvSpPr/>
          <p:nvPr/>
        </p:nvSpPr>
        <p:spPr>
          <a:xfrm>
            <a:off x="4381500" y="7972425"/>
            <a:ext cx="5391150" cy="19050"/>
          </a:xfrm>
          <a:prstGeom prst="rect">
            <a:avLst/>
          </a:prstGeom>
          <a:solidFill>
            <a:srgbClr val="BFBFBF"/>
          </a:solidFill>
          <a:ln/>
        </p:spPr>
      </p:sp>
      <p:sp>
        <p:nvSpPr>
          <p:cNvPr id="75" name="Text 72"/>
          <p:cNvSpPr/>
          <p:nvPr/>
        </p:nvSpPr>
        <p:spPr>
          <a:xfrm>
            <a:off x="4552950" y="7229475"/>
            <a:ext cx="5209985"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Two commits changed the same lines; you choose the result</a:t>
            </a:r>
            <a:endParaRPr lang="en-US" sz="1875" dirty="0"/>
          </a:p>
        </p:txBody>
      </p:sp>
      <p:sp>
        <p:nvSpPr>
          <p:cNvPr id="76" name="Shape 73"/>
          <p:cNvSpPr/>
          <p:nvPr/>
        </p:nvSpPr>
        <p:spPr>
          <a:xfrm>
            <a:off x="9772650" y="7972425"/>
            <a:ext cx="3714750" cy="19050"/>
          </a:xfrm>
          <a:prstGeom prst="rect">
            <a:avLst/>
          </a:prstGeom>
          <a:solidFill>
            <a:srgbClr val="BFBFBF"/>
          </a:solidFill>
          <a:ln/>
        </p:spPr>
      </p:sp>
      <p:sp>
        <p:nvSpPr>
          <p:cNvPr id="77" name="Text 74"/>
          <p:cNvSpPr/>
          <p:nvPr/>
        </p:nvSpPr>
        <p:spPr>
          <a:xfrm>
            <a:off x="9944100" y="7229475"/>
            <a:ext cx="3483293"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Resolve conflicts dialog</a:t>
            </a:r>
            <a:endParaRPr lang="en-US" sz="1875" dirty="0"/>
          </a:p>
        </p:txBody>
      </p:sp>
      <p:sp>
        <p:nvSpPr>
          <p:cNvPr id="78" name="Shape 75"/>
          <p:cNvSpPr/>
          <p:nvPr/>
        </p:nvSpPr>
        <p:spPr>
          <a:xfrm>
            <a:off x="1809750" y="8548688"/>
            <a:ext cx="2571750" cy="19050"/>
          </a:xfrm>
          <a:prstGeom prst="rect">
            <a:avLst/>
          </a:prstGeom>
          <a:solidFill>
            <a:srgbClr val="BFBFBF"/>
          </a:solidFill>
          <a:ln/>
        </p:spPr>
      </p:sp>
      <p:sp>
        <p:nvSpPr>
          <p:cNvPr id="79" name="Text 76"/>
          <p:cNvSpPr/>
          <p:nvPr/>
        </p:nvSpPr>
        <p:spPr>
          <a:xfrm>
            <a:off x="1981200" y="8115300"/>
            <a:ext cx="230600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Segoe UI" pitchFamily="34" charset="0"/>
                <a:ea typeface="Segoe UI" pitchFamily="34" charset="-122"/>
                <a:cs typeface="Segoe UI" pitchFamily="34" charset="-120"/>
              </a:rPr>
              <a:t>Origin</a:t>
            </a:r>
            <a:endParaRPr lang="en-US" sz="1875" dirty="0"/>
          </a:p>
        </p:txBody>
      </p:sp>
      <p:sp>
        <p:nvSpPr>
          <p:cNvPr id="80" name="Shape 77"/>
          <p:cNvSpPr/>
          <p:nvPr/>
        </p:nvSpPr>
        <p:spPr>
          <a:xfrm>
            <a:off x="4381500" y="8548688"/>
            <a:ext cx="5391150" cy="19050"/>
          </a:xfrm>
          <a:prstGeom prst="rect">
            <a:avLst/>
          </a:prstGeom>
          <a:solidFill>
            <a:srgbClr val="BFBFBF"/>
          </a:solidFill>
          <a:ln/>
        </p:spPr>
      </p:sp>
      <p:sp>
        <p:nvSpPr>
          <p:cNvPr id="81" name="Text 78"/>
          <p:cNvSpPr/>
          <p:nvPr/>
        </p:nvSpPr>
        <p:spPr>
          <a:xfrm>
            <a:off x="4552950" y="8115300"/>
            <a:ext cx="5209985"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The name for the GitHub copy of your repo</a:t>
            </a:r>
            <a:endParaRPr lang="en-US" sz="1875" dirty="0"/>
          </a:p>
        </p:txBody>
      </p:sp>
      <p:sp>
        <p:nvSpPr>
          <p:cNvPr id="82" name="Shape 79"/>
          <p:cNvSpPr/>
          <p:nvPr/>
        </p:nvSpPr>
        <p:spPr>
          <a:xfrm>
            <a:off x="9772650" y="8548688"/>
            <a:ext cx="3714750" cy="19050"/>
          </a:xfrm>
          <a:prstGeom prst="rect">
            <a:avLst/>
          </a:prstGeom>
          <a:solidFill>
            <a:srgbClr val="BFBFBF"/>
          </a:solidFill>
          <a:ln/>
        </p:spPr>
      </p:sp>
      <p:sp>
        <p:nvSpPr>
          <p:cNvPr id="83" name="Text 80"/>
          <p:cNvSpPr/>
          <p:nvPr/>
        </p:nvSpPr>
        <p:spPr>
          <a:xfrm>
            <a:off x="9944100" y="8115300"/>
            <a:ext cx="3483293"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Shown on the sync button</a:t>
            </a:r>
            <a:endParaRPr lang="en-US" sz="1875" dirty="0"/>
          </a:p>
        </p:txBody>
      </p:sp>
      <p:sp>
        <p:nvSpPr>
          <p:cNvPr id="84" name="Text 81"/>
          <p:cNvSpPr/>
          <p:nvPr/>
        </p:nvSpPr>
        <p:spPr>
          <a:xfrm>
            <a:off x="1054418" y="9810750"/>
            <a:ext cx="13264515"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1</a:t>
            </a:r>
            <a:endParaRPr lang="en-US" sz="1800" dirty="0"/>
          </a:p>
        </p:txBody>
      </p:sp>
      <p:sp>
        <p:nvSpPr>
          <p:cNvPr id="85" name="Text 82"/>
          <p:cNvSpPr/>
          <p:nvPr/>
        </p:nvSpPr>
        <p:spPr>
          <a:xfrm>
            <a:off x="13459420" y="9810750"/>
            <a:ext cx="19943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6</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543050" cy="10287000"/>
          </a:xfrm>
          <a:prstGeom prst="rect">
            <a:avLst/>
          </a:prstGeom>
          <a:solidFill>
            <a:srgbClr val="E6E6E6"/>
          </a:solidFill>
          <a:ln/>
        </p:spPr>
      </p:sp>
      <p:pic>
        <p:nvPicPr>
          <p:cNvPr id="3" name="Image 0" descr="preencoded.png">    </p:cNvPr>
          <p:cNvPicPr>
            <a:picLocks noChangeAspect="1"/>
          </p:cNvPicPr>
          <p:nvPr/>
        </p:nvPicPr>
        <p:blipFill>
          <a:blip r:embed="rId1"/>
          <a:stretch>
            <a:fillRect/>
          </a:stretch>
        </p:blipFill>
        <p:spPr>
          <a:xfrm>
            <a:off x="200025" y="133350"/>
            <a:ext cx="1143000" cy="1143000"/>
          </a:xfrm>
          <a:prstGeom prst="rect">
            <a:avLst/>
          </a:prstGeom>
        </p:spPr>
      </p:pic>
      <p:sp>
        <p:nvSpPr>
          <p:cNvPr id="4" name="Text 1"/>
          <p:cNvSpPr/>
          <p:nvPr/>
        </p:nvSpPr>
        <p:spPr>
          <a:xfrm>
            <a:off x="133350" y="2381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Overview</a:t>
            </a:r>
            <a:endParaRPr lang="en-US" sz="1800" dirty="0"/>
          </a:p>
        </p:txBody>
      </p:sp>
      <p:sp>
        <p:nvSpPr>
          <p:cNvPr id="5" name="Text 2"/>
          <p:cNvSpPr/>
          <p:nvPr/>
        </p:nvSpPr>
        <p:spPr>
          <a:xfrm>
            <a:off x="133350" y="2762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Concepts</a:t>
            </a:r>
            <a:endParaRPr lang="en-US" sz="1800" dirty="0"/>
          </a:p>
        </p:txBody>
      </p:sp>
      <p:sp>
        <p:nvSpPr>
          <p:cNvPr id="6" name="Text 3"/>
          <p:cNvSpPr/>
          <p:nvPr/>
        </p:nvSpPr>
        <p:spPr>
          <a:xfrm>
            <a:off x="133350" y="3143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Setup</a:t>
            </a:r>
            <a:endParaRPr lang="en-US" sz="1800" dirty="0"/>
          </a:p>
        </p:txBody>
      </p:sp>
      <p:sp>
        <p:nvSpPr>
          <p:cNvPr id="7" name="Text 4"/>
          <p:cNvSpPr/>
          <p:nvPr/>
        </p:nvSpPr>
        <p:spPr>
          <a:xfrm>
            <a:off x="133350" y="3524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Clone</a:t>
            </a:r>
            <a:endParaRPr lang="en-US" sz="1800" dirty="0"/>
          </a:p>
        </p:txBody>
      </p:sp>
      <p:sp>
        <p:nvSpPr>
          <p:cNvPr id="8" name="Text 5"/>
          <p:cNvSpPr/>
          <p:nvPr/>
        </p:nvSpPr>
        <p:spPr>
          <a:xfrm>
            <a:off x="133350" y="3905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Commit</a:t>
            </a:r>
            <a:endParaRPr lang="en-US" sz="1800" dirty="0"/>
          </a:p>
        </p:txBody>
      </p:sp>
      <p:sp>
        <p:nvSpPr>
          <p:cNvPr id="9" name="Text 6"/>
          <p:cNvSpPr/>
          <p:nvPr/>
        </p:nvSpPr>
        <p:spPr>
          <a:xfrm>
            <a:off x="133350" y="4286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Sync</a:t>
            </a:r>
            <a:endParaRPr lang="en-US" sz="1800" dirty="0"/>
          </a:p>
        </p:txBody>
      </p:sp>
      <p:sp>
        <p:nvSpPr>
          <p:cNvPr id="10" name="Text 7"/>
          <p:cNvSpPr/>
          <p:nvPr/>
        </p:nvSpPr>
        <p:spPr>
          <a:xfrm>
            <a:off x="133350" y="4667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Branches</a:t>
            </a:r>
            <a:endParaRPr lang="en-US" sz="1800" dirty="0"/>
          </a:p>
        </p:txBody>
      </p:sp>
      <p:sp>
        <p:nvSpPr>
          <p:cNvPr id="11" name="Text 8"/>
          <p:cNvSpPr/>
          <p:nvPr/>
        </p:nvSpPr>
        <p:spPr>
          <a:xfrm>
            <a:off x="133350" y="5048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Conflicts</a:t>
            </a:r>
            <a:endParaRPr lang="en-US" sz="1800" dirty="0"/>
          </a:p>
        </p:txBody>
      </p:sp>
      <p:sp>
        <p:nvSpPr>
          <p:cNvPr id="12" name="Text 9"/>
          <p:cNvSpPr/>
          <p:nvPr/>
        </p:nvSpPr>
        <p:spPr>
          <a:xfrm>
            <a:off x="133350" y="5429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History</a:t>
            </a:r>
            <a:endParaRPr lang="en-US" sz="1800" dirty="0"/>
          </a:p>
        </p:txBody>
      </p:sp>
      <p:sp>
        <p:nvSpPr>
          <p:cNvPr id="13" name="Text 10"/>
          <p:cNvSpPr/>
          <p:nvPr/>
        </p:nvSpPr>
        <p:spPr>
          <a:xfrm>
            <a:off x="133350" y="5810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Agent-Ready</a:t>
            </a:r>
            <a:endParaRPr lang="en-US" sz="1800" dirty="0"/>
          </a:p>
        </p:txBody>
      </p:sp>
      <p:sp>
        <p:nvSpPr>
          <p:cNvPr id="14" name="Text 11"/>
          <p:cNvSpPr/>
          <p:nvPr/>
        </p:nvSpPr>
        <p:spPr>
          <a:xfrm>
            <a:off x="133350" y="6191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Review</a:t>
            </a:r>
            <a:endParaRPr lang="en-US" sz="1800" dirty="0"/>
          </a:p>
        </p:txBody>
      </p:sp>
      <p:sp>
        <p:nvSpPr>
          <p:cNvPr id="15" name="Text 12"/>
          <p:cNvSpPr/>
          <p:nvPr/>
        </p:nvSpPr>
        <p:spPr>
          <a:xfrm>
            <a:off x="1657350" y="200025"/>
            <a:ext cx="10988040" cy="1057275"/>
          </a:xfrm>
          <a:prstGeom prst="rect">
            <a:avLst/>
          </a:prstGeom>
          <a:noFill/>
          <a:ln/>
        </p:spPr>
        <p:txBody>
          <a:bodyPr wrap="square" lIns="25400" tIns="25400" rIns="25400" bIns="25400" rtlCol="0" anchor="ctr">
            <a:norm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Why This Matters for Agents</a:t>
            </a:r>
            <a:endParaRPr lang="en-US" sz="4800" dirty="0"/>
          </a:p>
        </p:txBody>
      </p:sp>
      <p:sp>
        <p:nvSpPr>
          <p:cNvPr id="16" name="Text 13"/>
          <p:cNvSpPr/>
          <p:nvPr/>
        </p:nvSpPr>
        <p:spPr>
          <a:xfrm>
            <a:off x="12515950" y="133350"/>
            <a:ext cx="1142901"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1</a:t>
            </a:r>
            <a:endParaRPr lang="en-US" sz="2100" dirty="0"/>
          </a:p>
        </p:txBody>
      </p:sp>
      <p:sp>
        <p:nvSpPr>
          <p:cNvPr id="17" name="Shape 14"/>
          <p:cNvSpPr/>
          <p:nvPr/>
        </p:nvSpPr>
        <p:spPr>
          <a:xfrm>
            <a:off x="1657350" y="1219200"/>
            <a:ext cx="11925300" cy="66675"/>
          </a:xfrm>
          <a:prstGeom prst="rect">
            <a:avLst/>
          </a:prstGeom>
          <a:solidFill>
            <a:srgbClr val="000000"/>
          </a:solidFill>
          <a:ln/>
        </p:spPr>
      </p:sp>
      <p:sp>
        <p:nvSpPr>
          <p:cNvPr id="18" name="Text 15"/>
          <p:cNvSpPr/>
          <p:nvPr/>
        </p:nvSpPr>
        <p:spPr>
          <a:xfrm>
            <a:off x="1809750" y="1619250"/>
            <a:ext cx="12027980" cy="784820"/>
          </a:xfrm>
          <a:prstGeom prst="rect">
            <a:avLst/>
          </a:prstGeom>
          <a:noFill/>
          <a:ln/>
        </p:spPr>
        <p:txBody>
          <a:bodyPr wrap="square" lIns="25400" tIns="25400" rIns="25400" bIns="25400" rtlCol="0" anchor="t">
            <a:normAutofit/>
          </a:bodyPr>
          <a:lstStyle/>
          <a:p>
            <a:pPr algn="l" indent="0" marL="0">
              <a:lnSpc>
                <a:spcPct val="105000"/>
              </a:lnSpc>
              <a:buNone/>
            </a:pPr>
            <a:r>
              <a:rPr lang="en-US" sz="2100" dirty="0">
                <a:solidFill>
                  <a:srgbClr val="000000"/>
                </a:solidFill>
                <a:latin typeface="Segoe UI" pitchFamily="34" charset="0"/>
                <a:ea typeface="Segoe UI" pitchFamily="34" charset="-122"/>
                <a:cs typeface="Segoe UI" pitchFamily="34" charset="-120"/>
              </a:rPr>
              <a:t>A cloud coding agent such as ChatGPT Codex works from your GitHub repo, not your laptop. The loop looks like this:</a:t>
            </a:r>
            <a:endParaRPr lang="en-US" sz="2100" dirty="0"/>
          </a:p>
        </p:txBody>
      </p:sp>
      <p:sp>
        <p:nvSpPr>
          <p:cNvPr id="19" name="Shape 16"/>
          <p:cNvSpPr/>
          <p:nvPr/>
        </p:nvSpPr>
        <p:spPr>
          <a:xfrm>
            <a:off x="1809750" y="2651720"/>
            <a:ext cx="2244030" cy="2609850"/>
          </a:xfrm>
          <a:prstGeom prst="rect">
            <a:avLst/>
          </a:prstGeom>
          <a:solidFill>
            <a:srgbClr val="152A47"/>
          </a:solidFill>
          <a:ln/>
        </p:spPr>
      </p:sp>
      <p:sp>
        <p:nvSpPr>
          <p:cNvPr id="20" name="Text 17"/>
          <p:cNvSpPr/>
          <p:nvPr/>
        </p:nvSpPr>
        <p:spPr>
          <a:xfrm>
            <a:off x="1981200" y="2861270"/>
            <a:ext cx="2091244" cy="469900"/>
          </a:xfrm>
          <a:prstGeom prst="rect">
            <a:avLst/>
          </a:prstGeom>
          <a:noFill/>
          <a:ln/>
        </p:spPr>
        <p:txBody>
          <a:bodyPr wrap="square" lIns="25400" tIns="25400" rIns="25400" bIns="25400" rtlCol="0" anchor="t">
            <a:normAutofit/>
          </a:bodyPr>
          <a:lstStyle/>
          <a:p>
            <a:pPr algn="l" indent="0" marL="0">
              <a:buNone/>
            </a:pPr>
            <a:r>
              <a:rPr lang="en-US" sz="2550" b="1" dirty="0">
                <a:solidFill>
                  <a:srgbClr val="00B0F0"/>
                </a:solidFill>
                <a:latin typeface="Segoe UI" pitchFamily="34" charset="0"/>
                <a:ea typeface="Segoe UI" pitchFamily="34" charset="-122"/>
                <a:cs typeface="Segoe UI" pitchFamily="34" charset="-120"/>
              </a:rPr>
              <a:t>1</a:t>
            </a:r>
            <a:endParaRPr lang="en-US" sz="2550" dirty="0"/>
          </a:p>
        </p:txBody>
      </p:sp>
      <p:sp>
        <p:nvSpPr>
          <p:cNvPr id="21" name="Text 18"/>
          <p:cNvSpPr/>
          <p:nvPr/>
        </p:nvSpPr>
        <p:spPr>
          <a:xfrm>
            <a:off x="1981200" y="3388321"/>
            <a:ext cx="1977330" cy="681038"/>
          </a:xfrm>
          <a:prstGeom prst="rect">
            <a:avLst/>
          </a:prstGeom>
          <a:noFill/>
          <a:ln/>
        </p:spPr>
        <p:txBody>
          <a:bodyPr wrap="square" lIns="25400" tIns="25400" rIns="25400" bIns="25400" rtlCol="0" anchor="t">
            <a:normAutofit/>
          </a:bodyPr>
          <a:lstStyle/>
          <a:p>
            <a:pPr algn="l" indent="0" marL="0">
              <a:lnSpc>
                <a:spcPct val="103316"/>
              </a:lnSpc>
              <a:buNone/>
            </a:pPr>
            <a:r>
              <a:rPr lang="en-US" sz="1875" dirty="0">
                <a:solidFill>
                  <a:srgbClr val="FFFFFF"/>
                </a:solidFill>
                <a:latin typeface="Segoe UI" pitchFamily="34" charset="0"/>
                <a:ea typeface="Segoe UI" pitchFamily="34" charset="-122"/>
                <a:cs typeface="Segoe UI" pitchFamily="34" charset="-120"/>
              </a:rPr>
              <a:t>You push the repo to GitHub</a:t>
            </a:r>
            <a:endParaRPr lang="en-US" sz="1875" dirty="0"/>
          </a:p>
        </p:txBody>
      </p:sp>
      <p:sp>
        <p:nvSpPr>
          <p:cNvPr id="22" name="Shape 19"/>
          <p:cNvSpPr/>
          <p:nvPr/>
        </p:nvSpPr>
        <p:spPr>
          <a:xfrm>
            <a:off x="4168080" y="2651720"/>
            <a:ext cx="2244130" cy="2609850"/>
          </a:xfrm>
          <a:prstGeom prst="rect">
            <a:avLst/>
          </a:prstGeom>
          <a:solidFill>
            <a:srgbClr val="F2F2F2"/>
          </a:solidFill>
          <a:ln/>
        </p:spPr>
      </p:sp>
      <p:sp>
        <p:nvSpPr>
          <p:cNvPr id="23" name="Text 20"/>
          <p:cNvSpPr/>
          <p:nvPr/>
        </p:nvSpPr>
        <p:spPr>
          <a:xfrm>
            <a:off x="4339530" y="2861270"/>
            <a:ext cx="2091353" cy="469900"/>
          </a:xfrm>
          <a:prstGeom prst="rect">
            <a:avLst/>
          </a:prstGeom>
          <a:noFill/>
          <a:ln/>
        </p:spPr>
        <p:txBody>
          <a:bodyPr wrap="square" lIns="25400" tIns="25400" rIns="25400" bIns="25400" rtlCol="0" anchor="t">
            <a:normAutofit/>
          </a:bodyPr>
          <a:lstStyle/>
          <a:p>
            <a:pPr algn="l" indent="0" marL="0">
              <a:buNone/>
            </a:pPr>
            <a:r>
              <a:rPr lang="en-US" sz="2550" b="1" dirty="0">
                <a:solidFill>
                  <a:srgbClr val="1F6FB2"/>
                </a:solidFill>
                <a:latin typeface="Segoe UI" pitchFamily="34" charset="0"/>
                <a:ea typeface="Segoe UI" pitchFamily="34" charset="-122"/>
                <a:cs typeface="Segoe UI" pitchFamily="34" charset="-120"/>
              </a:rPr>
              <a:t>2</a:t>
            </a:r>
            <a:endParaRPr lang="en-US" sz="2550" dirty="0"/>
          </a:p>
        </p:txBody>
      </p:sp>
      <p:sp>
        <p:nvSpPr>
          <p:cNvPr id="24" name="Text 21"/>
          <p:cNvSpPr/>
          <p:nvPr/>
        </p:nvSpPr>
        <p:spPr>
          <a:xfrm>
            <a:off x="4339530" y="3388321"/>
            <a:ext cx="1977430" cy="1002506"/>
          </a:xfrm>
          <a:prstGeom prst="rect">
            <a:avLst/>
          </a:prstGeom>
          <a:noFill/>
          <a:ln/>
        </p:spPr>
        <p:txBody>
          <a:bodyPr wrap="square" lIns="25400" tIns="25400" rIns="25400" bIns="25400" rtlCol="0" anchor="t">
            <a:normAutofit/>
          </a:bodyPr>
          <a:lstStyle/>
          <a:p>
            <a:pPr algn="l" indent="0" marL="0">
              <a:lnSpc>
                <a:spcPct val="103316"/>
              </a:lnSpc>
              <a:buNone/>
            </a:pPr>
            <a:r>
              <a:rPr lang="en-US" sz="1875" dirty="0">
                <a:solidFill>
                  <a:srgbClr val="000000"/>
                </a:solidFill>
                <a:latin typeface="Segoe UI" pitchFamily="34" charset="0"/>
                <a:ea typeface="Segoe UI" pitchFamily="34" charset="-122"/>
                <a:cs typeface="Segoe UI" pitchFamily="34" charset="-120"/>
              </a:rPr>
              <a:t>Agent reads the repo in its sandbox</a:t>
            </a:r>
            <a:endParaRPr lang="en-US" sz="1875" dirty="0"/>
          </a:p>
        </p:txBody>
      </p:sp>
      <p:sp>
        <p:nvSpPr>
          <p:cNvPr id="25" name="Shape 22"/>
          <p:cNvSpPr/>
          <p:nvPr/>
        </p:nvSpPr>
        <p:spPr>
          <a:xfrm>
            <a:off x="6526510" y="2651720"/>
            <a:ext cx="2244030" cy="2609850"/>
          </a:xfrm>
          <a:prstGeom prst="rect">
            <a:avLst/>
          </a:prstGeom>
          <a:solidFill>
            <a:srgbClr val="F2F2F2"/>
          </a:solidFill>
          <a:ln/>
        </p:spPr>
      </p:sp>
      <p:sp>
        <p:nvSpPr>
          <p:cNvPr id="26" name="Text 23"/>
          <p:cNvSpPr/>
          <p:nvPr/>
        </p:nvSpPr>
        <p:spPr>
          <a:xfrm>
            <a:off x="6697960" y="2861270"/>
            <a:ext cx="2091244" cy="469900"/>
          </a:xfrm>
          <a:prstGeom prst="rect">
            <a:avLst/>
          </a:prstGeom>
          <a:noFill/>
          <a:ln/>
        </p:spPr>
        <p:txBody>
          <a:bodyPr wrap="square" lIns="25400" tIns="25400" rIns="25400" bIns="25400" rtlCol="0" anchor="t">
            <a:normAutofit/>
          </a:bodyPr>
          <a:lstStyle/>
          <a:p>
            <a:pPr algn="l" indent="0" marL="0">
              <a:buNone/>
            </a:pPr>
            <a:r>
              <a:rPr lang="en-US" sz="2550" b="1" dirty="0">
                <a:solidFill>
                  <a:srgbClr val="1F6FB2"/>
                </a:solidFill>
                <a:latin typeface="Segoe UI" pitchFamily="34" charset="0"/>
                <a:ea typeface="Segoe UI" pitchFamily="34" charset="-122"/>
                <a:cs typeface="Segoe UI" pitchFamily="34" charset="-120"/>
              </a:rPr>
              <a:t>3</a:t>
            </a:r>
            <a:endParaRPr lang="en-US" sz="2550" dirty="0"/>
          </a:p>
        </p:txBody>
      </p:sp>
      <p:sp>
        <p:nvSpPr>
          <p:cNvPr id="27" name="Text 24"/>
          <p:cNvSpPr/>
          <p:nvPr/>
        </p:nvSpPr>
        <p:spPr>
          <a:xfrm>
            <a:off x="6697960" y="3388321"/>
            <a:ext cx="1977330" cy="1002506"/>
          </a:xfrm>
          <a:prstGeom prst="rect">
            <a:avLst/>
          </a:prstGeom>
          <a:noFill/>
          <a:ln/>
        </p:spPr>
        <p:txBody>
          <a:bodyPr wrap="square" lIns="25400" tIns="25400" rIns="25400" bIns="25400" rtlCol="0" anchor="t">
            <a:normAutofit/>
          </a:bodyPr>
          <a:lstStyle/>
          <a:p>
            <a:pPr algn="l" indent="0" marL="0">
              <a:lnSpc>
                <a:spcPct val="103316"/>
              </a:lnSpc>
              <a:buNone/>
            </a:pPr>
            <a:r>
              <a:rPr lang="en-US" sz="1875" dirty="0">
                <a:solidFill>
                  <a:srgbClr val="000000"/>
                </a:solidFill>
                <a:latin typeface="Segoe UI" pitchFamily="34" charset="0"/>
                <a:ea typeface="Segoe UI" pitchFamily="34" charset="-122"/>
                <a:cs typeface="Segoe UI" pitchFamily="34" charset="-120"/>
              </a:rPr>
              <a:t>Agent commits to a branch and opens a PR</a:t>
            </a:r>
            <a:endParaRPr lang="en-US" sz="1875" dirty="0"/>
          </a:p>
        </p:txBody>
      </p:sp>
      <p:sp>
        <p:nvSpPr>
          <p:cNvPr id="28" name="Shape 25"/>
          <p:cNvSpPr/>
          <p:nvPr/>
        </p:nvSpPr>
        <p:spPr>
          <a:xfrm>
            <a:off x="8884841" y="2651720"/>
            <a:ext cx="2244130" cy="2609850"/>
          </a:xfrm>
          <a:prstGeom prst="rect">
            <a:avLst/>
          </a:prstGeom>
          <a:solidFill>
            <a:srgbClr val="152A47"/>
          </a:solidFill>
          <a:ln/>
        </p:spPr>
      </p:sp>
      <p:sp>
        <p:nvSpPr>
          <p:cNvPr id="29" name="Text 26"/>
          <p:cNvSpPr/>
          <p:nvPr/>
        </p:nvSpPr>
        <p:spPr>
          <a:xfrm>
            <a:off x="9056291" y="2861270"/>
            <a:ext cx="2091353" cy="469900"/>
          </a:xfrm>
          <a:prstGeom prst="rect">
            <a:avLst/>
          </a:prstGeom>
          <a:noFill/>
          <a:ln/>
        </p:spPr>
        <p:txBody>
          <a:bodyPr wrap="square" lIns="25400" tIns="25400" rIns="25400" bIns="25400" rtlCol="0" anchor="t">
            <a:normAutofit/>
          </a:bodyPr>
          <a:lstStyle/>
          <a:p>
            <a:pPr algn="l" indent="0" marL="0">
              <a:buNone/>
            </a:pPr>
            <a:r>
              <a:rPr lang="en-US" sz="2550" b="1" dirty="0">
                <a:solidFill>
                  <a:srgbClr val="00B0F0"/>
                </a:solidFill>
                <a:latin typeface="Segoe UI" pitchFamily="34" charset="0"/>
                <a:ea typeface="Segoe UI" pitchFamily="34" charset="-122"/>
                <a:cs typeface="Segoe UI" pitchFamily="34" charset="-120"/>
              </a:rPr>
              <a:t>4</a:t>
            </a:r>
            <a:endParaRPr lang="en-US" sz="2550" dirty="0"/>
          </a:p>
        </p:txBody>
      </p:sp>
      <p:sp>
        <p:nvSpPr>
          <p:cNvPr id="30" name="Text 27"/>
          <p:cNvSpPr/>
          <p:nvPr/>
        </p:nvSpPr>
        <p:spPr>
          <a:xfrm>
            <a:off x="9056291" y="3388321"/>
            <a:ext cx="1977430" cy="1002506"/>
          </a:xfrm>
          <a:prstGeom prst="rect">
            <a:avLst/>
          </a:prstGeom>
          <a:noFill/>
          <a:ln/>
        </p:spPr>
        <p:txBody>
          <a:bodyPr wrap="square" lIns="25400" tIns="25400" rIns="25400" bIns="25400" rtlCol="0" anchor="t">
            <a:normAutofit/>
          </a:bodyPr>
          <a:lstStyle/>
          <a:p>
            <a:pPr algn="l" indent="0" marL="0">
              <a:lnSpc>
                <a:spcPct val="103316"/>
              </a:lnSpc>
              <a:buNone/>
            </a:pPr>
            <a:r>
              <a:rPr lang="en-US" sz="1875" dirty="0">
                <a:solidFill>
                  <a:srgbClr val="FFFFFF"/>
                </a:solidFill>
                <a:latin typeface="Segoe UI" pitchFamily="34" charset="0"/>
                <a:ea typeface="Segoe UI" pitchFamily="34" charset="-122"/>
                <a:cs typeface="Segoe UI" pitchFamily="34" charset="-120"/>
              </a:rPr>
              <a:t>You review the diff, test, and merge</a:t>
            </a:r>
            <a:endParaRPr lang="en-US" sz="1875" dirty="0"/>
          </a:p>
        </p:txBody>
      </p:sp>
      <p:sp>
        <p:nvSpPr>
          <p:cNvPr id="31" name="Shape 28"/>
          <p:cNvSpPr/>
          <p:nvPr/>
        </p:nvSpPr>
        <p:spPr>
          <a:xfrm>
            <a:off x="11243271" y="2651720"/>
            <a:ext cx="2244030" cy="2609850"/>
          </a:xfrm>
          <a:prstGeom prst="rect">
            <a:avLst/>
          </a:prstGeom>
          <a:solidFill>
            <a:srgbClr val="152A47"/>
          </a:solidFill>
          <a:ln/>
        </p:spPr>
      </p:sp>
      <p:sp>
        <p:nvSpPr>
          <p:cNvPr id="32" name="Text 29"/>
          <p:cNvSpPr/>
          <p:nvPr/>
        </p:nvSpPr>
        <p:spPr>
          <a:xfrm>
            <a:off x="11414721" y="2861270"/>
            <a:ext cx="2091244" cy="469900"/>
          </a:xfrm>
          <a:prstGeom prst="rect">
            <a:avLst/>
          </a:prstGeom>
          <a:noFill/>
          <a:ln/>
        </p:spPr>
        <p:txBody>
          <a:bodyPr wrap="square" lIns="25400" tIns="25400" rIns="25400" bIns="25400" rtlCol="0" anchor="t">
            <a:normAutofit/>
          </a:bodyPr>
          <a:lstStyle/>
          <a:p>
            <a:pPr algn="l" indent="0" marL="0">
              <a:buNone/>
            </a:pPr>
            <a:r>
              <a:rPr lang="en-US" sz="2550" b="1" dirty="0">
                <a:solidFill>
                  <a:srgbClr val="00B0F0"/>
                </a:solidFill>
                <a:latin typeface="Segoe UI" pitchFamily="34" charset="0"/>
                <a:ea typeface="Segoe UI" pitchFamily="34" charset="-122"/>
                <a:cs typeface="Segoe UI" pitchFamily="34" charset="-120"/>
              </a:rPr>
              <a:t>5</a:t>
            </a:r>
            <a:endParaRPr lang="en-US" sz="2550" dirty="0"/>
          </a:p>
        </p:txBody>
      </p:sp>
      <p:sp>
        <p:nvSpPr>
          <p:cNvPr id="33" name="Text 30"/>
          <p:cNvSpPr/>
          <p:nvPr/>
        </p:nvSpPr>
        <p:spPr>
          <a:xfrm>
            <a:off x="11414721" y="3388321"/>
            <a:ext cx="1977330" cy="681038"/>
          </a:xfrm>
          <a:prstGeom prst="rect">
            <a:avLst/>
          </a:prstGeom>
          <a:noFill/>
          <a:ln/>
        </p:spPr>
        <p:txBody>
          <a:bodyPr wrap="square" lIns="25400" tIns="25400" rIns="25400" bIns="25400" rtlCol="0" anchor="t">
            <a:normAutofit/>
          </a:bodyPr>
          <a:lstStyle/>
          <a:p>
            <a:pPr algn="l" indent="0" marL="0">
              <a:lnSpc>
                <a:spcPct val="103316"/>
              </a:lnSpc>
              <a:buNone/>
            </a:pPr>
            <a:r>
              <a:rPr lang="en-US" sz="1875" dirty="0">
                <a:solidFill>
                  <a:srgbClr val="FFFFFF"/>
                </a:solidFill>
                <a:latin typeface="Segoe UI" pitchFamily="34" charset="0"/>
                <a:ea typeface="Segoe UI" pitchFamily="34" charset="-122"/>
                <a:cs typeface="Segoe UI" pitchFamily="34" charset="-120"/>
              </a:rPr>
              <a:t>You pull the result to your laptop</a:t>
            </a:r>
            <a:endParaRPr lang="en-US" sz="1875" dirty="0"/>
          </a:p>
        </p:txBody>
      </p:sp>
      <p:sp>
        <p:nvSpPr>
          <p:cNvPr id="34" name="Shape 31"/>
          <p:cNvSpPr/>
          <p:nvPr/>
        </p:nvSpPr>
        <p:spPr>
          <a:xfrm>
            <a:off x="1809750" y="5594946"/>
            <a:ext cx="209550" cy="209550"/>
          </a:xfrm>
          <a:prstGeom prst="rect">
            <a:avLst/>
          </a:prstGeom>
          <a:solidFill>
            <a:srgbClr val="152A47"/>
          </a:solidFill>
          <a:ln/>
        </p:spPr>
      </p:sp>
      <p:sp>
        <p:nvSpPr>
          <p:cNvPr id="35" name="Text 32"/>
          <p:cNvSpPr/>
          <p:nvPr/>
        </p:nvSpPr>
        <p:spPr>
          <a:xfrm>
            <a:off x="2114550" y="5547321"/>
            <a:ext cx="3008426" cy="342900"/>
          </a:xfrm>
          <a:prstGeom prst="rect">
            <a:avLst/>
          </a:prstGeom>
          <a:noFill/>
          <a:ln/>
        </p:spPr>
        <p:txBody>
          <a:bodyPr wrap="square" lIns="0" tIns="0" rIns="0" bIns="0" rtlCol="0" anchor="t">
            <a:normAutofit/>
          </a:bodyPr>
          <a:lstStyle/>
          <a:p>
            <a:pPr algn="l" indent="0" marL="0">
              <a:buNone/>
            </a:pPr>
            <a:r>
              <a:rPr lang="en-US" sz="1800" dirty="0">
                <a:solidFill>
                  <a:srgbClr val="404040"/>
                </a:solidFill>
                <a:latin typeface="Segoe UI" pitchFamily="34" charset="0"/>
                <a:ea typeface="Segoe UI" pitchFamily="34" charset="-122"/>
                <a:cs typeface="Segoe UI" pitchFamily="34" charset="-120"/>
              </a:rPr>
              <a:t>Your steps (today's exercises)</a:t>
            </a:r>
            <a:endParaRPr lang="en-US" sz="1800" dirty="0"/>
          </a:p>
        </p:txBody>
      </p:sp>
      <p:sp>
        <p:nvSpPr>
          <p:cNvPr id="36" name="Shape 33"/>
          <p:cNvSpPr/>
          <p:nvPr/>
        </p:nvSpPr>
        <p:spPr>
          <a:xfrm>
            <a:off x="5302052" y="5588596"/>
            <a:ext cx="222250" cy="222250"/>
          </a:xfrm>
          <a:prstGeom prst="rect">
            <a:avLst/>
          </a:prstGeom>
          <a:solidFill>
            <a:srgbClr val="F2F2F2"/>
          </a:solidFill>
          <a:ln w="6350">
            <a:solidFill>
              <a:srgbClr val="BFBFBF"/>
            </a:solidFill>
            <a:prstDash val="solid"/>
          </a:ln>
        </p:spPr>
      </p:sp>
      <p:sp>
        <p:nvSpPr>
          <p:cNvPr id="37" name="Text 34"/>
          <p:cNvSpPr/>
          <p:nvPr/>
        </p:nvSpPr>
        <p:spPr>
          <a:xfrm>
            <a:off x="5619552" y="5547321"/>
            <a:ext cx="2343646" cy="342900"/>
          </a:xfrm>
          <a:prstGeom prst="rect">
            <a:avLst/>
          </a:prstGeom>
          <a:noFill/>
          <a:ln/>
        </p:spPr>
        <p:txBody>
          <a:bodyPr wrap="square" lIns="0" tIns="0" rIns="0" bIns="0" rtlCol="0" anchor="t">
            <a:normAutofit/>
          </a:bodyPr>
          <a:lstStyle/>
          <a:p>
            <a:pPr algn="l" indent="0" marL="0">
              <a:buNone/>
            </a:pPr>
            <a:r>
              <a:rPr lang="en-US" sz="1800" dirty="0">
                <a:solidFill>
                  <a:srgbClr val="404040"/>
                </a:solidFill>
                <a:latin typeface="Segoe UI" pitchFamily="34" charset="0"/>
                <a:ea typeface="Segoe UI" pitchFamily="34" charset="-122"/>
                <a:cs typeface="Segoe UI" pitchFamily="34" charset="-120"/>
              </a:rPr>
              <a:t>Agent steps (Lesson 2)</a:t>
            </a:r>
            <a:endParaRPr lang="en-US" sz="1800" dirty="0"/>
          </a:p>
        </p:txBody>
      </p:sp>
      <p:sp>
        <p:nvSpPr>
          <p:cNvPr id="38" name="Shape 35"/>
          <p:cNvSpPr/>
          <p:nvPr/>
        </p:nvSpPr>
        <p:spPr>
          <a:xfrm>
            <a:off x="1809750" y="6137871"/>
            <a:ext cx="11677650" cy="19050"/>
          </a:xfrm>
          <a:prstGeom prst="rect">
            <a:avLst/>
          </a:prstGeom>
          <a:solidFill>
            <a:srgbClr val="BFBFBF"/>
          </a:solidFill>
          <a:ln/>
        </p:spPr>
      </p:sp>
      <p:sp>
        <p:nvSpPr>
          <p:cNvPr id="39" name="Text 36"/>
          <p:cNvSpPr/>
          <p:nvPr/>
        </p:nvSpPr>
        <p:spPr>
          <a:xfrm>
            <a:off x="1809750" y="6404571"/>
            <a:ext cx="12027980" cy="438150"/>
          </a:xfrm>
          <a:prstGeom prst="rect">
            <a:avLst/>
          </a:prstGeom>
          <a:noFill/>
          <a:ln/>
        </p:spPr>
        <p:txBody>
          <a:bodyPr wrap="square" lIns="25400" tIns="25400" rIns="25400" bIns="25400" rtlCol="0" anchor="t">
            <a:normAutofit/>
          </a:bodyPr>
          <a:lstStyle/>
          <a:p>
            <a:pPr algn="l" indent="0" marL="0">
              <a:lnSpc>
                <a:spcPct val="105000"/>
              </a:lnSpc>
              <a:buNone/>
            </a:pPr>
            <a:r>
              <a:rPr lang="en-US" sz="2250" b="1" dirty="0">
                <a:solidFill>
                  <a:srgbClr val="000000"/>
                </a:solidFill>
                <a:latin typeface="Segoe UI" pitchFamily="34" charset="0"/>
                <a:ea typeface="Segoe UI" pitchFamily="34" charset="-122"/>
                <a:cs typeface="Segoe UI" pitchFamily="34" charset="-120"/>
              </a:rPr>
              <a:t>Every agent change arrives as a commit you can read, test, and revert.</a:t>
            </a:r>
            <a:endParaRPr lang="en-US" sz="2250" dirty="0"/>
          </a:p>
        </p:txBody>
      </p:sp>
      <p:sp>
        <p:nvSpPr>
          <p:cNvPr id="40" name="Text 37"/>
          <p:cNvSpPr/>
          <p:nvPr/>
        </p:nvSpPr>
        <p:spPr>
          <a:xfrm>
            <a:off x="1054418" y="9810750"/>
            <a:ext cx="13264515"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1</a:t>
            </a:r>
            <a:endParaRPr lang="en-US" sz="1800" dirty="0"/>
          </a:p>
        </p:txBody>
      </p:sp>
      <p:sp>
        <p:nvSpPr>
          <p:cNvPr id="41" name="Text 38"/>
          <p:cNvSpPr/>
          <p:nvPr/>
        </p:nvSpPr>
        <p:spPr>
          <a:xfrm>
            <a:off x="13459420" y="9810750"/>
            <a:ext cx="19943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7</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543050" cy="10287000"/>
          </a:xfrm>
          <a:prstGeom prst="rect">
            <a:avLst/>
          </a:prstGeom>
          <a:solidFill>
            <a:srgbClr val="E6E6E6"/>
          </a:solidFill>
          <a:ln/>
        </p:spPr>
      </p:sp>
      <p:pic>
        <p:nvPicPr>
          <p:cNvPr id="3" name="Image 0" descr="preencoded.png">    </p:cNvPr>
          <p:cNvPicPr>
            <a:picLocks noChangeAspect="1"/>
          </p:cNvPicPr>
          <p:nvPr/>
        </p:nvPicPr>
        <p:blipFill>
          <a:blip r:embed="rId1"/>
          <a:stretch>
            <a:fillRect/>
          </a:stretch>
        </p:blipFill>
        <p:spPr>
          <a:xfrm>
            <a:off x="200025" y="133350"/>
            <a:ext cx="1143000" cy="1143000"/>
          </a:xfrm>
          <a:prstGeom prst="rect">
            <a:avLst/>
          </a:prstGeom>
        </p:spPr>
      </p:pic>
      <p:sp>
        <p:nvSpPr>
          <p:cNvPr id="4" name="Text 1"/>
          <p:cNvSpPr/>
          <p:nvPr/>
        </p:nvSpPr>
        <p:spPr>
          <a:xfrm>
            <a:off x="133350" y="2381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Overview</a:t>
            </a:r>
            <a:endParaRPr lang="en-US" sz="1800" dirty="0"/>
          </a:p>
        </p:txBody>
      </p:sp>
      <p:sp>
        <p:nvSpPr>
          <p:cNvPr id="5" name="Text 2"/>
          <p:cNvSpPr/>
          <p:nvPr/>
        </p:nvSpPr>
        <p:spPr>
          <a:xfrm>
            <a:off x="133350" y="2762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Concepts</a:t>
            </a:r>
            <a:endParaRPr lang="en-US" sz="1800" dirty="0"/>
          </a:p>
        </p:txBody>
      </p:sp>
      <p:sp>
        <p:nvSpPr>
          <p:cNvPr id="6" name="Text 3"/>
          <p:cNvSpPr/>
          <p:nvPr/>
        </p:nvSpPr>
        <p:spPr>
          <a:xfrm>
            <a:off x="133350" y="3143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Setup</a:t>
            </a:r>
            <a:endParaRPr lang="en-US" sz="1800" dirty="0"/>
          </a:p>
        </p:txBody>
      </p:sp>
      <p:sp>
        <p:nvSpPr>
          <p:cNvPr id="7" name="Text 4"/>
          <p:cNvSpPr/>
          <p:nvPr/>
        </p:nvSpPr>
        <p:spPr>
          <a:xfrm>
            <a:off x="133350" y="3524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Clone</a:t>
            </a:r>
            <a:endParaRPr lang="en-US" sz="1800" dirty="0"/>
          </a:p>
        </p:txBody>
      </p:sp>
      <p:sp>
        <p:nvSpPr>
          <p:cNvPr id="8" name="Text 5"/>
          <p:cNvSpPr/>
          <p:nvPr/>
        </p:nvSpPr>
        <p:spPr>
          <a:xfrm>
            <a:off x="133350" y="3905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Commit</a:t>
            </a:r>
            <a:endParaRPr lang="en-US" sz="1800" dirty="0"/>
          </a:p>
        </p:txBody>
      </p:sp>
      <p:sp>
        <p:nvSpPr>
          <p:cNvPr id="9" name="Text 6"/>
          <p:cNvSpPr/>
          <p:nvPr/>
        </p:nvSpPr>
        <p:spPr>
          <a:xfrm>
            <a:off x="133350" y="4286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Sync</a:t>
            </a:r>
            <a:endParaRPr lang="en-US" sz="1800" dirty="0"/>
          </a:p>
        </p:txBody>
      </p:sp>
      <p:sp>
        <p:nvSpPr>
          <p:cNvPr id="10" name="Text 7"/>
          <p:cNvSpPr/>
          <p:nvPr/>
        </p:nvSpPr>
        <p:spPr>
          <a:xfrm>
            <a:off x="133350" y="4667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Branches</a:t>
            </a:r>
            <a:endParaRPr lang="en-US" sz="1800" dirty="0"/>
          </a:p>
        </p:txBody>
      </p:sp>
      <p:sp>
        <p:nvSpPr>
          <p:cNvPr id="11" name="Text 8"/>
          <p:cNvSpPr/>
          <p:nvPr/>
        </p:nvSpPr>
        <p:spPr>
          <a:xfrm>
            <a:off x="133350" y="5048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Conflicts</a:t>
            </a:r>
            <a:endParaRPr lang="en-US" sz="1800" dirty="0"/>
          </a:p>
        </p:txBody>
      </p:sp>
      <p:sp>
        <p:nvSpPr>
          <p:cNvPr id="12" name="Text 9"/>
          <p:cNvSpPr/>
          <p:nvPr/>
        </p:nvSpPr>
        <p:spPr>
          <a:xfrm>
            <a:off x="133350" y="5429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History</a:t>
            </a:r>
            <a:endParaRPr lang="en-US" sz="1800" dirty="0"/>
          </a:p>
        </p:txBody>
      </p:sp>
      <p:sp>
        <p:nvSpPr>
          <p:cNvPr id="13" name="Text 10"/>
          <p:cNvSpPr/>
          <p:nvPr/>
        </p:nvSpPr>
        <p:spPr>
          <a:xfrm>
            <a:off x="133350" y="5810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Agent-Ready</a:t>
            </a:r>
            <a:endParaRPr lang="en-US" sz="1800" dirty="0"/>
          </a:p>
        </p:txBody>
      </p:sp>
      <p:sp>
        <p:nvSpPr>
          <p:cNvPr id="14" name="Text 11"/>
          <p:cNvSpPr/>
          <p:nvPr/>
        </p:nvSpPr>
        <p:spPr>
          <a:xfrm>
            <a:off x="133350" y="6191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Review</a:t>
            </a:r>
            <a:endParaRPr lang="en-US" sz="1800" dirty="0"/>
          </a:p>
        </p:txBody>
      </p:sp>
      <p:sp>
        <p:nvSpPr>
          <p:cNvPr id="15" name="Text 12"/>
          <p:cNvSpPr/>
          <p:nvPr/>
        </p:nvSpPr>
        <p:spPr>
          <a:xfrm>
            <a:off x="1657350" y="200025"/>
            <a:ext cx="10988040" cy="1057275"/>
          </a:xfrm>
          <a:prstGeom prst="rect">
            <a:avLst/>
          </a:prstGeom>
          <a:noFill/>
          <a:ln/>
        </p:spPr>
        <p:txBody>
          <a:bodyPr wrap="square" lIns="25400" tIns="25400" rIns="25400" bIns="25400" rtlCol="0" anchor="ctr">
            <a:norm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Exercise 1: Sign In &amp; Configure</a:t>
            </a:r>
            <a:endParaRPr lang="en-US" sz="4800" dirty="0"/>
          </a:p>
        </p:txBody>
      </p:sp>
      <p:sp>
        <p:nvSpPr>
          <p:cNvPr id="16" name="Text 13"/>
          <p:cNvSpPr/>
          <p:nvPr/>
        </p:nvSpPr>
        <p:spPr>
          <a:xfrm>
            <a:off x="12515950" y="133350"/>
            <a:ext cx="1142901"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1</a:t>
            </a:r>
            <a:endParaRPr lang="en-US" sz="2100" dirty="0"/>
          </a:p>
        </p:txBody>
      </p:sp>
      <p:sp>
        <p:nvSpPr>
          <p:cNvPr id="17" name="Shape 14"/>
          <p:cNvSpPr/>
          <p:nvPr/>
        </p:nvSpPr>
        <p:spPr>
          <a:xfrm>
            <a:off x="1657350" y="1219200"/>
            <a:ext cx="11925300" cy="66675"/>
          </a:xfrm>
          <a:prstGeom prst="rect">
            <a:avLst/>
          </a:prstGeom>
          <a:solidFill>
            <a:srgbClr val="000000"/>
          </a:solidFill>
          <a:ln/>
        </p:spPr>
      </p:sp>
      <p:sp>
        <p:nvSpPr>
          <p:cNvPr id="18" name="Shape 15"/>
          <p:cNvSpPr/>
          <p:nvPr/>
        </p:nvSpPr>
        <p:spPr>
          <a:xfrm>
            <a:off x="1809750" y="1524000"/>
            <a:ext cx="1314450" cy="381000"/>
          </a:xfrm>
          <a:prstGeom prst="roundRect">
            <a:avLst>
              <a:gd name="adj" fmla="val 15000"/>
            </a:avLst>
          </a:prstGeom>
          <a:solidFill>
            <a:srgbClr val="595959"/>
          </a:solidFill>
          <a:ln/>
        </p:spPr>
      </p:sp>
      <p:sp>
        <p:nvSpPr>
          <p:cNvPr id="19" name="Text 16"/>
          <p:cNvSpPr/>
          <p:nvPr/>
        </p:nvSpPr>
        <p:spPr>
          <a:xfrm>
            <a:off x="1962150" y="1562100"/>
            <a:ext cx="1085850"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Segoe UI" pitchFamily="34" charset="0"/>
                <a:ea typeface="Segoe UI" pitchFamily="34" charset="-122"/>
                <a:cs typeface="Segoe UI" pitchFamily="34" charset="-120"/>
              </a:rPr>
              <a:t>EXERCISE</a:t>
            </a:r>
            <a:endParaRPr lang="en-US" sz="1800" dirty="0"/>
          </a:p>
        </p:txBody>
      </p:sp>
      <p:sp>
        <p:nvSpPr>
          <p:cNvPr id="20" name="Text 17"/>
          <p:cNvSpPr/>
          <p:nvPr/>
        </p:nvSpPr>
        <p:spPr>
          <a:xfrm>
            <a:off x="1809750" y="2152650"/>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1</a:t>
            </a:r>
            <a:endParaRPr lang="en-US" sz="2250" dirty="0"/>
          </a:p>
        </p:txBody>
      </p:sp>
      <p:sp>
        <p:nvSpPr>
          <p:cNvPr id="21" name="Text 18"/>
          <p:cNvSpPr/>
          <p:nvPr/>
        </p:nvSpPr>
        <p:spPr>
          <a:xfrm>
            <a:off x="2343150" y="2152650"/>
            <a:ext cx="5699760"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Open GitHub Desktop.</a:t>
            </a:r>
            <a:endParaRPr lang="en-US" sz="2025" dirty="0"/>
          </a:p>
        </p:txBody>
      </p:sp>
      <p:sp>
        <p:nvSpPr>
          <p:cNvPr id="22" name="Text 19"/>
          <p:cNvSpPr/>
          <p:nvPr/>
        </p:nvSpPr>
        <p:spPr>
          <a:xfrm>
            <a:off x="1809750" y="2786063"/>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2</a:t>
            </a:r>
            <a:endParaRPr lang="en-US" sz="2250" dirty="0"/>
          </a:p>
        </p:txBody>
      </p:sp>
      <p:sp>
        <p:nvSpPr>
          <p:cNvPr id="23" name="Text 20"/>
          <p:cNvSpPr/>
          <p:nvPr/>
        </p:nvSpPr>
        <p:spPr>
          <a:xfrm>
            <a:off x="2343150" y="2786063"/>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File › Options › Accounts › </a:t>
            </a:r>
            <a:pPr algn="l" indent="0" marL="0">
              <a:lnSpc>
                <a:spcPct val="101250"/>
              </a:lnSpc>
              <a:buNone/>
            </a:pPr>
            <a:r>
              <a:rPr lang="en-US" sz="2025" b="1" dirty="0">
                <a:solidFill>
                  <a:srgbClr val="000000"/>
                </a:solidFill>
                <a:latin typeface="Segoe UI" pitchFamily="34" charset="0"/>
                <a:ea typeface="Segoe UI" pitchFamily="34" charset="-122"/>
                <a:cs typeface="Segoe UI" pitchFamily="34" charset="-120"/>
              </a:rPr>
              <a:t>Sign in </a:t>
            </a:r>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to GitHub.com. Finish in the browser.</a:t>
            </a:r>
            <a:endParaRPr lang="en-US" sz="2025" dirty="0"/>
          </a:p>
        </p:txBody>
      </p:sp>
      <p:sp>
        <p:nvSpPr>
          <p:cNvPr id="24" name="Text 21"/>
          <p:cNvSpPr/>
          <p:nvPr/>
        </p:nvSpPr>
        <p:spPr>
          <a:xfrm>
            <a:off x="1809750" y="3728045"/>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3</a:t>
            </a:r>
            <a:endParaRPr lang="en-US" sz="2250" dirty="0"/>
          </a:p>
        </p:txBody>
      </p:sp>
      <p:sp>
        <p:nvSpPr>
          <p:cNvPr id="25" name="Text 22"/>
          <p:cNvSpPr/>
          <p:nvPr/>
        </p:nvSpPr>
        <p:spPr>
          <a:xfrm>
            <a:off x="2343150" y="3728045"/>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Options › Git: confirm your </a:t>
            </a:r>
            <a:pPr algn="l" indent="0" marL="0">
              <a:lnSpc>
                <a:spcPct val="101250"/>
              </a:lnSpc>
              <a:buNone/>
            </a:pPr>
            <a:r>
              <a:rPr lang="en-US" sz="2025" b="1" dirty="0">
                <a:solidFill>
                  <a:srgbClr val="000000"/>
                </a:solidFill>
                <a:latin typeface="Segoe UI" pitchFamily="34" charset="0"/>
                <a:ea typeface="Segoe UI" pitchFamily="34" charset="-122"/>
                <a:cs typeface="Segoe UI" pitchFamily="34" charset="-120"/>
              </a:rPr>
              <a:t>name </a:t>
            </a:r>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and </a:t>
            </a:r>
            <a:pPr algn="l" indent="0" marL="0">
              <a:lnSpc>
                <a:spcPct val="101250"/>
              </a:lnSpc>
              <a:buNone/>
            </a:pPr>
            <a:r>
              <a:rPr lang="en-US" sz="2025" b="1" dirty="0">
                <a:solidFill>
                  <a:srgbClr val="000000"/>
                </a:solidFill>
                <a:latin typeface="Segoe UI" pitchFamily="34" charset="0"/>
                <a:ea typeface="Segoe UI" pitchFamily="34" charset="-122"/>
                <a:cs typeface="Segoe UI" pitchFamily="34" charset="-120"/>
              </a:rPr>
              <a:t>email </a:t>
            </a:r>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 These label every commit you make.</a:t>
            </a:r>
            <a:endParaRPr lang="en-US" sz="2025" dirty="0"/>
          </a:p>
        </p:txBody>
      </p:sp>
      <p:sp>
        <p:nvSpPr>
          <p:cNvPr id="26" name="Text 23"/>
          <p:cNvSpPr/>
          <p:nvPr/>
        </p:nvSpPr>
        <p:spPr>
          <a:xfrm>
            <a:off x="1809750" y="4670028"/>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4</a:t>
            </a:r>
            <a:endParaRPr lang="en-US" sz="2250" dirty="0"/>
          </a:p>
        </p:txBody>
      </p:sp>
      <p:sp>
        <p:nvSpPr>
          <p:cNvPr id="27" name="Text 24"/>
          <p:cNvSpPr/>
          <p:nvPr/>
        </p:nvSpPr>
        <p:spPr>
          <a:xfrm>
            <a:off x="2343150" y="4670028"/>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Options › Integrations: set External editor to </a:t>
            </a:r>
            <a:pPr algn="l" indent="0" marL="0">
              <a:lnSpc>
                <a:spcPct val="101250"/>
              </a:lnSpc>
              <a:buNone/>
            </a:pPr>
            <a:r>
              <a:rPr lang="en-US" sz="2025" b="1" dirty="0">
                <a:solidFill>
                  <a:srgbClr val="000000"/>
                </a:solidFill>
                <a:latin typeface="Segoe UI" pitchFamily="34" charset="0"/>
                <a:ea typeface="Segoe UI" pitchFamily="34" charset="-122"/>
                <a:cs typeface="Segoe UI" pitchFamily="34" charset="-120"/>
              </a:rPr>
              <a:t>Visual Studio Code</a:t>
            </a:r>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a:t>
            </a:r>
            <a:endParaRPr lang="en-US" sz="2025" dirty="0"/>
          </a:p>
        </p:txBody>
      </p:sp>
      <p:sp>
        <p:nvSpPr>
          <p:cNvPr id="28" name="Text 25"/>
          <p:cNvSpPr/>
          <p:nvPr/>
        </p:nvSpPr>
        <p:spPr>
          <a:xfrm>
            <a:off x="1809750" y="5612011"/>
            <a:ext cx="6286500" cy="358080"/>
          </a:xfrm>
          <a:prstGeom prst="rect">
            <a:avLst/>
          </a:prstGeom>
          <a:noFill/>
          <a:ln/>
        </p:spPr>
        <p:txBody>
          <a:bodyPr wrap="square" lIns="25400" tIns="25400" rIns="25400" bIns="25400" rtlCol="0" anchor="t">
            <a:normAutofit/>
          </a:bodyPr>
          <a:lstStyle/>
          <a:p>
            <a:pPr algn="l" indent="0" marL="0">
              <a:lnSpc>
                <a:spcPct val="105000"/>
              </a:lnSpc>
              <a:buNone/>
            </a:pPr>
            <a:r>
              <a:rPr lang="en-US" sz="1800" dirty="0">
                <a:solidFill>
                  <a:srgbClr val="404040"/>
                </a:solidFill>
                <a:latin typeface="Segoe UI" pitchFamily="34" charset="0"/>
                <a:ea typeface="Segoe UI" pitchFamily="34" charset="-122"/>
                <a:cs typeface="Segoe UI" pitchFamily="34" charset="-120"/>
              </a:rPr>
              <a:t>Mac: GitHub Desktop › Settings instead of File › Options.</a:t>
            </a:r>
            <a:endParaRPr lang="en-US" sz="1800" dirty="0"/>
          </a:p>
        </p:txBody>
      </p:sp>
      <p:sp>
        <p:nvSpPr>
          <p:cNvPr id="29" name="Text 26"/>
          <p:cNvSpPr/>
          <p:nvPr/>
        </p:nvSpPr>
        <p:spPr>
          <a:xfrm>
            <a:off x="1054418" y="9810750"/>
            <a:ext cx="13264515"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1</a:t>
            </a:r>
            <a:endParaRPr lang="en-US" sz="1800" dirty="0"/>
          </a:p>
        </p:txBody>
      </p:sp>
      <p:sp>
        <p:nvSpPr>
          <p:cNvPr id="30" name="Text 27"/>
          <p:cNvSpPr/>
          <p:nvPr/>
        </p:nvSpPr>
        <p:spPr>
          <a:xfrm>
            <a:off x="13459420" y="9810750"/>
            <a:ext cx="19943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8</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543050" cy="10287000"/>
          </a:xfrm>
          <a:prstGeom prst="rect">
            <a:avLst/>
          </a:prstGeom>
          <a:solidFill>
            <a:srgbClr val="E6E6E6"/>
          </a:solidFill>
          <a:ln/>
        </p:spPr>
      </p:sp>
      <p:pic>
        <p:nvPicPr>
          <p:cNvPr id="3" name="Image 0" descr="preencoded.png">    </p:cNvPr>
          <p:cNvPicPr>
            <a:picLocks noChangeAspect="1"/>
          </p:cNvPicPr>
          <p:nvPr/>
        </p:nvPicPr>
        <p:blipFill>
          <a:blip r:embed="rId1"/>
          <a:stretch>
            <a:fillRect/>
          </a:stretch>
        </p:blipFill>
        <p:spPr>
          <a:xfrm>
            <a:off x="200025" y="133350"/>
            <a:ext cx="1143000" cy="1143000"/>
          </a:xfrm>
          <a:prstGeom prst="rect">
            <a:avLst/>
          </a:prstGeom>
        </p:spPr>
      </p:pic>
      <p:sp>
        <p:nvSpPr>
          <p:cNvPr id="4" name="Text 1"/>
          <p:cNvSpPr/>
          <p:nvPr/>
        </p:nvSpPr>
        <p:spPr>
          <a:xfrm>
            <a:off x="133350" y="2381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Overview</a:t>
            </a:r>
            <a:endParaRPr lang="en-US" sz="1800" dirty="0"/>
          </a:p>
        </p:txBody>
      </p:sp>
      <p:sp>
        <p:nvSpPr>
          <p:cNvPr id="5" name="Text 2"/>
          <p:cNvSpPr/>
          <p:nvPr/>
        </p:nvSpPr>
        <p:spPr>
          <a:xfrm>
            <a:off x="133350" y="2762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Concepts</a:t>
            </a:r>
            <a:endParaRPr lang="en-US" sz="1800" dirty="0"/>
          </a:p>
        </p:txBody>
      </p:sp>
      <p:sp>
        <p:nvSpPr>
          <p:cNvPr id="6" name="Text 3"/>
          <p:cNvSpPr/>
          <p:nvPr/>
        </p:nvSpPr>
        <p:spPr>
          <a:xfrm>
            <a:off x="133350" y="3143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Setup</a:t>
            </a:r>
            <a:endParaRPr lang="en-US" sz="1800" dirty="0"/>
          </a:p>
        </p:txBody>
      </p:sp>
      <p:sp>
        <p:nvSpPr>
          <p:cNvPr id="7" name="Text 4"/>
          <p:cNvSpPr/>
          <p:nvPr/>
        </p:nvSpPr>
        <p:spPr>
          <a:xfrm>
            <a:off x="133350" y="3524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Clone</a:t>
            </a:r>
            <a:endParaRPr lang="en-US" sz="1800" dirty="0"/>
          </a:p>
        </p:txBody>
      </p:sp>
      <p:sp>
        <p:nvSpPr>
          <p:cNvPr id="8" name="Text 5"/>
          <p:cNvSpPr/>
          <p:nvPr/>
        </p:nvSpPr>
        <p:spPr>
          <a:xfrm>
            <a:off x="133350" y="3905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Commit</a:t>
            </a:r>
            <a:endParaRPr lang="en-US" sz="1800" dirty="0"/>
          </a:p>
        </p:txBody>
      </p:sp>
      <p:sp>
        <p:nvSpPr>
          <p:cNvPr id="9" name="Text 6"/>
          <p:cNvSpPr/>
          <p:nvPr/>
        </p:nvSpPr>
        <p:spPr>
          <a:xfrm>
            <a:off x="133350" y="4286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Sync</a:t>
            </a:r>
            <a:endParaRPr lang="en-US" sz="1800" dirty="0"/>
          </a:p>
        </p:txBody>
      </p:sp>
      <p:sp>
        <p:nvSpPr>
          <p:cNvPr id="10" name="Text 7"/>
          <p:cNvSpPr/>
          <p:nvPr/>
        </p:nvSpPr>
        <p:spPr>
          <a:xfrm>
            <a:off x="133350" y="4667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Branches</a:t>
            </a:r>
            <a:endParaRPr lang="en-US" sz="1800" dirty="0"/>
          </a:p>
        </p:txBody>
      </p:sp>
      <p:sp>
        <p:nvSpPr>
          <p:cNvPr id="11" name="Text 8"/>
          <p:cNvSpPr/>
          <p:nvPr/>
        </p:nvSpPr>
        <p:spPr>
          <a:xfrm>
            <a:off x="133350" y="5048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Conflicts</a:t>
            </a:r>
            <a:endParaRPr lang="en-US" sz="1800" dirty="0"/>
          </a:p>
        </p:txBody>
      </p:sp>
      <p:sp>
        <p:nvSpPr>
          <p:cNvPr id="12" name="Text 9"/>
          <p:cNvSpPr/>
          <p:nvPr/>
        </p:nvSpPr>
        <p:spPr>
          <a:xfrm>
            <a:off x="133350" y="5429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History</a:t>
            </a:r>
            <a:endParaRPr lang="en-US" sz="1800" dirty="0"/>
          </a:p>
        </p:txBody>
      </p:sp>
      <p:sp>
        <p:nvSpPr>
          <p:cNvPr id="13" name="Text 10"/>
          <p:cNvSpPr/>
          <p:nvPr/>
        </p:nvSpPr>
        <p:spPr>
          <a:xfrm>
            <a:off x="133350" y="5810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Agent-Ready</a:t>
            </a:r>
            <a:endParaRPr lang="en-US" sz="1800" dirty="0"/>
          </a:p>
        </p:txBody>
      </p:sp>
      <p:sp>
        <p:nvSpPr>
          <p:cNvPr id="14" name="Text 11"/>
          <p:cNvSpPr/>
          <p:nvPr/>
        </p:nvSpPr>
        <p:spPr>
          <a:xfrm>
            <a:off x="133350" y="6191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Review</a:t>
            </a:r>
            <a:endParaRPr lang="en-US" sz="1800" dirty="0"/>
          </a:p>
        </p:txBody>
      </p:sp>
      <p:sp>
        <p:nvSpPr>
          <p:cNvPr id="15" name="Text 12"/>
          <p:cNvSpPr/>
          <p:nvPr/>
        </p:nvSpPr>
        <p:spPr>
          <a:xfrm>
            <a:off x="1657350" y="200025"/>
            <a:ext cx="10988040" cy="1057275"/>
          </a:xfrm>
          <a:prstGeom prst="rect">
            <a:avLst/>
          </a:prstGeom>
          <a:noFill/>
          <a:ln/>
        </p:spPr>
        <p:txBody>
          <a:bodyPr wrap="square" lIns="25400" tIns="25400" rIns="25400" bIns="25400" rtlCol="0" anchor="ctr">
            <a:norm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The Practice Project</a:t>
            </a:r>
            <a:endParaRPr lang="en-US" sz="4800" dirty="0"/>
          </a:p>
        </p:txBody>
      </p:sp>
      <p:sp>
        <p:nvSpPr>
          <p:cNvPr id="16" name="Text 13"/>
          <p:cNvSpPr/>
          <p:nvPr/>
        </p:nvSpPr>
        <p:spPr>
          <a:xfrm>
            <a:off x="12515950" y="133350"/>
            <a:ext cx="1142901"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1</a:t>
            </a:r>
            <a:endParaRPr lang="en-US" sz="2100" dirty="0"/>
          </a:p>
        </p:txBody>
      </p:sp>
      <p:sp>
        <p:nvSpPr>
          <p:cNvPr id="17" name="Shape 14"/>
          <p:cNvSpPr/>
          <p:nvPr/>
        </p:nvSpPr>
        <p:spPr>
          <a:xfrm>
            <a:off x="1657350" y="1219200"/>
            <a:ext cx="11925300" cy="66675"/>
          </a:xfrm>
          <a:prstGeom prst="rect">
            <a:avLst/>
          </a:prstGeom>
          <a:solidFill>
            <a:srgbClr val="000000"/>
          </a:solidFill>
          <a:ln/>
        </p:spPr>
      </p:sp>
      <p:sp>
        <p:nvSpPr>
          <p:cNvPr id="18" name="Text 15"/>
          <p:cNvSpPr/>
          <p:nvPr/>
        </p:nvSpPr>
        <p:spPr>
          <a:xfrm>
            <a:off x="1809750" y="1619250"/>
            <a:ext cx="4611052" cy="784820"/>
          </a:xfrm>
          <a:prstGeom prst="rect">
            <a:avLst/>
          </a:prstGeom>
          <a:noFill/>
          <a:ln/>
        </p:spPr>
        <p:txBody>
          <a:bodyPr wrap="square" lIns="25400" tIns="25400" rIns="25400" bIns="25400" rtlCol="0" anchor="t">
            <a:normAutofit/>
          </a:bodyPr>
          <a:lstStyle/>
          <a:p>
            <a:pPr algn="l" indent="0" marL="0">
              <a:lnSpc>
                <a:spcPct val="105000"/>
              </a:lnSpc>
              <a:buNone/>
            </a:pPr>
            <a:r>
              <a:rPr lang="en-US" sz="2100" b="1" dirty="0">
                <a:solidFill>
                  <a:srgbClr val="000000"/>
                </a:solidFill>
                <a:latin typeface="Segoe UI" pitchFamily="34" charset="0"/>
                <a:ea typeface="Segoe UI" pitchFamily="34" charset="-122"/>
                <a:cs typeface="Segoe UI" pitchFamily="34" charset="-120"/>
              </a:rPr>
              <a:t>beam-calc </a:t>
            </a:r>
            <a:pPr algn="l" indent="0" marL="0">
              <a:lnSpc>
                <a:spcPct val="105000"/>
              </a:lnSpc>
              <a:buNone/>
            </a:pPr>
            <a:r>
              <a:rPr lang="en-US" sz="2100" dirty="0">
                <a:solidFill>
                  <a:srgbClr val="000000"/>
                </a:solidFill>
                <a:latin typeface="Segoe UI" pitchFamily="34" charset="0"/>
                <a:ea typeface="Segoe UI" pitchFamily="34" charset="-122"/>
                <a:cs typeface="Segoe UI" pitchFamily="34" charset="-120"/>
              </a:rPr>
              <a:t>: tip deflection of a cantilever beam under a point load.</a:t>
            </a:r>
            <a:endParaRPr lang="en-US" sz="2100" dirty="0"/>
          </a:p>
        </p:txBody>
      </p:sp>
      <p:sp>
        <p:nvSpPr>
          <p:cNvPr id="19" name="Text 16"/>
          <p:cNvSpPr/>
          <p:nvPr/>
        </p:nvSpPr>
        <p:spPr>
          <a:xfrm>
            <a:off x="1742599" y="2708870"/>
            <a:ext cx="4611052" cy="419100"/>
          </a:xfrm>
          <a:prstGeom prst="rect">
            <a:avLst/>
          </a:prstGeom>
          <a:noFill/>
          <a:ln/>
        </p:spPr>
        <p:txBody>
          <a:bodyPr wrap="square" lIns="25400" tIns="25400" rIns="25400" bIns="25400" rtlCol="0" anchor="t">
            <a:normAutofit/>
          </a:bodyPr>
          <a:lstStyle/>
          <a:p>
            <a:pPr algn="ctr" indent="0" marL="0">
              <a:buNone/>
            </a:pPr>
            <a:r>
              <a:rPr lang="en-US" sz="2550" i="1" dirty="0">
                <a:solidFill>
                  <a:srgbClr val="000000"/>
                </a:solidFill>
                <a:latin typeface="Cambria Math" pitchFamily="34" charset="0"/>
                <a:ea typeface="Cambria Math" pitchFamily="34" charset="-122"/>
                <a:cs typeface="Cambria Math" pitchFamily="34" charset="-120"/>
              </a:rPr>
              <a:t>δ = P L³ / (3 E I)</a:t>
            </a:r>
            <a:endParaRPr lang="en-US" sz="2550" dirty="0"/>
          </a:p>
        </p:txBody>
      </p:sp>
      <p:sp>
        <p:nvSpPr>
          <p:cNvPr id="20" name="Shape 17"/>
          <p:cNvSpPr/>
          <p:nvPr/>
        </p:nvSpPr>
        <p:spPr>
          <a:xfrm>
            <a:off x="1809750" y="3432770"/>
            <a:ext cx="4476750" cy="2937371"/>
          </a:xfrm>
          <a:prstGeom prst="roundRect">
            <a:avLst>
              <a:gd name="adj" fmla="val 3891"/>
            </a:avLst>
          </a:prstGeom>
          <a:solidFill>
            <a:srgbClr val="1E1E1E"/>
          </a:solidFill>
          <a:ln/>
        </p:spPr>
      </p:sp>
      <p:sp>
        <p:nvSpPr>
          <p:cNvPr id="21" name="Text 18"/>
          <p:cNvSpPr/>
          <p:nvPr/>
        </p:nvSpPr>
        <p:spPr>
          <a:xfrm>
            <a:off x="2057400" y="3661370"/>
            <a:ext cx="4115752" cy="2518271"/>
          </a:xfrm>
          <a:prstGeom prst="rect">
            <a:avLst/>
          </a:prstGeom>
          <a:noFill/>
          <a:ln/>
        </p:spPr>
        <p:txBody>
          <a:bodyPr wrap="none" lIns="25400" tIns="25400" rIns="25400" bIns="25400" rtlCol="0" anchor="t">
            <a:normAutofit/>
          </a:bodyPr>
          <a:lstStyle/>
          <a:p>
            <a:pPr algn="l" indent="0" marL="0">
              <a:lnSpc>
                <a:spcPct val="136098"/>
              </a:lnSpc>
              <a:buNone/>
            </a:pPr>
            <a:r>
              <a:rPr lang="en-US" sz="1800" dirty="0">
                <a:solidFill>
                  <a:srgbClr val="D4D4D4"/>
                </a:solidFill>
                <a:latin typeface="Cascadia Mono" pitchFamily="34" charset="0"/>
                <a:ea typeface="Cascadia Mono" pitchFamily="34" charset="-122"/>
                <a:cs typeface="Cascadia Mono" pitchFamily="34" charset="-120"/>
              </a:rPr>
              <a:t>beam-calc/</a:t>
            </a:r>
            <a:endParaRPr lang="en-US" sz="1800" dirty="0"/>
          </a:p>
          <a:p>
            <a:pPr algn="l" indent="0" marL="0">
              <a:lnSpc>
                <a:spcPct val="136098"/>
              </a:lnSpc>
              <a:buNone/>
            </a:pPr>
            <a:r>
              <a:rPr lang="en-US" sz="1800" dirty="0">
                <a:solidFill>
                  <a:srgbClr val="D4D4D4"/>
                </a:solidFill>
                <a:latin typeface="Cascadia Mono" pitchFamily="34" charset="0"/>
                <a:ea typeface="Cascadia Mono" pitchFamily="34" charset="-122"/>
                <a:cs typeface="Cascadia Mono" pitchFamily="34" charset="-120"/>
              </a:rPr>
              <a:t>├─ README.md</a:t>
            </a:r>
            <a:endParaRPr lang="en-US" sz="1800" dirty="0"/>
          </a:p>
          <a:p>
            <a:pPr algn="l" indent="0" marL="0">
              <a:lnSpc>
                <a:spcPct val="136098"/>
              </a:lnSpc>
              <a:buNone/>
            </a:pPr>
            <a:r>
              <a:rPr lang="en-US" sz="1800" dirty="0">
                <a:solidFill>
                  <a:srgbClr val="D4D4D4"/>
                </a:solidFill>
                <a:latin typeface="Cascadia Mono" pitchFamily="34" charset="0"/>
                <a:ea typeface="Cascadia Mono" pitchFamily="34" charset="-122"/>
                <a:cs typeface="Cascadia Mono" pitchFamily="34" charset="-120"/>
              </a:rPr>
              <a:t>├─ AGENTS.md</a:t>
            </a:r>
            <a:endParaRPr lang="en-US" sz="1800" dirty="0"/>
          </a:p>
          <a:p>
            <a:pPr algn="l" indent="0" marL="0">
              <a:lnSpc>
                <a:spcPct val="136098"/>
              </a:lnSpc>
              <a:buNone/>
            </a:pPr>
            <a:r>
              <a:rPr lang="en-US" sz="1800" dirty="0">
                <a:solidFill>
                  <a:srgbClr val="D4D4D4"/>
                </a:solidFill>
                <a:latin typeface="Cascadia Mono" pitchFamily="34" charset="0"/>
                <a:ea typeface="Cascadia Mono" pitchFamily="34" charset="-122"/>
                <a:cs typeface="Cascadia Mono" pitchFamily="34" charset="-120"/>
              </a:rPr>
              <a:t>├─ .gitignore</a:t>
            </a:r>
            <a:endParaRPr lang="en-US" sz="1800" dirty="0"/>
          </a:p>
          <a:p>
            <a:pPr algn="l" indent="0" marL="0">
              <a:lnSpc>
                <a:spcPct val="136098"/>
              </a:lnSpc>
              <a:buNone/>
            </a:pPr>
            <a:r>
              <a:rPr lang="en-US" sz="1800" dirty="0">
                <a:solidFill>
                  <a:srgbClr val="D4D4D4"/>
                </a:solidFill>
                <a:latin typeface="Cascadia Mono" pitchFamily="34" charset="0"/>
                <a:ea typeface="Cascadia Mono" pitchFamily="34" charset="-122"/>
                <a:cs typeface="Cascadia Mono" pitchFamily="34" charset="-120"/>
              </a:rPr>
              <a:t>├─ beam.m</a:t>
            </a:r>
            <a:endParaRPr lang="en-US" sz="1800" dirty="0"/>
          </a:p>
          <a:p>
            <a:pPr algn="l" indent="0" marL="0">
              <a:lnSpc>
                <a:spcPct val="136098"/>
              </a:lnSpc>
              <a:buNone/>
            </a:pPr>
            <a:r>
              <a:rPr lang="en-US" sz="1800" dirty="0">
                <a:solidFill>
                  <a:srgbClr val="D4D4D4"/>
                </a:solidFill>
                <a:latin typeface="Cascadia Mono" pitchFamily="34" charset="0"/>
                <a:ea typeface="Cascadia Mono" pitchFamily="34" charset="-122"/>
                <a:cs typeface="Cascadia Mono" pitchFamily="34" charset="-120"/>
              </a:rPr>
              <a:t>└─ tests/</a:t>
            </a:r>
            <a:endParaRPr lang="en-US" sz="1800" dirty="0"/>
          </a:p>
          <a:p>
            <a:pPr algn="l" indent="0" marL="0">
              <a:lnSpc>
                <a:spcPct val="136098"/>
              </a:lnSpc>
              <a:buNone/>
            </a:pPr>
            <a:r>
              <a:rPr lang="en-US" sz="1800" dirty="0">
                <a:solidFill>
                  <a:srgbClr val="D4D4D4"/>
                </a:solidFill>
                <a:latin typeface="Cascadia Mono" pitchFamily="34" charset="0"/>
                <a:ea typeface="Cascadia Mono" pitchFamily="34" charset="-122"/>
                <a:cs typeface="Cascadia Mono" pitchFamily="34" charset="-120"/>
              </a:rPr>
              <a:t>   └─ testBeam.m</a:t>
            </a:r>
            <a:endParaRPr lang="en-US" sz="1800" dirty="0"/>
          </a:p>
        </p:txBody>
      </p:sp>
      <p:sp>
        <p:nvSpPr>
          <p:cNvPr id="22" name="Text 19"/>
          <p:cNvSpPr/>
          <p:nvPr/>
        </p:nvSpPr>
        <p:spPr>
          <a:xfrm>
            <a:off x="6572250" y="1619250"/>
            <a:ext cx="7606665" cy="298450"/>
          </a:xfrm>
          <a:prstGeom prst="rect">
            <a:avLst/>
          </a:prstGeom>
          <a:noFill/>
          <a:ln/>
        </p:spPr>
        <p:txBody>
          <a:bodyPr wrap="square" lIns="25400" tIns="25400" rIns="25400" bIns="25400" rtlCol="0" anchor="t">
            <a:normAutofit/>
          </a:bodyPr>
          <a:lstStyle/>
          <a:p>
            <a:pPr algn="l" indent="0" marL="0">
              <a:buNone/>
            </a:pPr>
            <a:r>
              <a:rPr lang="en-US" sz="1800" b="1" dirty="0">
                <a:solidFill>
                  <a:srgbClr val="000000"/>
                </a:solidFill>
                <a:latin typeface="Cascadia Mono" pitchFamily="34" charset="0"/>
                <a:ea typeface="Cascadia Mono" pitchFamily="34" charset="-122"/>
                <a:cs typeface="Cascadia Mono" pitchFamily="34" charset="-120"/>
              </a:rPr>
              <a:t>beam.m</a:t>
            </a:r>
            <a:endParaRPr lang="en-US" sz="1800" dirty="0"/>
          </a:p>
        </p:txBody>
      </p:sp>
      <p:sp>
        <p:nvSpPr>
          <p:cNvPr id="23" name="Shape 20"/>
          <p:cNvSpPr/>
          <p:nvPr/>
        </p:nvSpPr>
        <p:spPr>
          <a:xfrm>
            <a:off x="6572250" y="2012950"/>
            <a:ext cx="6915150" cy="3961606"/>
          </a:xfrm>
          <a:prstGeom prst="roundRect">
            <a:avLst>
              <a:gd name="adj" fmla="val 2885"/>
            </a:avLst>
          </a:prstGeom>
          <a:solidFill>
            <a:srgbClr val="1E1E1E"/>
          </a:solidFill>
          <a:ln/>
        </p:spPr>
      </p:sp>
      <p:sp>
        <p:nvSpPr>
          <p:cNvPr id="24" name="Text 21"/>
          <p:cNvSpPr/>
          <p:nvPr/>
        </p:nvSpPr>
        <p:spPr>
          <a:xfrm>
            <a:off x="6819900" y="2241550"/>
            <a:ext cx="6627304" cy="3542506"/>
          </a:xfrm>
          <a:prstGeom prst="rect">
            <a:avLst/>
          </a:prstGeom>
          <a:noFill/>
          <a:ln/>
        </p:spPr>
        <p:txBody>
          <a:bodyPr wrap="none" lIns="25400" tIns="25400" rIns="25400" bIns="25400" rtlCol="0" anchor="t">
            <a:normAutofit/>
          </a:bodyPr>
          <a:lstStyle/>
          <a:p>
            <a:pPr algn="l" indent="0" marL="0">
              <a:lnSpc>
                <a:spcPct val="138000"/>
              </a:lnSpc>
              <a:buNone/>
            </a:pPr>
            <a:r>
              <a:rPr lang="en-US" sz="1725" dirty="0">
                <a:solidFill>
                  <a:srgbClr val="6A9955"/>
                </a:solidFill>
                <a:latin typeface="Cascadia Mono" pitchFamily="34" charset="0"/>
                <a:ea typeface="Cascadia Mono" pitchFamily="34" charset="-122"/>
                <a:cs typeface="Cascadia Mono" pitchFamily="34" charset="-120"/>
              </a:rPr>
              <a:t>% Cantilever beam tip deflection </a:t>
            </a:r>
            <a:pPr algn="l" indent="0" marL="0">
              <a:lnSpc>
                <a:spcPct val="138000"/>
              </a:lnSpc>
              <a:buNone/>
            </a:pPr>
            <a:r>
              <a:rPr lang="en-US" sz="1725" dirty="0">
                <a:solidFill>
                  <a:srgbClr val="D4D4D4"/>
                </a:solidFill>
                <a:highlight>
                  <a:srgbClr val="1E1E1E"/>
                </a:highlight>
                <a:latin typeface="Cascadia Mono" pitchFamily="34" charset="0"/>
                <a:ea typeface="Cascadia Mono" pitchFamily="34" charset="-122"/>
                <a:cs typeface="Cascadia Mono" pitchFamily="34" charset="-120"/>
              </a:rPr>
              <a:t>E = 200e9;           </a:t>
            </a:r>
            <a:pPr algn="l" indent="0" marL="0">
              <a:lnSpc>
                <a:spcPct val="138000"/>
              </a:lnSpc>
              <a:buNone/>
            </a:pPr>
            <a:r>
              <a:rPr lang="en-US" sz="1725" dirty="0">
                <a:solidFill>
                  <a:srgbClr val="6A9955"/>
                </a:solidFill>
                <a:latin typeface="Cascadia Mono" pitchFamily="34" charset="0"/>
                <a:ea typeface="Cascadia Mono" pitchFamily="34" charset="-122"/>
                <a:cs typeface="Cascadia Mono" pitchFamily="34" charset="-120"/>
              </a:rPr>
              <a:t>% Pa, steel </a:t>
            </a:r>
            <a:pPr algn="l" indent="0" marL="0">
              <a:lnSpc>
                <a:spcPct val="138000"/>
              </a:lnSpc>
              <a:buNone/>
            </a:pPr>
            <a:r>
              <a:rPr lang="en-US" sz="1725" dirty="0">
                <a:solidFill>
                  <a:srgbClr val="D4D4D4"/>
                </a:solidFill>
                <a:highlight>
                  <a:srgbClr val="1E1E1E"/>
                </a:highlight>
                <a:latin typeface="Cascadia Mono" pitchFamily="34" charset="0"/>
                <a:ea typeface="Cascadia Mono" pitchFamily="34" charset="-122"/>
                <a:cs typeface="Cascadia Mono" pitchFamily="34" charset="-120"/>
              </a:rPr>
              <a:t>L = 2.0;             </a:t>
            </a:r>
            <a:pPr algn="l" indent="0" marL="0">
              <a:lnSpc>
                <a:spcPct val="138000"/>
              </a:lnSpc>
              <a:buNone/>
            </a:pPr>
            <a:r>
              <a:rPr lang="en-US" sz="1725" dirty="0">
                <a:solidFill>
                  <a:srgbClr val="6A9955"/>
                </a:solidFill>
                <a:latin typeface="Cascadia Mono" pitchFamily="34" charset="0"/>
                <a:ea typeface="Cascadia Mono" pitchFamily="34" charset="-122"/>
                <a:cs typeface="Cascadia Mono" pitchFamily="34" charset="-120"/>
              </a:rPr>
              <a:t>% m, length </a:t>
            </a:r>
            <a:pPr algn="l" indent="0" marL="0">
              <a:lnSpc>
                <a:spcPct val="138000"/>
              </a:lnSpc>
              <a:buNone/>
            </a:pPr>
            <a:r>
              <a:rPr lang="en-US" sz="1725" dirty="0">
                <a:solidFill>
                  <a:srgbClr val="D4D4D4"/>
                </a:solidFill>
                <a:highlight>
                  <a:srgbClr val="1E1E1E"/>
                </a:highlight>
                <a:latin typeface="Cascadia Mono" pitchFamily="34" charset="0"/>
                <a:ea typeface="Cascadia Mono" pitchFamily="34" charset="-122"/>
                <a:cs typeface="Cascadia Mono" pitchFamily="34" charset="-120"/>
              </a:rPr>
              <a:t>P = 500.0;           </a:t>
            </a:r>
            <a:pPr algn="l" indent="0" marL="0">
              <a:lnSpc>
                <a:spcPct val="138000"/>
              </a:lnSpc>
              <a:buNone/>
            </a:pPr>
            <a:r>
              <a:rPr lang="en-US" sz="1725" dirty="0">
                <a:solidFill>
                  <a:srgbClr val="6A9955"/>
                </a:solidFill>
                <a:latin typeface="Cascadia Mono" pitchFamily="34" charset="0"/>
                <a:ea typeface="Cascadia Mono" pitchFamily="34" charset="-122"/>
                <a:cs typeface="Cascadia Mono" pitchFamily="34" charset="-120"/>
              </a:rPr>
              <a:t>% N, tip load </a:t>
            </a:r>
            <a:pPr algn="l" indent="0" marL="0">
              <a:lnSpc>
                <a:spcPct val="138000"/>
              </a:lnSpc>
              <a:buNone/>
            </a:pPr>
            <a:r>
              <a:rPr lang="en-US" sz="1725" dirty="0">
                <a:solidFill>
                  <a:srgbClr val="D4D4D4"/>
                </a:solidFill>
                <a:highlight>
                  <a:srgbClr val="1E1E1E"/>
                </a:highlight>
                <a:latin typeface="Cascadia Mono" pitchFamily="34" charset="0"/>
                <a:ea typeface="Cascadia Mono" pitchFamily="34" charset="-122"/>
                <a:cs typeface="Cascadia Mono" pitchFamily="34" charset="-120"/>
              </a:rPr>
              <a:t>b = 0.05; h = 0.10;  </a:t>
            </a:r>
            <a:pPr algn="l" indent="0" marL="0">
              <a:lnSpc>
                <a:spcPct val="138000"/>
              </a:lnSpc>
              <a:buNone/>
            </a:pPr>
            <a:r>
              <a:rPr lang="en-US" sz="1725" dirty="0">
                <a:solidFill>
                  <a:srgbClr val="6A9955"/>
                </a:solidFill>
                <a:latin typeface="Cascadia Mono" pitchFamily="34" charset="0"/>
                <a:ea typeface="Cascadia Mono" pitchFamily="34" charset="-122"/>
                <a:cs typeface="Cascadia Mono" pitchFamily="34" charset="-120"/>
              </a:rPr>
              <a:t>% m, section </a:t>
            </a:r>
            <a:pPr algn="l" indent="0" marL="0">
              <a:lnSpc>
                <a:spcPct val="138000"/>
              </a:lnSpc>
              <a:buNone/>
            </a:pPr>
            <a:r>
              <a:rPr lang="en-US" sz="1725" dirty="0">
                <a:solidFill>
                  <a:srgbClr val="D4D4D4"/>
                </a:solidFill>
                <a:highlight>
                  <a:srgbClr val="1E1E1E"/>
                </a:highlight>
                <a:latin typeface="Cascadia Mono" pitchFamily="34" charset="0"/>
                <a:ea typeface="Cascadia Mono" pitchFamily="34" charset="-122"/>
                <a:cs typeface="Cascadia Mono" pitchFamily="34" charset="-120"/>
              </a:rPr>
              <a:t>I = b*h^3/12;</a:t>
            </a:r>
            <a:endParaRPr lang="en-US" sz="1725" dirty="0"/>
          </a:p>
          <a:p>
            <a:pPr algn="l" indent="0" marL="0">
              <a:lnSpc>
                <a:spcPct val="138000"/>
              </a:lnSpc>
              <a:buNone/>
            </a:pPr>
            <a:r>
              <a:rPr lang="en-US" sz="1725" dirty="0">
                <a:solidFill>
                  <a:srgbClr val="D4D4D4"/>
                </a:solidFill>
                <a:highlight>
                  <a:srgbClr val="1E1E1E"/>
                </a:highlight>
                <a:latin typeface="Cascadia Mono" pitchFamily="34" charset="0"/>
                <a:ea typeface="Cascadia Mono" pitchFamily="34" charset="-122"/>
                <a:cs typeface="Cascadia Mono" pitchFamily="34" charset="-120"/>
              </a:rPr>
              <a:t>delta = P*L^3/(3*E*I);</a:t>
            </a:r>
            <a:endParaRPr lang="en-US" sz="1725" dirty="0"/>
          </a:p>
          <a:p>
            <a:pPr algn="l" indent="0" marL="0">
              <a:lnSpc>
                <a:spcPct val="138000"/>
              </a:lnSpc>
              <a:buNone/>
            </a:pPr>
            <a:r>
              <a:rPr lang="en-US" sz="1725" dirty="0">
                <a:solidFill>
                  <a:srgbClr val="D4D4D4"/>
                </a:solidFill>
                <a:highlight>
                  <a:srgbClr val="1E1E1E"/>
                </a:highlight>
                <a:latin typeface="Cascadia Mono" pitchFamily="34" charset="0"/>
                <a:ea typeface="Cascadia Mono" pitchFamily="34" charset="-122"/>
                <a:cs typeface="Cascadia Mono" pitchFamily="34" charset="-120"/>
              </a:rPr>
              <a:t>fprintf('Tip deflection: %.2f mm\n', delta*1e3)</a:t>
            </a:r>
            <a:endParaRPr lang="en-US" sz="1725" dirty="0"/>
          </a:p>
        </p:txBody>
      </p:sp>
      <p:sp>
        <p:nvSpPr>
          <p:cNvPr id="25" name="Text 22"/>
          <p:cNvSpPr/>
          <p:nvPr/>
        </p:nvSpPr>
        <p:spPr>
          <a:xfrm>
            <a:off x="6572250" y="6107906"/>
            <a:ext cx="7606665" cy="342900"/>
          </a:xfrm>
          <a:prstGeom prst="rect">
            <a:avLst/>
          </a:prstGeom>
          <a:noFill/>
          <a:ln/>
        </p:spPr>
        <p:txBody>
          <a:bodyPr wrap="square" lIns="25400" tIns="25400" rIns="25400" bIns="25400" rtlCol="0" anchor="t">
            <a:normAutofit/>
          </a:bodyPr>
          <a:lstStyle/>
          <a:p>
            <a:pPr algn="l" indent="0" marL="0">
              <a:buNone/>
            </a:pPr>
            <a:r>
              <a:rPr lang="en-US" sz="1800" dirty="0">
                <a:solidFill>
                  <a:srgbClr val="404040"/>
                </a:solidFill>
                <a:latin typeface="Segoe UI" pitchFamily="34" charset="0"/>
                <a:ea typeface="Segoe UI" pitchFamily="34" charset="-122"/>
                <a:cs typeface="Segoe UI" pitchFamily="34" charset="-120"/>
              </a:rPr>
              <a:t>Output: </a:t>
            </a:r>
            <a:pPr algn="l" indent="0" marL="0">
              <a:buNone/>
            </a:pPr>
            <a:r>
              <a:rPr lang="en-US" sz="1800" dirty="0">
                <a:solidFill>
                  <a:srgbClr val="404040"/>
                </a:solidFill>
                <a:latin typeface="Cascadia Mono" pitchFamily="34" charset="0"/>
                <a:ea typeface="Cascadia Mono" pitchFamily="34" charset="-122"/>
                <a:cs typeface="Cascadia Mono" pitchFamily="34" charset="-120"/>
              </a:rPr>
              <a:t>Tip deflection: 1.60 mm</a:t>
            </a:r>
            <a:endParaRPr lang="en-US" sz="1800" dirty="0"/>
          </a:p>
        </p:txBody>
      </p:sp>
      <p:sp>
        <p:nvSpPr>
          <p:cNvPr id="26" name="Text 23"/>
          <p:cNvSpPr/>
          <p:nvPr/>
        </p:nvSpPr>
        <p:spPr>
          <a:xfrm>
            <a:off x="1054418" y="9810750"/>
            <a:ext cx="13264515"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1</a:t>
            </a:r>
            <a:endParaRPr lang="en-US" sz="1800" dirty="0"/>
          </a:p>
        </p:txBody>
      </p:sp>
      <p:sp>
        <p:nvSpPr>
          <p:cNvPr id="27" name="Text 24"/>
          <p:cNvSpPr/>
          <p:nvPr/>
        </p:nvSpPr>
        <p:spPr>
          <a:xfrm>
            <a:off x="13459420" y="9810750"/>
            <a:ext cx="19943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9</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543050" cy="10287000"/>
          </a:xfrm>
          <a:prstGeom prst="rect">
            <a:avLst/>
          </a:prstGeom>
          <a:solidFill>
            <a:srgbClr val="E6E6E6"/>
          </a:solidFill>
          <a:ln/>
        </p:spPr>
      </p:sp>
      <p:pic>
        <p:nvPicPr>
          <p:cNvPr id="3" name="Image 0" descr="preencoded.png">    </p:cNvPr>
          <p:cNvPicPr>
            <a:picLocks noChangeAspect="1"/>
          </p:cNvPicPr>
          <p:nvPr/>
        </p:nvPicPr>
        <p:blipFill>
          <a:blip r:embed="rId1"/>
          <a:stretch>
            <a:fillRect/>
          </a:stretch>
        </p:blipFill>
        <p:spPr>
          <a:xfrm>
            <a:off x="200025" y="133350"/>
            <a:ext cx="1143000" cy="1143000"/>
          </a:xfrm>
          <a:prstGeom prst="rect">
            <a:avLst/>
          </a:prstGeom>
        </p:spPr>
      </p:pic>
      <p:sp>
        <p:nvSpPr>
          <p:cNvPr id="4" name="Text 1"/>
          <p:cNvSpPr/>
          <p:nvPr/>
        </p:nvSpPr>
        <p:spPr>
          <a:xfrm>
            <a:off x="133350" y="2381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Overview</a:t>
            </a:r>
            <a:endParaRPr lang="en-US" sz="1800" dirty="0"/>
          </a:p>
        </p:txBody>
      </p:sp>
      <p:sp>
        <p:nvSpPr>
          <p:cNvPr id="5" name="Text 2"/>
          <p:cNvSpPr/>
          <p:nvPr/>
        </p:nvSpPr>
        <p:spPr>
          <a:xfrm>
            <a:off x="133350" y="2762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Concepts</a:t>
            </a:r>
            <a:endParaRPr lang="en-US" sz="1800" dirty="0"/>
          </a:p>
        </p:txBody>
      </p:sp>
      <p:sp>
        <p:nvSpPr>
          <p:cNvPr id="6" name="Text 3"/>
          <p:cNvSpPr/>
          <p:nvPr/>
        </p:nvSpPr>
        <p:spPr>
          <a:xfrm>
            <a:off x="133350" y="3143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Setup</a:t>
            </a:r>
            <a:endParaRPr lang="en-US" sz="1800" dirty="0"/>
          </a:p>
        </p:txBody>
      </p:sp>
      <p:sp>
        <p:nvSpPr>
          <p:cNvPr id="7" name="Text 4"/>
          <p:cNvSpPr/>
          <p:nvPr/>
        </p:nvSpPr>
        <p:spPr>
          <a:xfrm>
            <a:off x="133350" y="3524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Clone</a:t>
            </a:r>
            <a:endParaRPr lang="en-US" sz="1800" dirty="0"/>
          </a:p>
        </p:txBody>
      </p:sp>
      <p:sp>
        <p:nvSpPr>
          <p:cNvPr id="8" name="Text 5"/>
          <p:cNvSpPr/>
          <p:nvPr/>
        </p:nvSpPr>
        <p:spPr>
          <a:xfrm>
            <a:off x="133350" y="3905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Commit</a:t>
            </a:r>
            <a:endParaRPr lang="en-US" sz="1800" dirty="0"/>
          </a:p>
        </p:txBody>
      </p:sp>
      <p:sp>
        <p:nvSpPr>
          <p:cNvPr id="9" name="Text 6"/>
          <p:cNvSpPr/>
          <p:nvPr/>
        </p:nvSpPr>
        <p:spPr>
          <a:xfrm>
            <a:off x="133350" y="4286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Sync</a:t>
            </a:r>
            <a:endParaRPr lang="en-US" sz="1800" dirty="0"/>
          </a:p>
        </p:txBody>
      </p:sp>
      <p:sp>
        <p:nvSpPr>
          <p:cNvPr id="10" name="Text 7"/>
          <p:cNvSpPr/>
          <p:nvPr/>
        </p:nvSpPr>
        <p:spPr>
          <a:xfrm>
            <a:off x="133350" y="4667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Branches</a:t>
            </a:r>
            <a:endParaRPr lang="en-US" sz="1800" dirty="0"/>
          </a:p>
        </p:txBody>
      </p:sp>
      <p:sp>
        <p:nvSpPr>
          <p:cNvPr id="11" name="Text 8"/>
          <p:cNvSpPr/>
          <p:nvPr/>
        </p:nvSpPr>
        <p:spPr>
          <a:xfrm>
            <a:off x="133350" y="5048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Conflicts</a:t>
            </a:r>
            <a:endParaRPr lang="en-US" sz="1800" dirty="0"/>
          </a:p>
        </p:txBody>
      </p:sp>
      <p:sp>
        <p:nvSpPr>
          <p:cNvPr id="12" name="Text 9"/>
          <p:cNvSpPr/>
          <p:nvPr/>
        </p:nvSpPr>
        <p:spPr>
          <a:xfrm>
            <a:off x="133350" y="5429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History</a:t>
            </a:r>
            <a:endParaRPr lang="en-US" sz="1800" dirty="0"/>
          </a:p>
        </p:txBody>
      </p:sp>
      <p:sp>
        <p:nvSpPr>
          <p:cNvPr id="13" name="Text 10"/>
          <p:cNvSpPr/>
          <p:nvPr/>
        </p:nvSpPr>
        <p:spPr>
          <a:xfrm>
            <a:off x="133350" y="5810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Agent-Ready</a:t>
            </a:r>
            <a:endParaRPr lang="en-US" sz="1800" dirty="0"/>
          </a:p>
        </p:txBody>
      </p:sp>
      <p:sp>
        <p:nvSpPr>
          <p:cNvPr id="14" name="Text 11"/>
          <p:cNvSpPr/>
          <p:nvPr/>
        </p:nvSpPr>
        <p:spPr>
          <a:xfrm>
            <a:off x="133350" y="6191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Review</a:t>
            </a:r>
            <a:endParaRPr lang="en-US" sz="1800" dirty="0"/>
          </a:p>
        </p:txBody>
      </p:sp>
      <p:sp>
        <p:nvSpPr>
          <p:cNvPr id="15" name="Text 12"/>
          <p:cNvSpPr/>
          <p:nvPr/>
        </p:nvSpPr>
        <p:spPr>
          <a:xfrm>
            <a:off x="1657350" y="200025"/>
            <a:ext cx="10988040" cy="1057275"/>
          </a:xfrm>
          <a:prstGeom prst="rect">
            <a:avLst/>
          </a:prstGeom>
          <a:noFill/>
          <a:ln/>
        </p:spPr>
        <p:txBody>
          <a:bodyPr wrap="square" lIns="25400" tIns="25400" rIns="25400" bIns="25400" rtlCol="0" anchor="ctr">
            <a:norm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Exercise 2: Copy &amp; Clone</a:t>
            </a:r>
            <a:endParaRPr lang="en-US" sz="4800" dirty="0"/>
          </a:p>
        </p:txBody>
      </p:sp>
      <p:sp>
        <p:nvSpPr>
          <p:cNvPr id="16" name="Text 13"/>
          <p:cNvSpPr/>
          <p:nvPr/>
        </p:nvSpPr>
        <p:spPr>
          <a:xfrm>
            <a:off x="12515950" y="133350"/>
            <a:ext cx="1142901"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1</a:t>
            </a:r>
            <a:endParaRPr lang="en-US" sz="2100" dirty="0"/>
          </a:p>
        </p:txBody>
      </p:sp>
      <p:sp>
        <p:nvSpPr>
          <p:cNvPr id="17" name="Shape 14"/>
          <p:cNvSpPr/>
          <p:nvPr/>
        </p:nvSpPr>
        <p:spPr>
          <a:xfrm>
            <a:off x="1657350" y="1219200"/>
            <a:ext cx="11925300" cy="66675"/>
          </a:xfrm>
          <a:prstGeom prst="rect">
            <a:avLst/>
          </a:prstGeom>
          <a:solidFill>
            <a:srgbClr val="000000"/>
          </a:solidFill>
          <a:ln/>
        </p:spPr>
      </p:sp>
      <p:sp>
        <p:nvSpPr>
          <p:cNvPr id="18" name="Shape 15"/>
          <p:cNvSpPr/>
          <p:nvPr/>
        </p:nvSpPr>
        <p:spPr>
          <a:xfrm>
            <a:off x="1809750" y="1524000"/>
            <a:ext cx="1314450" cy="381000"/>
          </a:xfrm>
          <a:prstGeom prst="roundRect">
            <a:avLst>
              <a:gd name="adj" fmla="val 15000"/>
            </a:avLst>
          </a:prstGeom>
          <a:solidFill>
            <a:srgbClr val="595959"/>
          </a:solidFill>
          <a:ln/>
        </p:spPr>
      </p:sp>
      <p:sp>
        <p:nvSpPr>
          <p:cNvPr id="19" name="Text 16"/>
          <p:cNvSpPr/>
          <p:nvPr/>
        </p:nvSpPr>
        <p:spPr>
          <a:xfrm>
            <a:off x="1962150" y="1562100"/>
            <a:ext cx="1085850"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Segoe UI" pitchFamily="34" charset="0"/>
                <a:ea typeface="Segoe UI" pitchFamily="34" charset="-122"/>
                <a:cs typeface="Segoe UI" pitchFamily="34" charset="-120"/>
              </a:rPr>
              <a:t>EXERCISE</a:t>
            </a:r>
            <a:endParaRPr lang="en-US" sz="1800" dirty="0"/>
          </a:p>
        </p:txBody>
      </p:sp>
      <p:sp>
        <p:nvSpPr>
          <p:cNvPr id="20" name="Text 17"/>
          <p:cNvSpPr/>
          <p:nvPr/>
        </p:nvSpPr>
        <p:spPr>
          <a:xfrm>
            <a:off x="1809750" y="2114550"/>
            <a:ext cx="6286500" cy="368300"/>
          </a:xfrm>
          <a:prstGeom prst="rect">
            <a:avLst/>
          </a:prstGeom>
          <a:noFill/>
          <a:ln/>
        </p:spPr>
        <p:txBody>
          <a:bodyPr wrap="square" lIns="25400" tIns="25400" rIns="25400" bIns="25400" rtlCol="0" anchor="t">
            <a:normAutofit/>
          </a:bodyPr>
          <a:lstStyle/>
          <a:p>
            <a:pPr algn="l" indent="0" marL="0">
              <a:buNone/>
            </a:pPr>
            <a:r>
              <a:rPr lang="en-US" sz="1950" b="1" dirty="0">
                <a:solidFill>
                  <a:srgbClr val="152A47"/>
                </a:solidFill>
                <a:latin typeface="Segoe UI" pitchFamily="34" charset="0"/>
                <a:ea typeface="Segoe UI" pitchFamily="34" charset="-122"/>
                <a:cs typeface="Segoe UI" pitchFamily="34" charset="-120"/>
              </a:rPr>
              <a:t>On GitHub (browser)</a:t>
            </a:r>
            <a:endParaRPr lang="en-US" sz="1950" dirty="0"/>
          </a:p>
        </p:txBody>
      </p:sp>
      <p:sp>
        <p:nvSpPr>
          <p:cNvPr id="21" name="Text 18"/>
          <p:cNvSpPr/>
          <p:nvPr/>
        </p:nvSpPr>
        <p:spPr>
          <a:xfrm>
            <a:off x="1809750" y="2654300"/>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1</a:t>
            </a:r>
            <a:endParaRPr lang="en-US" sz="2250" dirty="0"/>
          </a:p>
        </p:txBody>
      </p:sp>
      <p:sp>
        <p:nvSpPr>
          <p:cNvPr id="22" name="Text 19"/>
          <p:cNvSpPr/>
          <p:nvPr/>
        </p:nvSpPr>
        <p:spPr>
          <a:xfrm>
            <a:off x="2343150" y="2654300"/>
            <a:ext cx="5699760"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Open the beam-calc link from your instructor.</a:t>
            </a:r>
            <a:endParaRPr lang="en-US" sz="2025" dirty="0"/>
          </a:p>
        </p:txBody>
      </p:sp>
      <p:sp>
        <p:nvSpPr>
          <p:cNvPr id="23" name="Text 20"/>
          <p:cNvSpPr/>
          <p:nvPr/>
        </p:nvSpPr>
        <p:spPr>
          <a:xfrm>
            <a:off x="1809750" y="3211513"/>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2</a:t>
            </a:r>
            <a:endParaRPr lang="en-US" sz="2250" dirty="0"/>
          </a:p>
        </p:txBody>
      </p:sp>
      <p:sp>
        <p:nvSpPr>
          <p:cNvPr id="24" name="Text 21"/>
          <p:cNvSpPr/>
          <p:nvPr/>
        </p:nvSpPr>
        <p:spPr>
          <a:xfrm>
            <a:off x="2343150" y="3211513"/>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b="1" dirty="0">
                <a:solidFill>
                  <a:srgbClr val="000000"/>
                </a:solidFill>
                <a:latin typeface="Segoe UI" pitchFamily="34" charset="0"/>
                <a:ea typeface="Segoe UI" pitchFamily="34" charset="-122"/>
                <a:cs typeface="Segoe UI" pitchFamily="34" charset="-120"/>
              </a:rPr>
              <a:t>Use this template </a:t>
            </a:r>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 Create a new repository. Owner: you. Visibility: </a:t>
            </a:r>
            <a:pPr algn="l" indent="0" marL="0">
              <a:lnSpc>
                <a:spcPct val="101250"/>
              </a:lnSpc>
              <a:buNone/>
            </a:pPr>
            <a:r>
              <a:rPr lang="en-US" sz="2025" b="1" dirty="0">
                <a:solidFill>
                  <a:srgbClr val="000000"/>
                </a:solidFill>
                <a:latin typeface="Segoe UI" pitchFamily="34" charset="0"/>
                <a:ea typeface="Segoe UI" pitchFamily="34" charset="-122"/>
                <a:cs typeface="Segoe UI" pitchFamily="34" charset="-120"/>
              </a:rPr>
              <a:t>Private</a:t>
            </a:r>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a:t>
            </a:r>
            <a:endParaRPr lang="en-US" sz="2025" dirty="0"/>
          </a:p>
        </p:txBody>
      </p:sp>
      <p:sp>
        <p:nvSpPr>
          <p:cNvPr id="25" name="Text 22"/>
          <p:cNvSpPr/>
          <p:nvPr/>
        </p:nvSpPr>
        <p:spPr>
          <a:xfrm>
            <a:off x="1809750" y="4172545"/>
            <a:ext cx="6286500" cy="368300"/>
          </a:xfrm>
          <a:prstGeom prst="rect">
            <a:avLst/>
          </a:prstGeom>
          <a:noFill/>
          <a:ln/>
        </p:spPr>
        <p:txBody>
          <a:bodyPr wrap="square" lIns="25400" tIns="25400" rIns="25400" bIns="25400" rtlCol="0" anchor="t">
            <a:normAutofit/>
          </a:bodyPr>
          <a:lstStyle/>
          <a:p>
            <a:pPr algn="l" indent="0" marL="0">
              <a:buNone/>
            </a:pPr>
            <a:r>
              <a:rPr lang="en-US" sz="1950" b="1" dirty="0">
                <a:solidFill>
                  <a:srgbClr val="152A47"/>
                </a:solidFill>
                <a:latin typeface="Segoe UI" pitchFamily="34" charset="0"/>
                <a:ea typeface="Segoe UI" pitchFamily="34" charset="-122"/>
                <a:cs typeface="Segoe UI" pitchFamily="34" charset="-120"/>
              </a:rPr>
              <a:t>In GitHub Desktop</a:t>
            </a:r>
            <a:endParaRPr lang="en-US" sz="1950" dirty="0"/>
          </a:p>
        </p:txBody>
      </p:sp>
      <p:sp>
        <p:nvSpPr>
          <p:cNvPr id="26" name="Text 23"/>
          <p:cNvSpPr/>
          <p:nvPr/>
        </p:nvSpPr>
        <p:spPr>
          <a:xfrm>
            <a:off x="1809750" y="4712296"/>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3</a:t>
            </a:r>
            <a:endParaRPr lang="en-US" sz="2250" dirty="0"/>
          </a:p>
        </p:txBody>
      </p:sp>
      <p:sp>
        <p:nvSpPr>
          <p:cNvPr id="27" name="Text 24"/>
          <p:cNvSpPr/>
          <p:nvPr/>
        </p:nvSpPr>
        <p:spPr>
          <a:xfrm>
            <a:off x="2343150" y="4712296"/>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File › </a:t>
            </a:r>
            <a:pPr algn="l" indent="0" marL="0">
              <a:lnSpc>
                <a:spcPct val="101250"/>
              </a:lnSpc>
              <a:buNone/>
            </a:pPr>
            <a:r>
              <a:rPr lang="en-US" sz="2025" b="1" dirty="0">
                <a:solidFill>
                  <a:srgbClr val="000000"/>
                </a:solidFill>
                <a:latin typeface="Segoe UI" pitchFamily="34" charset="0"/>
                <a:ea typeface="Segoe UI" pitchFamily="34" charset="-122"/>
                <a:cs typeface="Segoe UI" pitchFamily="34" charset="-120"/>
              </a:rPr>
              <a:t>Clone repository </a:t>
            </a:r>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 pick your new beam-calc.</a:t>
            </a:r>
            <a:endParaRPr lang="en-US" sz="2025" dirty="0"/>
          </a:p>
        </p:txBody>
      </p:sp>
      <p:sp>
        <p:nvSpPr>
          <p:cNvPr id="28" name="Text 25"/>
          <p:cNvSpPr/>
          <p:nvPr/>
        </p:nvSpPr>
        <p:spPr>
          <a:xfrm>
            <a:off x="1809750" y="5578078"/>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4</a:t>
            </a:r>
            <a:endParaRPr lang="en-US" sz="2250" dirty="0"/>
          </a:p>
        </p:txBody>
      </p:sp>
      <p:sp>
        <p:nvSpPr>
          <p:cNvPr id="29" name="Text 26"/>
          <p:cNvSpPr/>
          <p:nvPr/>
        </p:nvSpPr>
        <p:spPr>
          <a:xfrm>
            <a:off x="2343150" y="5578078"/>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Choose a local path outside OneDrive. Click </a:t>
            </a:r>
            <a:pPr algn="l" indent="0" marL="0">
              <a:lnSpc>
                <a:spcPct val="101250"/>
              </a:lnSpc>
              <a:buNone/>
            </a:pPr>
            <a:r>
              <a:rPr lang="en-US" sz="2025" b="1" dirty="0">
                <a:solidFill>
                  <a:srgbClr val="000000"/>
                </a:solidFill>
                <a:latin typeface="Segoe UI" pitchFamily="34" charset="0"/>
                <a:ea typeface="Segoe UI" pitchFamily="34" charset="-122"/>
                <a:cs typeface="Segoe UI" pitchFamily="34" charset="-120"/>
              </a:rPr>
              <a:t>Clone</a:t>
            </a:r>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a:t>
            </a:r>
            <a:endParaRPr lang="en-US" sz="2025" dirty="0"/>
          </a:p>
        </p:txBody>
      </p:sp>
      <p:sp>
        <p:nvSpPr>
          <p:cNvPr id="30" name="Text 27"/>
          <p:cNvSpPr/>
          <p:nvPr/>
        </p:nvSpPr>
        <p:spPr>
          <a:xfrm>
            <a:off x="1809750" y="6443861"/>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5</a:t>
            </a:r>
            <a:endParaRPr lang="en-US" sz="2250" dirty="0"/>
          </a:p>
        </p:txBody>
      </p:sp>
      <p:sp>
        <p:nvSpPr>
          <p:cNvPr id="31" name="Text 28"/>
          <p:cNvSpPr/>
          <p:nvPr/>
        </p:nvSpPr>
        <p:spPr>
          <a:xfrm>
            <a:off x="2343150" y="6443861"/>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Repository › Show in Explorer. Confirm the files are there.</a:t>
            </a:r>
            <a:endParaRPr lang="en-US" sz="2025" dirty="0"/>
          </a:p>
        </p:txBody>
      </p:sp>
      <p:sp>
        <p:nvSpPr>
          <p:cNvPr id="32" name="Text 29"/>
          <p:cNvSpPr/>
          <p:nvPr/>
        </p:nvSpPr>
        <p:spPr>
          <a:xfrm>
            <a:off x="1054418" y="9810750"/>
            <a:ext cx="13264515"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1</a:t>
            </a:r>
            <a:endParaRPr lang="en-US" sz="1800" dirty="0"/>
          </a:p>
        </p:txBody>
      </p:sp>
      <p:sp>
        <p:nvSpPr>
          <p:cNvPr id="33" name="Text 30"/>
          <p:cNvSpPr/>
          <p:nvPr/>
        </p:nvSpPr>
        <p:spPr>
          <a:xfrm>
            <a:off x="13336191" y="9810750"/>
            <a:ext cx="322659" cy="342900"/>
          </a:xfrm>
          <a:prstGeom prst="rect">
            <a:avLst/>
          </a:prstGeom>
          <a:noFill/>
          <a:ln/>
        </p:spPr>
        <p:txBody>
          <a:bodyPr wrap="square" lIns="25400" tIns="25400" rIns="25400" bIns="25400" rtlCol="0" anchor="t">
            <a:norm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10</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543050" cy="10287000"/>
          </a:xfrm>
          <a:prstGeom prst="rect">
            <a:avLst/>
          </a:prstGeom>
          <a:solidFill>
            <a:srgbClr val="E6E6E6"/>
          </a:solidFill>
          <a:ln/>
        </p:spPr>
      </p:sp>
      <p:pic>
        <p:nvPicPr>
          <p:cNvPr id="3" name="Image 0" descr="preencoded.png">    </p:cNvPr>
          <p:cNvPicPr>
            <a:picLocks noChangeAspect="1"/>
          </p:cNvPicPr>
          <p:nvPr/>
        </p:nvPicPr>
        <p:blipFill>
          <a:blip r:embed="rId1"/>
          <a:stretch>
            <a:fillRect/>
          </a:stretch>
        </p:blipFill>
        <p:spPr>
          <a:xfrm>
            <a:off x="200025" y="133350"/>
            <a:ext cx="1143000" cy="1143000"/>
          </a:xfrm>
          <a:prstGeom prst="rect">
            <a:avLst/>
          </a:prstGeom>
        </p:spPr>
      </p:pic>
      <p:sp>
        <p:nvSpPr>
          <p:cNvPr id="4" name="Text 1"/>
          <p:cNvSpPr/>
          <p:nvPr/>
        </p:nvSpPr>
        <p:spPr>
          <a:xfrm>
            <a:off x="133350" y="2381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Overview</a:t>
            </a:r>
            <a:endParaRPr lang="en-US" sz="1800" dirty="0"/>
          </a:p>
        </p:txBody>
      </p:sp>
      <p:sp>
        <p:nvSpPr>
          <p:cNvPr id="5" name="Text 2"/>
          <p:cNvSpPr/>
          <p:nvPr/>
        </p:nvSpPr>
        <p:spPr>
          <a:xfrm>
            <a:off x="133350" y="2762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Concepts</a:t>
            </a:r>
            <a:endParaRPr lang="en-US" sz="1800" dirty="0"/>
          </a:p>
        </p:txBody>
      </p:sp>
      <p:sp>
        <p:nvSpPr>
          <p:cNvPr id="6" name="Text 3"/>
          <p:cNvSpPr/>
          <p:nvPr/>
        </p:nvSpPr>
        <p:spPr>
          <a:xfrm>
            <a:off x="133350" y="3143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Setup</a:t>
            </a:r>
            <a:endParaRPr lang="en-US" sz="1800" dirty="0"/>
          </a:p>
        </p:txBody>
      </p:sp>
      <p:sp>
        <p:nvSpPr>
          <p:cNvPr id="7" name="Text 4"/>
          <p:cNvSpPr/>
          <p:nvPr/>
        </p:nvSpPr>
        <p:spPr>
          <a:xfrm>
            <a:off x="133350" y="3524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Clone</a:t>
            </a:r>
            <a:endParaRPr lang="en-US" sz="1800" dirty="0"/>
          </a:p>
        </p:txBody>
      </p:sp>
      <p:sp>
        <p:nvSpPr>
          <p:cNvPr id="8" name="Text 5"/>
          <p:cNvSpPr/>
          <p:nvPr/>
        </p:nvSpPr>
        <p:spPr>
          <a:xfrm>
            <a:off x="133350" y="3905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Commit</a:t>
            </a:r>
            <a:endParaRPr lang="en-US" sz="1800" dirty="0"/>
          </a:p>
        </p:txBody>
      </p:sp>
      <p:sp>
        <p:nvSpPr>
          <p:cNvPr id="9" name="Text 6"/>
          <p:cNvSpPr/>
          <p:nvPr/>
        </p:nvSpPr>
        <p:spPr>
          <a:xfrm>
            <a:off x="133350" y="4286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Sync</a:t>
            </a:r>
            <a:endParaRPr lang="en-US" sz="1800" dirty="0"/>
          </a:p>
        </p:txBody>
      </p:sp>
      <p:sp>
        <p:nvSpPr>
          <p:cNvPr id="10" name="Text 7"/>
          <p:cNvSpPr/>
          <p:nvPr/>
        </p:nvSpPr>
        <p:spPr>
          <a:xfrm>
            <a:off x="133350" y="4667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Branches</a:t>
            </a:r>
            <a:endParaRPr lang="en-US" sz="1800" dirty="0"/>
          </a:p>
        </p:txBody>
      </p:sp>
      <p:sp>
        <p:nvSpPr>
          <p:cNvPr id="11" name="Text 8"/>
          <p:cNvSpPr/>
          <p:nvPr/>
        </p:nvSpPr>
        <p:spPr>
          <a:xfrm>
            <a:off x="133350" y="5048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Conflicts</a:t>
            </a:r>
            <a:endParaRPr lang="en-US" sz="1800" dirty="0"/>
          </a:p>
        </p:txBody>
      </p:sp>
      <p:sp>
        <p:nvSpPr>
          <p:cNvPr id="12" name="Text 9"/>
          <p:cNvSpPr/>
          <p:nvPr/>
        </p:nvSpPr>
        <p:spPr>
          <a:xfrm>
            <a:off x="133350" y="5429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History</a:t>
            </a:r>
            <a:endParaRPr lang="en-US" sz="1800" dirty="0"/>
          </a:p>
        </p:txBody>
      </p:sp>
      <p:sp>
        <p:nvSpPr>
          <p:cNvPr id="13" name="Text 10"/>
          <p:cNvSpPr/>
          <p:nvPr/>
        </p:nvSpPr>
        <p:spPr>
          <a:xfrm>
            <a:off x="133350" y="5810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Agent-Ready</a:t>
            </a:r>
            <a:endParaRPr lang="en-US" sz="1800" dirty="0"/>
          </a:p>
        </p:txBody>
      </p:sp>
      <p:sp>
        <p:nvSpPr>
          <p:cNvPr id="14" name="Text 11"/>
          <p:cNvSpPr/>
          <p:nvPr/>
        </p:nvSpPr>
        <p:spPr>
          <a:xfrm>
            <a:off x="133350" y="6191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Review</a:t>
            </a:r>
            <a:endParaRPr lang="en-US" sz="1800" dirty="0"/>
          </a:p>
        </p:txBody>
      </p:sp>
      <p:sp>
        <p:nvSpPr>
          <p:cNvPr id="15" name="Text 12"/>
          <p:cNvSpPr/>
          <p:nvPr/>
        </p:nvSpPr>
        <p:spPr>
          <a:xfrm>
            <a:off x="1657350" y="200025"/>
            <a:ext cx="10988040" cy="1057275"/>
          </a:xfrm>
          <a:prstGeom prst="rect">
            <a:avLst/>
          </a:prstGeom>
          <a:noFill/>
          <a:ln/>
        </p:spPr>
        <p:txBody>
          <a:bodyPr wrap="square" lIns="25400" tIns="25400" rIns="25400" bIns="25400" rtlCol="0" anchor="ctr">
            <a:norm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Your Own Code: Create &amp; Publish</a:t>
            </a:r>
            <a:endParaRPr lang="en-US" sz="4800" dirty="0"/>
          </a:p>
        </p:txBody>
      </p:sp>
      <p:sp>
        <p:nvSpPr>
          <p:cNvPr id="16" name="Text 13"/>
          <p:cNvSpPr/>
          <p:nvPr/>
        </p:nvSpPr>
        <p:spPr>
          <a:xfrm>
            <a:off x="12515950" y="133350"/>
            <a:ext cx="1142901"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1</a:t>
            </a:r>
            <a:endParaRPr lang="en-US" sz="2100" dirty="0"/>
          </a:p>
        </p:txBody>
      </p:sp>
      <p:sp>
        <p:nvSpPr>
          <p:cNvPr id="17" name="Shape 14"/>
          <p:cNvSpPr/>
          <p:nvPr/>
        </p:nvSpPr>
        <p:spPr>
          <a:xfrm>
            <a:off x="1657350" y="1219200"/>
            <a:ext cx="11925300" cy="66675"/>
          </a:xfrm>
          <a:prstGeom prst="rect">
            <a:avLst/>
          </a:prstGeom>
          <a:solidFill>
            <a:srgbClr val="000000"/>
          </a:solidFill>
          <a:ln/>
        </p:spPr>
      </p:sp>
      <p:sp>
        <p:nvSpPr>
          <p:cNvPr id="18" name="Shape 15"/>
          <p:cNvSpPr/>
          <p:nvPr/>
        </p:nvSpPr>
        <p:spPr>
          <a:xfrm>
            <a:off x="1809750" y="1524000"/>
            <a:ext cx="4062909" cy="381000"/>
          </a:xfrm>
          <a:prstGeom prst="roundRect">
            <a:avLst>
              <a:gd name="adj" fmla="val 15000"/>
            </a:avLst>
          </a:prstGeom>
          <a:solidFill>
            <a:srgbClr val="595959"/>
          </a:solidFill>
          <a:ln/>
        </p:spPr>
      </p:sp>
      <p:sp>
        <p:nvSpPr>
          <p:cNvPr id="19" name="Text 16"/>
          <p:cNvSpPr/>
          <p:nvPr/>
        </p:nvSpPr>
        <p:spPr>
          <a:xfrm>
            <a:off x="1962150" y="1562100"/>
            <a:ext cx="3879996"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Segoe UI" pitchFamily="34" charset="0"/>
                <a:ea typeface="Segoe UI" pitchFamily="34" charset="-122"/>
                <a:cs typeface="Segoe UI" pitchFamily="34" charset="-120"/>
              </a:rPr>
              <a:t>REFERENCE · DO BEFORE LESSON 2</a:t>
            </a:r>
            <a:endParaRPr lang="en-US" sz="1800" dirty="0"/>
          </a:p>
        </p:txBody>
      </p:sp>
      <p:sp>
        <p:nvSpPr>
          <p:cNvPr id="20" name="Text 17"/>
          <p:cNvSpPr/>
          <p:nvPr/>
        </p:nvSpPr>
        <p:spPr>
          <a:xfrm>
            <a:off x="1809750" y="2133600"/>
            <a:ext cx="12845415" cy="411460"/>
          </a:xfrm>
          <a:prstGeom prst="rect">
            <a:avLst/>
          </a:prstGeom>
          <a:noFill/>
          <a:ln/>
        </p:spPr>
        <p:txBody>
          <a:bodyPr wrap="square" lIns="25400" tIns="25400" rIns="25400" bIns="25400" rtlCol="0" anchor="t">
            <a:normAutofit/>
          </a:bodyPr>
          <a:lstStyle/>
          <a:p>
            <a:pPr algn="l" indent="0" marL="0">
              <a:lnSpc>
                <a:spcPct val="105000"/>
              </a:lnSpc>
              <a:buNone/>
            </a:pPr>
            <a:r>
              <a:rPr lang="en-US" sz="2100" dirty="0">
                <a:solidFill>
                  <a:srgbClr val="000000"/>
                </a:solidFill>
                <a:latin typeface="Segoe UI" pitchFamily="34" charset="0"/>
                <a:ea typeface="Segoe UI" pitchFamily="34" charset="-122"/>
                <a:cs typeface="Segoe UI" pitchFamily="34" charset="-120"/>
              </a:rPr>
              <a:t>To put an existing project folder (scripts, models, course code) under version control:</a:t>
            </a:r>
            <a:endParaRPr lang="en-US" sz="2100" dirty="0"/>
          </a:p>
        </p:txBody>
      </p:sp>
      <p:sp>
        <p:nvSpPr>
          <p:cNvPr id="21" name="Text 18"/>
          <p:cNvSpPr/>
          <p:nvPr/>
        </p:nvSpPr>
        <p:spPr>
          <a:xfrm>
            <a:off x="1809750" y="2735560"/>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1</a:t>
            </a:r>
            <a:endParaRPr lang="en-US" sz="2250" dirty="0"/>
          </a:p>
        </p:txBody>
      </p:sp>
      <p:sp>
        <p:nvSpPr>
          <p:cNvPr id="22" name="Text 19"/>
          <p:cNvSpPr/>
          <p:nvPr/>
        </p:nvSpPr>
        <p:spPr>
          <a:xfrm>
            <a:off x="2343150" y="2735560"/>
            <a:ext cx="1147857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File › </a:t>
            </a:r>
            <a:pPr algn="l" indent="0" marL="0">
              <a:lnSpc>
                <a:spcPct val="101250"/>
              </a:lnSpc>
              <a:buNone/>
            </a:pPr>
            <a:r>
              <a:rPr lang="en-US" sz="2025" b="1" dirty="0">
                <a:solidFill>
                  <a:srgbClr val="000000"/>
                </a:solidFill>
                <a:latin typeface="Segoe UI" pitchFamily="34" charset="0"/>
                <a:ea typeface="Segoe UI" pitchFamily="34" charset="-122"/>
                <a:cs typeface="Segoe UI" pitchFamily="34" charset="-120"/>
              </a:rPr>
              <a:t>Add local repository </a:t>
            </a:r>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 select the folder. Desktop says it isn’t a repo yet; click </a:t>
            </a:r>
            <a:pPr algn="l" indent="0" marL="0">
              <a:lnSpc>
                <a:spcPct val="101250"/>
              </a:lnSpc>
              <a:buNone/>
            </a:pPr>
            <a:r>
              <a:rPr lang="en-US" sz="2025" b="1" dirty="0">
                <a:solidFill>
                  <a:srgbClr val="000000"/>
                </a:solidFill>
                <a:latin typeface="Segoe UI" pitchFamily="34" charset="0"/>
                <a:ea typeface="Segoe UI" pitchFamily="34" charset="-122"/>
                <a:cs typeface="Segoe UI" pitchFamily="34" charset="-120"/>
              </a:rPr>
              <a:t>create a repository </a:t>
            </a:r>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a:t>
            </a:r>
            <a:endParaRPr lang="en-US" sz="2025" dirty="0"/>
          </a:p>
        </p:txBody>
      </p:sp>
      <p:sp>
        <p:nvSpPr>
          <p:cNvPr id="23" name="Text 20"/>
          <p:cNvSpPr/>
          <p:nvPr/>
        </p:nvSpPr>
        <p:spPr>
          <a:xfrm>
            <a:off x="1809750" y="3658493"/>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2</a:t>
            </a:r>
            <a:endParaRPr lang="en-US" sz="2250" dirty="0"/>
          </a:p>
        </p:txBody>
      </p:sp>
      <p:sp>
        <p:nvSpPr>
          <p:cNvPr id="24" name="Text 21"/>
          <p:cNvSpPr/>
          <p:nvPr/>
        </p:nvSpPr>
        <p:spPr>
          <a:xfrm>
            <a:off x="2343150" y="3658493"/>
            <a:ext cx="12258675"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Set </a:t>
            </a:r>
            <a:pPr algn="l" indent="0" marL="0">
              <a:lnSpc>
                <a:spcPct val="101250"/>
              </a:lnSpc>
              <a:buNone/>
            </a:pPr>
            <a:r>
              <a:rPr lang="en-US" sz="2025" b="1" dirty="0">
                <a:solidFill>
                  <a:srgbClr val="000000"/>
                </a:solidFill>
                <a:latin typeface="Segoe UI" pitchFamily="34" charset="0"/>
                <a:ea typeface="Segoe UI" pitchFamily="34" charset="-122"/>
                <a:cs typeface="Segoe UI" pitchFamily="34" charset="-120"/>
              </a:rPr>
              <a:t>Git ignore </a:t>
            </a:r>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to your language (e.g. MATLAB). Leave the rest as default. Click </a:t>
            </a:r>
            <a:pPr algn="l" indent="0" marL="0">
              <a:lnSpc>
                <a:spcPct val="101250"/>
              </a:lnSpc>
              <a:buNone/>
            </a:pPr>
            <a:r>
              <a:rPr lang="en-US" sz="2025" b="1" dirty="0">
                <a:solidFill>
                  <a:srgbClr val="000000"/>
                </a:solidFill>
                <a:latin typeface="Segoe UI" pitchFamily="34" charset="0"/>
                <a:ea typeface="Segoe UI" pitchFamily="34" charset="-122"/>
                <a:cs typeface="Segoe UI" pitchFamily="34" charset="-120"/>
              </a:rPr>
              <a:t>Create repository</a:t>
            </a:r>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a:t>
            </a:r>
            <a:endParaRPr lang="en-US" sz="2025" dirty="0"/>
          </a:p>
        </p:txBody>
      </p:sp>
      <p:sp>
        <p:nvSpPr>
          <p:cNvPr id="25" name="Text 22"/>
          <p:cNvSpPr/>
          <p:nvPr/>
        </p:nvSpPr>
        <p:spPr>
          <a:xfrm>
            <a:off x="1809750" y="4272855"/>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3</a:t>
            </a:r>
            <a:endParaRPr lang="en-US" sz="2250" dirty="0"/>
          </a:p>
        </p:txBody>
      </p:sp>
      <p:sp>
        <p:nvSpPr>
          <p:cNvPr id="26" name="Text 23"/>
          <p:cNvSpPr/>
          <p:nvPr/>
        </p:nvSpPr>
        <p:spPr>
          <a:xfrm>
            <a:off x="2343150" y="4272855"/>
            <a:ext cx="1147857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Desktop makes the first commit. Check the Changes tab for files that shouldn’t be there (data, outputs, passwords).</a:t>
            </a:r>
            <a:endParaRPr lang="en-US" sz="2025" dirty="0"/>
          </a:p>
        </p:txBody>
      </p:sp>
      <p:sp>
        <p:nvSpPr>
          <p:cNvPr id="27" name="Text 24"/>
          <p:cNvSpPr/>
          <p:nvPr/>
        </p:nvSpPr>
        <p:spPr>
          <a:xfrm>
            <a:off x="1809750" y="5195789"/>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4</a:t>
            </a:r>
            <a:endParaRPr lang="en-US" sz="2250" dirty="0"/>
          </a:p>
        </p:txBody>
      </p:sp>
      <p:sp>
        <p:nvSpPr>
          <p:cNvPr id="28" name="Text 25"/>
          <p:cNvSpPr/>
          <p:nvPr/>
        </p:nvSpPr>
        <p:spPr>
          <a:xfrm>
            <a:off x="2343150" y="5195789"/>
            <a:ext cx="12258675"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b="1" dirty="0">
                <a:solidFill>
                  <a:srgbClr val="000000"/>
                </a:solidFill>
                <a:latin typeface="Segoe UI" pitchFamily="34" charset="0"/>
                <a:ea typeface="Segoe UI" pitchFamily="34" charset="-122"/>
                <a:cs typeface="Segoe UI" pitchFamily="34" charset="-120"/>
              </a:rPr>
              <a:t>Publish repository</a:t>
            </a:r>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 Leave </a:t>
            </a:r>
            <a:pPr algn="l" indent="0" marL="0">
              <a:lnSpc>
                <a:spcPct val="101250"/>
              </a:lnSpc>
              <a:buNone/>
            </a:pPr>
            <a:r>
              <a:rPr lang="en-US" sz="2025" b="1" dirty="0">
                <a:solidFill>
                  <a:srgbClr val="000000"/>
                </a:solidFill>
                <a:latin typeface="Segoe UI" pitchFamily="34" charset="0"/>
                <a:ea typeface="Segoe UI" pitchFamily="34" charset="-122"/>
                <a:cs typeface="Segoe UI" pitchFamily="34" charset="-120"/>
              </a:rPr>
              <a:t>Keep this code private </a:t>
            </a:r>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checked.</a:t>
            </a:r>
            <a:endParaRPr lang="en-US" sz="2025" dirty="0"/>
          </a:p>
        </p:txBody>
      </p:sp>
      <p:sp>
        <p:nvSpPr>
          <p:cNvPr id="29" name="Text 26"/>
          <p:cNvSpPr/>
          <p:nvPr/>
        </p:nvSpPr>
        <p:spPr>
          <a:xfrm>
            <a:off x="1809750" y="5810151"/>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5</a:t>
            </a:r>
            <a:endParaRPr lang="en-US" sz="2250" dirty="0"/>
          </a:p>
        </p:txBody>
      </p:sp>
      <p:sp>
        <p:nvSpPr>
          <p:cNvPr id="30" name="Text 27"/>
          <p:cNvSpPr/>
          <p:nvPr/>
        </p:nvSpPr>
        <p:spPr>
          <a:xfrm>
            <a:off x="2343150" y="5810151"/>
            <a:ext cx="12258675"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Repository › </a:t>
            </a:r>
            <a:pPr algn="l" indent="0" marL="0">
              <a:lnSpc>
                <a:spcPct val="101250"/>
              </a:lnSpc>
              <a:buNone/>
            </a:pPr>
            <a:r>
              <a:rPr lang="en-US" sz="2025" b="1" dirty="0">
                <a:solidFill>
                  <a:srgbClr val="000000"/>
                </a:solidFill>
                <a:latin typeface="Segoe UI" pitchFamily="34" charset="0"/>
                <a:ea typeface="Segoe UI" pitchFamily="34" charset="-122"/>
                <a:cs typeface="Segoe UI" pitchFamily="34" charset="-120"/>
              </a:rPr>
              <a:t>View on GitHub </a:t>
            </a:r>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to confirm it’s there.</a:t>
            </a:r>
            <a:endParaRPr lang="en-US" sz="2025" dirty="0"/>
          </a:p>
        </p:txBody>
      </p:sp>
      <p:sp>
        <p:nvSpPr>
          <p:cNvPr id="31" name="Shape 28"/>
          <p:cNvSpPr/>
          <p:nvPr/>
        </p:nvSpPr>
        <p:spPr>
          <a:xfrm>
            <a:off x="1809750" y="6424514"/>
            <a:ext cx="11677650" cy="19050"/>
          </a:xfrm>
          <a:prstGeom prst="rect">
            <a:avLst/>
          </a:prstGeom>
          <a:solidFill>
            <a:srgbClr val="BFBFBF"/>
          </a:solidFill>
          <a:ln/>
        </p:spPr>
      </p:sp>
      <p:sp>
        <p:nvSpPr>
          <p:cNvPr id="32" name="Text 29"/>
          <p:cNvSpPr/>
          <p:nvPr/>
        </p:nvSpPr>
        <p:spPr>
          <a:xfrm>
            <a:off x="1809750" y="6653114"/>
            <a:ext cx="12027980" cy="384770"/>
          </a:xfrm>
          <a:prstGeom prst="rect">
            <a:avLst/>
          </a:prstGeom>
          <a:noFill/>
          <a:ln/>
        </p:spPr>
        <p:txBody>
          <a:bodyPr wrap="square" lIns="25400" tIns="25400" rIns="25400" bIns="25400" rtlCol="0" anchor="t">
            <a:normAutofit/>
          </a:bodyPr>
          <a:lstStyle/>
          <a:p>
            <a:pPr algn="l" indent="0" marL="0">
              <a:lnSpc>
                <a:spcPct val="105000"/>
              </a:lnSpc>
              <a:buNone/>
            </a:pPr>
            <a:r>
              <a:rPr lang="en-US" sz="1950" dirty="0">
                <a:solidFill>
                  <a:srgbClr val="404040"/>
                </a:solidFill>
                <a:latin typeface="Segoe UI" pitchFamily="34" charset="0"/>
                <a:ea typeface="Segoe UI" pitchFamily="34" charset="-122"/>
                <a:cs typeface="Segoe UI" pitchFamily="34" charset="-120"/>
              </a:rPr>
              <a:t>Starting from nothing? File › </a:t>
            </a:r>
            <a:pPr algn="l" indent="0" marL="0">
              <a:lnSpc>
                <a:spcPct val="105000"/>
              </a:lnSpc>
              <a:buNone/>
            </a:pPr>
            <a:r>
              <a:rPr lang="en-US" sz="1950" b="1" dirty="0">
                <a:solidFill>
                  <a:srgbClr val="000000"/>
                </a:solidFill>
                <a:latin typeface="Segoe UI" pitchFamily="34" charset="0"/>
                <a:ea typeface="Segoe UI" pitchFamily="34" charset="-122"/>
                <a:cs typeface="Segoe UI" pitchFamily="34" charset="-120"/>
              </a:rPr>
              <a:t>New repository </a:t>
            </a:r>
            <a:pPr algn="l" indent="0" marL="0">
              <a:lnSpc>
                <a:spcPct val="105000"/>
              </a:lnSpc>
              <a:buNone/>
            </a:pPr>
            <a:r>
              <a:rPr lang="en-US" sz="1950" dirty="0">
                <a:solidFill>
                  <a:srgbClr val="404040"/>
                </a:solidFill>
                <a:latin typeface="Segoe UI" pitchFamily="34" charset="0"/>
                <a:ea typeface="Segoe UI" pitchFamily="34" charset="-122"/>
                <a:cs typeface="Segoe UI" pitchFamily="34" charset="-120"/>
              </a:rPr>
              <a:t>does steps 1–2 with an empty folder.</a:t>
            </a:r>
            <a:endParaRPr lang="en-US" sz="1950" dirty="0"/>
          </a:p>
        </p:txBody>
      </p:sp>
      <p:sp>
        <p:nvSpPr>
          <p:cNvPr id="33" name="Text 30"/>
          <p:cNvSpPr/>
          <p:nvPr/>
        </p:nvSpPr>
        <p:spPr>
          <a:xfrm>
            <a:off x="1054418" y="9810750"/>
            <a:ext cx="13264515"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1</a:t>
            </a:r>
            <a:endParaRPr lang="en-US" sz="1800" dirty="0"/>
          </a:p>
        </p:txBody>
      </p:sp>
      <p:sp>
        <p:nvSpPr>
          <p:cNvPr id="34" name="Text 31"/>
          <p:cNvSpPr/>
          <p:nvPr/>
        </p:nvSpPr>
        <p:spPr>
          <a:xfrm>
            <a:off x="13336191" y="9810750"/>
            <a:ext cx="322659" cy="342900"/>
          </a:xfrm>
          <a:prstGeom prst="rect">
            <a:avLst/>
          </a:prstGeom>
          <a:noFill/>
          <a:ln/>
        </p:spPr>
        <p:txBody>
          <a:bodyPr wrap="square" lIns="25400" tIns="25400" rIns="25400" bIns="25400" rtlCol="0" anchor="t">
            <a:norm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11</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543050" cy="10287000"/>
          </a:xfrm>
          <a:prstGeom prst="rect">
            <a:avLst/>
          </a:prstGeom>
          <a:solidFill>
            <a:srgbClr val="E6E6E6"/>
          </a:solidFill>
          <a:ln/>
        </p:spPr>
      </p:sp>
      <p:pic>
        <p:nvPicPr>
          <p:cNvPr id="3" name="Image 0" descr="preencoded.png">    </p:cNvPr>
          <p:cNvPicPr>
            <a:picLocks noChangeAspect="1"/>
          </p:cNvPicPr>
          <p:nvPr/>
        </p:nvPicPr>
        <p:blipFill>
          <a:blip r:embed="rId1"/>
          <a:stretch>
            <a:fillRect/>
          </a:stretch>
        </p:blipFill>
        <p:spPr>
          <a:xfrm>
            <a:off x="200025" y="133350"/>
            <a:ext cx="1143000" cy="1143000"/>
          </a:xfrm>
          <a:prstGeom prst="rect">
            <a:avLst/>
          </a:prstGeom>
        </p:spPr>
      </p:pic>
      <p:sp>
        <p:nvSpPr>
          <p:cNvPr id="4" name="Text 1"/>
          <p:cNvSpPr/>
          <p:nvPr/>
        </p:nvSpPr>
        <p:spPr>
          <a:xfrm>
            <a:off x="133350" y="2381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Overview</a:t>
            </a:r>
            <a:endParaRPr lang="en-US" sz="1800" dirty="0"/>
          </a:p>
        </p:txBody>
      </p:sp>
      <p:sp>
        <p:nvSpPr>
          <p:cNvPr id="5" name="Text 2"/>
          <p:cNvSpPr/>
          <p:nvPr/>
        </p:nvSpPr>
        <p:spPr>
          <a:xfrm>
            <a:off x="133350" y="2762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Concepts</a:t>
            </a:r>
            <a:endParaRPr lang="en-US" sz="1800" dirty="0"/>
          </a:p>
        </p:txBody>
      </p:sp>
      <p:sp>
        <p:nvSpPr>
          <p:cNvPr id="6" name="Text 3"/>
          <p:cNvSpPr/>
          <p:nvPr/>
        </p:nvSpPr>
        <p:spPr>
          <a:xfrm>
            <a:off x="133350" y="3143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Setup</a:t>
            </a:r>
            <a:endParaRPr lang="en-US" sz="1800" dirty="0"/>
          </a:p>
        </p:txBody>
      </p:sp>
      <p:sp>
        <p:nvSpPr>
          <p:cNvPr id="7" name="Text 4"/>
          <p:cNvSpPr/>
          <p:nvPr/>
        </p:nvSpPr>
        <p:spPr>
          <a:xfrm>
            <a:off x="133350" y="3524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Clone</a:t>
            </a:r>
            <a:endParaRPr lang="en-US" sz="1800" dirty="0"/>
          </a:p>
        </p:txBody>
      </p:sp>
      <p:sp>
        <p:nvSpPr>
          <p:cNvPr id="8" name="Text 5"/>
          <p:cNvSpPr/>
          <p:nvPr/>
        </p:nvSpPr>
        <p:spPr>
          <a:xfrm>
            <a:off x="133350" y="3905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Commit</a:t>
            </a:r>
            <a:endParaRPr lang="en-US" sz="1800" dirty="0"/>
          </a:p>
        </p:txBody>
      </p:sp>
      <p:sp>
        <p:nvSpPr>
          <p:cNvPr id="9" name="Text 6"/>
          <p:cNvSpPr/>
          <p:nvPr/>
        </p:nvSpPr>
        <p:spPr>
          <a:xfrm>
            <a:off x="133350" y="4286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Sync</a:t>
            </a:r>
            <a:endParaRPr lang="en-US" sz="1800" dirty="0"/>
          </a:p>
        </p:txBody>
      </p:sp>
      <p:sp>
        <p:nvSpPr>
          <p:cNvPr id="10" name="Text 7"/>
          <p:cNvSpPr/>
          <p:nvPr/>
        </p:nvSpPr>
        <p:spPr>
          <a:xfrm>
            <a:off x="133350" y="4667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Branches</a:t>
            </a:r>
            <a:endParaRPr lang="en-US" sz="1800" dirty="0"/>
          </a:p>
        </p:txBody>
      </p:sp>
      <p:sp>
        <p:nvSpPr>
          <p:cNvPr id="11" name="Text 8"/>
          <p:cNvSpPr/>
          <p:nvPr/>
        </p:nvSpPr>
        <p:spPr>
          <a:xfrm>
            <a:off x="133350" y="5048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Conflicts</a:t>
            </a:r>
            <a:endParaRPr lang="en-US" sz="1800" dirty="0"/>
          </a:p>
        </p:txBody>
      </p:sp>
      <p:sp>
        <p:nvSpPr>
          <p:cNvPr id="12" name="Text 9"/>
          <p:cNvSpPr/>
          <p:nvPr/>
        </p:nvSpPr>
        <p:spPr>
          <a:xfrm>
            <a:off x="133350" y="5429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History</a:t>
            </a:r>
            <a:endParaRPr lang="en-US" sz="1800" dirty="0"/>
          </a:p>
        </p:txBody>
      </p:sp>
      <p:sp>
        <p:nvSpPr>
          <p:cNvPr id="13" name="Text 10"/>
          <p:cNvSpPr/>
          <p:nvPr/>
        </p:nvSpPr>
        <p:spPr>
          <a:xfrm>
            <a:off x="133350" y="5810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Agent-Ready</a:t>
            </a:r>
            <a:endParaRPr lang="en-US" sz="1800" dirty="0"/>
          </a:p>
        </p:txBody>
      </p:sp>
      <p:sp>
        <p:nvSpPr>
          <p:cNvPr id="14" name="Text 11"/>
          <p:cNvSpPr/>
          <p:nvPr/>
        </p:nvSpPr>
        <p:spPr>
          <a:xfrm>
            <a:off x="133350" y="6191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Review</a:t>
            </a:r>
            <a:endParaRPr lang="en-US" sz="1800" dirty="0"/>
          </a:p>
        </p:txBody>
      </p:sp>
      <p:sp>
        <p:nvSpPr>
          <p:cNvPr id="15" name="Text 12"/>
          <p:cNvSpPr/>
          <p:nvPr/>
        </p:nvSpPr>
        <p:spPr>
          <a:xfrm>
            <a:off x="1657350" y="200025"/>
            <a:ext cx="10988040" cy="1057275"/>
          </a:xfrm>
          <a:prstGeom prst="rect">
            <a:avLst/>
          </a:prstGeom>
          <a:noFill/>
          <a:ln/>
        </p:spPr>
        <p:txBody>
          <a:bodyPr wrap="square" lIns="25400" tIns="25400" rIns="25400" bIns="25400" rtlCol="0" anchor="ctr">
            <a:norm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Exercise 3: Edit, Review, Commit</a:t>
            </a:r>
            <a:endParaRPr lang="en-US" sz="4800" dirty="0"/>
          </a:p>
        </p:txBody>
      </p:sp>
      <p:sp>
        <p:nvSpPr>
          <p:cNvPr id="16" name="Text 13"/>
          <p:cNvSpPr/>
          <p:nvPr/>
        </p:nvSpPr>
        <p:spPr>
          <a:xfrm>
            <a:off x="12515950" y="133350"/>
            <a:ext cx="1142901"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1</a:t>
            </a:r>
            <a:endParaRPr lang="en-US" sz="2100" dirty="0"/>
          </a:p>
        </p:txBody>
      </p:sp>
      <p:sp>
        <p:nvSpPr>
          <p:cNvPr id="17" name="Shape 14"/>
          <p:cNvSpPr/>
          <p:nvPr/>
        </p:nvSpPr>
        <p:spPr>
          <a:xfrm>
            <a:off x="1657350" y="1219200"/>
            <a:ext cx="11925300" cy="66675"/>
          </a:xfrm>
          <a:prstGeom prst="rect">
            <a:avLst/>
          </a:prstGeom>
          <a:solidFill>
            <a:srgbClr val="000000"/>
          </a:solidFill>
          <a:ln/>
        </p:spPr>
      </p:sp>
      <p:sp>
        <p:nvSpPr>
          <p:cNvPr id="18" name="Shape 15"/>
          <p:cNvSpPr/>
          <p:nvPr/>
        </p:nvSpPr>
        <p:spPr>
          <a:xfrm>
            <a:off x="1809750" y="1524000"/>
            <a:ext cx="1314450" cy="381000"/>
          </a:xfrm>
          <a:prstGeom prst="roundRect">
            <a:avLst>
              <a:gd name="adj" fmla="val 15000"/>
            </a:avLst>
          </a:prstGeom>
          <a:solidFill>
            <a:srgbClr val="595959"/>
          </a:solidFill>
          <a:ln/>
        </p:spPr>
      </p:sp>
      <p:sp>
        <p:nvSpPr>
          <p:cNvPr id="19" name="Text 16"/>
          <p:cNvSpPr/>
          <p:nvPr/>
        </p:nvSpPr>
        <p:spPr>
          <a:xfrm>
            <a:off x="1962150" y="1562100"/>
            <a:ext cx="1085850"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Segoe UI" pitchFamily="34" charset="0"/>
                <a:ea typeface="Segoe UI" pitchFamily="34" charset="-122"/>
                <a:cs typeface="Segoe UI" pitchFamily="34" charset="-120"/>
              </a:rPr>
              <a:t>EXERCISE</a:t>
            </a:r>
            <a:endParaRPr lang="en-US" sz="1800" dirty="0"/>
          </a:p>
        </p:txBody>
      </p:sp>
      <p:sp>
        <p:nvSpPr>
          <p:cNvPr id="20" name="Text 17"/>
          <p:cNvSpPr/>
          <p:nvPr/>
        </p:nvSpPr>
        <p:spPr>
          <a:xfrm>
            <a:off x="1809750" y="2114550"/>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1</a:t>
            </a:r>
            <a:endParaRPr lang="en-US" sz="2250" dirty="0"/>
          </a:p>
        </p:txBody>
      </p:sp>
      <p:sp>
        <p:nvSpPr>
          <p:cNvPr id="21" name="Text 18"/>
          <p:cNvSpPr/>
          <p:nvPr/>
        </p:nvSpPr>
        <p:spPr>
          <a:xfrm>
            <a:off x="2343150" y="2114550"/>
            <a:ext cx="5699760"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Repository › </a:t>
            </a:r>
            <a:pPr algn="l" indent="0" marL="0">
              <a:lnSpc>
                <a:spcPct val="101250"/>
              </a:lnSpc>
              <a:buNone/>
            </a:pPr>
            <a:r>
              <a:rPr lang="en-US" sz="2025" b="1" dirty="0">
                <a:solidFill>
                  <a:srgbClr val="000000"/>
                </a:solidFill>
                <a:latin typeface="Segoe UI" pitchFamily="34" charset="0"/>
                <a:ea typeface="Segoe UI" pitchFamily="34" charset="-122"/>
                <a:cs typeface="Segoe UI" pitchFamily="34" charset="-120"/>
              </a:rPr>
              <a:t>Open in Visual Studio Code</a:t>
            </a:r>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a:t>
            </a:r>
            <a:endParaRPr lang="en-US" sz="2025" dirty="0"/>
          </a:p>
        </p:txBody>
      </p:sp>
      <p:sp>
        <p:nvSpPr>
          <p:cNvPr id="22" name="Text 19"/>
          <p:cNvSpPr/>
          <p:nvPr/>
        </p:nvSpPr>
        <p:spPr>
          <a:xfrm>
            <a:off x="1809750" y="2690813"/>
            <a:ext cx="609600" cy="744637"/>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2</a:t>
            </a:r>
            <a:endParaRPr lang="en-US" sz="2250" dirty="0"/>
          </a:p>
        </p:txBody>
      </p:sp>
      <p:sp>
        <p:nvSpPr>
          <p:cNvPr id="23" name="Text 20"/>
          <p:cNvSpPr/>
          <p:nvPr/>
        </p:nvSpPr>
        <p:spPr>
          <a:xfrm>
            <a:off x="2343150" y="2690813"/>
            <a:ext cx="5337048" cy="744637"/>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In beam.m change the load to </a:t>
            </a:r>
            <a:pPr algn="l" indent="0" marL="0">
              <a:lnSpc>
                <a:spcPct val="101250"/>
              </a:lnSpc>
              <a:buNone/>
            </a:pPr>
            <a:r>
              <a:rPr lang="en-US" sz="1800" dirty="0">
                <a:solidFill>
                  <a:srgbClr val="000000"/>
                </a:solidFill>
                <a:latin typeface="Cascadia Mono" pitchFamily="34" charset="0"/>
                <a:ea typeface="Cascadia Mono" pitchFamily="34" charset="-122"/>
                <a:cs typeface="Cascadia Mono" pitchFamily="34" charset="-120"/>
              </a:rPr>
              <a:t>P = 750.0; </a:t>
            </a:r>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 Save.</a:t>
            </a:r>
            <a:endParaRPr lang="en-US" sz="2025" dirty="0"/>
          </a:p>
        </p:txBody>
      </p:sp>
      <p:sp>
        <p:nvSpPr>
          <p:cNvPr id="24" name="Text 21"/>
          <p:cNvSpPr/>
          <p:nvPr/>
        </p:nvSpPr>
        <p:spPr>
          <a:xfrm>
            <a:off x="1809750" y="3587849"/>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3</a:t>
            </a:r>
            <a:endParaRPr lang="en-US" sz="2250" dirty="0"/>
          </a:p>
        </p:txBody>
      </p:sp>
      <p:sp>
        <p:nvSpPr>
          <p:cNvPr id="25" name="Text 22"/>
          <p:cNvSpPr/>
          <p:nvPr/>
        </p:nvSpPr>
        <p:spPr>
          <a:xfrm>
            <a:off x="2343150" y="3587849"/>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Back in Desktop, open the </a:t>
            </a:r>
            <a:pPr algn="l" indent="0" marL="0">
              <a:lnSpc>
                <a:spcPct val="101250"/>
              </a:lnSpc>
              <a:buNone/>
            </a:pPr>
            <a:r>
              <a:rPr lang="en-US" sz="2025" b="1" dirty="0">
                <a:solidFill>
                  <a:srgbClr val="000000"/>
                </a:solidFill>
                <a:latin typeface="Segoe UI" pitchFamily="34" charset="0"/>
                <a:ea typeface="Segoe UI" pitchFamily="34" charset="-122"/>
                <a:cs typeface="Segoe UI" pitchFamily="34" charset="-120"/>
              </a:rPr>
              <a:t>Changes </a:t>
            </a:r>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tab and read the diff.</a:t>
            </a:r>
            <a:endParaRPr lang="en-US" sz="2025" dirty="0"/>
          </a:p>
        </p:txBody>
      </p:sp>
      <p:sp>
        <p:nvSpPr>
          <p:cNvPr id="26" name="Text 23"/>
          <p:cNvSpPr/>
          <p:nvPr/>
        </p:nvSpPr>
        <p:spPr>
          <a:xfrm>
            <a:off x="1809750" y="4472682"/>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4</a:t>
            </a:r>
            <a:endParaRPr lang="en-US" sz="2250" dirty="0"/>
          </a:p>
        </p:txBody>
      </p:sp>
      <p:sp>
        <p:nvSpPr>
          <p:cNvPr id="27" name="Text 24"/>
          <p:cNvSpPr/>
          <p:nvPr/>
        </p:nvSpPr>
        <p:spPr>
          <a:xfrm>
            <a:off x="2343150" y="4472682"/>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Summary: </a:t>
            </a:r>
            <a:pPr algn="l" indent="0" marL="0">
              <a:lnSpc>
                <a:spcPct val="101250"/>
              </a:lnSpc>
              <a:buNone/>
            </a:pPr>
            <a:r>
              <a:rPr lang="en-US" sz="2025" i="1" dirty="0">
                <a:solidFill>
                  <a:srgbClr val="000000"/>
                </a:solidFill>
                <a:latin typeface="Segoe UI" pitchFamily="34" charset="0"/>
                <a:ea typeface="Segoe UI" pitchFamily="34" charset="-122"/>
                <a:cs typeface="Segoe UI" pitchFamily="34" charset="-120"/>
              </a:rPr>
              <a:t>Increase tip load to 750 N</a:t>
            </a:r>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 Click </a:t>
            </a:r>
            <a:pPr algn="l" indent="0" marL="0">
              <a:lnSpc>
                <a:spcPct val="101250"/>
              </a:lnSpc>
              <a:buNone/>
            </a:pPr>
            <a:r>
              <a:rPr lang="en-US" sz="2025" b="1" dirty="0">
                <a:solidFill>
                  <a:srgbClr val="000000"/>
                </a:solidFill>
                <a:latin typeface="Segoe UI" pitchFamily="34" charset="0"/>
                <a:ea typeface="Segoe UI" pitchFamily="34" charset="-122"/>
                <a:cs typeface="Segoe UI" pitchFamily="34" charset="-120"/>
              </a:rPr>
              <a:t>Commit to main</a:t>
            </a:r>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a:t>
            </a:r>
            <a:endParaRPr lang="en-US" sz="2025" dirty="0"/>
          </a:p>
        </p:txBody>
      </p:sp>
      <p:sp>
        <p:nvSpPr>
          <p:cNvPr id="28" name="Text 25"/>
          <p:cNvSpPr/>
          <p:nvPr/>
        </p:nvSpPr>
        <p:spPr>
          <a:xfrm>
            <a:off x="1809750" y="5357515"/>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5</a:t>
            </a:r>
            <a:endParaRPr lang="en-US" sz="2250" dirty="0"/>
          </a:p>
        </p:txBody>
      </p:sp>
      <p:sp>
        <p:nvSpPr>
          <p:cNvPr id="29" name="Text 26"/>
          <p:cNvSpPr/>
          <p:nvPr/>
        </p:nvSpPr>
        <p:spPr>
          <a:xfrm>
            <a:off x="2343150" y="5357515"/>
            <a:ext cx="5699760"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Click </a:t>
            </a:r>
            <a:pPr algn="l" indent="0" marL="0">
              <a:lnSpc>
                <a:spcPct val="101250"/>
              </a:lnSpc>
              <a:buNone/>
            </a:pPr>
            <a:r>
              <a:rPr lang="en-US" sz="2025" b="1" dirty="0">
                <a:solidFill>
                  <a:srgbClr val="000000"/>
                </a:solidFill>
                <a:latin typeface="Segoe UI" pitchFamily="34" charset="0"/>
                <a:ea typeface="Segoe UI" pitchFamily="34" charset="-122"/>
                <a:cs typeface="Segoe UI" pitchFamily="34" charset="-120"/>
              </a:rPr>
              <a:t>Push origin</a:t>
            </a:r>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 Refresh GitHub to see it.</a:t>
            </a:r>
            <a:endParaRPr lang="en-US" sz="2025" dirty="0"/>
          </a:p>
        </p:txBody>
      </p:sp>
      <p:sp>
        <p:nvSpPr>
          <p:cNvPr id="30" name="Shape 27"/>
          <p:cNvSpPr/>
          <p:nvPr/>
        </p:nvSpPr>
        <p:spPr>
          <a:xfrm>
            <a:off x="1809750" y="5952827"/>
            <a:ext cx="5715000" cy="1432322"/>
          </a:xfrm>
          <a:prstGeom prst="roundRect">
            <a:avLst>
              <a:gd name="adj" fmla="val 7980"/>
            </a:avLst>
          </a:prstGeom>
          <a:solidFill>
            <a:srgbClr val="1E1E1E"/>
          </a:solidFill>
          <a:ln/>
        </p:spPr>
      </p:sp>
      <p:sp>
        <p:nvSpPr>
          <p:cNvPr id="31" name="Text 28"/>
          <p:cNvSpPr/>
          <p:nvPr/>
        </p:nvSpPr>
        <p:spPr>
          <a:xfrm>
            <a:off x="2038350" y="6143327"/>
            <a:ext cx="5415534" cy="388541"/>
          </a:xfrm>
          <a:prstGeom prst="rect">
            <a:avLst/>
          </a:prstGeom>
          <a:noFill/>
          <a:ln/>
        </p:spPr>
        <p:txBody>
          <a:bodyPr wrap="none" lIns="25400" tIns="25400" rIns="25400" bIns="25400" rtlCol="0" anchor="t">
            <a:normAutofit/>
          </a:bodyPr>
          <a:lstStyle/>
          <a:p>
            <a:pPr algn="l" indent="0" marL="0">
              <a:lnSpc>
                <a:spcPct val="138000"/>
              </a:lnSpc>
              <a:buNone/>
            </a:pPr>
            <a:r>
              <a:rPr lang="en-US" sz="1725" dirty="0">
                <a:solidFill>
                  <a:srgbClr val="8C8C8C"/>
                </a:solidFill>
                <a:latin typeface="Cascadia Mono" pitchFamily="34" charset="0"/>
                <a:ea typeface="Cascadia Mono" pitchFamily="34" charset="-122"/>
                <a:cs typeface="Cascadia Mono" pitchFamily="34" charset="-120"/>
              </a:rPr>
              <a:t>beam.m</a:t>
            </a:r>
            <a:endParaRPr lang="en-US" sz="1725" dirty="0"/>
          </a:p>
        </p:txBody>
      </p:sp>
      <p:sp>
        <p:nvSpPr>
          <p:cNvPr id="32" name="Text 29"/>
          <p:cNvSpPr/>
          <p:nvPr/>
        </p:nvSpPr>
        <p:spPr>
          <a:xfrm>
            <a:off x="2038350" y="6493768"/>
            <a:ext cx="5415534" cy="388541"/>
          </a:xfrm>
          <a:prstGeom prst="rect">
            <a:avLst/>
          </a:prstGeom>
          <a:noFill/>
          <a:ln/>
        </p:spPr>
        <p:txBody>
          <a:bodyPr wrap="none" lIns="25400" tIns="25400" rIns="25400" bIns="25400" rtlCol="0" anchor="t">
            <a:normAutofit/>
          </a:bodyPr>
          <a:lstStyle/>
          <a:p>
            <a:pPr algn="l" indent="0" marL="0">
              <a:lnSpc>
                <a:spcPct val="138000"/>
              </a:lnSpc>
              <a:buNone/>
            </a:pPr>
            <a:r>
              <a:rPr lang="en-US" sz="1725" dirty="0">
                <a:solidFill>
                  <a:srgbClr val="F48771"/>
                </a:solidFill>
                <a:latin typeface="Cascadia Mono" pitchFamily="34" charset="0"/>
                <a:ea typeface="Cascadia Mono" pitchFamily="34" charset="-122"/>
                <a:cs typeface="Cascadia Mono" pitchFamily="34" charset="-120"/>
              </a:rPr>
              <a:t>− P = 500.0;   % N, tip load</a:t>
            </a:r>
            <a:endParaRPr lang="en-US" sz="1725" dirty="0"/>
          </a:p>
        </p:txBody>
      </p:sp>
      <p:sp>
        <p:nvSpPr>
          <p:cNvPr id="33" name="Text 30"/>
          <p:cNvSpPr/>
          <p:nvPr/>
        </p:nvSpPr>
        <p:spPr>
          <a:xfrm>
            <a:off x="2038350" y="6844209"/>
            <a:ext cx="5415534" cy="388541"/>
          </a:xfrm>
          <a:prstGeom prst="rect">
            <a:avLst/>
          </a:prstGeom>
          <a:noFill/>
          <a:ln/>
        </p:spPr>
        <p:txBody>
          <a:bodyPr wrap="none" lIns="25400" tIns="25400" rIns="25400" bIns="25400" rtlCol="0" anchor="t">
            <a:normAutofit/>
          </a:bodyPr>
          <a:lstStyle/>
          <a:p>
            <a:pPr algn="l" indent="0" marL="0">
              <a:lnSpc>
                <a:spcPct val="138000"/>
              </a:lnSpc>
              <a:buNone/>
            </a:pPr>
            <a:r>
              <a:rPr lang="en-US" sz="1725" dirty="0">
                <a:solidFill>
                  <a:srgbClr val="89D185"/>
                </a:solidFill>
                <a:latin typeface="Cascadia Mono" pitchFamily="34" charset="0"/>
                <a:ea typeface="Cascadia Mono" pitchFamily="34" charset="-122"/>
                <a:cs typeface="Cascadia Mono" pitchFamily="34" charset="-120"/>
              </a:rPr>
              <a:t>+ P = 750.0;   % N, tip load</a:t>
            </a:r>
            <a:endParaRPr lang="en-US" sz="1725" dirty="0"/>
          </a:p>
        </p:txBody>
      </p:sp>
      <p:sp>
        <p:nvSpPr>
          <p:cNvPr id="34" name="Text 31"/>
          <p:cNvSpPr/>
          <p:nvPr/>
        </p:nvSpPr>
        <p:spPr>
          <a:xfrm>
            <a:off x="1809750" y="7594699"/>
            <a:ext cx="5886450" cy="678061"/>
          </a:xfrm>
          <a:prstGeom prst="rect">
            <a:avLst/>
          </a:prstGeom>
          <a:noFill/>
          <a:ln/>
        </p:spPr>
        <p:txBody>
          <a:bodyPr wrap="square" lIns="25400" tIns="25400" rIns="25400" bIns="25400" rtlCol="0" anchor="t">
            <a:normAutofit/>
          </a:bodyPr>
          <a:lstStyle/>
          <a:p>
            <a:pPr algn="l" indent="0" marL="0">
              <a:lnSpc>
                <a:spcPct val="105000"/>
              </a:lnSpc>
              <a:buNone/>
            </a:pPr>
            <a:r>
              <a:rPr lang="en-US" sz="1800" dirty="0">
                <a:solidFill>
                  <a:srgbClr val="404040"/>
                </a:solidFill>
                <a:latin typeface="Segoe UI" pitchFamily="34" charset="0"/>
                <a:ea typeface="Segoe UI" pitchFamily="34" charset="-122"/>
                <a:cs typeface="Segoe UI" pitchFamily="34" charset="-120"/>
              </a:rPr>
              <a:t>Good commits: one logical change, with a summary that says what and why.</a:t>
            </a:r>
            <a:endParaRPr lang="en-US" sz="1800" dirty="0"/>
          </a:p>
        </p:txBody>
      </p:sp>
      <p:sp>
        <p:nvSpPr>
          <p:cNvPr id="35" name="Text 32"/>
          <p:cNvSpPr/>
          <p:nvPr/>
        </p:nvSpPr>
        <p:spPr>
          <a:xfrm>
            <a:off x="1054418" y="9810750"/>
            <a:ext cx="13264515"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1</a:t>
            </a:r>
            <a:endParaRPr lang="en-US" sz="1800" dirty="0"/>
          </a:p>
        </p:txBody>
      </p:sp>
      <p:sp>
        <p:nvSpPr>
          <p:cNvPr id="36" name="Text 33"/>
          <p:cNvSpPr/>
          <p:nvPr/>
        </p:nvSpPr>
        <p:spPr>
          <a:xfrm>
            <a:off x="13336191" y="9810750"/>
            <a:ext cx="322659" cy="342900"/>
          </a:xfrm>
          <a:prstGeom prst="rect">
            <a:avLst/>
          </a:prstGeom>
          <a:noFill/>
          <a:ln/>
        </p:spPr>
        <p:txBody>
          <a:bodyPr wrap="square" lIns="25400" tIns="25400" rIns="25400" bIns="25400" rtlCol="0" anchor="t">
            <a:norm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12</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543050" cy="10287000"/>
          </a:xfrm>
          <a:prstGeom prst="rect">
            <a:avLst/>
          </a:prstGeom>
          <a:solidFill>
            <a:srgbClr val="E6E6E6"/>
          </a:solidFill>
          <a:ln/>
        </p:spPr>
      </p:sp>
      <p:pic>
        <p:nvPicPr>
          <p:cNvPr id="3" name="Image 0" descr="preencoded.png">    </p:cNvPr>
          <p:cNvPicPr>
            <a:picLocks noChangeAspect="1"/>
          </p:cNvPicPr>
          <p:nvPr/>
        </p:nvPicPr>
        <p:blipFill>
          <a:blip r:embed="rId1"/>
          <a:stretch>
            <a:fillRect/>
          </a:stretch>
        </p:blipFill>
        <p:spPr>
          <a:xfrm>
            <a:off x="200025" y="133350"/>
            <a:ext cx="1143000" cy="1143000"/>
          </a:xfrm>
          <a:prstGeom prst="rect">
            <a:avLst/>
          </a:prstGeom>
        </p:spPr>
      </p:pic>
      <p:sp>
        <p:nvSpPr>
          <p:cNvPr id="4" name="Text 1"/>
          <p:cNvSpPr/>
          <p:nvPr/>
        </p:nvSpPr>
        <p:spPr>
          <a:xfrm>
            <a:off x="133350" y="2381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Overview</a:t>
            </a:r>
            <a:endParaRPr lang="en-US" sz="1800" dirty="0"/>
          </a:p>
        </p:txBody>
      </p:sp>
      <p:sp>
        <p:nvSpPr>
          <p:cNvPr id="5" name="Text 2"/>
          <p:cNvSpPr/>
          <p:nvPr/>
        </p:nvSpPr>
        <p:spPr>
          <a:xfrm>
            <a:off x="133350" y="2762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Concepts</a:t>
            </a:r>
            <a:endParaRPr lang="en-US" sz="1800" dirty="0"/>
          </a:p>
        </p:txBody>
      </p:sp>
      <p:sp>
        <p:nvSpPr>
          <p:cNvPr id="6" name="Text 3"/>
          <p:cNvSpPr/>
          <p:nvPr/>
        </p:nvSpPr>
        <p:spPr>
          <a:xfrm>
            <a:off x="133350" y="3143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Setup</a:t>
            </a:r>
            <a:endParaRPr lang="en-US" sz="1800" dirty="0"/>
          </a:p>
        </p:txBody>
      </p:sp>
      <p:sp>
        <p:nvSpPr>
          <p:cNvPr id="7" name="Text 4"/>
          <p:cNvSpPr/>
          <p:nvPr/>
        </p:nvSpPr>
        <p:spPr>
          <a:xfrm>
            <a:off x="133350" y="3524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Clone</a:t>
            </a:r>
            <a:endParaRPr lang="en-US" sz="1800" dirty="0"/>
          </a:p>
        </p:txBody>
      </p:sp>
      <p:sp>
        <p:nvSpPr>
          <p:cNvPr id="8" name="Text 5"/>
          <p:cNvSpPr/>
          <p:nvPr/>
        </p:nvSpPr>
        <p:spPr>
          <a:xfrm>
            <a:off x="133350" y="3905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Commit</a:t>
            </a:r>
            <a:endParaRPr lang="en-US" sz="1800" dirty="0"/>
          </a:p>
        </p:txBody>
      </p:sp>
      <p:sp>
        <p:nvSpPr>
          <p:cNvPr id="9" name="Text 6"/>
          <p:cNvSpPr/>
          <p:nvPr/>
        </p:nvSpPr>
        <p:spPr>
          <a:xfrm>
            <a:off x="133350" y="4286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Sync</a:t>
            </a:r>
            <a:endParaRPr lang="en-US" sz="1800" dirty="0"/>
          </a:p>
        </p:txBody>
      </p:sp>
      <p:sp>
        <p:nvSpPr>
          <p:cNvPr id="10" name="Text 7"/>
          <p:cNvSpPr/>
          <p:nvPr/>
        </p:nvSpPr>
        <p:spPr>
          <a:xfrm>
            <a:off x="133350" y="4667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Branches</a:t>
            </a:r>
            <a:endParaRPr lang="en-US" sz="1800" dirty="0"/>
          </a:p>
        </p:txBody>
      </p:sp>
      <p:sp>
        <p:nvSpPr>
          <p:cNvPr id="11" name="Text 8"/>
          <p:cNvSpPr/>
          <p:nvPr/>
        </p:nvSpPr>
        <p:spPr>
          <a:xfrm>
            <a:off x="133350" y="5048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Conflicts</a:t>
            </a:r>
            <a:endParaRPr lang="en-US" sz="1800" dirty="0"/>
          </a:p>
        </p:txBody>
      </p:sp>
      <p:sp>
        <p:nvSpPr>
          <p:cNvPr id="12" name="Text 9"/>
          <p:cNvSpPr/>
          <p:nvPr/>
        </p:nvSpPr>
        <p:spPr>
          <a:xfrm>
            <a:off x="133350" y="5429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History</a:t>
            </a:r>
            <a:endParaRPr lang="en-US" sz="1800" dirty="0"/>
          </a:p>
        </p:txBody>
      </p:sp>
      <p:sp>
        <p:nvSpPr>
          <p:cNvPr id="13" name="Text 10"/>
          <p:cNvSpPr/>
          <p:nvPr/>
        </p:nvSpPr>
        <p:spPr>
          <a:xfrm>
            <a:off x="133350" y="5810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Agent-Ready</a:t>
            </a:r>
            <a:endParaRPr lang="en-US" sz="1800" dirty="0"/>
          </a:p>
        </p:txBody>
      </p:sp>
      <p:sp>
        <p:nvSpPr>
          <p:cNvPr id="14" name="Text 11"/>
          <p:cNvSpPr/>
          <p:nvPr/>
        </p:nvSpPr>
        <p:spPr>
          <a:xfrm>
            <a:off x="133350" y="6191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Review</a:t>
            </a:r>
            <a:endParaRPr lang="en-US" sz="1800" dirty="0"/>
          </a:p>
        </p:txBody>
      </p:sp>
      <p:sp>
        <p:nvSpPr>
          <p:cNvPr id="15" name="Text 12"/>
          <p:cNvSpPr/>
          <p:nvPr/>
        </p:nvSpPr>
        <p:spPr>
          <a:xfrm>
            <a:off x="1657350" y="200025"/>
            <a:ext cx="10988040" cy="1057275"/>
          </a:xfrm>
          <a:prstGeom prst="rect">
            <a:avLst/>
          </a:prstGeom>
          <a:noFill/>
          <a:ln/>
        </p:spPr>
        <p:txBody>
          <a:bodyPr wrap="square" lIns="25400" tIns="25400" rIns="25400" bIns="25400" rtlCol="0" anchor="ctr">
            <a:norm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Exercise 4: Push, Fetch, Pull</a:t>
            </a:r>
            <a:endParaRPr lang="en-US" sz="4800" dirty="0"/>
          </a:p>
        </p:txBody>
      </p:sp>
      <p:sp>
        <p:nvSpPr>
          <p:cNvPr id="16" name="Text 13"/>
          <p:cNvSpPr/>
          <p:nvPr/>
        </p:nvSpPr>
        <p:spPr>
          <a:xfrm>
            <a:off x="12515950" y="133350"/>
            <a:ext cx="1142901"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1</a:t>
            </a:r>
            <a:endParaRPr lang="en-US" sz="2100" dirty="0"/>
          </a:p>
        </p:txBody>
      </p:sp>
      <p:sp>
        <p:nvSpPr>
          <p:cNvPr id="17" name="Shape 14"/>
          <p:cNvSpPr/>
          <p:nvPr/>
        </p:nvSpPr>
        <p:spPr>
          <a:xfrm>
            <a:off x="1657350" y="1219200"/>
            <a:ext cx="11925300" cy="66675"/>
          </a:xfrm>
          <a:prstGeom prst="rect">
            <a:avLst/>
          </a:prstGeom>
          <a:solidFill>
            <a:srgbClr val="000000"/>
          </a:solidFill>
          <a:ln/>
        </p:spPr>
      </p:sp>
      <p:sp>
        <p:nvSpPr>
          <p:cNvPr id="18" name="Shape 15"/>
          <p:cNvSpPr/>
          <p:nvPr/>
        </p:nvSpPr>
        <p:spPr>
          <a:xfrm>
            <a:off x="1809750" y="1524000"/>
            <a:ext cx="3790950" cy="1423988"/>
          </a:xfrm>
          <a:prstGeom prst="rect">
            <a:avLst/>
          </a:prstGeom>
          <a:solidFill>
            <a:srgbClr val="F2F2F2"/>
          </a:solidFill>
          <a:ln/>
        </p:spPr>
      </p:sp>
      <p:sp>
        <p:nvSpPr>
          <p:cNvPr id="19" name="Text 16"/>
          <p:cNvSpPr/>
          <p:nvPr/>
        </p:nvSpPr>
        <p:spPr>
          <a:xfrm>
            <a:off x="2019300" y="1733550"/>
            <a:ext cx="3709035" cy="323850"/>
          </a:xfrm>
          <a:prstGeom prst="rect">
            <a:avLst/>
          </a:prstGeom>
          <a:noFill/>
          <a:ln/>
        </p:spPr>
        <p:txBody>
          <a:bodyPr wrap="square" lIns="25400" tIns="25400" rIns="25400" bIns="25400" rtlCol="0" anchor="t">
            <a:normAutofit/>
          </a:bodyPr>
          <a:lstStyle/>
          <a:p>
            <a:pPr algn="l" indent="0" marL="0">
              <a:buNone/>
            </a:pPr>
            <a:r>
              <a:rPr lang="en-US" sz="1950" b="1" dirty="0">
                <a:solidFill>
                  <a:srgbClr val="152A47"/>
                </a:solidFill>
                <a:latin typeface="Cascadia Mono" pitchFamily="34" charset="0"/>
                <a:ea typeface="Cascadia Mono" pitchFamily="34" charset="-122"/>
                <a:cs typeface="Cascadia Mono" pitchFamily="34" charset="-120"/>
              </a:rPr>
              <a:t>Push origin</a:t>
            </a:r>
            <a:endParaRPr lang="en-US" sz="1950" dirty="0"/>
          </a:p>
        </p:txBody>
      </p:sp>
      <p:sp>
        <p:nvSpPr>
          <p:cNvPr id="20" name="Text 17"/>
          <p:cNvSpPr/>
          <p:nvPr/>
        </p:nvSpPr>
        <p:spPr>
          <a:xfrm>
            <a:off x="2019300" y="2095500"/>
            <a:ext cx="3709035" cy="359569"/>
          </a:xfrm>
          <a:prstGeom prst="rect">
            <a:avLst/>
          </a:prstGeom>
          <a:noFill/>
          <a:ln/>
        </p:spPr>
        <p:txBody>
          <a:bodyPr wrap="square" lIns="25400" tIns="25400" rIns="25400" bIns="25400" rtlCol="0" anchor="t">
            <a:normAutofit/>
          </a:bodyPr>
          <a:lstStyle/>
          <a:p>
            <a:pPr algn="l" indent="0" marL="0">
              <a:lnSpc>
                <a:spcPct val="103316"/>
              </a:lnSpc>
              <a:buNone/>
            </a:pPr>
            <a:r>
              <a:rPr lang="en-US" sz="1875" dirty="0">
                <a:solidFill>
                  <a:srgbClr val="000000"/>
                </a:solidFill>
                <a:latin typeface="Segoe UI" pitchFamily="34" charset="0"/>
                <a:ea typeface="Segoe UI" pitchFamily="34" charset="-122"/>
                <a:cs typeface="Segoe UI" pitchFamily="34" charset="-120"/>
              </a:rPr>
              <a:t>Upload your commits to GitHub</a:t>
            </a:r>
            <a:endParaRPr lang="en-US" sz="1875" dirty="0"/>
          </a:p>
        </p:txBody>
      </p:sp>
      <p:sp>
        <p:nvSpPr>
          <p:cNvPr id="21" name="Shape 18"/>
          <p:cNvSpPr/>
          <p:nvPr/>
        </p:nvSpPr>
        <p:spPr>
          <a:xfrm>
            <a:off x="5753100" y="1524000"/>
            <a:ext cx="3790950" cy="1423988"/>
          </a:xfrm>
          <a:prstGeom prst="rect">
            <a:avLst/>
          </a:prstGeom>
          <a:solidFill>
            <a:srgbClr val="F2F2F2"/>
          </a:solidFill>
          <a:ln/>
        </p:spPr>
      </p:sp>
      <p:sp>
        <p:nvSpPr>
          <p:cNvPr id="22" name="Text 19"/>
          <p:cNvSpPr/>
          <p:nvPr/>
        </p:nvSpPr>
        <p:spPr>
          <a:xfrm>
            <a:off x="5962650" y="1733550"/>
            <a:ext cx="3709035" cy="323850"/>
          </a:xfrm>
          <a:prstGeom prst="rect">
            <a:avLst/>
          </a:prstGeom>
          <a:noFill/>
          <a:ln/>
        </p:spPr>
        <p:txBody>
          <a:bodyPr wrap="square" lIns="25400" tIns="25400" rIns="25400" bIns="25400" rtlCol="0" anchor="t">
            <a:normAutofit/>
          </a:bodyPr>
          <a:lstStyle/>
          <a:p>
            <a:pPr algn="l" indent="0" marL="0">
              <a:buNone/>
            </a:pPr>
            <a:r>
              <a:rPr lang="en-US" sz="1950" b="1" dirty="0">
                <a:solidFill>
                  <a:srgbClr val="152A47"/>
                </a:solidFill>
                <a:latin typeface="Cascadia Mono" pitchFamily="34" charset="0"/>
                <a:ea typeface="Cascadia Mono" pitchFamily="34" charset="-122"/>
                <a:cs typeface="Cascadia Mono" pitchFamily="34" charset="-120"/>
              </a:rPr>
              <a:t>Fetch origin</a:t>
            </a:r>
            <a:endParaRPr lang="en-US" sz="1950" dirty="0"/>
          </a:p>
        </p:txBody>
      </p:sp>
      <p:sp>
        <p:nvSpPr>
          <p:cNvPr id="23" name="Text 20"/>
          <p:cNvSpPr/>
          <p:nvPr/>
        </p:nvSpPr>
        <p:spPr>
          <a:xfrm>
            <a:off x="5962650" y="2095500"/>
            <a:ext cx="3473006" cy="681038"/>
          </a:xfrm>
          <a:prstGeom prst="rect">
            <a:avLst/>
          </a:prstGeom>
          <a:noFill/>
          <a:ln/>
        </p:spPr>
        <p:txBody>
          <a:bodyPr wrap="square" lIns="25400" tIns="25400" rIns="25400" bIns="25400" rtlCol="0" anchor="t">
            <a:normAutofit/>
          </a:bodyPr>
          <a:lstStyle/>
          <a:p>
            <a:pPr algn="l" indent="0" marL="0">
              <a:lnSpc>
                <a:spcPct val="103316"/>
              </a:lnSpc>
              <a:buNone/>
            </a:pPr>
            <a:r>
              <a:rPr lang="en-US" sz="1875" dirty="0">
                <a:solidFill>
                  <a:srgbClr val="000000"/>
                </a:solidFill>
                <a:latin typeface="Segoe UI" pitchFamily="34" charset="0"/>
                <a:ea typeface="Segoe UI" pitchFamily="34" charset="-122"/>
                <a:cs typeface="Segoe UI" pitchFamily="34" charset="-120"/>
              </a:rPr>
              <a:t>Check GitHub for new commits. Files don’t change.</a:t>
            </a:r>
            <a:endParaRPr lang="en-US" sz="1875" dirty="0"/>
          </a:p>
        </p:txBody>
      </p:sp>
      <p:sp>
        <p:nvSpPr>
          <p:cNvPr id="24" name="Shape 21"/>
          <p:cNvSpPr/>
          <p:nvPr/>
        </p:nvSpPr>
        <p:spPr>
          <a:xfrm>
            <a:off x="9696450" y="1524000"/>
            <a:ext cx="3790950" cy="1423988"/>
          </a:xfrm>
          <a:prstGeom prst="rect">
            <a:avLst/>
          </a:prstGeom>
          <a:solidFill>
            <a:srgbClr val="F2F2F2"/>
          </a:solidFill>
          <a:ln/>
        </p:spPr>
      </p:sp>
      <p:sp>
        <p:nvSpPr>
          <p:cNvPr id="25" name="Text 22"/>
          <p:cNvSpPr/>
          <p:nvPr/>
        </p:nvSpPr>
        <p:spPr>
          <a:xfrm>
            <a:off x="9906000" y="1733550"/>
            <a:ext cx="3709035" cy="323850"/>
          </a:xfrm>
          <a:prstGeom prst="rect">
            <a:avLst/>
          </a:prstGeom>
          <a:noFill/>
          <a:ln/>
        </p:spPr>
        <p:txBody>
          <a:bodyPr wrap="square" lIns="25400" tIns="25400" rIns="25400" bIns="25400" rtlCol="0" anchor="t">
            <a:normAutofit/>
          </a:bodyPr>
          <a:lstStyle/>
          <a:p>
            <a:pPr algn="l" indent="0" marL="0">
              <a:buNone/>
            </a:pPr>
            <a:r>
              <a:rPr lang="en-US" sz="1950" b="1" dirty="0">
                <a:solidFill>
                  <a:srgbClr val="152A47"/>
                </a:solidFill>
                <a:latin typeface="Cascadia Mono" pitchFamily="34" charset="0"/>
                <a:ea typeface="Cascadia Mono" pitchFamily="34" charset="-122"/>
                <a:cs typeface="Cascadia Mono" pitchFamily="34" charset="-120"/>
              </a:rPr>
              <a:t>Pull origin</a:t>
            </a:r>
            <a:endParaRPr lang="en-US" sz="1950" dirty="0"/>
          </a:p>
        </p:txBody>
      </p:sp>
      <p:sp>
        <p:nvSpPr>
          <p:cNvPr id="26" name="Text 23"/>
          <p:cNvSpPr/>
          <p:nvPr/>
        </p:nvSpPr>
        <p:spPr>
          <a:xfrm>
            <a:off x="9906000" y="2095500"/>
            <a:ext cx="3473006" cy="681038"/>
          </a:xfrm>
          <a:prstGeom prst="rect">
            <a:avLst/>
          </a:prstGeom>
          <a:noFill/>
          <a:ln/>
        </p:spPr>
        <p:txBody>
          <a:bodyPr wrap="square" lIns="25400" tIns="25400" rIns="25400" bIns="25400" rtlCol="0" anchor="t">
            <a:normAutofit/>
          </a:bodyPr>
          <a:lstStyle/>
          <a:p>
            <a:pPr algn="l" indent="0" marL="0">
              <a:lnSpc>
                <a:spcPct val="103316"/>
              </a:lnSpc>
              <a:buNone/>
            </a:pPr>
            <a:r>
              <a:rPr lang="en-US" sz="1875" dirty="0">
                <a:solidFill>
                  <a:srgbClr val="000000"/>
                </a:solidFill>
                <a:latin typeface="Segoe UI" pitchFamily="34" charset="0"/>
                <a:ea typeface="Segoe UI" pitchFamily="34" charset="-122"/>
                <a:cs typeface="Segoe UI" pitchFamily="34" charset="-120"/>
              </a:rPr>
              <a:t>Download new commits into your files</a:t>
            </a:r>
            <a:endParaRPr lang="en-US" sz="1875" dirty="0"/>
          </a:p>
        </p:txBody>
      </p:sp>
      <p:sp>
        <p:nvSpPr>
          <p:cNvPr id="27" name="Shape 24"/>
          <p:cNvSpPr/>
          <p:nvPr/>
        </p:nvSpPr>
        <p:spPr>
          <a:xfrm>
            <a:off x="1809750" y="3271838"/>
            <a:ext cx="1314450" cy="381000"/>
          </a:xfrm>
          <a:prstGeom prst="roundRect">
            <a:avLst>
              <a:gd name="adj" fmla="val 15000"/>
            </a:avLst>
          </a:prstGeom>
          <a:solidFill>
            <a:srgbClr val="595959"/>
          </a:solidFill>
          <a:ln/>
        </p:spPr>
      </p:sp>
      <p:sp>
        <p:nvSpPr>
          <p:cNvPr id="28" name="Text 25"/>
          <p:cNvSpPr/>
          <p:nvPr/>
        </p:nvSpPr>
        <p:spPr>
          <a:xfrm>
            <a:off x="1962150" y="3309938"/>
            <a:ext cx="1085850"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Segoe UI" pitchFamily="34" charset="0"/>
                <a:ea typeface="Segoe UI" pitchFamily="34" charset="-122"/>
                <a:cs typeface="Segoe UI" pitchFamily="34" charset="-120"/>
              </a:rPr>
              <a:t>EXERCISE</a:t>
            </a:r>
            <a:endParaRPr lang="en-US" sz="1800" dirty="0"/>
          </a:p>
        </p:txBody>
      </p:sp>
      <p:sp>
        <p:nvSpPr>
          <p:cNvPr id="29" name="Text 26"/>
          <p:cNvSpPr/>
          <p:nvPr/>
        </p:nvSpPr>
        <p:spPr>
          <a:xfrm>
            <a:off x="1809750" y="3900488"/>
            <a:ext cx="12845415" cy="381000"/>
          </a:xfrm>
          <a:prstGeom prst="rect">
            <a:avLst/>
          </a:prstGeom>
          <a:noFill/>
          <a:ln/>
        </p:spPr>
        <p:txBody>
          <a:bodyPr wrap="square" lIns="25400" tIns="25400" rIns="25400" bIns="25400" rtlCol="0" anchor="t">
            <a:normAutofit/>
          </a:bodyPr>
          <a:lstStyle/>
          <a:p>
            <a:pPr algn="l" indent="0" marL="0">
              <a:buNone/>
            </a:pPr>
            <a:r>
              <a:rPr lang="en-US" sz="2025" dirty="0">
                <a:solidFill>
                  <a:srgbClr val="000000"/>
                </a:solidFill>
                <a:latin typeface="Segoe UI" pitchFamily="34" charset="0"/>
                <a:ea typeface="Segoe UI" pitchFamily="34" charset="-122"/>
                <a:cs typeface="Segoe UI" pitchFamily="34" charset="-120"/>
              </a:rPr>
              <a:t>Simulate a teammate (or an agent) changing the repo:</a:t>
            </a:r>
            <a:endParaRPr lang="en-US" sz="2025" dirty="0"/>
          </a:p>
        </p:txBody>
      </p:sp>
      <p:sp>
        <p:nvSpPr>
          <p:cNvPr id="30" name="Text 27"/>
          <p:cNvSpPr/>
          <p:nvPr/>
        </p:nvSpPr>
        <p:spPr>
          <a:xfrm>
            <a:off x="1809750" y="4491038"/>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1</a:t>
            </a:r>
            <a:endParaRPr lang="en-US" sz="2250" dirty="0"/>
          </a:p>
        </p:txBody>
      </p:sp>
      <p:sp>
        <p:nvSpPr>
          <p:cNvPr id="31" name="Text 28"/>
          <p:cNvSpPr/>
          <p:nvPr/>
        </p:nvSpPr>
        <p:spPr>
          <a:xfrm>
            <a:off x="2343150" y="4491038"/>
            <a:ext cx="12258675"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On GitHub, open README.md › pencil icon. Add a line: </a:t>
            </a:r>
            <a:pPr algn="l" indent="0" marL="0">
              <a:lnSpc>
                <a:spcPct val="101250"/>
              </a:lnSpc>
              <a:buNone/>
            </a:pPr>
            <a:r>
              <a:rPr lang="en-US" sz="2025" i="1" dirty="0">
                <a:solidFill>
                  <a:srgbClr val="000000"/>
                </a:solidFill>
                <a:latin typeface="Segoe UI" pitchFamily="34" charset="0"/>
                <a:ea typeface="Segoe UI" pitchFamily="34" charset="-122"/>
                <a:cs typeface="Segoe UI" pitchFamily="34" charset="-120"/>
              </a:rPr>
              <a:t>Units: SI throughout.</a:t>
            </a:r>
            <a:endParaRPr lang="en-US" sz="2025" dirty="0"/>
          </a:p>
        </p:txBody>
      </p:sp>
      <p:sp>
        <p:nvSpPr>
          <p:cNvPr id="32" name="Text 29"/>
          <p:cNvSpPr/>
          <p:nvPr/>
        </p:nvSpPr>
        <p:spPr>
          <a:xfrm>
            <a:off x="1809750" y="5067300"/>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2</a:t>
            </a:r>
            <a:endParaRPr lang="en-US" sz="2250" dirty="0"/>
          </a:p>
        </p:txBody>
      </p:sp>
      <p:sp>
        <p:nvSpPr>
          <p:cNvPr id="33" name="Text 30"/>
          <p:cNvSpPr/>
          <p:nvPr/>
        </p:nvSpPr>
        <p:spPr>
          <a:xfrm>
            <a:off x="2343150" y="5067300"/>
            <a:ext cx="12258675"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b="1" dirty="0">
                <a:solidFill>
                  <a:srgbClr val="000000"/>
                </a:solidFill>
                <a:latin typeface="Segoe UI" pitchFamily="34" charset="0"/>
                <a:ea typeface="Segoe UI" pitchFamily="34" charset="-122"/>
                <a:cs typeface="Segoe UI" pitchFamily="34" charset="-120"/>
              </a:rPr>
              <a:t>Commit changes </a:t>
            </a:r>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directly to main.</a:t>
            </a:r>
            <a:endParaRPr lang="en-US" sz="2025" dirty="0"/>
          </a:p>
        </p:txBody>
      </p:sp>
      <p:sp>
        <p:nvSpPr>
          <p:cNvPr id="34" name="Text 31"/>
          <p:cNvSpPr/>
          <p:nvPr/>
        </p:nvSpPr>
        <p:spPr>
          <a:xfrm>
            <a:off x="1809750" y="5643563"/>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3</a:t>
            </a:r>
            <a:endParaRPr lang="en-US" sz="2250" dirty="0"/>
          </a:p>
        </p:txBody>
      </p:sp>
      <p:sp>
        <p:nvSpPr>
          <p:cNvPr id="35" name="Text 32"/>
          <p:cNvSpPr/>
          <p:nvPr/>
        </p:nvSpPr>
        <p:spPr>
          <a:xfrm>
            <a:off x="2343150" y="5643563"/>
            <a:ext cx="12258675"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In Desktop: </a:t>
            </a:r>
            <a:pPr algn="l" indent="0" marL="0">
              <a:lnSpc>
                <a:spcPct val="101250"/>
              </a:lnSpc>
              <a:buNone/>
            </a:pPr>
            <a:r>
              <a:rPr lang="en-US" sz="2025" b="1" dirty="0">
                <a:solidFill>
                  <a:srgbClr val="000000"/>
                </a:solidFill>
                <a:latin typeface="Segoe UI" pitchFamily="34" charset="0"/>
                <a:ea typeface="Segoe UI" pitchFamily="34" charset="-122"/>
                <a:cs typeface="Segoe UI" pitchFamily="34" charset="-120"/>
              </a:rPr>
              <a:t>Fetch origin</a:t>
            </a:r>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 The button changes to </a:t>
            </a:r>
            <a:pPr algn="l" indent="0" marL="0">
              <a:lnSpc>
                <a:spcPct val="101250"/>
              </a:lnSpc>
              <a:buNone/>
            </a:pPr>
            <a:r>
              <a:rPr lang="en-US" sz="2025" b="1" dirty="0">
                <a:solidFill>
                  <a:srgbClr val="000000"/>
                </a:solidFill>
                <a:latin typeface="Segoe UI" pitchFamily="34" charset="0"/>
                <a:ea typeface="Segoe UI" pitchFamily="34" charset="-122"/>
                <a:cs typeface="Segoe UI" pitchFamily="34" charset="-120"/>
              </a:rPr>
              <a:t>Pull origin ↓1</a:t>
            </a:r>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a:t>
            </a:r>
            <a:endParaRPr lang="en-US" sz="2025" dirty="0"/>
          </a:p>
        </p:txBody>
      </p:sp>
      <p:sp>
        <p:nvSpPr>
          <p:cNvPr id="36" name="Text 33"/>
          <p:cNvSpPr/>
          <p:nvPr/>
        </p:nvSpPr>
        <p:spPr>
          <a:xfrm>
            <a:off x="1809750" y="6219825"/>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4</a:t>
            </a:r>
            <a:endParaRPr lang="en-US" sz="2250" dirty="0"/>
          </a:p>
        </p:txBody>
      </p:sp>
      <p:sp>
        <p:nvSpPr>
          <p:cNvPr id="37" name="Text 34"/>
          <p:cNvSpPr/>
          <p:nvPr/>
        </p:nvSpPr>
        <p:spPr>
          <a:xfrm>
            <a:off x="2343150" y="6219825"/>
            <a:ext cx="12258675"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b="1" dirty="0">
                <a:solidFill>
                  <a:srgbClr val="000000"/>
                </a:solidFill>
                <a:latin typeface="Segoe UI" pitchFamily="34" charset="0"/>
                <a:ea typeface="Segoe UI" pitchFamily="34" charset="-122"/>
                <a:cs typeface="Segoe UI" pitchFamily="34" charset="-120"/>
              </a:rPr>
              <a:t>Pull origin</a:t>
            </a:r>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 Open README.md locally and confirm the new line.</a:t>
            </a:r>
            <a:endParaRPr lang="en-US" sz="2025" dirty="0"/>
          </a:p>
        </p:txBody>
      </p:sp>
      <p:sp>
        <p:nvSpPr>
          <p:cNvPr id="38" name="Shape 35"/>
          <p:cNvSpPr/>
          <p:nvPr/>
        </p:nvSpPr>
        <p:spPr>
          <a:xfrm>
            <a:off x="1809750" y="6853238"/>
            <a:ext cx="11677650" cy="19050"/>
          </a:xfrm>
          <a:prstGeom prst="rect">
            <a:avLst/>
          </a:prstGeom>
          <a:solidFill>
            <a:srgbClr val="BFBFBF"/>
          </a:solidFill>
          <a:ln/>
        </p:spPr>
      </p:sp>
      <p:sp>
        <p:nvSpPr>
          <p:cNvPr id="39" name="Text 36"/>
          <p:cNvSpPr/>
          <p:nvPr/>
        </p:nvSpPr>
        <p:spPr>
          <a:xfrm>
            <a:off x="1809750" y="7081838"/>
            <a:ext cx="12027980"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Pull before you start. Push when you finish.</a:t>
            </a:r>
            <a:endParaRPr lang="en-US" sz="2100" dirty="0"/>
          </a:p>
        </p:txBody>
      </p:sp>
      <p:sp>
        <p:nvSpPr>
          <p:cNvPr id="40" name="Text 37"/>
          <p:cNvSpPr/>
          <p:nvPr/>
        </p:nvSpPr>
        <p:spPr>
          <a:xfrm>
            <a:off x="1054418" y="9810750"/>
            <a:ext cx="13264515"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1</a:t>
            </a:r>
            <a:endParaRPr lang="en-US" sz="1800" dirty="0"/>
          </a:p>
        </p:txBody>
      </p:sp>
      <p:sp>
        <p:nvSpPr>
          <p:cNvPr id="41" name="Text 38"/>
          <p:cNvSpPr/>
          <p:nvPr/>
        </p:nvSpPr>
        <p:spPr>
          <a:xfrm>
            <a:off x="13336191" y="9810750"/>
            <a:ext cx="322659" cy="342900"/>
          </a:xfrm>
          <a:prstGeom prst="rect">
            <a:avLst/>
          </a:prstGeom>
          <a:noFill/>
          <a:ln/>
        </p:spPr>
        <p:txBody>
          <a:bodyPr wrap="square" lIns="25400" tIns="25400" rIns="25400" bIns="25400" rtlCol="0" anchor="t">
            <a:norm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13</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543050" cy="10287000"/>
          </a:xfrm>
          <a:prstGeom prst="rect">
            <a:avLst/>
          </a:prstGeom>
          <a:solidFill>
            <a:srgbClr val="E6E6E6"/>
          </a:solidFill>
          <a:ln/>
        </p:spPr>
      </p:sp>
      <p:pic>
        <p:nvPicPr>
          <p:cNvPr id="3" name="Image 0" descr="preencoded.png">    </p:cNvPr>
          <p:cNvPicPr>
            <a:picLocks noChangeAspect="1"/>
          </p:cNvPicPr>
          <p:nvPr/>
        </p:nvPicPr>
        <p:blipFill>
          <a:blip r:embed="rId1"/>
          <a:stretch>
            <a:fillRect/>
          </a:stretch>
        </p:blipFill>
        <p:spPr>
          <a:xfrm>
            <a:off x="200025" y="133350"/>
            <a:ext cx="1143000" cy="1143000"/>
          </a:xfrm>
          <a:prstGeom prst="rect">
            <a:avLst/>
          </a:prstGeom>
        </p:spPr>
      </p:pic>
      <p:sp>
        <p:nvSpPr>
          <p:cNvPr id="4" name="Text 1"/>
          <p:cNvSpPr/>
          <p:nvPr/>
        </p:nvSpPr>
        <p:spPr>
          <a:xfrm>
            <a:off x="133350" y="2381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Overview</a:t>
            </a:r>
            <a:endParaRPr lang="en-US" sz="1800" dirty="0"/>
          </a:p>
        </p:txBody>
      </p:sp>
      <p:sp>
        <p:nvSpPr>
          <p:cNvPr id="5" name="Text 2"/>
          <p:cNvSpPr/>
          <p:nvPr/>
        </p:nvSpPr>
        <p:spPr>
          <a:xfrm>
            <a:off x="133350" y="2762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Concepts</a:t>
            </a:r>
            <a:endParaRPr lang="en-US" sz="1800" dirty="0"/>
          </a:p>
        </p:txBody>
      </p:sp>
      <p:sp>
        <p:nvSpPr>
          <p:cNvPr id="6" name="Text 3"/>
          <p:cNvSpPr/>
          <p:nvPr/>
        </p:nvSpPr>
        <p:spPr>
          <a:xfrm>
            <a:off x="133350" y="3143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Setup</a:t>
            </a:r>
            <a:endParaRPr lang="en-US" sz="1800" dirty="0"/>
          </a:p>
        </p:txBody>
      </p:sp>
      <p:sp>
        <p:nvSpPr>
          <p:cNvPr id="7" name="Text 4"/>
          <p:cNvSpPr/>
          <p:nvPr/>
        </p:nvSpPr>
        <p:spPr>
          <a:xfrm>
            <a:off x="133350" y="3524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Clone</a:t>
            </a:r>
            <a:endParaRPr lang="en-US" sz="1800" dirty="0"/>
          </a:p>
        </p:txBody>
      </p:sp>
      <p:sp>
        <p:nvSpPr>
          <p:cNvPr id="8" name="Text 5"/>
          <p:cNvSpPr/>
          <p:nvPr/>
        </p:nvSpPr>
        <p:spPr>
          <a:xfrm>
            <a:off x="133350" y="3905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Commit</a:t>
            </a:r>
            <a:endParaRPr lang="en-US" sz="1800" dirty="0"/>
          </a:p>
        </p:txBody>
      </p:sp>
      <p:sp>
        <p:nvSpPr>
          <p:cNvPr id="9" name="Text 6"/>
          <p:cNvSpPr/>
          <p:nvPr/>
        </p:nvSpPr>
        <p:spPr>
          <a:xfrm>
            <a:off x="133350" y="4286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Sync</a:t>
            </a:r>
            <a:endParaRPr lang="en-US" sz="1800" dirty="0"/>
          </a:p>
        </p:txBody>
      </p:sp>
      <p:sp>
        <p:nvSpPr>
          <p:cNvPr id="10" name="Text 7"/>
          <p:cNvSpPr/>
          <p:nvPr/>
        </p:nvSpPr>
        <p:spPr>
          <a:xfrm>
            <a:off x="133350" y="4667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Branches</a:t>
            </a:r>
            <a:endParaRPr lang="en-US" sz="1800" dirty="0"/>
          </a:p>
        </p:txBody>
      </p:sp>
      <p:sp>
        <p:nvSpPr>
          <p:cNvPr id="11" name="Text 8"/>
          <p:cNvSpPr/>
          <p:nvPr/>
        </p:nvSpPr>
        <p:spPr>
          <a:xfrm>
            <a:off x="133350" y="5048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Conflicts</a:t>
            </a:r>
            <a:endParaRPr lang="en-US" sz="1800" dirty="0"/>
          </a:p>
        </p:txBody>
      </p:sp>
      <p:sp>
        <p:nvSpPr>
          <p:cNvPr id="12" name="Text 9"/>
          <p:cNvSpPr/>
          <p:nvPr/>
        </p:nvSpPr>
        <p:spPr>
          <a:xfrm>
            <a:off x="133350" y="5429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History</a:t>
            </a:r>
            <a:endParaRPr lang="en-US" sz="1800" dirty="0"/>
          </a:p>
        </p:txBody>
      </p:sp>
      <p:sp>
        <p:nvSpPr>
          <p:cNvPr id="13" name="Text 10"/>
          <p:cNvSpPr/>
          <p:nvPr/>
        </p:nvSpPr>
        <p:spPr>
          <a:xfrm>
            <a:off x="133350" y="5810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Agent-Ready</a:t>
            </a:r>
            <a:endParaRPr lang="en-US" sz="1800" dirty="0"/>
          </a:p>
        </p:txBody>
      </p:sp>
      <p:sp>
        <p:nvSpPr>
          <p:cNvPr id="14" name="Text 11"/>
          <p:cNvSpPr/>
          <p:nvPr/>
        </p:nvSpPr>
        <p:spPr>
          <a:xfrm>
            <a:off x="133350" y="6191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Review</a:t>
            </a:r>
            <a:endParaRPr lang="en-US" sz="1800" dirty="0"/>
          </a:p>
        </p:txBody>
      </p:sp>
      <p:sp>
        <p:nvSpPr>
          <p:cNvPr id="15" name="Text 12"/>
          <p:cNvSpPr/>
          <p:nvPr/>
        </p:nvSpPr>
        <p:spPr>
          <a:xfrm>
            <a:off x="1657350" y="200025"/>
            <a:ext cx="10988040" cy="1057275"/>
          </a:xfrm>
          <a:prstGeom prst="rect">
            <a:avLst/>
          </a:prstGeom>
          <a:noFill/>
          <a:ln/>
        </p:spPr>
        <p:txBody>
          <a:bodyPr wrap="square" lIns="25400" tIns="25400" rIns="25400" bIns="25400" rtlCol="0" anchor="ctr">
            <a:norm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Exercise 5: Work on a Branch</a:t>
            </a:r>
            <a:endParaRPr lang="en-US" sz="4800" dirty="0"/>
          </a:p>
        </p:txBody>
      </p:sp>
      <p:sp>
        <p:nvSpPr>
          <p:cNvPr id="16" name="Text 13"/>
          <p:cNvSpPr/>
          <p:nvPr/>
        </p:nvSpPr>
        <p:spPr>
          <a:xfrm>
            <a:off x="12515950" y="133350"/>
            <a:ext cx="1142901"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1</a:t>
            </a:r>
            <a:endParaRPr lang="en-US" sz="2100" dirty="0"/>
          </a:p>
        </p:txBody>
      </p:sp>
      <p:sp>
        <p:nvSpPr>
          <p:cNvPr id="17" name="Shape 14"/>
          <p:cNvSpPr/>
          <p:nvPr/>
        </p:nvSpPr>
        <p:spPr>
          <a:xfrm>
            <a:off x="1657350" y="1219200"/>
            <a:ext cx="11925300" cy="66675"/>
          </a:xfrm>
          <a:prstGeom prst="rect">
            <a:avLst/>
          </a:prstGeom>
          <a:solidFill>
            <a:srgbClr val="000000"/>
          </a:solidFill>
          <a:ln/>
        </p:spPr>
      </p:sp>
      <p:pic>
        <p:nvPicPr>
          <p:cNvPr id="18"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809750" y="1571625"/>
            <a:ext cx="11677650" cy="2000250"/>
          </a:xfrm>
          <a:prstGeom prst="rect">
            <a:avLst/>
          </a:prstGeom>
        </p:spPr>
      </p:pic>
      <p:sp>
        <p:nvSpPr>
          <p:cNvPr id="19" name="Shape 15"/>
          <p:cNvSpPr/>
          <p:nvPr/>
        </p:nvSpPr>
        <p:spPr>
          <a:xfrm>
            <a:off x="1809750" y="3800475"/>
            <a:ext cx="1314450" cy="381000"/>
          </a:xfrm>
          <a:prstGeom prst="roundRect">
            <a:avLst>
              <a:gd name="adj" fmla="val 15000"/>
            </a:avLst>
          </a:prstGeom>
          <a:solidFill>
            <a:srgbClr val="595959"/>
          </a:solidFill>
          <a:ln/>
        </p:spPr>
      </p:sp>
      <p:sp>
        <p:nvSpPr>
          <p:cNvPr id="20" name="Text 16"/>
          <p:cNvSpPr/>
          <p:nvPr/>
        </p:nvSpPr>
        <p:spPr>
          <a:xfrm>
            <a:off x="1962150" y="3838575"/>
            <a:ext cx="1085850"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Segoe UI" pitchFamily="34" charset="0"/>
                <a:ea typeface="Segoe UI" pitchFamily="34" charset="-122"/>
                <a:cs typeface="Segoe UI" pitchFamily="34" charset="-120"/>
              </a:rPr>
              <a:t>EXERCISE</a:t>
            </a:r>
            <a:endParaRPr lang="en-US" sz="1800" dirty="0"/>
          </a:p>
        </p:txBody>
      </p:sp>
      <p:sp>
        <p:nvSpPr>
          <p:cNvPr id="21" name="Text 17"/>
          <p:cNvSpPr/>
          <p:nvPr/>
        </p:nvSpPr>
        <p:spPr>
          <a:xfrm>
            <a:off x="1809750" y="4371975"/>
            <a:ext cx="609600" cy="712490"/>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1</a:t>
            </a:r>
            <a:endParaRPr lang="en-US" sz="2250" dirty="0"/>
          </a:p>
        </p:txBody>
      </p:sp>
      <p:sp>
        <p:nvSpPr>
          <p:cNvPr id="22" name="Text 18"/>
          <p:cNvSpPr/>
          <p:nvPr/>
        </p:nvSpPr>
        <p:spPr>
          <a:xfrm>
            <a:off x="2343150" y="4371975"/>
            <a:ext cx="5287994" cy="712490"/>
          </a:xfrm>
          <a:prstGeom prst="rect">
            <a:avLst/>
          </a:prstGeom>
          <a:noFill/>
          <a:ln/>
        </p:spPr>
        <p:txBody>
          <a:bodyPr wrap="square" lIns="25400" tIns="25400" rIns="25400" bIns="25400" rtlCol="0" anchor="t">
            <a:normAutofit/>
          </a:bodyPr>
          <a:lstStyle/>
          <a:p>
            <a:pPr algn="l" indent="0" marL="0">
              <a:lnSpc>
                <a:spcPct val="101250"/>
              </a:lnSpc>
              <a:buNone/>
            </a:pPr>
            <a:r>
              <a:rPr lang="en-US" sz="1950" b="1" dirty="0">
                <a:solidFill>
                  <a:srgbClr val="000000"/>
                </a:solidFill>
                <a:latin typeface="Segoe UI" pitchFamily="34" charset="0"/>
                <a:ea typeface="Segoe UI" pitchFamily="34" charset="-122"/>
                <a:cs typeface="Segoe UI" pitchFamily="34" charset="-120"/>
              </a:rPr>
              <a:t>Current branch </a:t>
            </a:r>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 </a:t>
            </a:r>
            <a:pPr algn="l" indent="0" marL="0">
              <a:lnSpc>
                <a:spcPct val="101250"/>
              </a:lnSpc>
              <a:buNone/>
            </a:pPr>
            <a:r>
              <a:rPr lang="en-US" sz="1950" b="1" dirty="0">
                <a:solidFill>
                  <a:srgbClr val="000000"/>
                </a:solidFill>
                <a:latin typeface="Segoe UI" pitchFamily="34" charset="0"/>
                <a:ea typeface="Segoe UI" pitchFamily="34" charset="-122"/>
                <a:cs typeface="Segoe UI" pitchFamily="34" charset="-120"/>
              </a:rPr>
              <a:t>New branch</a:t>
            </a:r>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 </a:t>
            </a:r>
            <a:pPr algn="l" indent="0" marL="0">
              <a:lnSpc>
                <a:spcPct val="101250"/>
              </a:lnSpc>
              <a:buNone/>
            </a:pPr>
            <a:r>
              <a:rPr lang="en-US" sz="1725" dirty="0">
                <a:solidFill>
                  <a:srgbClr val="000000"/>
                </a:solidFill>
                <a:latin typeface="Cascadia Mono" pitchFamily="34" charset="0"/>
                <a:ea typeface="Cascadia Mono" pitchFamily="34" charset="-122"/>
                <a:cs typeface="Cascadia Mono" pitchFamily="34" charset="-120"/>
              </a:rPr>
              <a:t>feature/aluminum</a:t>
            </a:r>
            <a:endParaRPr lang="en-US" sz="1950" dirty="0"/>
          </a:p>
        </p:txBody>
      </p:sp>
      <p:sp>
        <p:nvSpPr>
          <p:cNvPr id="23" name="Text 19"/>
          <p:cNvSpPr/>
          <p:nvPr/>
        </p:nvSpPr>
        <p:spPr>
          <a:xfrm>
            <a:off x="1809750" y="5217815"/>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2</a:t>
            </a:r>
            <a:endParaRPr lang="en-US" sz="2250" dirty="0"/>
          </a:p>
        </p:txBody>
      </p:sp>
      <p:sp>
        <p:nvSpPr>
          <p:cNvPr id="24" name="Text 20"/>
          <p:cNvSpPr/>
          <p:nvPr/>
        </p:nvSpPr>
        <p:spPr>
          <a:xfrm>
            <a:off x="2343150" y="5217815"/>
            <a:ext cx="5647373" cy="423863"/>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In beam.m: </a:t>
            </a:r>
            <a:pPr algn="l" indent="0" marL="0">
              <a:lnSpc>
                <a:spcPct val="101250"/>
              </a:lnSpc>
              <a:buNone/>
            </a:pPr>
            <a:r>
              <a:rPr lang="en-US" sz="1725" dirty="0">
                <a:solidFill>
                  <a:srgbClr val="000000"/>
                </a:solidFill>
                <a:latin typeface="Cascadia Mono" pitchFamily="34" charset="0"/>
                <a:ea typeface="Cascadia Mono" pitchFamily="34" charset="-122"/>
                <a:cs typeface="Cascadia Mono" pitchFamily="34" charset="-120"/>
              </a:rPr>
              <a:t>E = 69e9; % Pa, aluminum</a:t>
            </a:r>
            <a:endParaRPr lang="en-US" sz="1950" dirty="0"/>
          </a:p>
        </p:txBody>
      </p:sp>
      <p:sp>
        <p:nvSpPr>
          <p:cNvPr id="25" name="Text 21"/>
          <p:cNvSpPr/>
          <p:nvPr/>
        </p:nvSpPr>
        <p:spPr>
          <a:xfrm>
            <a:off x="1809750" y="5775028"/>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3</a:t>
            </a:r>
            <a:endParaRPr lang="en-US" sz="2250" dirty="0"/>
          </a:p>
        </p:txBody>
      </p:sp>
      <p:sp>
        <p:nvSpPr>
          <p:cNvPr id="26" name="Text 22"/>
          <p:cNvSpPr/>
          <p:nvPr/>
        </p:nvSpPr>
        <p:spPr>
          <a:xfrm>
            <a:off x="2343150" y="5775028"/>
            <a:ext cx="5647373" cy="423863"/>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Commit to feature/aluminum.</a:t>
            </a:r>
            <a:endParaRPr lang="en-US" sz="1950" dirty="0"/>
          </a:p>
        </p:txBody>
      </p:sp>
      <p:sp>
        <p:nvSpPr>
          <p:cNvPr id="27" name="Text 23"/>
          <p:cNvSpPr/>
          <p:nvPr/>
        </p:nvSpPr>
        <p:spPr>
          <a:xfrm>
            <a:off x="1809750" y="6332240"/>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4</a:t>
            </a:r>
            <a:endParaRPr lang="en-US" sz="2250" dirty="0"/>
          </a:p>
        </p:txBody>
      </p:sp>
      <p:sp>
        <p:nvSpPr>
          <p:cNvPr id="28" name="Text 24"/>
          <p:cNvSpPr/>
          <p:nvPr/>
        </p:nvSpPr>
        <p:spPr>
          <a:xfrm>
            <a:off x="2343150" y="6332240"/>
            <a:ext cx="5647373" cy="423863"/>
          </a:xfrm>
          <a:prstGeom prst="rect">
            <a:avLst/>
          </a:prstGeom>
          <a:noFill/>
          <a:ln/>
        </p:spPr>
        <p:txBody>
          <a:bodyPr wrap="square" lIns="25400" tIns="25400" rIns="25400" bIns="25400" rtlCol="0" anchor="t">
            <a:normAutofit/>
          </a:bodyPr>
          <a:lstStyle/>
          <a:p>
            <a:pPr algn="l" indent="0" marL="0">
              <a:lnSpc>
                <a:spcPct val="101250"/>
              </a:lnSpc>
              <a:buNone/>
            </a:pPr>
            <a:r>
              <a:rPr lang="en-US" sz="1950" b="1" dirty="0">
                <a:solidFill>
                  <a:srgbClr val="000000"/>
                </a:solidFill>
                <a:latin typeface="Segoe UI" pitchFamily="34" charset="0"/>
                <a:ea typeface="Segoe UI" pitchFamily="34" charset="-122"/>
                <a:cs typeface="Segoe UI" pitchFamily="34" charset="-120"/>
              </a:rPr>
              <a:t>Publish branch</a:t>
            </a:r>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a:t>
            </a:r>
            <a:endParaRPr lang="en-US" sz="1950" dirty="0"/>
          </a:p>
        </p:txBody>
      </p:sp>
      <p:sp>
        <p:nvSpPr>
          <p:cNvPr id="29" name="Text 25"/>
          <p:cNvSpPr/>
          <p:nvPr/>
        </p:nvSpPr>
        <p:spPr>
          <a:xfrm>
            <a:off x="1809750" y="6889453"/>
            <a:ext cx="609600" cy="706636"/>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5</a:t>
            </a:r>
            <a:endParaRPr lang="en-US" sz="2250" dirty="0"/>
          </a:p>
        </p:txBody>
      </p:sp>
      <p:sp>
        <p:nvSpPr>
          <p:cNvPr id="30" name="Text 26"/>
          <p:cNvSpPr/>
          <p:nvPr/>
        </p:nvSpPr>
        <p:spPr>
          <a:xfrm>
            <a:off x="2343150" y="6889453"/>
            <a:ext cx="5287994" cy="706636"/>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Switch Current branch to main. Look at beam.m.</a:t>
            </a:r>
            <a:endParaRPr lang="en-US" sz="1950" dirty="0"/>
          </a:p>
        </p:txBody>
      </p:sp>
      <p:sp>
        <p:nvSpPr>
          <p:cNvPr id="31" name="Text 27"/>
          <p:cNvSpPr/>
          <p:nvPr/>
        </p:nvSpPr>
        <p:spPr>
          <a:xfrm>
            <a:off x="7820025" y="4352925"/>
            <a:ext cx="5837396" cy="758031"/>
          </a:xfrm>
          <a:prstGeom prst="rect">
            <a:avLst/>
          </a:prstGeom>
          <a:noFill/>
          <a:ln/>
        </p:spPr>
        <p:txBody>
          <a:bodyPr wrap="square" lIns="25400" tIns="25400" rIns="25400" bIns="25400" rtlCol="0" anchor="t">
            <a:normAutofit/>
          </a:bodyPr>
          <a:lstStyle/>
          <a:p>
            <a:pPr algn="l" indent="0" marL="0">
              <a:lnSpc>
                <a:spcPct val="105000"/>
              </a:lnSpc>
              <a:buNone/>
            </a:pPr>
            <a:r>
              <a:rPr lang="en-US" sz="2025" b="1" dirty="0">
                <a:solidFill>
                  <a:srgbClr val="000000"/>
                </a:solidFill>
                <a:latin typeface="Segoe UI" pitchFamily="34" charset="0"/>
                <a:ea typeface="Segoe UI" pitchFamily="34" charset="-122"/>
                <a:cs typeface="Segoe UI" pitchFamily="34" charset="-120"/>
              </a:rPr>
              <a:t>Branch: </a:t>
            </a:r>
            <a:pPr algn="l" indent="0" marL="0">
              <a:lnSpc>
                <a:spcPct val="105000"/>
              </a:lnSpc>
              <a:buNone/>
            </a:pPr>
            <a:r>
              <a:rPr lang="en-US" sz="2025" dirty="0">
                <a:solidFill>
                  <a:srgbClr val="000000"/>
                </a:solidFill>
                <a:latin typeface="Segoe UI" pitchFamily="34" charset="0"/>
                <a:ea typeface="Segoe UI" pitchFamily="34" charset="-122"/>
                <a:cs typeface="Segoe UI" pitchFamily="34" charset="-120"/>
              </a:rPr>
              <a:t>a separate line of commits. main stays unchanged until the branch is merged.</a:t>
            </a:r>
            <a:endParaRPr lang="en-US" sz="2025" dirty="0"/>
          </a:p>
        </p:txBody>
      </p:sp>
      <p:sp>
        <p:nvSpPr>
          <p:cNvPr id="32" name="Text 28"/>
          <p:cNvSpPr/>
          <p:nvPr/>
        </p:nvSpPr>
        <p:spPr>
          <a:xfrm>
            <a:off x="7820025" y="5244307"/>
            <a:ext cx="5837396" cy="758031"/>
          </a:xfrm>
          <a:prstGeom prst="rect">
            <a:avLst/>
          </a:prstGeom>
          <a:noFill/>
          <a:ln/>
        </p:spPr>
        <p:txBody>
          <a:bodyPr wrap="square" lIns="25400" tIns="25400" rIns="25400" bIns="25400" rtlCol="0" anchor="t">
            <a:normAutofit/>
          </a:bodyPr>
          <a:lstStyle/>
          <a:p>
            <a:pPr algn="l" indent="0" marL="0">
              <a:lnSpc>
                <a:spcPct val="105000"/>
              </a:lnSpc>
              <a:buNone/>
            </a:pPr>
            <a:r>
              <a:rPr lang="en-US" sz="2025" dirty="0">
                <a:solidFill>
                  <a:srgbClr val="000000"/>
                </a:solidFill>
                <a:latin typeface="Segoe UI" pitchFamily="34" charset="0"/>
                <a:ea typeface="Segoe UI" pitchFamily="34" charset="-122"/>
                <a:cs typeface="Segoe UI" pitchFamily="34" charset="-120"/>
              </a:rPr>
              <a:t>Switching branches swaps the files in your folder. Commit before you switch.</a:t>
            </a:r>
            <a:endParaRPr lang="en-US" sz="2025" dirty="0"/>
          </a:p>
        </p:txBody>
      </p:sp>
      <p:sp>
        <p:nvSpPr>
          <p:cNvPr id="33" name="Text 29"/>
          <p:cNvSpPr/>
          <p:nvPr/>
        </p:nvSpPr>
        <p:spPr>
          <a:xfrm>
            <a:off x="7820025" y="6135688"/>
            <a:ext cx="6234113" cy="398066"/>
          </a:xfrm>
          <a:prstGeom prst="rect">
            <a:avLst/>
          </a:prstGeom>
          <a:noFill/>
          <a:ln/>
        </p:spPr>
        <p:txBody>
          <a:bodyPr wrap="square" lIns="25400" tIns="25400" rIns="25400" bIns="25400" rtlCol="0" anchor="t">
            <a:normAutofit/>
          </a:bodyPr>
          <a:lstStyle/>
          <a:p>
            <a:pPr algn="l" indent="0" marL="0">
              <a:lnSpc>
                <a:spcPct val="105000"/>
              </a:lnSpc>
              <a:buNone/>
            </a:pPr>
            <a:r>
              <a:rPr lang="en-US" sz="2025" dirty="0">
                <a:solidFill>
                  <a:srgbClr val="404040"/>
                </a:solidFill>
                <a:latin typeface="Segoe UI" pitchFamily="34" charset="0"/>
                <a:ea typeface="Segoe UI" pitchFamily="34" charset="-122"/>
                <a:cs typeface="Segoe UI" pitchFamily="34" charset="-120"/>
              </a:rPr>
              <a:t>Coding agents always work on their own branch.</a:t>
            </a:r>
            <a:endParaRPr lang="en-US" sz="2025" dirty="0"/>
          </a:p>
        </p:txBody>
      </p:sp>
      <p:sp>
        <p:nvSpPr>
          <p:cNvPr id="34" name="Text 30"/>
          <p:cNvSpPr/>
          <p:nvPr/>
        </p:nvSpPr>
        <p:spPr>
          <a:xfrm>
            <a:off x="1054418" y="9810750"/>
            <a:ext cx="13264515"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1</a:t>
            </a:r>
            <a:endParaRPr lang="en-US" sz="1800" dirty="0"/>
          </a:p>
        </p:txBody>
      </p:sp>
      <p:sp>
        <p:nvSpPr>
          <p:cNvPr id="35" name="Text 31"/>
          <p:cNvSpPr/>
          <p:nvPr/>
        </p:nvSpPr>
        <p:spPr>
          <a:xfrm>
            <a:off x="13336191" y="9810750"/>
            <a:ext cx="322659" cy="342900"/>
          </a:xfrm>
          <a:prstGeom prst="rect">
            <a:avLst/>
          </a:prstGeom>
          <a:noFill/>
          <a:ln/>
        </p:spPr>
        <p:txBody>
          <a:bodyPr wrap="square" lIns="25400" tIns="25400" rIns="25400" bIns="25400" rtlCol="0" anchor="t">
            <a:norm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14</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543050" cy="10287000"/>
          </a:xfrm>
          <a:prstGeom prst="rect">
            <a:avLst/>
          </a:prstGeom>
          <a:solidFill>
            <a:srgbClr val="E6E6E6"/>
          </a:solidFill>
          <a:ln/>
        </p:spPr>
      </p:sp>
      <p:pic>
        <p:nvPicPr>
          <p:cNvPr id="3" name="Image 0" descr="preencoded.png">    </p:cNvPr>
          <p:cNvPicPr>
            <a:picLocks noChangeAspect="1"/>
          </p:cNvPicPr>
          <p:nvPr/>
        </p:nvPicPr>
        <p:blipFill>
          <a:blip r:embed="rId1"/>
          <a:stretch>
            <a:fillRect/>
          </a:stretch>
        </p:blipFill>
        <p:spPr>
          <a:xfrm>
            <a:off x="200025" y="133350"/>
            <a:ext cx="1143000" cy="1143000"/>
          </a:xfrm>
          <a:prstGeom prst="rect">
            <a:avLst/>
          </a:prstGeom>
        </p:spPr>
      </p:pic>
      <p:sp>
        <p:nvSpPr>
          <p:cNvPr id="4" name="Text 1"/>
          <p:cNvSpPr/>
          <p:nvPr/>
        </p:nvSpPr>
        <p:spPr>
          <a:xfrm>
            <a:off x="133350" y="2381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Overview</a:t>
            </a:r>
            <a:endParaRPr lang="en-US" sz="1800" dirty="0"/>
          </a:p>
        </p:txBody>
      </p:sp>
      <p:sp>
        <p:nvSpPr>
          <p:cNvPr id="5" name="Text 2"/>
          <p:cNvSpPr/>
          <p:nvPr/>
        </p:nvSpPr>
        <p:spPr>
          <a:xfrm>
            <a:off x="133350" y="2762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Concepts</a:t>
            </a:r>
            <a:endParaRPr lang="en-US" sz="1800" dirty="0"/>
          </a:p>
        </p:txBody>
      </p:sp>
      <p:sp>
        <p:nvSpPr>
          <p:cNvPr id="6" name="Text 3"/>
          <p:cNvSpPr/>
          <p:nvPr/>
        </p:nvSpPr>
        <p:spPr>
          <a:xfrm>
            <a:off x="133350" y="3143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Setup</a:t>
            </a:r>
            <a:endParaRPr lang="en-US" sz="1800" dirty="0"/>
          </a:p>
        </p:txBody>
      </p:sp>
      <p:sp>
        <p:nvSpPr>
          <p:cNvPr id="7" name="Text 4"/>
          <p:cNvSpPr/>
          <p:nvPr/>
        </p:nvSpPr>
        <p:spPr>
          <a:xfrm>
            <a:off x="133350" y="3524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Clone</a:t>
            </a:r>
            <a:endParaRPr lang="en-US" sz="1800" dirty="0"/>
          </a:p>
        </p:txBody>
      </p:sp>
      <p:sp>
        <p:nvSpPr>
          <p:cNvPr id="8" name="Text 5"/>
          <p:cNvSpPr/>
          <p:nvPr/>
        </p:nvSpPr>
        <p:spPr>
          <a:xfrm>
            <a:off x="133350" y="3905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Commit</a:t>
            </a:r>
            <a:endParaRPr lang="en-US" sz="1800" dirty="0"/>
          </a:p>
        </p:txBody>
      </p:sp>
      <p:sp>
        <p:nvSpPr>
          <p:cNvPr id="9" name="Text 6"/>
          <p:cNvSpPr/>
          <p:nvPr/>
        </p:nvSpPr>
        <p:spPr>
          <a:xfrm>
            <a:off x="133350" y="4286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Sync</a:t>
            </a:r>
            <a:endParaRPr lang="en-US" sz="1800" dirty="0"/>
          </a:p>
        </p:txBody>
      </p:sp>
      <p:sp>
        <p:nvSpPr>
          <p:cNvPr id="10" name="Text 7"/>
          <p:cNvSpPr/>
          <p:nvPr/>
        </p:nvSpPr>
        <p:spPr>
          <a:xfrm>
            <a:off x="133350" y="4667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Branches</a:t>
            </a:r>
            <a:endParaRPr lang="en-US" sz="1800" dirty="0"/>
          </a:p>
        </p:txBody>
      </p:sp>
      <p:sp>
        <p:nvSpPr>
          <p:cNvPr id="11" name="Text 8"/>
          <p:cNvSpPr/>
          <p:nvPr/>
        </p:nvSpPr>
        <p:spPr>
          <a:xfrm>
            <a:off x="133350" y="5048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Conflicts</a:t>
            </a:r>
            <a:endParaRPr lang="en-US" sz="1800" dirty="0"/>
          </a:p>
        </p:txBody>
      </p:sp>
      <p:sp>
        <p:nvSpPr>
          <p:cNvPr id="12" name="Text 9"/>
          <p:cNvSpPr/>
          <p:nvPr/>
        </p:nvSpPr>
        <p:spPr>
          <a:xfrm>
            <a:off x="133350" y="5429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History</a:t>
            </a:r>
            <a:endParaRPr lang="en-US" sz="1800" dirty="0"/>
          </a:p>
        </p:txBody>
      </p:sp>
      <p:sp>
        <p:nvSpPr>
          <p:cNvPr id="13" name="Text 10"/>
          <p:cNvSpPr/>
          <p:nvPr/>
        </p:nvSpPr>
        <p:spPr>
          <a:xfrm>
            <a:off x="133350" y="5810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Agent-Ready</a:t>
            </a:r>
            <a:endParaRPr lang="en-US" sz="1800" dirty="0"/>
          </a:p>
        </p:txBody>
      </p:sp>
      <p:sp>
        <p:nvSpPr>
          <p:cNvPr id="14" name="Text 11"/>
          <p:cNvSpPr/>
          <p:nvPr/>
        </p:nvSpPr>
        <p:spPr>
          <a:xfrm>
            <a:off x="133350" y="6191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Review</a:t>
            </a:r>
            <a:endParaRPr lang="en-US" sz="1800" dirty="0"/>
          </a:p>
        </p:txBody>
      </p:sp>
      <p:sp>
        <p:nvSpPr>
          <p:cNvPr id="15" name="Text 12"/>
          <p:cNvSpPr/>
          <p:nvPr/>
        </p:nvSpPr>
        <p:spPr>
          <a:xfrm>
            <a:off x="1657350" y="200025"/>
            <a:ext cx="10988040" cy="1057275"/>
          </a:xfrm>
          <a:prstGeom prst="rect">
            <a:avLst/>
          </a:prstGeom>
          <a:noFill/>
          <a:ln/>
        </p:spPr>
        <p:txBody>
          <a:bodyPr wrap="square" lIns="25400" tIns="25400" rIns="25400" bIns="25400" rtlCol="0" anchor="ctr">
            <a:norm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Exercise 6: Pull Request &amp; Merge</a:t>
            </a:r>
            <a:endParaRPr lang="en-US" sz="4800" dirty="0"/>
          </a:p>
        </p:txBody>
      </p:sp>
      <p:sp>
        <p:nvSpPr>
          <p:cNvPr id="16" name="Text 13"/>
          <p:cNvSpPr/>
          <p:nvPr/>
        </p:nvSpPr>
        <p:spPr>
          <a:xfrm>
            <a:off x="12515950" y="133350"/>
            <a:ext cx="1142901"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1</a:t>
            </a:r>
            <a:endParaRPr lang="en-US" sz="2100" dirty="0"/>
          </a:p>
        </p:txBody>
      </p:sp>
      <p:sp>
        <p:nvSpPr>
          <p:cNvPr id="17" name="Shape 14"/>
          <p:cNvSpPr/>
          <p:nvPr/>
        </p:nvSpPr>
        <p:spPr>
          <a:xfrm>
            <a:off x="1657350" y="1219200"/>
            <a:ext cx="11925300" cy="66675"/>
          </a:xfrm>
          <a:prstGeom prst="rect">
            <a:avLst/>
          </a:prstGeom>
          <a:solidFill>
            <a:srgbClr val="000000"/>
          </a:solidFill>
          <a:ln/>
        </p:spPr>
      </p:sp>
      <p:sp>
        <p:nvSpPr>
          <p:cNvPr id="18" name="Shape 15"/>
          <p:cNvSpPr/>
          <p:nvPr/>
        </p:nvSpPr>
        <p:spPr>
          <a:xfrm>
            <a:off x="1809750" y="1524000"/>
            <a:ext cx="1314450" cy="381000"/>
          </a:xfrm>
          <a:prstGeom prst="roundRect">
            <a:avLst>
              <a:gd name="adj" fmla="val 15000"/>
            </a:avLst>
          </a:prstGeom>
          <a:solidFill>
            <a:srgbClr val="595959"/>
          </a:solidFill>
          <a:ln/>
        </p:spPr>
      </p:sp>
      <p:sp>
        <p:nvSpPr>
          <p:cNvPr id="19" name="Text 16"/>
          <p:cNvSpPr/>
          <p:nvPr/>
        </p:nvSpPr>
        <p:spPr>
          <a:xfrm>
            <a:off x="1962150" y="1562100"/>
            <a:ext cx="1085850"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Segoe UI" pitchFamily="34" charset="0"/>
                <a:ea typeface="Segoe UI" pitchFamily="34" charset="-122"/>
                <a:cs typeface="Segoe UI" pitchFamily="34" charset="-120"/>
              </a:rPr>
              <a:t>EXERCISE</a:t>
            </a:r>
            <a:endParaRPr lang="en-US" sz="1800" dirty="0"/>
          </a:p>
        </p:txBody>
      </p:sp>
      <p:sp>
        <p:nvSpPr>
          <p:cNvPr id="20" name="Text 17"/>
          <p:cNvSpPr/>
          <p:nvPr/>
        </p:nvSpPr>
        <p:spPr>
          <a:xfrm>
            <a:off x="1809750" y="2114550"/>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1</a:t>
            </a:r>
            <a:endParaRPr lang="en-US" sz="2250" dirty="0"/>
          </a:p>
        </p:txBody>
      </p:sp>
      <p:sp>
        <p:nvSpPr>
          <p:cNvPr id="21" name="Text 18"/>
          <p:cNvSpPr/>
          <p:nvPr/>
        </p:nvSpPr>
        <p:spPr>
          <a:xfrm>
            <a:off x="2343150" y="2114550"/>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Switch to feature/aluminum. Branch › </a:t>
            </a:r>
            <a:pPr algn="l" indent="0" marL="0">
              <a:lnSpc>
                <a:spcPct val="101250"/>
              </a:lnSpc>
              <a:buNone/>
            </a:pPr>
            <a:r>
              <a:rPr lang="en-US" sz="2025" b="1" dirty="0">
                <a:solidFill>
                  <a:srgbClr val="000000"/>
                </a:solidFill>
                <a:latin typeface="Segoe UI" pitchFamily="34" charset="0"/>
                <a:ea typeface="Segoe UI" pitchFamily="34" charset="-122"/>
                <a:cs typeface="Segoe UI" pitchFamily="34" charset="-120"/>
              </a:rPr>
              <a:t>Create pull request </a:t>
            </a:r>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 GitHub opens.</a:t>
            </a:r>
            <a:endParaRPr lang="en-US" sz="2025" dirty="0"/>
          </a:p>
        </p:txBody>
      </p:sp>
      <p:sp>
        <p:nvSpPr>
          <p:cNvPr id="22" name="Text 19"/>
          <p:cNvSpPr/>
          <p:nvPr/>
        </p:nvSpPr>
        <p:spPr>
          <a:xfrm>
            <a:off x="1809750" y="2999383"/>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2</a:t>
            </a:r>
            <a:endParaRPr lang="en-US" sz="2250" dirty="0"/>
          </a:p>
        </p:txBody>
      </p:sp>
      <p:sp>
        <p:nvSpPr>
          <p:cNvPr id="23" name="Text 20"/>
          <p:cNvSpPr/>
          <p:nvPr/>
        </p:nvSpPr>
        <p:spPr>
          <a:xfrm>
            <a:off x="2343150" y="2999383"/>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Add a title and one-line description. </a:t>
            </a:r>
            <a:pPr algn="l" indent="0" marL="0">
              <a:lnSpc>
                <a:spcPct val="101250"/>
              </a:lnSpc>
              <a:buNone/>
            </a:pPr>
            <a:r>
              <a:rPr lang="en-US" sz="2025" b="1" dirty="0">
                <a:solidFill>
                  <a:srgbClr val="000000"/>
                </a:solidFill>
                <a:latin typeface="Segoe UI" pitchFamily="34" charset="0"/>
                <a:ea typeface="Segoe UI" pitchFamily="34" charset="-122"/>
                <a:cs typeface="Segoe UI" pitchFamily="34" charset="-120"/>
              </a:rPr>
              <a:t>Create pull request </a:t>
            </a:r>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a:t>
            </a:r>
            <a:endParaRPr lang="en-US" sz="2025" dirty="0"/>
          </a:p>
        </p:txBody>
      </p:sp>
      <p:sp>
        <p:nvSpPr>
          <p:cNvPr id="24" name="Text 21"/>
          <p:cNvSpPr/>
          <p:nvPr/>
        </p:nvSpPr>
        <p:spPr>
          <a:xfrm>
            <a:off x="1809750" y="3884216"/>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3</a:t>
            </a:r>
            <a:endParaRPr lang="en-US" sz="2250" dirty="0"/>
          </a:p>
        </p:txBody>
      </p:sp>
      <p:sp>
        <p:nvSpPr>
          <p:cNvPr id="25" name="Text 22"/>
          <p:cNvSpPr/>
          <p:nvPr/>
        </p:nvSpPr>
        <p:spPr>
          <a:xfrm>
            <a:off x="2343150" y="3884216"/>
            <a:ext cx="5699760"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Open </a:t>
            </a:r>
            <a:pPr algn="l" indent="0" marL="0">
              <a:lnSpc>
                <a:spcPct val="101250"/>
              </a:lnSpc>
              <a:buNone/>
            </a:pPr>
            <a:r>
              <a:rPr lang="en-US" sz="2025" b="1" dirty="0">
                <a:solidFill>
                  <a:srgbClr val="000000"/>
                </a:solidFill>
                <a:latin typeface="Segoe UI" pitchFamily="34" charset="0"/>
                <a:ea typeface="Segoe UI" pitchFamily="34" charset="-122"/>
                <a:cs typeface="Segoe UI" pitchFamily="34" charset="-120"/>
              </a:rPr>
              <a:t>Files changed</a:t>
            </a:r>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 Review every line.</a:t>
            </a:r>
            <a:endParaRPr lang="en-US" sz="2025" dirty="0"/>
          </a:p>
        </p:txBody>
      </p:sp>
      <p:sp>
        <p:nvSpPr>
          <p:cNvPr id="26" name="Text 23"/>
          <p:cNvSpPr/>
          <p:nvPr/>
        </p:nvSpPr>
        <p:spPr>
          <a:xfrm>
            <a:off x="1809750" y="4460478"/>
            <a:ext cx="609600" cy="73243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4</a:t>
            </a:r>
            <a:endParaRPr lang="en-US" sz="2250" dirty="0"/>
          </a:p>
        </p:txBody>
      </p:sp>
      <p:sp>
        <p:nvSpPr>
          <p:cNvPr id="27" name="Text 24"/>
          <p:cNvSpPr/>
          <p:nvPr/>
        </p:nvSpPr>
        <p:spPr>
          <a:xfrm>
            <a:off x="2343150" y="4460478"/>
            <a:ext cx="5337048" cy="732433"/>
          </a:xfrm>
          <a:prstGeom prst="rect">
            <a:avLst/>
          </a:prstGeom>
          <a:noFill/>
          <a:ln/>
        </p:spPr>
        <p:txBody>
          <a:bodyPr wrap="square" lIns="25400" tIns="25400" rIns="25400" bIns="25400" rtlCol="0" anchor="t">
            <a:normAutofit/>
          </a:bodyPr>
          <a:lstStyle/>
          <a:p>
            <a:pPr algn="l" indent="0" marL="0">
              <a:lnSpc>
                <a:spcPct val="101250"/>
              </a:lnSpc>
              <a:buNone/>
            </a:pPr>
            <a:r>
              <a:rPr lang="en-US" sz="2025" b="1" dirty="0">
                <a:solidFill>
                  <a:srgbClr val="000000"/>
                </a:solidFill>
                <a:latin typeface="Segoe UI" pitchFamily="34" charset="0"/>
                <a:ea typeface="Segoe UI" pitchFamily="34" charset="-122"/>
                <a:cs typeface="Segoe UI" pitchFamily="34" charset="-120"/>
              </a:rPr>
              <a:t>Merge pull request </a:t>
            </a:r>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 Confirm. Then </a:t>
            </a:r>
            <a:pPr algn="l" indent="0" marL="0">
              <a:lnSpc>
                <a:spcPct val="101250"/>
              </a:lnSpc>
              <a:buNone/>
            </a:pPr>
            <a:r>
              <a:rPr lang="en-US" sz="2025" b="1" dirty="0">
                <a:solidFill>
                  <a:srgbClr val="000000"/>
                </a:solidFill>
                <a:latin typeface="Segoe UI" pitchFamily="34" charset="0"/>
                <a:ea typeface="Segoe UI" pitchFamily="34" charset="-122"/>
                <a:cs typeface="Segoe UI" pitchFamily="34" charset="-120"/>
              </a:rPr>
              <a:t>Delete branch </a:t>
            </a:r>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a:t>
            </a:r>
            <a:endParaRPr lang="en-US" sz="2025" dirty="0"/>
          </a:p>
        </p:txBody>
      </p:sp>
      <p:sp>
        <p:nvSpPr>
          <p:cNvPr id="28" name="Text 25"/>
          <p:cNvSpPr/>
          <p:nvPr/>
        </p:nvSpPr>
        <p:spPr>
          <a:xfrm>
            <a:off x="1809750" y="5345311"/>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5</a:t>
            </a:r>
            <a:endParaRPr lang="en-US" sz="2250" dirty="0"/>
          </a:p>
        </p:txBody>
      </p:sp>
      <p:sp>
        <p:nvSpPr>
          <p:cNvPr id="29" name="Text 26"/>
          <p:cNvSpPr/>
          <p:nvPr/>
        </p:nvSpPr>
        <p:spPr>
          <a:xfrm>
            <a:off x="2343150" y="5345311"/>
            <a:ext cx="5699760" cy="423863"/>
          </a:xfrm>
          <a:prstGeom prst="rect">
            <a:avLst/>
          </a:prstGeom>
          <a:noFill/>
          <a:ln/>
        </p:spPr>
        <p:txBody>
          <a:bodyPr wrap="square" lIns="25400" tIns="25400" rIns="25400" bIns="25400" rtlCol="0" anchor="t">
            <a:normAutofit/>
          </a:bodyPr>
          <a:lstStyle/>
          <a:p>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In Desktop: switch to main, </a:t>
            </a:r>
            <a:pPr algn="l" indent="0" marL="0">
              <a:lnSpc>
                <a:spcPct val="101250"/>
              </a:lnSpc>
              <a:buNone/>
            </a:pPr>
            <a:r>
              <a:rPr lang="en-US" sz="2025" b="1" dirty="0">
                <a:solidFill>
                  <a:srgbClr val="000000"/>
                </a:solidFill>
                <a:latin typeface="Segoe UI" pitchFamily="34" charset="0"/>
                <a:ea typeface="Segoe UI" pitchFamily="34" charset="-122"/>
                <a:cs typeface="Segoe UI" pitchFamily="34" charset="-120"/>
              </a:rPr>
              <a:t>Pull origin</a:t>
            </a:r>
            <a:pPr algn="l" indent="0" marL="0">
              <a:lnSpc>
                <a:spcPct val="101250"/>
              </a:lnSpc>
              <a:buNone/>
            </a:pPr>
            <a:r>
              <a:rPr lang="en-US" sz="2025" dirty="0">
                <a:solidFill>
                  <a:srgbClr val="000000"/>
                </a:solidFill>
                <a:latin typeface="Segoe UI" pitchFamily="34" charset="0"/>
                <a:ea typeface="Segoe UI" pitchFamily="34" charset="-122"/>
                <a:cs typeface="Segoe UI" pitchFamily="34" charset="-120"/>
              </a:rPr>
              <a:t>.</a:t>
            </a:r>
            <a:endParaRPr lang="en-US" sz="2025" dirty="0"/>
          </a:p>
        </p:txBody>
      </p:sp>
      <p:sp>
        <p:nvSpPr>
          <p:cNvPr id="30" name="Shape 27"/>
          <p:cNvSpPr/>
          <p:nvPr/>
        </p:nvSpPr>
        <p:spPr>
          <a:xfrm>
            <a:off x="1809750" y="5940623"/>
            <a:ext cx="5715000" cy="1112441"/>
          </a:xfrm>
          <a:prstGeom prst="rect">
            <a:avLst/>
          </a:prstGeom>
          <a:solidFill>
            <a:srgbClr val="F2F2F2"/>
          </a:solidFill>
          <a:ln/>
        </p:spPr>
      </p:sp>
      <p:sp>
        <p:nvSpPr>
          <p:cNvPr id="31" name="Text 28"/>
          <p:cNvSpPr/>
          <p:nvPr/>
        </p:nvSpPr>
        <p:spPr>
          <a:xfrm>
            <a:off x="2038350" y="6150173"/>
            <a:ext cx="5429250" cy="731441"/>
          </a:xfrm>
          <a:prstGeom prst="rect">
            <a:avLst/>
          </a:prstGeom>
          <a:noFill/>
          <a:ln/>
        </p:spPr>
        <p:txBody>
          <a:bodyPr wrap="square" lIns="25400" tIns="25400" rIns="25400" bIns="25400" rtlCol="0" anchor="t">
            <a:normAutofit/>
          </a:bodyPr>
          <a:lstStyle/>
          <a:p>
            <a:pPr algn="l" indent="0" marL="0">
              <a:lnSpc>
                <a:spcPct val="105000"/>
              </a:lnSpc>
              <a:buNone/>
            </a:pPr>
            <a:r>
              <a:rPr lang="en-US" sz="1950" dirty="0">
                <a:solidFill>
                  <a:srgbClr val="000000"/>
                </a:solidFill>
                <a:latin typeface="Segoe UI" pitchFamily="34" charset="0"/>
                <a:ea typeface="Segoe UI" pitchFamily="34" charset="-122"/>
                <a:cs typeface="Segoe UI" pitchFamily="34" charset="-120"/>
              </a:rPr>
              <a:t>A pull request is a review checkpoint. Nothing reaches main until someone clicks Merge.</a:t>
            </a:r>
            <a:endParaRPr lang="en-US" sz="1950" dirty="0"/>
          </a:p>
        </p:txBody>
      </p:sp>
      <p:sp>
        <p:nvSpPr>
          <p:cNvPr id="32" name="Text 29"/>
          <p:cNvSpPr/>
          <p:nvPr/>
        </p:nvSpPr>
        <p:spPr>
          <a:xfrm>
            <a:off x="1054418" y="9810750"/>
            <a:ext cx="13264515"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1</a:t>
            </a:r>
            <a:endParaRPr lang="en-US" sz="1800" dirty="0"/>
          </a:p>
        </p:txBody>
      </p:sp>
      <p:sp>
        <p:nvSpPr>
          <p:cNvPr id="33" name="Text 30"/>
          <p:cNvSpPr/>
          <p:nvPr/>
        </p:nvSpPr>
        <p:spPr>
          <a:xfrm>
            <a:off x="13336191" y="9810750"/>
            <a:ext cx="322659" cy="342900"/>
          </a:xfrm>
          <a:prstGeom prst="rect">
            <a:avLst/>
          </a:prstGeom>
          <a:noFill/>
          <a:ln/>
        </p:spPr>
        <p:txBody>
          <a:bodyPr wrap="square" lIns="25400" tIns="25400" rIns="25400" bIns="25400" rtlCol="0" anchor="t">
            <a:norm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15</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543050" cy="10287000"/>
          </a:xfrm>
          <a:prstGeom prst="rect">
            <a:avLst/>
          </a:prstGeom>
          <a:solidFill>
            <a:srgbClr val="E6E6E6"/>
          </a:solidFill>
          <a:ln/>
        </p:spPr>
      </p:sp>
      <p:pic>
        <p:nvPicPr>
          <p:cNvPr id="3" name="Image 0" descr="preencoded.png">    </p:cNvPr>
          <p:cNvPicPr>
            <a:picLocks noChangeAspect="1"/>
          </p:cNvPicPr>
          <p:nvPr/>
        </p:nvPicPr>
        <p:blipFill>
          <a:blip r:embed="rId1"/>
          <a:stretch>
            <a:fillRect/>
          </a:stretch>
        </p:blipFill>
        <p:spPr>
          <a:xfrm>
            <a:off x="200025" y="133350"/>
            <a:ext cx="1143000" cy="1143000"/>
          </a:xfrm>
          <a:prstGeom prst="rect">
            <a:avLst/>
          </a:prstGeom>
        </p:spPr>
      </p:pic>
      <p:sp>
        <p:nvSpPr>
          <p:cNvPr id="4" name="Text 1"/>
          <p:cNvSpPr/>
          <p:nvPr/>
        </p:nvSpPr>
        <p:spPr>
          <a:xfrm>
            <a:off x="133350" y="2381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Overview</a:t>
            </a:r>
            <a:endParaRPr lang="en-US" sz="1800" dirty="0"/>
          </a:p>
        </p:txBody>
      </p:sp>
      <p:sp>
        <p:nvSpPr>
          <p:cNvPr id="5" name="Text 2"/>
          <p:cNvSpPr/>
          <p:nvPr/>
        </p:nvSpPr>
        <p:spPr>
          <a:xfrm>
            <a:off x="133350" y="2762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Concepts</a:t>
            </a:r>
            <a:endParaRPr lang="en-US" sz="1800" dirty="0"/>
          </a:p>
        </p:txBody>
      </p:sp>
      <p:sp>
        <p:nvSpPr>
          <p:cNvPr id="6" name="Text 3"/>
          <p:cNvSpPr/>
          <p:nvPr/>
        </p:nvSpPr>
        <p:spPr>
          <a:xfrm>
            <a:off x="133350" y="3143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Setup</a:t>
            </a:r>
            <a:endParaRPr lang="en-US" sz="1800" dirty="0"/>
          </a:p>
        </p:txBody>
      </p:sp>
      <p:sp>
        <p:nvSpPr>
          <p:cNvPr id="7" name="Text 4"/>
          <p:cNvSpPr/>
          <p:nvPr/>
        </p:nvSpPr>
        <p:spPr>
          <a:xfrm>
            <a:off x="133350" y="3524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Clone</a:t>
            </a:r>
            <a:endParaRPr lang="en-US" sz="1800" dirty="0"/>
          </a:p>
        </p:txBody>
      </p:sp>
      <p:sp>
        <p:nvSpPr>
          <p:cNvPr id="8" name="Text 5"/>
          <p:cNvSpPr/>
          <p:nvPr/>
        </p:nvSpPr>
        <p:spPr>
          <a:xfrm>
            <a:off x="133350" y="3905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Commit</a:t>
            </a:r>
            <a:endParaRPr lang="en-US" sz="1800" dirty="0"/>
          </a:p>
        </p:txBody>
      </p:sp>
      <p:sp>
        <p:nvSpPr>
          <p:cNvPr id="9" name="Text 6"/>
          <p:cNvSpPr/>
          <p:nvPr/>
        </p:nvSpPr>
        <p:spPr>
          <a:xfrm>
            <a:off x="133350" y="4286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Sync</a:t>
            </a:r>
            <a:endParaRPr lang="en-US" sz="1800" dirty="0"/>
          </a:p>
        </p:txBody>
      </p:sp>
      <p:sp>
        <p:nvSpPr>
          <p:cNvPr id="10" name="Text 7"/>
          <p:cNvSpPr/>
          <p:nvPr/>
        </p:nvSpPr>
        <p:spPr>
          <a:xfrm>
            <a:off x="133350" y="4667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Branches</a:t>
            </a:r>
            <a:endParaRPr lang="en-US" sz="1800" dirty="0"/>
          </a:p>
        </p:txBody>
      </p:sp>
      <p:sp>
        <p:nvSpPr>
          <p:cNvPr id="11" name="Text 8"/>
          <p:cNvSpPr/>
          <p:nvPr/>
        </p:nvSpPr>
        <p:spPr>
          <a:xfrm>
            <a:off x="133350" y="5048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Conflicts</a:t>
            </a:r>
            <a:endParaRPr lang="en-US" sz="1800" dirty="0"/>
          </a:p>
        </p:txBody>
      </p:sp>
      <p:sp>
        <p:nvSpPr>
          <p:cNvPr id="12" name="Text 9"/>
          <p:cNvSpPr/>
          <p:nvPr/>
        </p:nvSpPr>
        <p:spPr>
          <a:xfrm>
            <a:off x="133350" y="5429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History</a:t>
            </a:r>
            <a:endParaRPr lang="en-US" sz="1800" dirty="0"/>
          </a:p>
        </p:txBody>
      </p:sp>
      <p:sp>
        <p:nvSpPr>
          <p:cNvPr id="13" name="Text 10"/>
          <p:cNvSpPr/>
          <p:nvPr/>
        </p:nvSpPr>
        <p:spPr>
          <a:xfrm>
            <a:off x="133350" y="5810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Agent-Ready</a:t>
            </a:r>
            <a:endParaRPr lang="en-US" sz="1800" dirty="0"/>
          </a:p>
        </p:txBody>
      </p:sp>
      <p:sp>
        <p:nvSpPr>
          <p:cNvPr id="14" name="Text 11"/>
          <p:cNvSpPr/>
          <p:nvPr/>
        </p:nvSpPr>
        <p:spPr>
          <a:xfrm>
            <a:off x="133350" y="6191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Review</a:t>
            </a:r>
            <a:endParaRPr lang="en-US" sz="1800" dirty="0"/>
          </a:p>
        </p:txBody>
      </p:sp>
      <p:sp>
        <p:nvSpPr>
          <p:cNvPr id="15" name="Text 12"/>
          <p:cNvSpPr/>
          <p:nvPr/>
        </p:nvSpPr>
        <p:spPr>
          <a:xfrm>
            <a:off x="1657350" y="200025"/>
            <a:ext cx="10988040" cy="1057275"/>
          </a:xfrm>
          <a:prstGeom prst="rect">
            <a:avLst/>
          </a:prstGeom>
          <a:noFill/>
          <a:ln/>
        </p:spPr>
        <p:txBody>
          <a:bodyPr wrap="square" lIns="25400" tIns="25400" rIns="25400" bIns="25400" rtlCol="0" anchor="ctr">
            <a:norm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Exercise 7: Resolve a Conflict</a:t>
            </a:r>
            <a:endParaRPr lang="en-US" sz="4800" dirty="0"/>
          </a:p>
        </p:txBody>
      </p:sp>
      <p:sp>
        <p:nvSpPr>
          <p:cNvPr id="16" name="Text 13"/>
          <p:cNvSpPr/>
          <p:nvPr/>
        </p:nvSpPr>
        <p:spPr>
          <a:xfrm>
            <a:off x="12515950" y="133350"/>
            <a:ext cx="1142901"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1</a:t>
            </a:r>
            <a:endParaRPr lang="en-US" sz="2100" dirty="0"/>
          </a:p>
        </p:txBody>
      </p:sp>
      <p:sp>
        <p:nvSpPr>
          <p:cNvPr id="17" name="Shape 14"/>
          <p:cNvSpPr/>
          <p:nvPr/>
        </p:nvSpPr>
        <p:spPr>
          <a:xfrm>
            <a:off x="1657350" y="1219200"/>
            <a:ext cx="11925300" cy="66675"/>
          </a:xfrm>
          <a:prstGeom prst="rect">
            <a:avLst/>
          </a:prstGeom>
          <a:solidFill>
            <a:srgbClr val="000000"/>
          </a:solidFill>
          <a:ln/>
        </p:spPr>
      </p:sp>
      <p:sp>
        <p:nvSpPr>
          <p:cNvPr id="18" name="Text 15"/>
          <p:cNvSpPr/>
          <p:nvPr/>
        </p:nvSpPr>
        <p:spPr>
          <a:xfrm>
            <a:off x="1809750" y="1524000"/>
            <a:ext cx="6082665" cy="758031"/>
          </a:xfrm>
          <a:prstGeom prst="rect">
            <a:avLst/>
          </a:prstGeom>
          <a:noFill/>
          <a:ln/>
        </p:spPr>
        <p:txBody>
          <a:bodyPr wrap="square" lIns="25400" tIns="25400" rIns="25400" bIns="25400" rtlCol="0" anchor="t">
            <a:normAutofit/>
          </a:bodyPr>
          <a:lstStyle/>
          <a:p>
            <a:pPr algn="l" indent="0" marL="0">
              <a:lnSpc>
                <a:spcPct val="105000"/>
              </a:lnSpc>
              <a:buNone/>
            </a:pPr>
            <a:r>
              <a:rPr lang="en-US" sz="2025" dirty="0">
                <a:solidFill>
                  <a:srgbClr val="000000"/>
                </a:solidFill>
                <a:latin typeface="Segoe UI" pitchFamily="34" charset="0"/>
                <a:ea typeface="Segoe UI" pitchFamily="34" charset="-122"/>
                <a:cs typeface="Segoe UI" pitchFamily="34" charset="-120"/>
              </a:rPr>
              <a:t>A conflict happens when two commits change the same lines. You decide the result.</a:t>
            </a:r>
            <a:endParaRPr lang="en-US" sz="2025" dirty="0"/>
          </a:p>
        </p:txBody>
      </p:sp>
      <p:sp>
        <p:nvSpPr>
          <p:cNvPr id="19" name="Shape 16"/>
          <p:cNvSpPr/>
          <p:nvPr/>
        </p:nvSpPr>
        <p:spPr>
          <a:xfrm>
            <a:off x="1809750" y="2415381"/>
            <a:ext cx="1314450" cy="381000"/>
          </a:xfrm>
          <a:prstGeom prst="roundRect">
            <a:avLst>
              <a:gd name="adj" fmla="val 15000"/>
            </a:avLst>
          </a:prstGeom>
          <a:solidFill>
            <a:srgbClr val="595959"/>
          </a:solidFill>
          <a:ln/>
        </p:spPr>
      </p:sp>
      <p:sp>
        <p:nvSpPr>
          <p:cNvPr id="20" name="Text 17"/>
          <p:cNvSpPr/>
          <p:nvPr/>
        </p:nvSpPr>
        <p:spPr>
          <a:xfrm>
            <a:off x="1962150" y="2453481"/>
            <a:ext cx="1085850"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Segoe UI" pitchFamily="34" charset="0"/>
                <a:ea typeface="Segoe UI" pitchFamily="34" charset="-122"/>
                <a:cs typeface="Segoe UI" pitchFamily="34" charset="-120"/>
              </a:rPr>
              <a:t>EXERCISE</a:t>
            </a:r>
            <a:endParaRPr lang="en-US" sz="1800" dirty="0"/>
          </a:p>
        </p:txBody>
      </p:sp>
      <p:sp>
        <p:nvSpPr>
          <p:cNvPr id="21" name="Text 18"/>
          <p:cNvSpPr/>
          <p:nvPr/>
        </p:nvSpPr>
        <p:spPr>
          <a:xfrm>
            <a:off x="1809750" y="2967831"/>
            <a:ext cx="609600" cy="712490"/>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1</a:t>
            </a:r>
            <a:endParaRPr lang="en-US" sz="2250" dirty="0"/>
          </a:p>
        </p:txBody>
      </p:sp>
      <p:sp>
        <p:nvSpPr>
          <p:cNvPr id="22" name="Text 19"/>
          <p:cNvSpPr/>
          <p:nvPr/>
        </p:nvSpPr>
        <p:spPr>
          <a:xfrm>
            <a:off x="2343150" y="2967831"/>
            <a:ext cx="5533263" cy="712490"/>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On GitHub, edit beam.m on main: </a:t>
            </a:r>
            <a:pPr algn="l" indent="0" marL="0">
              <a:lnSpc>
                <a:spcPct val="101250"/>
              </a:lnSpc>
              <a:buNone/>
            </a:pPr>
            <a:r>
              <a:rPr lang="en-US" sz="1725" dirty="0">
                <a:solidFill>
                  <a:srgbClr val="000000"/>
                </a:solidFill>
                <a:latin typeface="Cascadia Mono" pitchFamily="34" charset="0"/>
                <a:ea typeface="Cascadia Mono" pitchFamily="34" charset="-122"/>
                <a:cs typeface="Cascadia Mono" pitchFamily="34" charset="-120"/>
              </a:rPr>
              <a:t>L = 2.5; </a:t>
            </a:r>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 Commit.</a:t>
            </a:r>
            <a:endParaRPr lang="en-US" sz="1950" dirty="0"/>
          </a:p>
        </p:txBody>
      </p:sp>
      <p:sp>
        <p:nvSpPr>
          <p:cNvPr id="23" name="Text 20"/>
          <p:cNvSpPr/>
          <p:nvPr/>
        </p:nvSpPr>
        <p:spPr>
          <a:xfrm>
            <a:off x="1809750" y="3794621"/>
            <a:ext cx="609600" cy="712490"/>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2</a:t>
            </a:r>
            <a:endParaRPr lang="en-US" sz="2250" dirty="0"/>
          </a:p>
        </p:txBody>
      </p:sp>
      <p:sp>
        <p:nvSpPr>
          <p:cNvPr id="24" name="Text 21"/>
          <p:cNvSpPr/>
          <p:nvPr/>
        </p:nvSpPr>
        <p:spPr>
          <a:xfrm>
            <a:off x="2343150" y="3794621"/>
            <a:ext cx="5533263" cy="712490"/>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Locally, on main: </a:t>
            </a:r>
            <a:pPr algn="l" indent="0" marL="0">
              <a:lnSpc>
                <a:spcPct val="101250"/>
              </a:lnSpc>
              <a:buNone/>
            </a:pPr>
            <a:r>
              <a:rPr lang="en-US" sz="1725" dirty="0">
                <a:solidFill>
                  <a:srgbClr val="000000"/>
                </a:solidFill>
                <a:latin typeface="Cascadia Mono" pitchFamily="34" charset="0"/>
                <a:ea typeface="Cascadia Mono" pitchFamily="34" charset="-122"/>
                <a:cs typeface="Cascadia Mono" pitchFamily="34" charset="-120"/>
              </a:rPr>
              <a:t>L = 3.0; </a:t>
            </a:r>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 Commit. Don’t pull first.</a:t>
            </a:r>
            <a:endParaRPr lang="en-US" sz="1950" dirty="0"/>
          </a:p>
        </p:txBody>
      </p:sp>
      <p:sp>
        <p:nvSpPr>
          <p:cNvPr id="25" name="Text 22"/>
          <p:cNvSpPr/>
          <p:nvPr/>
        </p:nvSpPr>
        <p:spPr>
          <a:xfrm>
            <a:off x="1809750" y="4621411"/>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3</a:t>
            </a:r>
            <a:endParaRPr lang="en-US" sz="2250" dirty="0"/>
          </a:p>
        </p:txBody>
      </p:sp>
      <p:sp>
        <p:nvSpPr>
          <p:cNvPr id="26" name="Text 23"/>
          <p:cNvSpPr/>
          <p:nvPr/>
        </p:nvSpPr>
        <p:spPr>
          <a:xfrm>
            <a:off x="2343150" y="4621411"/>
            <a:ext cx="5909310" cy="423863"/>
          </a:xfrm>
          <a:prstGeom prst="rect">
            <a:avLst/>
          </a:prstGeom>
          <a:noFill/>
          <a:ln/>
        </p:spPr>
        <p:txBody>
          <a:bodyPr wrap="square" lIns="25400" tIns="25400" rIns="25400" bIns="25400" rtlCol="0" anchor="t">
            <a:normAutofit/>
          </a:bodyPr>
          <a:lstStyle/>
          <a:p>
            <a:pPr algn="l" indent="0" marL="0">
              <a:lnSpc>
                <a:spcPct val="101250"/>
              </a:lnSpc>
              <a:buNone/>
            </a:pPr>
            <a:r>
              <a:rPr lang="en-US" sz="1950" b="1" dirty="0">
                <a:solidFill>
                  <a:srgbClr val="000000"/>
                </a:solidFill>
                <a:latin typeface="Segoe UI" pitchFamily="34" charset="0"/>
                <a:ea typeface="Segoe UI" pitchFamily="34" charset="-122"/>
                <a:cs typeface="Segoe UI" pitchFamily="34" charset="-120"/>
              </a:rPr>
              <a:t>Push origin </a:t>
            </a:r>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is rejected. Click </a:t>
            </a:r>
            <a:pPr algn="l" indent="0" marL="0">
              <a:lnSpc>
                <a:spcPct val="101250"/>
              </a:lnSpc>
              <a:buNone/>
            </a:pPr>
            <a:r>
              <a:rPr lang="en-US" sz="1950" b="1" dirty="0">
                <a:solidFill>
                  <a:srgbClr val="000000"/>
                </a:solidFill>
                <a:latin typeface="Segoe UI" pitchFamily="34" charset="0"/>
                <a:ea typeface="Segoe UI" pitchFamily="34" charset="-122"/>
                <a:cs typeface="Segoe UI" pitchFamily="34" charset="-120"/>
              </a:rPr>
              <a:t>Pull origin</a:t>
            </a:r>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a:t>
            </a:r>
            <a:endParaRPr lang="en-US" sz="1950" dirty="0"/>
          </a:p>
        </p:txBody>
      </p:sp>
      <p:sp>
        <p:nvSpPr>
          <p:cNvPr id="27" name="Text 24"/>
          <p:cNvSpPr/>
          <p:nvPr/>
        </p:nvSpPr>
        <p:spPr>
          <a:xfrm>
            <a:off x="1809750" y="5159573"/>
            <a:ext cx="609600" cy="706636"/>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4</a:t>
            </a:r>
            <a:endParaRPr lang="en-US" sz="2250" dirty="0"/>
          </a:p>
        </p:txBody>
      </p:sp>
      <p:sp>
        <p:nvSpPr>
          <p:cNvPr id="28" name="Text 25"/>
          <p:cNvSpPr/>
          <p:nvPr/>
        </p:nvSpPr>
        <p:spPr>
          <a:xfrm>
            <a:off x="2343150" y="5159573"/>
            <a:ext cx="5533263" cy="706636"/>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Desktop lists the conflicted file. </a:t>
            </a:r>
            <a:pPr algn="l" indent="0" marL="0">
              <a:lnSpc>
                <a:spcPct val="101250"/>
              </a:lnSpc>
              <a:buNone/>
            </a:pPr>
            <a:r>
              <a:rPr lang="en-US" sz="1950" b="1" dirty="0">
                <a:solidFill>
                  <a:srgbClr val="000000"/>
                </a:solidFill>
                <a:latin typeface="Segoe UI" pitchFamily="34" charset="0"/>
                <a:ea typeface="Segoe UI" pitchFamily="34" charset="-122"/>
                <a:cs typeface="Segoe UI" pitchFamily="34" charset="-120"/>
              </a:rPr>
              <a:t>Open in Visual Studio Code </a:t>
            </a:r>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a:t>
            </a:r>
            <a:endParaRPr lang="en-US" sz="1950" dirty="0"/>
          </a:p>
        </p:txBody>
      </p:sp>
      <p:sp>
        <p:nvSpPr>
          <p:cNvPr id="29" name="Text 26"/>
          <p:cNvSpPr/>
          <p:nvPr/>
        </p:nvSpPr>
        <p:spPr>
          <a:xfrm>
            <a:off x="1809750" y="5980509"/>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5</a:t>
            </a:r>
            <a:endParaRPr lang="en-US" sz="2250" dirty="0"/>
          </a:p>
        </p:txBody>
      </p:sp>
      <p:sp>
        <p:nvSpPr>
          <p:cNvPr id="30" name="Text 27"/>
          <p:cNvSpPr/>
          <p:nvPr/>
        </p:nvSpPr>
        <p:spPr>
          <a:xfrm>
            <a:off x="2343150" y="5980509"/>
            <a:ext cx="5909310" cy="423863"/>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Keep one value, delete the markers, save.</a:t>
            </a:r>
            <a:endParaRPr lang="en-US" sz="1950" dirty="0"/>
          </a:p>
        </p:txBody>
      </p:sp>
      <p:sp>
        <p:nvSpPr>
          <p:cNvPr id="31" name="Text 28"/>
          <p:cNvSpPr/>
          <p:nvPr/>
        </p:nvSpPr>
        <p:spPr>
          <a:xfrm>
            <a:off x="1809750" y="6518672"/>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6</a:t>
            </a:r>
            <a:endParaRPr lang="en-US" sz="2250" dirty="0"/>
          </a:p>
        </p:txBody>
      </p:sp>
      <p:sp>
        <p:nvSpPr>
          <p:cNvPr id="32" name="Text 29"/>
          <p:cNvSpPr/>
          <p:nvPr/>
        </p:nvSpPr>
        <p:spPr>
          <a:xfrm>
            <a:off x="2343150" y="6518672"/>
            <a:ext cx="5909310" cy="423863"/>
          </a:xfrm>
          <a:prstGeom prst="rect">
            <a:avLst/>
          </a:prstGeom>
          <a:noFill/>
          <a:ln/>
        </p:spPr>
        <p:txBody>
          <a:bodyPr wrap="square" lIns="25400" tIns="25400" rIns="25400" bIns="25400" rtlCol="0" anchor="t">
            <a:normAutofit/>
          </a:bodyPr>
          <a:lstStyle/>
          <a:p>
            <a:pPr algn="l" indent="0" marL="0">
              <a:lnSpc>
                <a:spcPct val="101250"/>
              </a:lnSpc>
              <a:buNone/>
            </a:pPr>
            <a:r>
              <a:rPr lang="en-US" sz="1950" b="1" dirty="0">
                <a:solidFill>
                  <a:srgbClr val="000000"/>
                </a:solidFill>
                <a:latin typeface="Segoe UI" pitchFamily="34" charset="0"/>
                <a:ea typeface="Segoe UI" pitchFamily="34" charset="-122"/>
                <a:cs typeface="Segoe UI" pitchFamily="34" charset="-120"/>
              </a:rPr>
              <a:t>Continue merge</a:t>
            </a:r>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 then </a:t>
            </a:r>
            <a:pPr algn="l" indent="0" marL="0">
              <a:lnSpc>
                <a:spcPct val="101250"/>
              </a:lnSpc>
              <a:buNone/>
            </a:pPr>
            <a:r>
              <a:rPr lang="en-US" sz="1950" b="1" dirty="0">
                <a:solidFill>
                  <a:srgbClr val="000000"/>
                </a:solidFill>
                <a:latin typeface="Segoe UI" pitchFamily="34" charset="0"/>
                <a:ea typeface="Segoe UI" pitchFamily="34" charset="-122"/>
                <a:cs typeface="Segoe UI" pitchFamily="34" charset="-120"/>
              </a:rPr>
              <a:t>Push origin</a:t>
            </a:r>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a:t>
            </a:r>
            <a:endParaRPr lang="en-US" sz="1950" dirty="0"/>
          </a:p>
        </p:txBody>
      </p:sp>
      <p:sp>
        <p:nvSpPr>
          <p:cNvPr id="33" name="Text 30"/>
          <p:cNvSpPr/>
          <p:nvPr/>
        </p:nvSpPr>
        <p:spPr>
          <a:xfrm>
            <a:off x="8001000" y="1524000"/>
            <a:ext cx="6035040" cy="298450"/>
          </a:xfrm>
          <a:prstGeom prst="rect">
            <a:avLst/>
          </a:prstGeom>
          <a:noFill/>
          <a:ln/>
        </p:spPr>
        <p:txBody>
          <a:bodyPr wrap="square" lIns="25400" tIns="25400" rIns="25400" bIns="25400" rtlCol="0" anchor="t">
            <a:normAutofit/>
          </a:bodyPr>
          <a:lstStyle/>
          <a:p>
            <a:pPr algn="l" indent="0" marL="0">
              <a:buNone/>
            </a:pPr>
            <a:r>
              <a:rPr lang="en-US" sz="1800" b="1" dirty="0">
                <a:solidFill>
                  <a:srgbClr val="000000"/>
                </a:solidFill>
                <a:latin typeface="Cascadia Mono" pitchFamily="34" charset="0"/>
                <a:ea typeface="Cascadia Mono" pitchFamily="34" charset="-122"/>
                <a:cs typeface="Cascadia Mono" pitchFamily="34" charset="-120"/>
              </a:rPr>
              <a:t>beam.m during the conflict</a:t>
            </a:r>
            <a:endParaRPr lang="en-US" sz="1800" dirty="0"/>
          </a:p>
        </p:txBody>
      </p:sp>
      <p:sp>
        <p:nvSpPr>
          <p:cNvPr id="34" name="Shape 31"/>
          <p:cNvSpPr/>
          <p:nvPr/>
        </p:nvSpPr>
        <p:spPr>
          <a:xfrm>
            <a:off x="8001000" y="1936750"/>
            <a:ext cx="5486400" cy="2987378"/>
          </a:xfrm>
          <a:prstGeom prst="roundRect">
            <a:avLst>
              <a:gd name="adj" fmla="val 3826"/>
            </a:avLst>
          </a:prstGeom>
          <a:solidFill>
            <a:srgbClr val="1E1E1E"/>
          </a:solidFill>
          <a:ln/>
        </p:spPr>
      </p:sp>
      <p:sp>
        <p:nvSpPr>
          <p:cNvPr id="35" name="Text 32"/>
          <p:cNvSpPr/>
          <p:nvPr/>
        </p:nvSpPr>
        <p:spPr>
          <a:xfrm>
            <a:off x="8248650" y="2165350"/>
            <a:ext cx="5140833" cy="399554"/>
          </a:xfrm>
          <a:prstGeom prst="rect">
            <a:avLst/>
          </a:prstGeom>
          <a:noFill/>
          <a:ln/>
        </p:spPr>
        <p:txBody>
          <a:bodyPr wrap="none" lIns="25400" tIns="25400" rIns="25400" bIns="25400" rtlCol="0" anchor="t">
            <a:normAutofit/>
          </a:bodyPr>
          <a:lstStyle/>
          <a:p>
            <a:pPr algn="l" indent="0" marL="0">
              <a:lnSpc>
                <a:spcPct val="142312"/>
              </a:lnSpc>
              <a:buNone/>
            </a:pPr>
            <a:r>
              <a:rPr lang="en-US" sz="1725" dirty="0">
                <a:solidFill>
                  <a:srgbClr val="D4D4D4"/>
                </a:solidFill>
                <a:latin typeface="Cascadia Mono" pitchFamily="34" charset="0"/>
                <a:ea typeface="Cascadia Mono" pitchFamily="34" charset="-122"/>
                <a:cs typeface="Cascadia Mono" pitchFamily="34" charset="-120"/>
              </a:rPr>
              <a:t>E = 200e9;   </a:t>
            </a:r>
            <a:pPr algn="l" indent="0" marL="0">
              <a:lnSpc>
                <a:spcPct val="142312"/>
              </a:lnSpc>
              <a:buNone/>
            </a:pPr>
            <a:r>
              <a:rPr lang="en-US" sz="1725" dirty="0">
                <a:solidFill>
                  <a:srgbClr val="6A9955"/>
                </a:solidFill>
                <a:latin typeface="Cascadia Mono" pitchFamily="34" charset="0"/>
                <a:ea typeface="Cascadia Mono" pitchFamily="34" charset="-122"/>
                <a:cs typeface="Cascadia Mono" pitchFamily="34" charset="-120"/>
              </a:rPr>
              <a:t>% Pa</a:t>
            </a:r>
            <a:endParaRPr lang="en-US" sz="1725" dirty="0"/>
          </a:p>
        </p:txBody>
      </p:sp>
      <p:sp>
        <p:nvSpPr>
          <p:cNvPr id="36" name="Text 33"/>
          <p:cNvSpPr/>
          <p:nvPr/>
        </p:nvSpPr>
        <p:spPr>
          <a:xfrm>
            <a:off x="8248650" y="2526804"/>
            <a:ext cx="5140833" cy="399554"/>
          </a:xfrm>
          <a:prstGeom prst="rect">
            <a:avLst/>
          </a:prstGeom>
          <a:noFill/>
          <a:ln/>
        </p:spPr>
        <p:txBody>
          <a:bodyPr wrap="none" lIns="25400" tIns="25400" rIns="25400" bIns="25400" rtlCol="0" anchor="t">
            <a:normAutofit/>
          </a:bodyPr>
          <a:lstStyle/>
          <a:p>
            <a:pPr algn="l" indent="0" marL="0">
              <a:lnSpc>
                <a:spcPct val="142312"/>
              </a:lnSpc>
              <a:buNone/>
            </a:pPr>
            <a:r>
              <a:rPr lang="en-US" sz="1725" dirty="0">
                <a:solidFill>
                  <a:srgbClr val="F48771"/>
                </a:solidFill>
                <a:latin typeface="Cascadia Mono" pitchFamily="34" charset="0"/>
                <a:ea typeface="Cascadia Mono" pitchFamily="34" charset="-122"/>
                <a:cs typeface="Cascadia Mono" pitchFamily="34" charset="-120"/>
              </a:rPr>
              <a:t>&lt;&lt;&lt;&lt;&lt;&lt;&lt; HEAD</a:t>
            </a:r>
            <a:endParaRPr lang="en-US" sz="1725" dirty="0"/>
          </a:p>
        </p:txBody>
      </p:sp>
      <p:sp>
        <p:nvSpPr>
          <p:cNvPr id="37" name="Text 34"/>
          <p:cNvSpPr/>
          <p:nvPr/>
        </p:nvSpPr>
        <p:spPr>
          <a:xfrm>
            <a:off x="8248650" y="2888258"/>
            <a:ext cx="5140833" cy="399554"/>
          </a:xfrm>
          <a:prstGeom prst="rect">
            <a:avLst/>
          </a:prstGeom>
          <a:noFill/>
          <a:ln/>
        </p:spPr>
        <p:txBody>
          <a:bodyPr wrap="none" lIns="25400" tIns="25400" rIns="25400" bIns="25400" rtlCol="0" anchor="t">
            <a:normAutofit/>
          </a:bodyPr>
          <a:lstStyle/>
          <a:p>
            <a:pPr algn="l" indent="0" marL="0">
              <a:lnSpc>
                <a:spcPct val="142312"/>
              </a:lnSpc>
              <a:buNone/>
            </a:pPr>
            <a:r>
              <a:rPr lang="en-US" sz="1725" dirty="0">
                <a:solidFill>
                  <a:srgbClr val="D4D4D4"/>
                </a:solidFill>
                <a:latin typeface="Cascadia Mono" pitchFamily="34" charset="0"/>
                <a:ea typeface="Cascadia Mono" pitchFamily="34" charset="-122"/>
                <a:cs typeface="Cascadia Mono" pitchFamily="34" charset="-120"/>
              </a:rPr>
              <a:t>L = 3.0;     </a:t>
            </a:r>
            <a:pPr algn="l" indent="0" marL="0">
              <a:lnSpc>
                <a:spcPct val="142312"/>
              </a:lnSpc>
              <a:buNone/>
            </a:pPr>
            <a:r>
              <a:rPr lang="en-US" sz="1725" dirty="0">
                <a:solidFill>
                  <a:srgbClr val="6A9955"/>
                </a:solidFill>
                <a:latin typeface="Cascadia Mono" pitchFamily="34" charset="0"/>
                <a:ea typeface="Cascadia Mono" pitchFamily="34" charset="-122"/>
                <a:cs typeface="Cascadia Mono" pitchFamily="34" charset="-120"/>
              </a:rPr>
              <a:t>% m</a:t>
            </a:r>
            <a:endParaRPr lang="en-US" sz="1725" dirty="0"/>
          </a:p>
        </p:txBody>
      </p:sp>
      <p:sp>
        <p:nvSpPr>
          <p:cNvPr id="38" name="Text 35"/>
          <p:cNvSpPr/>
          <p:nvPr/>
        </p:nvSpPr>
        <p:spPr>
          <a:xfrm>
            <a:off x="8248650" y="3249712"/>
            <a:ext cx="5140833" cy="399554"/>
          </a:xfrm>
          <a:prstGeom prst="rect">
            <a:avLst/>
          </a:prstGeom>
          <a:noFill/>
          <a:ln/>
        </p:spPr>
        <p:txBody>
          <a:bodyPr wrap="none" lIns="25400" tIns="25400" rIns="25400" bIns="25400" rtlCol="0" anchor="t">
            <a:normAutofit/>
          </a:bodyPr>
          <a:lstStyle/>
          <a:p>
            <a:pPr algn="l" indent="0" marL="0">
              <a:lnSpc>
                <a:spcPct val="142312"/>
              </a:lnSpc>
              <a:buNone/>
            </a:pPr>
            <a:r>
              <a:rPr lang="en-US" sz="1725" dirty="0">
                <a:solidFill>
                  <a:srgbClr val="F48771"/>
                </a:solidFill>
                <a:latin typeface="Cascadia Mono" pitchFamily="34" charset="0"/>
                <a:ea typeface="Cascadia Mono" pitchFamily="34" charset="-122"/>
                <a:cs typeface="Cascadia Mono" pitchFamily="34" charset="-120"/>
              </a:rPr>
              <a:t>=======</a:t>
            </a:r>
            <a:endParaRPr lang="en-US" sz="1725" dirty="0"/>
          </a:p>
        </p:txBody>
      </p:sp>
      <p:sp>
        <p:nvSpPr>
          <p:cNvPr id="39" name="Text 36"/>
          <p:cNvSpPr/>
          <p:nvPr/>
        </p:nvSpPr>
        <p:spPr>
          <a:xfrm>
            <a:off x="8248650" y="3611166"/>
            <a:ext cx="5140833" cy="399554"/>
          </a:xfrm>
          <a:prstGeom prst="rect">
            <a:avLst/>
          </a:prstGeom>
          <a:noFill/>
          <a:ln/>
        </p:spPr>
        <p:txBody>
          <a:bodyPr wrap="none" lIns="25400" tIns="25400" rIns="25400" bIns="25400" rtlCol="0" anchor="t">
            <a:normAutofit/>
          </a:bodyPr>
          <a:lstStyle/>
          <a:p>
            <a:pPr algn="l" indent="0" marL="0">
              <a:lnSpc>
                <a:spcPct val="142312"/>
              </a:lnSpc>
              <a:buNone/>
            </a:pPr>
            <a:r>
              <a:rPr lang="en-US" sz="1725" dirty="0">
                <a:solidFill>
                  <a:srgbClr val="D4D4D4"/>
                </a:solidFill>
                <a:latin typeface="Cascadia Mono" pitchFamily="34" charset="0"/>
                <a:ea typeface="Cascadia Mono" pitchFamily="34" charset="-122"/>
                <a:cs typeface="Cascadia Mono" pitchFamily="34" charset="-120"/>
              </a:rPr>
              <a:t>L = 2.5;     </a:t>
            </a:r>
            <a:pPr algn="l" indent="0" marL="0">
              <a:lnSpc>
                <a:spcPct val="142312"/>
              </a:lnSpc>
              <a:buNone/>
            </a:pPr>
            <a:r>
              <a:rPr lang="en-US" sz="1725" dirty="0">
                <a:solidFill>
                  <a:srgbClr val="6A9955"/>
                </a:solidFill>
                <a:latin typeface="Cascadia Mono" pitchFamily="34" charset="0"/>
                <a:ea typeface="Cascadia Mono" pitchFamily="34" charset="-122"/>
                <a:cs typeface="Cascadia Mono" pitchFamily="34" charset="-120"/>
              </a:rPr>
              <a:t>% m</a:t>
            </a:r>
            <a:endParaRPr lang="en-US" sz="1725" dirty="0"/>
          </a:p>
        </p:txBody>
      </p:sp>
      <p:sp>
        <p:nvSpPr>
          <p:cNvPr id="40" name="Text 37"/>
          <p:cNvSpPr/>
          <p:nvPr/>
        </p:nvSpPr>
        <p:spPr>
          <a:xfrm>
            <a:off x="8248650" y="3972620"/>
            <a:ext cx="5140833" cy="399554"/>
          </a:xfrm>
          <a:prstGeom prst="rect">
            <a:avLst/>
          </a:prstGeom>
          <a:noFill/>
          <a:ln/>
        </p:spPr>
        <p:txBody>
          <a:bodyPr wrap="none" lIns="25400" tIns="25400" rIns="25400" bIns="25400" rtlCol="0" anchor="t">
            <a:normAutofit/>
          </a:bodyPr>
          <a:lstStyle/>
          <a:p>
            <a:pPr algn="l" indent="0" marL="0">
              <a:lnSpc>
                <a:spcPct val="142312"/>
              </a:lnSpc>
              <a:buNone/>
            </a:pPr>
            <a:r>
              <a:rPr lang="en-US" sz="1725" dirty="0">
                <a:solidFill>
                  <a:srgbClr val="F48771"/>
                </a:solidFill>
                <a:latin typeface="Cascadia Mono" pitchFamily="34" charset="0"/>
                <a:ea typeface="Cascadia Mono" pitchFamily="34" charset="-122"/>
                <a:cs typeface="Cascadia Mono" pitchFamily="34" charset="-120"/>
              </a:rPr>
              <a:t>&gt;&gt;&gt;&gt;&gt;&gt;&gt; origin/main</a:t>
            </a:r>
            <a:endParaRPr lang="en-US" sz="1725" dirty="0"/>
          </a:p>
        </p:txBody>
      </p:sp>
      <p:sp>
        <p:nvSpPr>
          <p:cNvPr id="41" name="Text 38"/>
          <p:cNvSpPr/>
          <p:nvPr/>
        </p:nvSpPr>
        <p:spPr>
          <a:xfrm>
            <a:off x="8248650" y="4334074"/>
            <a:ext cx="5140833" cy="399554"/>
          </a:xfrm>
          <a:prstGeom prst="rect">
            <a:avLst/>
          </a:prstGeom>
          <a:noFill/>
          <a:ln/>
        </p:spPr>
        <p:txBody>
          <a:bodyPr wrap="none" lIns="25400" tIns="25400" rIns="25400" bIns="25400" rtlCol="0" anchor="t">
            <a:normAutofit/>
          </a:bodyPr>
          <a:lstStyle/>
          <a:p>
            <a:pPr algn="l" indent="0" marL="0">
              <a:lnSpc>
                <a:spcPct val="142312"/>
              </a:lnSpc>
              <a:buNone/>
            </a:pPr>
            <a:r>
              <a:rPr lang="en-US" sz="1725" dirty="0">
                <a:solidFill>
                  <a:srgbClr val="D4D4D4"/>
                </a:solidFill>
                <a:latin typeface="Cascadia Mono" pitchFamily="34" charset="0"/>
                <a:ea typeface="Cascadia Mono" pitchFamily="34" charset="-122"/>
                <a:cs typeface="Cascadia Mono" pitchFamily="34" charset="-120"/>
              </a:rPr>
              <a:t>P = 750.0;   </a:t>
            </a:r>
            <a:pPr algn="l" indent="0" marL="0">
              <a:lnSpc>
                <a:spcPct val="142312"/>
              </a:lnSpc>
              <a:buNone/>
            </a:pPr>
            <a:r>
              <a:rPr lang="en-US" sz="1725" dirty="0">
                <a:solidFill>
                  <a:srgbClr val="6A9955"/>
                </a:solidFill>
                <a:latin typeface="Cascadia Mono" pitchFamily="34" charset="0"/>
                <a:ea typeface="Cascadia Mono" pitchFamily="34" charset="-122"/>
                <a:cs typeface="Cascadia Mono" pitchFamily="34" charset="-120"/>
              </a:rPr>
              <a:t>% N</a:t>
            </a:r>
            <a:endParaRPr lang="en-US" sz="1725" dirty="0"/>
          </a:p>
        </p:txBody>
      </p:sp>
      <p:sp>
        <p:nvSpPr>
          <p:cNvPr id="42" name="Text 39"/>
          <p:cNvSpPr/>
          <p:nvPr/>
        </p:nvSpPr>
        <p:spPr>
          <a:xfrm>
            <a:off x="8001000" y="5076527"/>
            <a:ext cx="1620738" cy="346670"/>
          </a:xfrm>
          <a:prstGeom prst="rect">
            <a:avLst/>
          </a:prstGeom>
          <a:noFill/>
          <a:ln/>
        </p:spPr>
        <p:txBody>
          <a:bodyPr wrap="square" lIns="25400" tIns="25400" rIns="25400" bIns="25400" rtlCol="0" anchor="t">
            <a:normAutofit/>
          </a:bodyPr>
          <a:lstStyle/>
          <a:p>
            <a:pPr algn="l" indent="0" marL="0">
              <a:lnSpc>
                <a:spcPct val="118537"/>
              </a:lnSpc>
              <a:buNone/>
            </a:pPr>
            <a:r>
              <a:rPr lang="en-US" sz="1800" b="1" dirty="0">
                <a:solidFill>
                  <a:srgbClr val="000000"/>
                </a:solidFill>
                <a:latin typeface="Cascadia Mono" pitchFamily="34" charset="0"/>
                <a:ea typeface="Cascadia Mono" pitchFamily="34" charset="-122"/>
                <a:cs typeface="Cascadia Mono" pitchFamily="34" charset="-120"/>
              </a:rPr>
              <a:t>HEAD</a:t>
            </a:r>
            <a:endParaRPr lang="en-US" sz="1800" dirty="0"/>
          </a:p>
        </p:txBody>
      </p:sp>
      <p:sp>
        <p:nvSpPr>
          <p:cNvPr id="43" name="Text 40"/>
          <p:cNvSpPr/>
          <p:nvPr/>
        </p:nvSpPr>
        <p:spPr>
          <a:xfrm>
            <a:off x="9645848" y="5076527"/>
            <a:ext cx="4225707" cy="346670"/>
          </a:xfrm>
          <a:prstGeom prst="rect">
            <a:avLst/>
          </a:prstGeom>
          <a:noFill/>
          <a:ln/>
        </p:spPr>
        <p:txBody>
          <a:bodyPr wrap="square" lIns="25400" tIns="25400" rIns="25400" bIns="25400" rtlCol="0" anchor="t">
            <a:normAutofit/>
          </a:bodyPr>
          <a:lstStyle/>
          <a:p>
            <a:pPr algn="l" indent="0" marL="0">
              <a:lnSpc>
                <a:spcPct val="101250"/>
              </a:lnSpc>
              <a:buNone/>
            </a:pPr>
            <a:r>
              <a:rPr lang="en-US" sz="1800" dirty="0">
                <a:solidFill>
                  <a:srgbClr val="000000"/>
                </a:solidFill>
                <a:latin typeface="Segoe UI" pitchFamily="34" charset="0"/>
                <a:ea typeface="Segoe UI" pitchFamily="34" charset="-122"/>
                <a:cs typeface="Segoe UI" pitchFamily="34" charset="-120"/>
              </a:rPr>
              <a:t>your local version</a:t>
            </a:r>
            <a:endParaRPr lang="en-US" sz="1800" dirty="0"/>
          </a:p>
        </p:txBody>
      </p:sp>
      <p:sp>
        <p:nvSpPr>
          <p:cNvPr id="44" name="Text 41"/>
          <p:cNvSpPr/>
          <p:nvPr/>
        </p:nvSpPr>
        <p:spPr>
          <a:xfrm>
            <a:off x="8001000" y="5480348"/>
            <a:ext cx="1620738" cy="346670"/>
          </a:xfrm>
          <a:prstGeom prst="rect">
            <a:avLst/>
          </a:prstGeom>
          <a:noFill/>
          <a:ln/>
        </p:spPr>
        <p:txBody>
          <a:bodyPr wrap="square" lIns="25400" tIns="25400" rIns="25400" bIns="25400" rtlCol="0" anchor="t">
            <a:normAutofit/>
          </a:bodyPr>
          <a:lstStyle/>
          <a:p>
            <a:pPr algn="l" indent="0" marL="0">
              <a:lnSpc>
                <a:spcPct val="118537"/>
              </a:lnSpc>
              <a:buNone/>
            </a:pPr>
            <a:r>
              <a:rPr lang="en-US" sz="1800" b="1" dirty="0">
                <a:solidFill>
                  <a:srgbClr val="000000"/>
                </a:solidFill>
                <a:latin typeface="Cascadia Mono" pitchFamily="34" charset="0"/>
                <a:ea typeface="Cascadia Mono" pitchFamily="34" charset="-122"/>
                <a:cs typeface="Cascadia Mono" pitchFamily="34" charset="-120"/>
              </a:rPr>
              <a:t>origin/main</a:t>
            </a:r>
            <a:endParaRPr lang="en-US" sz="1800" dirty="0"/>
          </a:p>
        </p:txBody>
      </p:sp>
      <p:sp>
        <p:nvSpPr>
          <p:cNvPr id="45" name="Text 42"/>
          <p:cNvSpPr/>
          <p:nvPr/>
        </p:nvSpPr>
        <p:spPr>
          <a:xfrm>
            <a:off x="9645848" y="5480348"/>
            <a:ext cx="4225707" cy="346670"/>
          </a:xfrm>
          <a:prstGeom prst="rect">
            <a:avLst/>
          </a:prstGeom>
          <a:noFill/>
          <a:ln/>
        </p:spPr>
        <p:txBody>
          <a:bodyPr wrap="square" lIns="25400" tIns="25400" rIns="25400" bIns="25400" rtlCol="0" anchor="t">
            <a:normAutofit/>
          </a:bodyPr>
          <a:lstStyle/>
          <a:p>
            <a:pPr algn="l" indent="0" marL="0">
              <a:lnSpc>
                <a:spcPct val="101250"/>
              </a:lnSpc>
              <a:buNone/>
            </a:pPr>
            <a:r>
              <a:rPr lang="en-US" sz="1800" dirty="0">
                <a:solidFill>
                  <a:srgbClr val="000000"/>
                </a:solidFill>
                <a:latin typeface="Segoe UI" pitchFamily="34" charset="0"/>
                <a:ea typeface="Segoe UI" pitchFamily="34" charset="-122"/>
                <a:cs typeface="Segoe UI" pitchFamily="34" charset="-120"/>
              </a:rPr>
              <a:t>the version from GitHub</a:t>
            </a:r>
            <a:endParaRPr lang="en-US" sz="1800" dirty="0"/>
          </a:p>
        </p:txBody>
      </p:sp>
      <p:sp>
        <p:nvSpPr>
          <p:cNvPr id="46" name="Text 43"/>
          <p:cNvSpPr/>
          <p:nvPr/>
        </p:nvSpPr>
        <p:spPr>
          <a:xfrm>
            <a:off x="1054418" y="9810750"/>
            <a:ext cx="13264515"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1</a:t>
            </a:r>
            <a:endParaRPr lang="en-US" sz="1800" dirty="0"/>
          </a:p>
        </p:txBody>
      </p:sp>
      <p:sp>
        <p:nvSpPr>
          <p:cNvPr id="47" name="Text 44"/>
          <p:cNvSpPr/>
          <p:nvPr/>
        </p:nvSpPr>
        <p:spPr>
          <a:xfrm>
            <a:off x="13336191" y="9810750"/>
            <a:ext cx="322659" cy="342900"/>
          </a:xfrm>
          <a:prstGeom prst="rect">
            <a:avLst/>
          </a:prstGeom>
          <a:noFill/>
          <a:ln/>
        </p:spPr>
        <p:txBody>
          <a:bodyPr wrap="square" lIns="25400" tIns="25400" rIns="25400" bIns="25400" rtlCol="0" anchor="t">
            <a:norm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16</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543050" cy="10287000"/>
          </a:xfrm>
          <a:prstGeom prst="rect">
            <a:avLst/>
          </a:prstGeom>
          <a:solidFill>
            <a:srgbClr val="E6E6E6"/>
          </a:solidFill>
          <a:ln/>
        </p:spPr>
      </p:sp>
      <p:pic>
        <p:nvPicPr>
          <p:cNvPr id="3" name="Image 0" descr="preencoded.png">    </p:cNvPr>
          <p:cNvPicPr>
            <a:picLocks noChangeAspect="1"/>
          </p:cNvPicPr>
          <p:nvPr/>
        </p:nvPicPr>
        <p:blipFill>
          <a:blip r:embed="rId1"/>
          <a:stretch>
            <a:fillRect/>
          </a:stretch>
        </p:blipFill>
        <p:spPr>
          <a:xfrm>
            <a:off x="200025" y="133350"/>
            <a:ext cx="1143000" cy="1143000"/>
          </a:xfrm>
          <a:prstGeom prst="rect">
            <a:avLst/>
          </a:prstGeom>
        </p:spPr>
      </p:pic>
      <p:sp>
        <p:nvSpPr>
          <p:cNvPr id="4" name="Text 1"/>
          <p:cNvSpPr/>
          <p:nvPr/>
        </p:nvSpPr>
        <p:spPr>
          <a:xfrm>
            <a:off x="133350" y="2381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Overview</a:t>
            </a:r>
            <a:endParaRPr lang="en-US" sz="1800" dirty="0"/>
          </a:p>
        </p:txBody>
      </p:sp>
      <p:sp>
        <p:nvSpPr>
          <p:cNvPr id="5" name="Text 2"/>
          <p:cNvSpPr/>
          <p:nvPr/>
        </p:nvSpPr>
        <p:spPr>
          <a:xfrm>
            <a:off x="133350" y="2762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Concepts</a:t>
            </a:r>
            <a:endParaRPr lang="en-US" sz="1800" dirty="0"/>
          </a:p>
        </p:txBody>
      </p:sp>
      <p:sp>
        <p:nvSpPr>
          <p:cNvPr id="6" name="Text 3"/>
          <p:cNvSpPr/>
          <p:nvPr/>
        </p:nvSpPr>
        <p:spPr>
          <a:xfrm>
            <a:off x="133350" y="3143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Setup</a:t>
            </a:r>
            <a:endParaRPr lang="en-US" sz="1800" dirty="0"/>
          </a:p>
        </p:txBody>
      </p:sp>
      <p:sp>
        <p:nvSpPr>
          <p:cNvPr id="7" name="Text 4"/>
          <p:cNvSpPr/>
          <p:nvPr/>
        </p:nvSpPr>
        <p:spPr>
          <a:xfrm>
            <a:off x="133350" y="3524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Clone</a:t>
            </a:r>
            <a:endParaRPr lang="en-US" sz="1800" dirty="0"/>
          </a:p>
        </p:txBody>
      </p:sp>
      <p:sp>
        <p:nvSpPr>
          <p:cNvPr id="8" name="Text 5"/>
          <p:cNvSpPr/>
          <p:nvPr/>
        </p:nvSpPr>
        <p:spPr>
          <a:xfrm>
            <a:off x="133350" y="3905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Commit</a:t>
            </a:r>
            <a:endParaRPr lang="en-US" sz="1800" dirty="0"/>
          </a:p>
        </p:txBody>
      </p:sp>
      <p:sp>
        <p:nvSpPr>
          <p:cNvPr id="9" name="Text 6"/>
          <p:cNvSpPr/>
          <p:nvPr/>
        </p:nvSpPr>
        <p:spPr>
          <a:xfrm>
            <a:off x="133350" y="4286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Sync</a:t>
            </a:r>
            <a:endParaRPr lang="en-US" sz="1800" dirty="0"/>
          </a:p>
        </p:txBody>
      </p:sp>
      <p:sp>
        <p:nvSpPr>
          <p:cNvPr id="10" name="Text 7"/>
          <p:cNvSpPr/>
          <p:nvPr/>
        </p:nvSpPr>
        <p:spPr>
          <a:xfrm>
            <a:off x="133350" y="4667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Branches</a:t>
            </a:r>
            <a:endParaRPr lang="en-US" sz="1800" dirty="0"/>
          </a:p>
        </p:txBody>
      </p:sp>
      <p:sp>
        <p:nvSpPr>
          <p:cNvPr id="11" name="Text 8"/>
          <p:cNvSpPr/>
          <p:nvPr/>
        </p:nvSpPr>
        <p:spPr>
          <a:xfrm>
            <a:off x="133350" y="5048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Conflicts</a:t>
            </a:r>
            <a:endParaRPr lang="en-US" sz="1800" dirty="0"/>
          </a:p>
        </p:txBody>
      </p:sp>
      <p:sp>
        <p:nvSpPr>
          <p:cNvPr id="12" name="Text 9"/>
          <p:cNvSpPr/>
          <p:nvPr/>
        </p:nvSpPr>
        <p:spPr>
          <a:xfrm>
            <a:off x="133350" y="5429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History</a:t>
            </a:r>
            <a:endParaRPr lang="en-US" sz="1800" dirty="0"/>
          </a:p>
        </p:txBody>
      </p:sp>
      <p:sp>
        <p:nvSpPr>
          <p:cNvPr id="13" name="Text 10"/>
          <p:cNvSpPr/>
          <p:nvPr/>
        </p:nvSpPr>
        <p:spPr>
          <a:xfrm>
            <a:off x="133350" y="5810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Agent-Ready</a:t>
            </a:r>
            <a:endParaRPr lang="en-US" sz="1800" dirty="0"/>
          </a:p>
        </p:txBody>
      </p:sp>
      <p:sp>
        <p:nvSpPr>
          <p:cNvPr id="14" name="Text 11"/>
          <p:cNvSpPr/>
          <p:nvPr/>
        </p:nvSpPr>
        <p:spPr>
          <a:xfrm>
            <a:off x="133350" y="6191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Review</a:t>
            </a:r>
            <a:endParaRPr lang="en-US" sz="1800" dirty="0"/>
          </a:p>
        </p:txBody>
      </p:sp>
      <p:sp>
        <p:nvSpPr>
          <p:cNvPr id="15" name="Text 12"/>
          <p:cNvSpPr/>
          <p:nvPr/>
        </p:nvSpPr>
        <p:spPr>
          <a:xfrm>
            <a:off x="1657350" y="200025"/>
            <a:ext cx="10988040" cy="1057275"/>
          </a:xfrm>
          <a:prstGeom prst="rect">
            <a:avLst/>
          </a:prstGeom>
          <a:noFill/>
          <a:ln/>
        </p:spPr>
        <p:txBody>
          <a:bodyPr wrap="square" lIns="25400" tIns="25400" rIns="25400" bIns="25400" rtlCol="0" anchor="ctr">
            <a:norm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Exercise 8: History &amp; Undo</a:t>
            </a:r>
            <a:endParaRPr lang="en-US" sz="4800" dirty="0"/>
          </a:p>
        </p:txBody>
      </p:sp>
      <p:sp>
        <p:nvSpPr>
          <p:cNvPr id="16" name="Text 13"/>
          <p:cNvSpPr/>
          <p:nvPr/>
        </p:nvSpPr>
        <p:spPr>
          <a:xfrm>
            <a:off x="12515950" y="133350"/>
            <a:ext cx="1142901"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1</a:t>
            </a:r>
            <a:endParaRPr lang="en-US" sz="2100" dirty="0"/>
          </a:p>
        </p:txBody>
      </p:sp>
      <p:sp>
        <p:nvSpPr>
          <p:cNvPr id="17" name="Shape 14"/>
          <p:cNvSpPr/>
          <p:nvPr/>
        </p:nvSpPr>
        <p:spPr>
          <a:xfrm>
            <a:off x="1657350" y="1219200"/>
            <a:ext cx="11925300" cy="66675"/>
          </a:xfrm>
          <a:prstGeom prst="rect">
            <a:avLst/>
          </a:prstGeom>
          <a:solidFill>
            <a:srgbClr val="000000"/>
          </a:solidFill>
          <a:ln/>
        </p:spPr>
      </p:sp>
      <p:sp>
        <p:nvSpPr>
          <p:cNvPr id="18" name="Shape 15"/>
          <p:cNvSpPr/>
          <p:nvPr/>
        </p:nvSpPr>
        <p:spPr>
          <a:xfrm>
            <a:off x="1809750" y="1571625"/>
            <a:ext cx="2381250" cy="614363"/>
          </a:xfrm>
          <a:prstGeom prst="rect">
            <a:avLst/>
          </a:prstGeom>
          <a:solidFill>
            <a:srgbClr val="152A47"/>
          </a:solidFill>
          <a:ln/>
        </p:spPr>
      </p:sp>
      <p:sp>
        <p:nvSpPr>
          <p:cNvPr id="19" name="Text 16"/>
          <p:cNvSpPr/>
          <p:nvPr/>
        </p:nvSpPr>
        <p:spPr>
          <a:xfrm>
            <a:off x="1981200" y="1724025"/>
            <a:ext cx="21145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Segoe UI" pitchFamily="34" charset="0"/>
                <a:ea typeface="Segoe UI" pitchFamily="34" charset="-122"/>
                <a:cs typeface="Segoe UI" pitchFamily="34" charset="-120"/>
              </a:rPr>
              <a:t>Situation</a:t>
            </a:r>
            <a:endParaRPr lang="en-US" sz="1875" dirty="0"/>
          </a:p>
        </p:txBody>
      </p:sp>
      <p:sp>
        <p:nvSpPr>
          <p:cNvPr id="20" name="Shape 17"/>
          <p:cNvSpPr/>
          <p:nvPr/>
        </p:nvSpPr>
        <p:spPr>
          <a:xfrm>
            <a:off x="4191000" y="1571625"/>
            <a:ext cx="5486400" cy="614363"/>
          </a:xfrm>
          <a:prstGeom prst="rect">
            <a:avLst/>
          </a:prstGeom>
          <a:solidFill>
            <a:srgbClr val="152A47"/>
          </a:solidFill>
          <a:ln/>
        </p:spPr>
      </p:sp>
      <p:sp>
        <p:nvSpPr>
          <p:cNvPr id="21" name="Text 18"/>
          <p:cNvSpPr/>
          <p:nvPr/>
        </p:nvSpPr>
        <p:spPr>
          <a:xfrm>
            <a:off x="4362450" y="1724025"/>
            <a:ext cx="5308092"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Segoe UI" pitchFamily="34" charset="0"/>
                <a:ea typeface="Segoe UI" pitchFamily="34" charset="-122"/>
                <a:cs typeface="Segoe UI" pitchFamily="34" charset="-120"/>
              </a:rPr>
              <a:t>What to do</a:t>
            </a:r>
            <a:endParaRPr lang="en-US" sz="1875" dirty="0"/>
          </a:p>
        </p:txBody>
      </p:sp>
      <p:sp>
        <p:nvSpPr>
          <p:cNvPr id="22" name="Shape 19"/>
          <p:cNvSpPr/>
          <p:nvPr/>
        </p:nvSpPr>
        <p:spPr>
          <a:xfrm>
            <a:off x="9677400" y="1571625"/>
            <a:ext cx="3810000" cy="614363"/>
          </a:xfrm>
          <a:prstGeom prst="rect">
            <a:avLst/>
          </a:prstGeom>
          <a:solidFill>
            <a:srgbClr val="152A47"/>
          </a:solidFill>
          <a:ln/>
        </p:spPr>
      </p:sp>
      <p:sp>
        <p:nvSpPr>
          <p:cNvPr id="23" name="Text 20"/>
          <p:cNvSpPr/>
          <p:nvPr/>
        </p:nvSpPr>
        <p:spPr>
          <a:xfrm>
            <a:off x="9848850" y="1724025"/>
            <a:ext cx="358140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Segoe UI" pitchFamily="34" charset="0"/>
                <a:ea typeface="Segoe UI" pitchFamily="34" charset="-122"/>
                <a:cs typeface="Segoe UI" pitchFamily="34" charset="-120"/>
              </a:rPr>
              <a:t>GitHub Desktop</a:t>
            </a:r>
            <a:endParaRPr lang="en-US" sz="1875" dirty="0"/>
          </a:p>
        </p:txBody>
      </p:sp>
      <p:sp>
        <p:nvSpPr>
          <p:cNvPr id="24" name="Shape 21"/>
          <p:cNvSpPr/>
          <p:nvPr/>
        </p:nvSpPr>
        <p:spPr>
          <a:xfrm>
            <a:off x="1809750" y="3109913"/>
            <a:ext cx="2381250" cy="19050"/>
          </a:xfrm>
          <a:prstGeom prst="rect">
            <a:avLst/>
          </a:prstGeom>
          <a:solidFill>
            <a:srgbClr val="BFBFBF"/>
          </a:solidFill>
          <a:ln/>
        </p:spPr>
      </p:sp>
      <p:sp>
        <p:nvSpPr>
          <p:cNvPr id="25" name="Text 22"/>
          <p:cNvSpPr/>
          <p:nvPr/>
        </p:nvSpPr>
        <p:spPr>
          <a:xfrm>
            <a:off x="1981200" y="2338388"/>
            <a:ext cx="211455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Segoe UI" pitchFamily="34" charset="0"/>
                <a:ea typeface="Segoe UI" pitchFamily="34" charset="-122"/>
                <a:cs typeface="Segoe UI" pitchFamily="34" charset="-120"/>
              </a:rPr>
              <a:t>Not committed</a:t>
            </a:r>
            <a:endParaRPr lang="en-US" sz="1875" dirty="0"/>
          </a:p>
        </p:txBody>
      </p:sp>
      <p:sp>
        <p:nvSpPr>
          <p:cNvPr id="26" name="Shape 23"/>
          <p:cNvSpPr/>
          <p:nvPr/>
        </p:nvSpPr>
        <p:spPr>
          <a:xfrm>
            <a:off x="4191000" y="3109913"/>
            <a:ext cx="5486400" cy="19050"/>
          </a:xfrm>
          <a:prstGeom prst="rect">
            <a:avLst/>
          </a:prstGeom>
          <a:solidFill>
            <a:srgbClr val="BFBFBF"/>
          </a:solidFill>
          <a:ln/>
        </p:spPr>
      </p:sp>
      <p:sp>
        <p:nvSpPr>
          <p:cNvPr id="27" name="Text 24"/>
          <p:cNvSpPr/>
          <p:nvPr/>
        </p:nvSpPr>
        <p:spPr>
          <a:xfrm>
            <a:off x="4362450" y="2338388"/>
            <a:ext cx="5308092"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Throw away edits to a file</a:t>
            </a:r>
            <a:endParaRPr lang="en-US" sz="1875" dirty="0"/>
          </a:p>
        </p:txBody>
      </p:sp>
      <p:sp>
        <p:nvSpPr>
          <p:cNvPr id="28" name="Shape 25"/>
          <p:cNvSpPr/>
          <p:nvPr/>
        </p:nvSpPr>
        <p:spPr>
          <a:xfrm>
            <a:off x="9677400" y="3109913"/>
            <a:ext cx="3810000" cy="19050"/>
          </a:xfrm>
          <a:prstGeom prst="rect">
            <a:avLst/>
          </a:prstGeom>
          <a:solidFill>
            <a:srgbClr val="BFBFBF"/>
          </a:solidFill>
          <a:ln/>
        </p:spPr>
      </p:sp>
      <p:sp>
        <p:nvSpPr>
          <p:cNvPr id="29" name="Text 26"/>
          <p:cNvSpPr/>
          <p:nvPr/>
        </p:nvSpPr>
        <p:spPr>
          <a:xfrm>
            <a:off x="9848850" y="2338388"/>
            <a:ext cx="358140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Changes › right-click › Discard changes</a:t>
            </a:r>
            <a:endParaRPr lang="en-US" sz="1875" dirty="0"/>
          </a:p>
        </p:txBody>
      </p:sp>
      <p:sp>
        <p:nvSpPr>
          <p:cNvPr id="30" name="Shape 27"/>
          <p:cNvSpPr/>
          <p:nvPr/>
        </p:nvSpPr>
        <p:spPr>
          <a:xfrm>
            <a:off x="1809750" y="4052888"/>
            <a:ext cx="2381250" cy="19050"/>
          </a:xfrm>
          <a:prstGeom prst="rect">
            <a:avLst/>
          </a:prstGeom>
          <a:solidFill>
            <a:srgbClr val="BFBFBF"/>
          </a:solidFill>
          <a:ln/>
        </p:spPr>
      </p:sp>
      <p:sp>
        <p:nvSpPr>
          <p:cNvPr id="31" name="Text 28"/>
          <p:cNvSpPr/>
          <p:nvPr/>
        </p:nvSpPr>
        <p:spPr>
          <a:xfrm>
            <a:off x="1981200" y="3281363"/>
            <a:ext cx="211455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Segoe UI" pitchFamily="34" charset="0"/>
                <a:ea typeface="Segoe UI" pitchFamily="34" charset="-122"/>
                <a:cs typeface="Segoe UI" pitchFamily="34" charset="-120"/>
              </a:rPr>
              <a:t>Committed, not pushed</a:t>
            </a:r>
            <a:endParaRPr lang="en-US" sz="1875" dirty="0"/>
          </a:p>
        </p:txBody>
      </p:sp>
      <p:sp>
        <p:nvSpPr>
          <p:cNvPr id="32" name="Shape 29"/>
          <p:cNvSpPr/>
          <p:nvPr/>
        </p:nvSpPr>
        <p:spPr>
          <a:xfrm>
            <a:off x="4191000" y="4052888"/>
            <a:ext cx="5486400" cy="19050"/>
          </a:xfrm>
          <a:prstGeom prst="rect">
            <a:avLst/>
          </a:prstGeom>
          <a:solidFill>
            <a:srgbClr val="BFBFBF"/>
          </a:solidFill>
          <a:ln/>
        </p:spPr>
      </p:sp>
      <p:sp>
        <p:nvSpPr>
          <p:cNvPr id="33" name="Text 30"/>
          <p:cNvSpPr/>
          <p:nvPr/>
        </p:nvSpPr>
        <p:spPr>
          <a:xfrm>
            <a:off x="4362450" y="3281363"/>
            <a:ext cx="5308092"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Take back the last commit; edits return to Changes</a:t>
            </a:r>
            <a:endParaRPr lang="en-US" sz="1875" dirty="0"/>
          </a:p>
        </p:txBody>
      </p:sp>
      <p:sp>
        <p:nvSpPr>
          <p:cNvPr id="34" name="Shape 31"/>
          <p:cNvSpPr/>
          <p:nvPr/>
        </p:nvSpPr>
        <p:spPr>
          <a:xfrm>
            <a:off x="9677400" y="4052888"/>
            <a:ext cx="3810000" cy="19050"/>
          </a:xfrm>
          <a:prstGeom prst="rect">
            <a:avLst/>
          </a:prstGeom>
          <a:solidFill>
            <a:srgbClr val="BFBFBF"/>
          </a:solidFill>
          <a:ln/>
        </p:spPr>
      </p:sp>
      <p:sp>
        <p:nvSpPr>
          <p:cNvPr id="35" name="Text 32"/>
          <p:cNvSpPr/>
          <p:nvPr/>
        </p:nvSpPr>
        <p:spPr>
          <a:xfrm>
            <a:off x="9848850" y="3281363"/>
            <a:ext cx="358140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Undo button (below commit box)</a:t>
            </a:r>
            <a:endParaRPr lang="en-US" sz="1875" dirty="0"/>
          </a:p>
        </p:txBody>
      </p:sp>
      <p:sp>
        <p:nvSpPr>
          <p:cNvPr id="36" name="Shape 33"/>
          <p:cNvSpPr/>
          <p:nvPr/>
        </p:nvSpPr>
        <p:spPr>
          <a:xfrm>
            <a:off x="1809750" y="4995863"/>
            <a:ext cx="2381250" cy="19050"/>
          </a:xfrm>
          <a:prstGeom prst="rect">
            <a:avLst/>
          </a:prstGeom>
          <a:solidFill>
            <a:srgbClr val="BFBFBF"/>
          </a:solidFill>
          <a:ln/>
        </p:spPr>
      </p:sp>
      <p:sp>
        <p:nvSpPr>
          <p:cNvPr id="37" name="Text 34"/>
          <p:cNvSpPr/>
          <p:nvPr/>
        </p:nvSpPr>
        <p:spPr>
          <a:xfrm>
            <a:off x="1981200" y="4224338"/>
            <a:ext cx="211455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Segoe UI" pitchFamily="34" charset="0"/>
                <a:ea typeface="Segoe UI" pitchFamily="34" charset="-122"/>
                <a:cs typeface="Segoe UI" pitchFamily="34" charset="-120"/>
              </a:rPr>
              <a:t>Already pushed</a:t>
            </a:r>
            <a:endParaRPr lang="en-US" sz="1875" dirty="0"/>
          </a:p>
        </p:txBody>
      </p:sp>
      <p:sp>
        <p:nvSpPr>
          <p:cNvPr id="38" name="Shape 35"/>
          <p:cNvSpPr/>
          <p:nvPr/>
        </p:nvSpPr>
        <p:spPr>
          <a:xfrm>
            <a:off x="4191000" y="4995863"/>
            <a:ext cx="5486400" cy="19050"/>
          </a:xfrm>
          <a:prstGeom prst="rect">
            <a:avLst/>
          </a:prstGeom>
          <a:solidFill>
            <a:srgbClr val="BFBFBF"/>
          </a:solidFill>
          <a:ln/>
        </p:spPr>
      </p:sp>
      <p:sp>
        <p:nvSpPr>
          <p:cNvPr id="39" name="Text 36"/>
          <p:cNvSpPr/>
          <p:nvPr/>
        </p:nvSpPr>
        <p:spPr>
          <a:xfrm>
            <a:off x="4362450" y="4224338"/>
            <a:ext cx="5308092"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Add a new commit that reverses an old one</a:t>
            </a:r>
            <a:endParaRPr lang="en-US" sz="1875" dirty="0"/>
          </a:p>
        </p:txBody>
      </p:sp>
      <p:sp>
        <p:nvSpPr>
          <p:cNvPr id="40" name="Shape 37"/>
          <p:cNvSpPr/>
          <p:nvPr/>
        </p:nvSpPr>
        <p:spPr>
          <a:xfrm>
            <a:off x="9677400" y="4995863"/>
            <a:ext cx="3810000" cy="19050"/>
          </a:xfrm>
          <a:prstGeom prst="rect">
            <a:avLst/>
          </a:prstGeom>
          <a:solidFill>
            <a:srgbClr val="BFBFBF"/>
          </a:solidFill>
          <a:ln/>
        </p:spPr>
      </p:sp>
      <p:sp>
        <p:nvSpPr>
          <p:cNvPr id="41" name="Text 38"/>
          <p:cNvSpPr/>
          <p:nvPr/>
        </p:nvSpPr>
        <p:spPr>
          <a:xfrm>
            <a:off x="9848850" y="4224338"/>
            <a:ext cx="358140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History › right-click › Revert changes in commit</a:t>
            </a:r>
            <a:endParaRPr lang="en-US" sz="1875" dirty="0"/>
          </a:p>
        </p:txBody>
      </p:sp>
      <p:sp>
        <p:nvSpPr>
          <p:cNvPr id="42" name="Shape 39"/>
          <p:cNvSpPr/>
          <p:nvPr/>
        </p:nvSpPr>
        <p:spPr>
          <a:xfrm>
            <a:off x="1809750" y="5262563"/>
            <a:ext cx="1314450" cy="381000"/>
          </a:xfrm>
          <a:prstGeom prst="roundRect">
            <a:avLst>
              <a:gd name="adj" fmla="val 15000"/>
            </a:avLst>
          </a:prstGeom>
          <a:solidFill>
            <a:srgbClr val="595959"/>
          </a:solidFill>
          <a:ln/>
        </p:spPr>
      </p:sp>
      <p:sp>
        <p:nvSpPr>
          <p:cNvPr id="43" name="Text 40"/>
          <p:cNvSpPr/>
          <p:nvPr/>
        </p:nvSpPr>
        <p:spPr>
          <a:xfrm>
            <a:off x="1962150" y="5300663"/>
            <a:ext cx="1085850" cy="342900"/>
          </a:xfrm>
          <a:prstGeom prst="rect">
            <a:avLst/>
          </a:prstGeom>
          <a:noFill/>
          <a:ln/>
        </p:spPr>
        <p:txBody>
          <a:bodyPr wrap="square" lIns="25400" tIns="25400" rIns="25400" bIns="25400" rtlCol="0" anchor="t">
            <a:normAutofit/>
          </a:bodyPr>
          <a:lstStyle/>
          <a:p>
            <a:pPr algn="l" indent="0" marL="0">
              <a:buNone/>
            </a:pPr>
            <a:r>
              <a:rPr lang="en-US" sz="1800" b="1" dirty="0">
                <a:solidFill>
                  <a:srgbClr val="FFFFFF"/>
                </a:solidFill>
                <a:latin typeface="Segoe UI" pitchFamily="34" charset="0"/>
                <a:ea typeface="Segoe UI" pitchFamily="34" charset="-122"/>
                <a:cs typeface="Segoe UI" pitchFamily="34" charset="-120"/>
              </a:rPr>
              <a:t>EXERCISE</a:t>
            </a:r>
            <a:endParaRPr lang="en-US" sz="1800" dirty="0"/>
          </a:p>
        </p:txBody>
      </p:sp>
      <p:sp>
        <p:nvSpPr>
          <p:cNvPr id="44" name="Text 41"/>
          <p:cNvSpPr/>
          <p:nvPr/>
        </p:nvSpPr>
        <p:spPr>
          <a:xfrm>
            <a:off x="1809750" y="5834063"/>
            <a:ext cx="609600" cy="706636"/>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1</a:t>
            </a:r>
            <a:endParaRPr lang="en-US" sz="2250" dirty="0"/>
          </a:p>
        </p:txBody>
      </p:sp>
      <p:sp>
        <p:nvSpPr>
          <p:cNvPr id="45" name="Text 42"/>
          <p:cNvSpPr/>
          <p:nvPr/>
        </p:nvSpPr>
        <p:spPr>
          <a:xfrm>
            <a:off x="2343150" y="5834063"/>
            <a:ext cx="5337048" cy="706636"/>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Open the </a:t>
            </a:r>
            <a:pPr algn="l" indent="0" marL="0">
              <a:lnSpc>
                <a:spcPct val="101250"/>
              </a:lnSpc>
              <a:buNone/>
            </a:pPr>
            <a:r>
              <a:rPr lang="en-US" sz="1950" b="1" dirty="0">
                <a:solidFill>
                  <a:srgbClr val="000000"/>
                </a:solidFill>
                <a:latin typeface="Segoe UI" pitchFamily="34" charset="0"/>
                <a:ea typeface="Segoe UI" pitchFamily="34" charset="-122"/>
                <a:cs typeface="Segoe UI" pitchFamily="34" charset="-120"/>
              </a:rPr>
              <a:t>History </a:t>
            </a:r>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tab. Click each commit to see its diff.</a:t>
            </a:r>
            <a:endParaRPr lang="en-US" sz="1950" dirty="0"/>
          </a:p>
        </p:txBody>
      </p:sp>
      <p:sp>
        <p:nvSpPr>
          <p:cNvPr id="46" name="Text 43"/>
          <p:cNvSpPr/>
          <p:nvPr/>
        </p:nvSpPr>
        <p:spPr>
          <a:xfrm>
            <a:off x="1809750" y="6674048"/>
            <a:ext cx="609600" cy="706636"/>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2</a:t>
            </a:r>
            <a:endParaRPr lang="en-US" sz="2250" dirty="0"/>
          </a:p>
        </p:txBody>
      </p:sp>
      <p:sp>
        <p:nvSpPr>
          <p:cNvPr id="47" name="Text 44"/>
          <p:cNvSpPr/>
          <p:nvPr/>
        </p:nvSpPr>
        <p:spPr>
          <a:xfrm>
            <a:off x="2343150" y="6674048"/>
            <a:ext cx="5337048" cy="706636"/>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Right-click </a:t>
            </a:r>
            <a:pPr algn="l" indent="0" marL="0">
              <a:lnSpc>
                <a:spcPct val="101250"/>
              </a:lnSpc>
              <a:buNone/>
            </a:pPr>
            <a:r>
              <a:rPr lang="en-US" sz="1950" i="1" dirty="0">
                <a:solidFill>
                  <a:srgbClr val="000000"/>
                </a:solidFill>
                <a:latin typeface="Segoe UI" pitchFamily="34" charset="0"/>
                <a:ea typeface="Segoe UI" pitchFamily="34" charset="-122"/>
                <a:cs typeface="Segoe UI" pitchFamily="34" charset="-120"/>
              </a:rPr>
              <a:t>Increase tip load to 750 N </a:t>
            </a:r>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 </a:t>
            </a:r>
            <a:pPr algn="l" indent="0" marL="0">
              <a:lnSpc>
                <a:spcPct val="101250"/>
              </a:lnSpc>
              <a:buNone/>
            </a:pPr>
            <a:r>
              <a:rPr lang="en-US" sz="1950" b="1" dirty="0">
                <a:solidFill>
                  <a:srgbClr val="000000"/>
                </a:solidFill>
                <a:latin typeface="Segoe UI" pitchFamily="34" charset="0"/>
                <a:ea typeface="Segoe UI" pitchFamily="34" charset="-122"/>
                <a:cs typeface="Segoe UI" pitchFamily="34" charset="-120"/>
              </a:rPr>
              <a:t>Revert changes in commit </a:t>
            </a:r>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a:t>
            </a:r>
            <a:endParaRPr lang="en-US" sz="1950" dirty="0"/>
          </a:p>
        </p:txBody>
      </p:sp>
      <p:sp>
        <p:nvSpPr>
          <p:cNvPr id="48" name="Text 45"/>
          <p:cNvSpPr/>
          <p:nvPr/>
        </p:nvSpPr>
        <p:spPr>
          <a:xfrm>
            <a:off x="1809750" y="7514034"/>
            <a:ext cx="609600" cy="423863"/>
          </a:xfrm>
          <a:prstGeom prst="rect">
            <a:avLst/>
          </a:prstGeom>
          <a:noFill/>
          <a:ln/>
        </p:spPr>
        <p:txBody>
          <a:bodyPr wrap="square" lIns="25400" tIns="25400" rIns="25400" bIns="25400" rtlCol="0" anchor="t">
            <a:normAutofit/>
          </a:bodyPr>
          <a:lstStyle/>
          <a:p>
            <a:pPr algn="l" indent="0" marL="0">
              <a:lnSpc>
                <a:spcPct val="101250"/>
              </a:lnSpc>
              <a:buNone/>
            </a:pPr>
            <a:r>
              <a:rPr lang="en-US" sz="2250" b="1" dirty="0">
                <a:solidFill>
                  <a:srgbClr val="1F6FB2"/>
                </a:solidFill>
                <a:latin typeface="Segoe UI" pitchFamily="34" charset="0"/>
                <a:ea typeface="Segoe UI" pitchFamily="34" charset="-122"/>
                <a:cs typeface="Segoe UI" pitchFamily="34" charset="-120"/>
              </a:rPr>
              <a:t>3</a:t>
            </a:r>
            <a:endParaRPr lang="en-US" sz="2250" dirty="0"/>
          </a:p>
        </p:txBody>
      </p:sp>
      <p:sp>
        <p:nvSpPr>
          <p:cNvPr id="49" name="Text 46"/>
          <p:cNvSpPr/>
          <p:nvPr/>
        </p:nvSpPr>
        <p:spPr>
          <a:xfrm>
            <a:off x="2343150" y="7514034"/>
            <a:ext cx="5699760" cy="423863"/>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Check beam.m: P is back to 500. Push origin.</a:t>
            </a:r>
            <a:endParaRPr lang="en-US" sz="1950" dirty="0"/>
          </a:p>
        </p:txBody>
      </p:sp>
      <p:sp>
        <p:nvSpPr>
          <p:cNvPr id="50" name="Text 47"/>
          <p:cNvSpPr/>
          <p:nvPr/>
        </p:nvSpPr>
        <p:spPr>
          <a:xfrm>
            <a:off x="1054418" y="9810750"/>
            <a:ext cx="13264515"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1</a:t>
            </a:r>
            <a:endParaRPr lang="en-US" sz="1800" dirty="0"/>
          </a:p>
        </p:txBody>
      </p:sp>
      <p:sp>
        <p:nvSpPr>
          <p:cNvPr id="51" name="Text 48"/>
          <p:cNvSpPr/>
          <p:nvPr/>
        </p:nvSpPr>
        <p:spPr>
          <a:xfrm>
            <a:off x="13336191" y="9810750"/>
            <a:ext cx="322659" cy="342900"/>
          </a:xfrm>
          <a:prstGeom prst="rect">
            <a:avLst/>
          </a:prstGeom>
          <a:noFill/>
          <a:ln/>
        </p:spPr>
        <p:txBody>
          <a:bodyPr wrap="square" lIns="25400" tIns="25400" rIns="25400" bIns="25400" rtlCol="0" anchor="t">
            <a:norm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17</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543050" cy="10287000"/>
          </a:xfrm>
          <a:prstGeom prst="rect">
            <a:avLst/>
          </a:prstGeom>
          <a:solidFill>
            <a:srgbClr val="E6E6E6"/>
          </a:solidFill>
          <a:ln/>
        </p:spPr>
      </p:sp>
      <p:pic>
        <p:nvPicPr>
          <p:cNvPr id="3" name="Image 0" descr="preencoded.png">    </p:cNvPr>
          <p:cNvPicPr>
            <a:picLocks noChangeAspect="1"/>
          </p:cNvPicPr>
          <p:nvPr/>
        </p:nvPicPr>
        <p:blipFill>
          <a:blip r:embed="rId1"/>
          <a:stretch>
            <a:fillRect/>
          </a:stretch>
        </p:blipFill>
        <p:spPr>
          <a:xfrm>
            <a:off x="200025" y="133350"/>
            <a:ext cx="1143000" cy="1143000"/>
          </a:xfrm>
          <a:prstGeom prst="rect">
            <a:avLst/>
          </a:prstGeom>
        </p:spPr>
      </p:pic>
      <p:sp>
        <p:nvSpPr>
          <p:cNvPr id="4" name="Text 1"/>
          <p:cNvSpPr/>
          <p:nvPr/>
        </p:nvSpPr>
        <p:spPr>
          <a:xfrm>
            <a:off x="133350" y="2381250"/>
            <a:ext cx="1529169"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Overview</a:t>
            </a:r>
            <a:endParaRPr lang="en-US" sz="1800" dirty="0"/>
          </a:p>
        </p:txBody>
      </p:sp>
      <p:sp>
        <p:nvSpPr>
          <p:cNvPr id="5" name="Text 2"/>
          <p:cNvSpPr/>
          <p:nvPr/>
        </p:nvSpPr>
        <p:spPr>
          <a:xfrm>
            <a:off x="133350" y="2762250"/>
            <a:ext cx="1529169"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Concepts</a:t>
            </a:r>
            <a:endParaRPr lang="en-US" sz="1800" dirty="0"/>
          </a:p>
        </p:txBody>
      </p:sp>
      <p:sp>
        <p:nvSpPr>
          <p:cNvPr id="6" name="Text 3"/>
          <p:cNvSpPr/>
          <p:nvPr/>
        </p:nvSpPr>
        <p:spPr>
          <a:xfrm>
            <a:off x="133350" y="3143250"/>
            <a:ext cx="1529169"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Setup</a:t>
            </a:r>
            <a:endParaRPr lang="en-US" sz="1800" dirty="0"/>
          </a:p>
        </p:txBody>
      </p:sp>
      <p:sp>
        <p:nvSpPr>
          <p:cNvPr id="7" name="Text 4"/>
          <p:cNvSpPr/>
          <p:nvPr/>
        </p:nvSpPr>
        <p:spPr>
          <a:xfrm>
            <a:off x="133350" y="3524250"/>
            <a:ext cx="1529169"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Clone</a:t>
            </a:r>
            <a:endParaRPr lang="en-US" sz="1800" dirty="0"/>
          </a:p>
        </p:txBody>
      </p:sp>
      <p:sp>
        <p:nvSpPr>
          <p:cNvPr id="8" name="Text 5"/>
          <p:cNvSpPr/>
          <p:nvPr/>
        </p:nvSpPr>
        <p:spPr>
          <a:xfrm>
            <a:off x="133350" y="3905250"/>
            <a:ext cx="1529169"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Commit</a:t>
            </a:r>
            <a:endParaRPr lang="en-US" sz="1800" dirty="0"/>
          </a:p>
        </p:txBody>
      </p:sp>
      <p:sp>
        <p:nvSpPr>
          <p:cNvPr id="9" name="Text 6"/>
          <p:cNvSpPr/>
          <p:nvPr/>
        </p:nvSpPr>
        <p:spPr>
          <a:xfrm>
            <a:off x="133350" y="4286250"/>
            <a:ext cx="1529169"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Sync</a:t>
            </a:r>
            <a:endParaRPr lang="en-US" sz="1800" dirty="0"/>
          </a:p>
        </p:txBody>
      </p:sp>
      <p:sp>
        <p:nvSpPr>
          <p:cNvPr id="10" name="Text 7"/>
          <p:cNvSpPr/>
          <p:nvPr/>
        </p:nvSpPr>
        <p:spPr>
          <a:xfrm>
            <a:off x="133350" y="4667250"/>
            <a:ext cx="1529169"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Branches</a:t>
            </a:r>
            <a:endParaRPr lang="en-US" sz="1800" dirty="0"/>
          </a:p>
        </p:txBody>
      </p:sp>
      <p:sp>
        <p:nvSpPr>
          <p:cNvPr id="11" name="Text 8"/>
          <p:cNvSpPr/>
          <p:nvPr/>
        </p:nvSpPr>
        <p:spPr>
          <a:xfrm>
            <a:off x="133350" y="5048250"/>
            <a:ext cx="1529169"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Conflicts</a:t>
            </a:r>
            <a:endParaRPr lang="en-US" sz="1800" dirty="0"/>
          </a:p>
        </p:txBody>
      </p:sp>
      <p:sp>
        <p:nvSpPr>
          <p:cNvPr id="12" name="Text 9"/>
          <p:cNvSpPr/>
          <p:nvPr/>
        </p:nvSpPr>
        <p:spPr>
          <a:xfrm>
            <a:off x="133350" y="5429250"/>
            <a:ext cx="1529169"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History</a:t>
            </a:r>
            <a:endParaRPr lang="en-US" sz="1800" dirty="0"/>
          </a:p>
        </p:txBody>
      </p:sp>
      <p:sp>
        <p:nvSpPr>
          <p:cNvPr id="13" name="Text 10"/>
          <p:cNvSpPr/>
          <p:nvPr/>
        </p:nvSpPr>
        <p:spPr>
          <a:xfrm>
            <a:off x="133350" y="5810250"/>
            <a:ext cx="1529169"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Agent-Ready</a:t>
            </a:r>
            <a:endParaRPr lang="en-US" sz="1800" dirty="0"/>
          </a:p>
        </p:txBody>
      </p:sp>
      <p:sp>
        <p:nvSpPr>
          <p:cNvPr id="14" name="Text 11"/>
          <p:cNvSpPr/>
          <p:nvPr/>
        </p:nvSpPr>
        <p:spPr>
          <a:xfrm>
            <a:off x="133350" y="6191250"/>
            <a:ext cx="1529169"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Review</a:t>
            </a:r>
            <a:endParaRPr lang="en-US" sz="1800" dirty="0"/>
          </a:p>
        </p:txBody>
      </p:sp>
      <p:sp>
        <p:nvSpPr>
          <p:cNvPr id="15" name="Text 12"/>
          <p:cNvSpPr/>
          <p:nvPr/>
        </p:nvSpPr>
        <p:spPr>
          <a:xfrm>
            <a:off x="1657350" y="200025"/>
            <a:ext cx="10988040" cy="1057275"/>
          </a:xfrm>
          <a:prstGeom prst="rect">
            <a:avLst/>
          </a:prstGeom>
          <a:noFill/>
          <a:ln/>
        </p:spPr>
        <p:txBody>
          <a:bodyPr wrap="square" lIns="25400" tIns="25400" rIns="25400" bIns="25400" rtlCol="0" anchor="ctr">
            <a:norm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README, .gitignore, AGENTS.md</a:t>
            </a:r>
            <a:endParaRPr lang="en-US" sz="4800" dirty="0"/>
          </a:p>
        </p:txBody>
      </p:sp>
      <p:sp>
        <p:nvSpPr>
          <p:cNvPr id="16" name="Text 13"/>
          <p:cNvSpPr/>
          <p:nvPr/>
        </p:nvSpPr>
        <p:spPr>
          <a:xfrm>
            <a:off x="12515950" y="133350"/>
            <a:ext cx="1142901"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1</a:t>
            </a:r>
            <a:endParaRPr lang="en-US" sz="2100" dirty="0"/>
          </a:p>
        </p:txBody>
      </p:sp>
      <p:sp>
        <p:nvSpPr>
          <p:cNvPr id="17" name="Shape 14"/>
          <p:cNvSpPr/>
          <p:nvPr/>
        </p:nvSpPr>
        <p:spPr>
          <a:xfrm>
            <a:off x="1657350" y="1219200"/>
            <a:ext cx="11925300" cy="66675"/>
          </a:xfrm>
          <a:prstGeom prst="rect">
            <a:avLst/>
          </a:prstGeom>
          <a:solidFill>
            <a:srgbClr val="000000"/>
          </a:solidFill>
          <a:ln/>
        </p:spPr>
      </p:sp>
      <p:sp>
        <p:nvSpPr>
          <p:cNvPr id="18" name="Text 15"/>
          <p:cNvSpPr/>
          <p:nvPr/>
        </p:nvSpPr>
        <p:spPr>
          <a:xfrm>
            <a:off x="1809750" y="1571625"/>
            <a:ext cx="4142105" cy="323850"/>
          </a:xfrm>
          <a:prstGeom prst="rect">
            <a:avLst/>
          </a:prstGeom>
          <a:noFill/>
          <a:ln/>
        </p:spPr>
        <p:txBody>
          <a:bodyPr wrap="square" lIns="25400" tIns="25400" rIns="25400" bIns="25400" rtlCol="0" anchor="t">
            <a:normAutofit/>
          </a:bodyPr>
          <a:lstStyle/>
          <a:p>
            <a:pPr algn="l" indent="0" marL="0">
              <a:buNone/>
            </a:pPr>
            <a:r>
              <a:rPr lang="en-US" sz="1950" b="1" dirty="0">
                <a:solidFill>
                  <a:srgbClr val="000000"/>
                </a:solidFill>
                <a:latin typeface="Cascadia Mono" pitchFamily="34" charset="0"/>
                <a:ea typeface="Cascadia Mono" pitchFamily="34" charset="-122"/>
                <a:cs typeface="Cascadia Mono" pitchFamily="34" charset="-120"/>
              </a:rPr>
              <a:t>README.md</a:t>
            </a:r>
            <a:endParaRPr lang="en-US" sz="1950" dirty="0"/>
          </a:p>
        </p:txBody>
      </p:sp>
      <p:sp>
        <p:nvSpPr>
          <p:cNvPr id="19" name="Text 16"/>
          <p:cNvSpPr/>
          <p:nvPr/>
        </p:nvSpPr>
        <p:spPr>
          <a:xfrm>
            <a:off x="1809750" y="1990725"/>
            <a:ext cx="3878517" cy="952500"/>
          </a:xfrm>
          <a:prstGeom prst="rect">
            <a:avLst/>
          </a:prstGeom>
          <a:noFill/>
          <a:ln/>
        </p:spPr>
        <p:txBody>
          <a:bodyPr wrap="square" lIns="25400" tIns="25400" rIns="25400" bIns="25400" rtlCol="0" anchor="t">
            <a:normAutofit/>
          </a:bodyPr>
          <a:lstStyle/>
          <a:p>
            <a:pPr algn="l" indent="0" marL="0">
              <a:lnSpc>
                <a:spcPct val="101250"/>
              </a:lnSpc>
              <a:buNone/>
            </a:pPr>
            <a:r>
              <a:rPr lang="en-US" sz="1800" dirty="0">
                <a:solidFill>
                  <a:srgbClr val="404040"/>
                </a:solidFill>
                <a:latin typeface="Segoe UI" pitchFamily="34" charset="0"/>
                <a:ea typeface="Segoe UI" pitchFamily="34" charset="-122"/>
                <a:cs typeface="Segoe UI" pitchFamily="34" charset="-120"/>
              </a:rPr>
              <a:t>What it is and how to run it. Shown on the repo’s GitHub page.</a:t>
            </a:r>
            <a:endParaRPr lang="en-US" sz="1800" dirty="0"/>
          </a:p>
        </p:txBody>
      </p:sp>
      <p:sp>
        <p:nvSpPr>
          <p:cNvPr id="20" name="Shape 17"/>
          <p:cNvSpPr/>
          <p:nvPr/>
        </p:nvSpPr>
        <p:spPr>
          <a:xfrm>
            <a:off x="1809750" y="3038475"/>
            <a:ext cx="3765550" cy="4953000"/>
          </a:xfrm>
          <a:prstGeom prst="roundRect">
            <a:avLst>
              <a:gd name="adj" fmla="val 3035"/>
            </a:avLst>
          </a:prstGeom>
          <a:solidFill>
            <a:srgbClr val="1E1E1E"/>
          </a:solidFill>
          <a:ln/>
        </p:spPr>
      </p:sp>
      <p:sp>
        <p:nvSpPr>
          <p:cNvPr id="21" name="Text 18"/>
          <p:cNvSpPr/>
          <p:nvPr/>
        </p:nvSpPr>
        <p:spPr>
          <a:xfrm>
            <a:off x="2019300" y="3228975"/>
            <a:ext cx="3459417" cy="4610100"/>
          </a:xfrm>
          <a:prstGeom prst="rect">
            <a:avLst/>
          </a:prstGeom>
          <a:noFill/>
          <a:ln/>
        </p:spPr>
        <p:txBody>
          <a:bodyPr wrap="none" lIns="25400" tIns="25400" rIns="25400" bIns="25400" rtlCol="0" anchor="t">
            <a:normAutofit/>
          </a:bodyPr>
          <a:lstStyle/>
          <a:p>
            <a:pPr algn="l" indent="0" marL="0">
              <a:lnSpc>
                <a:spcPct val="140000"/>
              </a:lnSpc>
              <a:buNone/>
            </a:pPr>
            <a:r>
              <a:rPr lang="en-US" sz="1575" dirty="0">
                <a:solidFill>
                  <a:srgbClr val="D4D4D4"/>
                </a:solidFill>
                <a:latin typeface="Cascadia Mono" pitchFamily="34" charset="0"/>
                <a:ea typeface="Cascadia Mono" pitchFamily="34" charset="-122"/>
                <a:cs typeface="Cascadia Mono" pitchFamily="34" charset="-120"/>
              </a:rPr>
              <a:t># beam-calc</a:t>
            </a:r>
            <a:endParaRPr lang="en-US" sz="1575" dirty="0"/>
          </a:p>
          <a:p>
            <a:pPr algn="l" indent="0" marL="0">
              <a:lnSpc>
                <a:spcPct val="140000"/>
              </a:lnSpc>
              <a:buNone/>
            </a:pPr>
            <a:r>
              <a:rPr lang="en-US" sz="1575" dirty="0">
                <a:solidFill>
                  <a:srgbClr val="D4D4D4"/>
                </a:solidFill>
                <a:latin typeface="Cascadia Mono" pitchFamily="34" charset="0"/>
                <a:ea typeface="Cascadia Mono" pitchFamily="34" charset="-122"/>
                <a:cs typeface="Cascadia Mono" pitchFamily="34" charset="-120"/>
              </a:rPr>
              <a:t>Cantilever tip deflection.</a:t>
            </a:r>
            <a:endParaRPr lang="en-US" sz="1575" dirty="0"/>
          </a:p>
          <a:p>
            <a:pPr algn="l" indent="0" marL="0">
              <a:lnSpc>
                <a:spcPct val="140000"/>
              </a:lnSpc>
              <a:buNone/>
            </a:pPr>
            <a:endParaRPr lang="en-US" sz="1575" dirty="0"/>
          </a:p>
          <a:p>
            <a:pPr algn="l" indent="0" marL="0">
              <a:lnSpc>
                <a:spcPct val="140000"/>
              </a:lnSpc>
              <a:buNone/>
            </a:pPr>
            <a:r>
              <a:rPr lang="en-US" sz="1575" dirty="0">
                <a:solidFill>
                  <a:srgbClr val="D4D4D4"/>
                </a:solidFill>
                <a:latin typeface="Cascadia Mono" pitchFamily="34" charset="0"/>
                <a:ea typeface="Cascadia Mono" pitchFamily="34" charset="-122"/>
                <a:cs typeface="Cascadia Mono" pitchFamily="34" charset="-120"/>
              </a:rPr>
              <a:t>## Run</a:t>
            </a:r>
            <a:endParaRPr lang="en-US" sz="1575" dirty="0"/>
          </a:p>
          <a:p>
            <a:pPr algn="l" indent="0" marL="0">
              <a:lnSpc>
                <a:spcPct val="140000"/>
              </a:lnSpc>
              <a:buNone/>
            </a:pPr>
            <a:r>
              <a:rPr lang="en-US" sz="1575" dirty="0">
                <a:solidFill>
                  <a:srgbClr val="D4D4D4"/>
                </a:solidFill>
                <a:latin typeface="Cascadia Mono" pitchFamily="34" charset="0"/>
                <a:ea typeface="Cascadia Mono" pitchFamily="34" charset="-122"/>
                <a:cs typeface="Cascadia Mono" pitchFamily="34" charset="-120"/>
              </a:rPr>
              <a:t>In MATLAB: beam</a:t>
            </a:r>
            <a:endParaRPr lang="en-US" sz="1575" dirty="0"/>
          </a:p>
          <a:p>
            <a:pPr algn="l" indent="0" marL="0">
              <a:lnSpc>
                <a:spcPct val="140000"/>
              </a:lnSpc>
              <a:buNone/>
            </a:pPr>
            <a:endParaRPr lang="en-US" sz="1575" dirty="0"/>
          </a:p>
          <a:p>
            <a:pPr algn="l" indent="0" marL="0">
              <a:lnSpc>
                <a:spcPct val="140000"/>
              </a:lnSpc>
              <a:buNone/>
            </a:pPr>
            <a:r>
              <a:rPr lang="en-US" sz="1575" dirty="0">
                <a:solidFill>
                  <a:srgbClr val="D4D4D4"/>
                </a:solidFill>
                <a:latin typeface="Cascadia Mono" pitchFamily="34" charset="0"/>
                <a:ea typeface="Cascadia Mono" pitchFamily="34" charset="-122"/>
                <a:cs typeface="Cascadia Mono" pitchFamily="34" charset="-120"/>
              </a:rPr>
              <a:t>## Test</a:t>
            </a:r>
            <a:endParaRPr lang="en-US" sz="1575" dirty="0"/>
          </a:p>
          <a:p>
            <a:pPr algn="l" indent="0" marL="0">
              <a:lnSpc>
                <a:spcPct val="140000"/>
              </a:lnSpc>
              <a:buNone/>
            </a:pPr>
            <a:r>
              <a:rPr lang="en-US" sz="1575" dirty="0">
                <a:solidFill>
                  <a:srgbClr val="D4D4D4"/>
                </a:solidFill>
                <a:latin typeface="Cascadia Mono" pitchFamily="34" charset="0"/>
                <a:ea typeface="Cascadia Mono" pitchFamily="34" charset="-122"/>
                <a:cs typeface="Cascadia Mono" pitchFamily="34" charset="-120"/>
              </a:rPr>
              <a:t>runtests('tests')</a:t>
            </a:r>
            <a:endParaRPr lang="en-US" sz="1575" dirty="0"/>
          </a:p>
          <a:p>
            <a:pPr algn="l" indent="0" marL="0">
              <a:lnSpc>
                <a:spcPct val="140000"/>
              </a:lnSpc>
              <a:buNone/>
            </a:pPr>
            <a:endParaRPr lang="en-US" sz="1575" dirty="0"/>
          </a:p>
          <a:p>
            <a:pPr algn="l" indent="0" marL="0">
              <a:lnSpc>
                <a:spcPct val="140000"/>
              </a:lnSpc>
              <a:buNone/>
            </a:pPr>
            <a:r>
              <a:rPr lang="en-US" sz="1575" dirty="0">
                <a:solidFill>
                  <a:srgbClr val="D4D4D4"/>
                </a:solidFill>
                <a:latin typeface="Cascadia Mono" pitchFamily="34" charset="0"/>
                <a:ea typeface="Cascadia Mono" pitchFamily="34" charset="-122"/>
                <a:cs typeface="Cascadia Mono" pitchFamily="34" charset="-120"/>
              </a:rPr>
              <a:t>Units: SI throughout.</a:t>
            </a:r>
            <a:endParaRPr lang="en-US" sz="1575" dirty="0"/>
          </a:p>
        </p:txBody>
      </p:sp>
      <p:sp>
        <p:nvSpPr>
          <p:cNvPr id="22" name="Text 19"/>
          <p:cNvSpPr/>
          <p:nvPr/>
        </p:nvSpPr>
        <p:spPr>
          <a:xfrm>
            <a:off x="5765800" y="1571625"/>
            <a:ext cx="4142105" cy="323850"/>
          </a:xfrm>
          <a:prstGeom prst="rect">
            <a:avLst/>
          </a:prstGeom>
          <a:noFill/>
          <a:ln/>
        </p:spPr>
        <p:txBody>
          <a:bodyPr wrap="square" lIns="25400" tIns="25400" rIns="25400" bIns="25400" rtlCol="0" anchor="t">
            <a:normAutofit/>
          </a:bodyPr>
          <a:lstStyle/>
          <a:p>
            <a:pPr algn="l" indent="0" marL="0">
              <a:buNone/>
            </a:pPr>
            <a:r>
              <a:rPr lang="en-US" sz="1950" b="1" dirty="0">
                <a:solidFill>
                  <a:srgbClr val="000000"/>
                </a:solidFill>
                <a:latin typeface="Cascadia Mono" pitchFamily="34" charset="0"/>
                <a:ea typeface="Cascadia Mono" pitchFamily="34" charset="-122"/>
                <a:cs typeface="Cascadia Mono" pitchFamily="34" charset="-120"/>
              </a:rPr>
              <a:t>.gitignore</a:t>
            </a:r>
            <a:endParaRPr lang="en-US" sz="1950" dirty="0"/>
          </a:p>
        </p:txBody>
      </p:sp>
      <p:sp>
        <p:nvSpPr>
          <p:cNvPr id="23" name="Text 20"/>
          <p:cNvSpPr/>
          <p:nvPr/>
        </p:nvSpPr>
        <p:spPr>
          <a:xfrm>
            <a:off x="5765800" y="1990725"/>
            <a:ext cx="3878517" cy="952500"/>
          </a:xfrm>
          <a:prstGeom prst="rect">
            <a:avLst/>
          </a:prstGeom>
          <a:noFill/>
          <a:ln/>
        </p:spPr>
        <p:txBody>
          <a:bodyPr wrap="square" lIns="25400" tIns="25400" rIns="25400" bIns="25400" rtlCol="0" anchor="t">
            <a:normAutofit/>
          </a:bodyPr>
          <a:lstStyle/>
          <a:p>
            <a:pPr algn="l" indent="0" marL="0">
              <a:lnSpc>
                <a:spcPct val="101250"/>
              </a:lnSpc>
              <a:buNone/>
            </a:pPr>
            <a:r>
              <a:rPr lang="en-US" sz="1800" dirty="0">
                <a:solidFill>
                  <a:srgbClr val="404040"/>
                </a:solidFill>
                <a:latin typeface="Segoe UI" pitchFamily="34" charset="0"/>
                <a:ea typeface="Segoe UI" pitchFamily="34" charset="-122"/>
                <a:cs typeface="Segoe UI" pitchFamily="34" charset="-120"/>
              </a:rPr>
              <a:t>Files Git should never track: outputs, data, secrets.</a:t>
            </a:r>
            <a:endParaRPr lang="en-US" sz="1800" dirty="0"/>
          </a:p>
        </p:txBody>
      </p:sp>
      <p:sp>
        <p:nvSpPr>
          <p:cNvPr id="24" name="Shape 21"/>
          <p:cNvSpPr/>
          <p:nvPr/>
        </p:nvSpPr>
        <p:spPr>
          <a:xfrm>
            <a:off x="5765800" y="3038475"/>
            <a:ext cx="3765550" cy="4953000"/>
          </a:xfrm>
          <a:prstGeom prst="roundRect">
            <a:avLst>
              <a:gd name="adj" fmla="val 3035"/>
            </a:avLst>
          </a:prstGeom>
          <a:solidFill>
            <a:srgbClr val="1E1E1E"/>
          </a:solidFill>
          <a:ln/>
        </p:spPr>
      </p:sp>
      <p:sp>
        <p:nvSpPr>
          <p:cNvPr id="25" name="Text 22"/>
          <p:cNvSpPr/>
          <p:nvPr/>
        </p:nvSpPr>
        <p:spPr>
          <a:xfrm>
            <a:off x="5975350" y="3228975"/>
            <a:ext cx="3459417" cy="4610100"/>
          </a:xfrm>
          <a:prstGeom prst="rect">
            <a:avLst/>
          </a:prstGeom>
          <a:noFill/>
          <a:ln/>
        </p:spPr>
        <p:txBody>
          <a:bodyPr wrap="none" lIns="25400" tIns="25400" rIns="25400" bIns="25400" rtlCol="0" anchor="t">
            <a:normAutofit/>
          </a:bodyPr>
          <a:lstStyle/>
          <a:p>
            <a:pPr algn="l" indent="0" marL="0">
              <a:lnSpc>
                <a:spcPct val="140000"/>
              </a:lnSpc>
              <a:buNone/>
            </a:pPr>
            <a:r>
              <a:rPr lang="en-US" sz="1575" dirty="0">
                <a:solidFill>
                  <a:srgbClr val="6A9955"/>
                </a:solidFill>
                <a:latin typeface="Cascadia Mono" pitchFamily="34" charset="0"/>
                <a:ea typeface="Cascadia Mono" pitchFamily="34" charset="-122"/>
                <a:cs typeface="Cascadia Mono" pitchFamily="34" charset="-120"/>
              </a:rPr>
              <a:t># MATLAB </a:t>
            </a:r>
            <a:pPr algn="l" indent="0" marL="0">
              <a:lnSpc>
                <a:spcPct val="140000"/>
              </a:lnSpc>
              <a:buNone/>
            </a:pPr>
            <a:r>
              <a:rPr lang="en-US" sz="1575" dirty="0">
                <a:solidFill>
                  <a:srgbClr val="D4D4D4"/>
                </a:solidFill>
                <a:highlight>
                  <a:srgbClr val="1E1E1E"/>
                </a:highlight>
                <a:latin typeface="Cascadia Mono" pitchFamily="34" charset="0"/>
                <a:ea typeface="Cascadia Mono" pitchFamily="34" charset="-122"/>
                <a:cs typeface="Cascadia Mono" pitchFamily="34" charset="-120"/>
              </a:rPr>
              <a:t>*.asv</a:t>
            </a:r>
            <a:endParaRPr lang="en-US" sz="1575" dirty="0"/>
          </a:p>
          <a:p>
            <a:pPr algn="l" indent="0" marL="0">
              <a:lnSpc>
                <a:spcPct val="140000"/>
              </a:lnSpc>
              <a:buNone/>
            </a:pPr>
            <a:r>
              <a:rPr lang="en-US" sz="1575" dirty="0">
                <a:solidFill>
                  <a:srgbClr val="D4D4D4"/>
                </a:solidFill>
                <a:highlight>
                  <a:srgbClr val="1E1E1E"/>
                </a:highlight>
                <a:latin typeface="Cascadia Mono" pitchFamily="34" charset="0"/>
                <a:ea typeface="Cascadia Mono" pitchFamily="34" charset="-122"/>
                <a:cs typeface="Cascadia Mono" pitchFamily="34" charset="-120"/>
              </a:rPr>
              <a:t>*.mex*</a:t>
            </a:r>
            <a:endParaRPr lang="en-US" sz="1575" dirty="0"/>
          </a:p>
          <a:p>
            <a:pPr algn="l" indent="0" marL="0">
              <a:lnSpc>
                <a:spcPct val="140000"/>
              </a:lnSpc>
              <a:buNone/>
            </a:pPr>
            <a:r>
              <a:rPr lang="en-US" sz="1575" dirty="0">
                <a:solidFill>
                  <a:srgbClr val="D4D4D4"/>
                </a:solidFill>
                <a:highlight>
                  <a:srgbClr val="1E1E1E"/>
                </a:highlight>
                <a:latin typeface="Cascadia Mono" pitchFamily="34" charset="0"/>
                <a:ea typeface="Cascadia Mono" pitchFamily="34" charset="-122"/>
                <a:cs typeface="Cascadia Mono" pitchFamily="34" charset="-120"/>
              </a:rPr>
              <a:t>slprj/</a:t>
            </a:r>
            <a:endParaRPr lang="en-US" sz="1575" dirty="0"/>
          </a:p>
          <a:p>
            <a:pPr algn="l" indent="0" marL="0">
              <a:lnSpc>
                <a:spcPct val="140000"/>
              </a:lnSpc>
              <a:buNone/>
            </a:pPr>
            <a:r>
              <a:rPr lang="en-US" sz="1575" dirty="0">
                <a:solidFill>
                  <a:srgbClr val="D4D4D4"/>
                </a:solidFill>
                <a:highlight>
                  <a:srgbClr val="1E1E1E"/>
                </a:highlight>
                <a:latin typeface="Cascadia Mono" pitchFamily="34" charset="0"/>
                <a:ea typeface="Cascadia Mono" pitchFamily="34" charset="-122"/>
                <a:cs typeface="Cascadia Mono" pitchFamily="34" charset="-120"/>
              </a:rPr>
              <a:t>codegen/ </a:t>
            </a:r>
            <a:endParaRPr lang="en-US" sz="1575" dirty="0"/>
          </a:p>
          <a:p>
            <a:pPr algn="l" indent="0" marL="0">
              <a:lnSpc>
                <a:spcPct val="140000"/>
              </a:lnSpc>
              <a:buNone/>
            </a:pPr>
            <a:r>
              <a:rPr lang="en-US" sz="1575" dirty="0">
                <a:solidFill>
                  <a:srgbClr val="6A9955"/>
                </a:solidFill>
                <a:latin typeface="Cascadia Mono" pitchFamily="34" charset="0"/>
                <a:ea typeface="Cascadia Mono" pitchFamily="34" charset="-122"/>
                <a:cs typeface="Cascadia Mono" pitchFamily="34" charset="-120"/>
              </a:rPr>
              <a:t># Outputs and data </a:t>
            </a:r>
            <a:pPr algn="l" indent="0" marL="0">
              <a:lnSpc>
                <a:spcPct val="140000"/>
              </a:lnSpc>
              <a:buNone/>
            </a:pPr>
            <a:r>
              <a:rPr lang="en-US" sz="1575" dirty="0">
                <a:solidFill>
                  <a:srgbClr val="D4D4D4"/>
                </a:solidFill>
                <a:highlight>
                  <a:srgbClr val="1E1E1E"/>
                </a:highlight>
                <a:latin typeface="Cascadia Mono" pitchFamily="34" charset="0"/>
                <a:ea typeface="Cascadia Mono" pitchFamily="34" charset="-122"/>
                <a:cs typeface="Cascadia Mono" pitchFamily="34" charset="-120"/>
              </a:rPr>
              <a:t>results/</a:t>
            </a:r>
            <a:endParaRPr lang="en-US" sz="1575" dirty="0"/>
          </a:p>
          <a:p>
            <a:pPr algn="l" indent="0" marL="0">
              <a:lnSpc>
                <a:spcPct val="140000"/>
              </a:lnSpc>
              <a:buNone/>
            </a:pPr>
            <a:r>
              <a:rPr lang="en-US" sz="1575" dirty="0">
                <a:solidFill>
                  <a:srgbClr val="D4D4D4"/>
                </a:solidFill>
                <a:highlight>
                  <a:srgbClr val="1E1E1E"/>
                </a:highlight>
                <a:latin typeface="Cascadia Mono" pitchFamily="34" charset="0"/>
                <a:ea typeface="Cascadia Mono" pitchFamily="34" charset="-122"/>
                <a:cs typeface="Cascadia Mono" pitchFamily="34" charset="-120"/>
              </a:rPr>
              <a:t>data/raw/ </a:t>
            </a:r>
            <a:endParaRPr lang="en-US" sz="1575" dirty="0"/>
          </a:p>
          <a:p>
            <a:pPr algn="l" indent="0" marL="0">
              <a:lnSpc>
                <a:spcPct val="140000"/>
              </a:lnSpc>
              <a:buNone/>
            </a:pPr>
            <a:r>
              <a:rPr lang="en-US" sz="1575" dirty="0">
                <a:solidFill>
                  <a:srgbClr val="6A9955"/>
                </a:solidFill>
                <a:latin typeface="Cascadia Mono" pitchFamily="34" charset="0"/>
                <a:ea typeface="Cascadia Mono" pitchFamily="34" charset="-122"/>
                <a:cs typeface="Cascadia Mono" pitchFamily="34" charset="-120"/>
              </a:rPr>
              <a:t># Secrets </a:t>
            </a:r>
            <a:pPr algn="l" indent="0" marL="0">
              <a:lnSpc>
                <a:spcPct val="140000"/>
              </a:lnSpc>
              <a:buNone/>
            </a:pPr>
            <a:r>
              <a:rPr lang="en-US" sz="1575" dirty="0">
                <a:solidFill>
                  <a:srgbClr val="D4D4D4"/>
                </a:solidFill>
                <a:highlight>
                  <a:srgbClr val="1E1E1E"/>
                </a:highlight>
                <a:latin typeface="Cascadia Mono" pitchFamily="34" charset="0"/>
                <a:ea typeface="Cascadia Mono" pitchFamily="34" charset="-122"/>
                <a:cs typeface="Cascadia Mono" pitchFamily="34" charset="-120"/>
              </a:rPr>
              <a:t>.env</a:t>
            </a:r>
            <a:endParaRPr lang="en-US" sz="1575" dirty="0"/>
          </a:p>
        </p:txBody>
      </p:sp>
      <p:sp>
        <p:nvSpPr>
          <p:cNvPr id="26" name="Text 23"/>
          <p:cNvSpPr/>
          <p:nvPr/>
        </p:nvSpPr>
        <p:spPr>
          <a:xfrm>
            <a:off x="9721850" y="1571625"/>
            <a:ext cx="4142105" cy="323850"/>
          </a:xfrm>
          <a:prstGeom prst="rect">
            <a:avLst/>
          </a:prstGeom>
          <a:noFill/>
          <a:ln/>
        </p:spPr>
        <p:txBody>
          <a:bodyPr wrap="square" lIns="25400" tIns="25400" rIns="25400" bIns="25400" rtlCol="0" anchor="t">
            <a:normAutofit/>
          </a:bodyPr>
          <a:lstStyle/>
          <a:p>
            <a:pPr algn="l" indent="0" marL="0">
              <a:buNone/>
            </a:pPr>
            <a:r>
              <a:rPr lang="en-US" sz="1950" b="1" dirty="0">
                <a:solidFill>
                  <a:srgbClr val="000000"/>
                </a:solidFill>
                <a:latin typeface="Cascadia Mono" pitchFamily="34" charset="0"/>
                <a:ea typeface="Cascadia Mono" pitchFamily="34" charset="-122"/>
                <a:cs typeface="Cascadia Mono" pitchFamily="34" charset="-120"/>
              </a:rPr>
              <a:t>AGENTS.md</a:t>
            </a:r>
            <a:endParaRPr lang="en-US" sz="1950" dirty="0"/>
          </a:p>
        </p:txBody>
      </p:sp>
      <p:sp>
        <p:nvSpPr>
          <p:cNvPr id="27" name="Text 24"/>
          <p:cNvSpPr/>
          <p:nvPr/>
        </p:nvSpPr>
        <p:spPr>
          <a:xfrm>
            <a:off x="9721850" y="1990725"/>
            <a:ext cx="3878517" cy="963811"/>
          </a:xfrm>
          <a:prstGeom prst="rect">
            <a:avLst/>
          </a:prstGeom>
          <a:noFill/>
          <a:ln/>
        </p:spPr>
        <p:txBody>
          <a:bodyPr wrap="square" lIns="25400" tIns="25400" rIns="25400" bIns="25400" rtlCol="0" anchor="t">
            <a:normAutofit/>
          </a:bodyPr>
          <a:lstStyle/>
          <a:p>
            <a:pPr algn="l" indent="0" marL="0">
              <a:lnSpc>
                <a:spcPct val="101250"/>
              </a:lnSpc>
              <a:buNone/>
            </a:pPr>
            <a:r>
              <a:rPr lang="en-US" sz="1800" dirty="0">
                <a:solidFill>
                  <a:srgbClr val="404040"/>
                </a:solidFill>
                <a:latin typeface="Segoe UI" pitchFamily="34" charset="0"/>
                <a:ea typeface="Segoe UI" pitchFamily="34" charset="-122"/>
                <a:cs typeface="Segoe UI" pitchFamily="34" charset="-120"/>
              </a:rPr>
              <a:t>Standing instructions Codex reads before every task. Covered in Lesson 2.</a:t>
            </a:r>
            <a:endParaRPr lang="en-US" sz="1800" dirty="0"/>
          </a:p>
        </p:txBody>
      </p:sp>
      <p:sp>
        <p:nvSpPr>
          <p:cNvPr id="28" name="Shape 25"/>
          <p:cNvSpPr/>
          <p:nvPr/>
        </p:nvSpPr>
        <p:spPr>
          <a:xfrm>
            <a:off x="9721850" y="3049786"/>
            <a:ext cx="3765550" cy="4953000"/>
          </a:xfrm>
          <a:prstGeom prst="roundRect">
            <a:avLst>
              <a:gd name="adj" fmla="val 3035"/>
            </a:avLst>
          </a:prstGeom>
          <a:solidFill>
            <a:srgbClr val="1E1E1E"/>
          </a:solidFill>
          <a:ln/>
        </p:spPr>
      </p:sp>
      <p:sp>
        <p:nvSpPr>
          <p:cNvPr id="29" name="Text 26"/>
          <p:cNvSpPr/>
          <p:nvPr/>
        </p:nvSpPr>
        <p:spPr>
          <a:xfrm>
            <a:off x="9931400" y="3240286"/>
            <a:ext cx="3459417" cy="4610100"/>
          </a:xfrm>
          <a:prstGeom prst="rect">
            <a:avLst/>
          </a:prstGeom>
          <a:noFill/>
          <a:ln/>
        </p:spPr>
        <p:txBody>
          <a:bodyPr wrap="none" lIns="25400" tIns="25400" rIns="25400" bIns="25400" rtlCol="0" anchor="t">
            <a:normAutofit/>
          </a:bodyPr>
          <a:lstStyle/>
          <a:p>
            <a:pPr algn="l" indent="0" marL="0">
              <a:lnSpc>
                <a:spcPct val="140000"/>
              </a:lnSpc>
              <a:buNone/>
            </a:pPr>
            <a:r>
              <a:rPr lang="en-US" sz="1575" dirty="0">
                <a:solidFill>
                  <a:srgbClr val="D4D4D4"/>
                </a:solidFill>
                <a:latin typeface="Cascadia Mono" pitchFamily="34" charset="0"/>
                <a:ea typeface="Cascadia Mono" pitchFamily="34" charset="-122"/>
                <a:cs typeface="Cascadia Mono" pitchFamily="34" charset="-120"/>
              </a:rPr>
              <a:t># AGENTS.md</a:t>
            </a:r>
            <a:endParaRPr lang="en-US" sz="1575" dirty="0"/>
          </a:p>
          <a:p>
            <a:pPr algn="l" indent="0" marL="0">
              <a:lnSpc>
                <a:spcPct val="140000"/>
              </a:lnSpc>
              <a:buNone/>
            </a:pPr>
            <a:r>
              <a:rPr lang="en-US" sz="1575" dirty="0">
                <a:solidFill>
                  <a:srgbClr val="D4D4D4"/>
                </a:solidFill>
                <a:latin typeface="Cascadia Mono" pitchFamily="34" charset="0"/>
                <a:ea typeface="Cascadia Mono" pitchFamily="34" charset="-122"/>
                <a:cs typeface="Cascadia Mono" pitchFamily="34" charset="-120"/>
              </a:rPr>
              <a:t>## Project</a:t>
            </a:r>
            <a:endParaRPr lang="en-US" sz="1575" dirty="0"/>
          </a:p>
          <a:p>
            <a:pPr algn="l" indent="0" marL="0">
              <a:lnSpc>
                <a:spcPct val="140000"/>
              </a:lnSpc>
              <a:buNone/>
            </a:pPr>
            <a:r>
              <a:rPr lang="en-US" sz="1575" dirty="0">
                <a:solidFill>
                  <a:srgbClr val="D4D4D4"/>
                </a:solidFill>
                <a:latin typeface="Cascadia Mono" pitchFamily="34" charset="0"/>
                <a:ea typeface="Cascadia Mono" pitchFamily="34" charset="-122"/>
                <a:cs typeface="Cascadia Mono" pitchFamily="34" charset="-120"/>
              </a:rPr>
              <a:t>MATLAB R2024b,</a:t>
            </a:r>
            <a:endParaRPr lang="en-US" sz="1575" dirty="0"/>
          </a:p>
          <a:p>
            <a:pPr algn="l" indent="0" marL="0">
              <a:lnSpc>
                <a:spcPct val="140000"/>
              </a:lnSpc>
              <a:buNone/>
            </a:pPr>
            <a:r>
              <a:rPr lang="en-US" sz="1575" dirty="0">
                <a:solidFill>
                  <a:srgbClr val="D4D4D4"/>
                </a:solidFill>
                <a:latin typeface="Cascadia Mono" pitchFamily="34" charset="0"/>
                <a:ea typeface="Cascadia Mono" pitchFamily="34" charset="-122"/>
                <a:cs typeface="Cascadia Mono" pitchFamily="34" charset="-120"/>
              </a:rPr>
              <a:t>no extra toolboxes.</a:t>
            </a:r>
            <a:endParaRPr lang="en-US" sz="1575" dirty="0"/>
          </a:p>
          <a:p>
            <a:pPr algn="l" indent="0" marL="0">
              <a:lnSpc>
                <a:spcPct val="140000"/>
              </a:lnSpc>
              <a:buNone/>
            </a:pPr>
            <a:endParaRPr lang="en-US" sz="1575" dirty="0"/>
          </a:p>
          <a:p>
            <a:pPr algn="l" indent="0" marL="0">
              <a:lnSpc>
                <a:spcPct val="140000"/>
              </a:lnSpc>
              <a:buNone/>
            </a:pPr>
            <a:r>
              <a:rPr lang="en-US" sz="1575" dirty="0">
                <a:solidFill>
                  <a:srgbClr val="D4D4D4"/>
                </a:solidFill>
                <a:latin typeface="Cascadia Mono" pitchFamily="34" charset="0"/>
                <a:ea typeface="Cascadia Mono" pitchFamily="34" charset="-122"/>
                <a:cs typeface="Cascadia Mono" pitchFamily="34" charset="-120"/>
              </a:rPr>
              <a:t>## Conventions</a:t>
            </a:r>
            <a:endParaRPr lang="en-US" sz="1575" dirty="0"/>
          </a:p>
          <a:p>
            <a:pPr algn="l" indent="0" marL="0">
              <a:lnSpc>
                <a:spcPct val="140000"/>
              </a:lnSpc>
              <a:buNone/>
            </a:pPr>
            <a:r>
              <a:rPr lang="en-US" sz="1575" dirty="0">
                <a:solidFill>
                  <a:srgbClr val="D4D4D4"/>
                </a:solidFill>
                <a:latin typeface="Cascadia Mono" pitchFamily="34" charset="0"/>
                <a:ea typeface="Cascadia Mono" pitchFamily="34" charset="-122"/>
                <a:cs typeface="Cascadia Mono" pitchFamily="34" charset="-120"/>
              </a:rPr>
              <a:t>- SI units; comment</a:t>
            </a:r>
            <a:endParaRPr lang="en-US" sz="1575" dirty="0"/>
          </a:p>
          <a:p>
            <a:pPr algn="l" indent="0" marL="0">
              <a:lnSpc>
                <a:spcPct val="140000"/>
              </a:lnSpc>
              <a:buNone/>
            </a:pPr>
            <a:r>
              <a:rPr lang="en-US" sz="1575" dirty="0">
                <a:solidFill>
                  <a:srgbClr val="D4D4D4"/>
                </a:solidFill>
                <a:latin typeface="Cascadia Mono" pitchFamily="34" charset="0"/>
                <a:ea typeface="Cascadia Mono" pitchFamily="34" charset="-122"/>
                <a:cs typeface="Cascadia Mono" pitchFamily="34" charset="-120"/>
              </a:rPr>
              <a:t>  units on every constant.</a:t>
            </a:r>
            <a:endParaRPr lang="en-US" sz="1575" dirty="0"/>
          </a:p>
          <a:p>
            <a:pPr algn="l" indent="0" marL="0">
              <a:lnSpc>
                <a:spcPct val="140000"/>
              </a:lnSpc>
              <a:buNone/>
            </a:pPr>
            <a:endParaRPr lang="en-US" sz="1575" dirty="0"/>
          </a:p>
          <a:p>
            <a:pPr algn="l" indent="0" marL="0">
              <a:lnSpc>
                <a:spcPct val="140000"/>
              </a:lnSpc>
              <a:buNone/>
            </a:pPr>
            <a:r>
              <a:rPr lang="en-US" sz="1575" dirty="0">
                <a:solidFill>
                  <a:srgbClr val="D4D4D4"/>
                </a:solidFill>
                <a:latin typeface="Cascadia Mono" pitchFamily="34" charset="0"/>
                <a:ea typeface="Cascadia Mono" pitchFamily="34" charset="-122"/>
                <a:cs typeface="Cascadia Mono" pitchFamily="34" charset="-120"/>
              </a:rPr>
              <a:t>## Before committing</a:t>
            </a:r>
            <a:endParaRPr lang="en-US" sz="1575" dirty="0"/>
          </a:p>
          <a:p>
            <a:pPr algn="l" indent="0" marL="0">
              <a:lnSpc>
                <a:spcPct val="140000"/>
              </a:lnSpc>
              <a:buNone/>
            </a:pPr>
            <a:r>
              <a:rPr lang="en-US" sz="1575" dirty="0">
                <a:solidFill>
                  <a:srgbClr val="D4D4D4"/>
                </a:solidFill>
                <a:latin typeface="Cascadia Mono" pitchFamily="34" charset="0"/>
                <a:ea typeface="Cascadia Mono" pitchFamily="34" charset="-122"/>
                <a:cs typeface="Cascadia Mono" pitchFamily="34" charset="-120"/>
              </a:rPr>
              <a:t>- Run runtests('tests')</a:t>
            </a:r>
            <a:endParaRPr lang="en-US" sz="1575" dirty="0"/>
          </a:p>
        </p:txBody>
      </p:sp>
      <p:sp>
        <p:nvSpPr>
          <p:cNvPr id="30" name="Text 27"/>
          <p:cNvSpPr/>
          <p:nvPr/>
        </p:nvSpPr>
        <p:spPr>
          <a:xfrm>
            <a:off x="1054418" y="9810750"/>
            <a:ext cx="13264515"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1</a:t>
            </a:r>
            <a:endParaRPr lang="en-US" sz="1800" dirty="0"/>
          </a:p>
        </p:txBody>
      </p:sp>
      <p:sp>
        <p:nvSpPr>
          <p:cNvPr id="31" name="Text 28"/>
          <p:cNvSpPr/>
          <p:nvPr/>
        </p:nvSpPr>
        <p:spPr>
          <a:xfrm>
            <a:off x="13336191" y="9810750"/>
            <a:ext cx="322659" cy="342900"/>
          </a:xfrm>
          <a:prstGeom prst="rect">
            <a:avLst/>
          </a:prstGeom>
          <a:noFill/>
          <a:ln/>
        </p:spPr>
        <p:txBody>
          <a:bodyPr wrap="square" lIns="25400" tIns="25400" rIns="25400" bIns="25400" rtlCol="0" anchor="t">
            <a:norm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18</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543050" cy="10287000"/>
          </a:xfrm>
          <a:prstGeom prst="rect">
            <a:avLst/>
          </a:prstGeom>
          <a:solidFill>
            <a:srgbClr val="E6E6E6"/>
          </a:solidFill>
          <a:ln/>
        </p:spPr>
      </p:sp>
      <p:pic>
        <p:nvPicPr>
          <p:cNvPr id="3" name="Image 0" descr="preencoded.png">    </p:cNvPr>
          <p:cNvPicPr>
            <a:picLocks noChangeAspect="1"/>
          </p:cNvPicPr>
          <p:nvPr/>
        </p:nvPicPr>
        <p:blipFill>
          <a:blip r:embed="rId1"/>
          <a:stretch>
            <a:fillRect/>
          </a:stretch>
        </p:blipFill>
        <p:spPr>
          <a:xfrm>
            <a:off x="200025" y="133350"/>
            <a:ext cx="1143000" cy="1143000"/>
          </a:xfrm>
          <a:prstGeom prst="rect">
            <a:avLst/>
          </a:prstGeom>
        </p:spPr>
      </p:pic>
      <p:sp>
        <p:nvSpPr>
          <p:cNvPr id="4" name="Text 1"/>
          <p:cNvSpPr/>
          <p:nvPr/>
        </p:nvSpPr>
        <p:spPr>
          <a:xfrm>
            <a:off x="133350" y="2381250"/>
            <a:ext cx="1529169"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Overview</a:t>
            </a:r>
            <a:endParaRPr lang="en-US" sz="1800" dirty="0"/>
          </a:p>
        </p:txBody>
      </p:sp>
      <p:sp>
        <p:nvSpPr>
          <p:cNvPr id="5" name="Text 2"/>
          <p:cNvSpPr/>
          <p:nvPr/>
        </p:nvSpPr>
        <p:spPr>
          <a:xfrm>
            <a:off x="133350" y="2762250"/>
            <a:ext cx="1529169"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Concepts</a:t>
            </a:r>
            <a:endParaRPr lang="en-US" sz="1800" dirty="0"/>
          </a:p>
        </p:txBody>
      </p:sp>
      <p:sp>
        <p:nvSpPr>
          <p:cNvPr id="6" name="Text 3"/>
          <p:cNvSpPr/>
          <p:nvPr/>
        </p:nvSpPr>
        <p:spPr>
          <a:xfrm>
            <a:off x="133350" y="3143250"/>
            <a:ext cx="1529169"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Setup</a:t>
            </a:r>
            <a:endParaRPr lang="en-US" sz="1800" dirty="0"/>
          </a:p>
        </p:txBody>
      </p:sp>
      <p:sp>
        <p:nvSpPr>
          <p:cNvPr id="7" name="Text 4"/>
          <p:cNvSpPr/>
          <p:nvPr/>
        </p:nvSpPr>
        <p:spPr>
          <a:xfrm>
            <a:off x="133350" y="3524250"/>
            <a:ext cx="1529169"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Clone</a:t>
            </a:r>
            <a:endParaRPr lang="en-US" sz="1800" dirty="0"/>
          </a:p>
        </p:txBody>
      </p:sp>
      <p:sp>
        <p:nvSpPr>
          <p:cNvPr id="8" name="Text 5"/>
          <p:cNvSpPr/>
          <p:nvPr/>
        </p:nvSpPr>
        <p:spPr>
          <a:xfrm>
            <a:off x="133350" y="3905250"/>
            <a:ext cx="1529169"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Commit</a:t>
            </a:r>
            <a:endParaRPr lang="en-US" sz="1800" dirty="0"/>
          </a:p>
        </p:txBody>
      </p:sp>
      <p:sp>
        <p:nvSpPr>
          <p:cNvPr id="9" name="Text 6"/>
          <p:cNvSpPr/>
          <p:nvPr/>
        </p:nvSpPr>
        <p:spPr>
          <a:xfrm>
            <a:off x="133350" y="4286250"/>
            <a:ext cx="1529169"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Sync</a:t>
            </a:r>
            <a:endParaRPr lang="en-US" sz="1800" dirty="0"/>
          </a:p>
        </p:txBody>
      </p:sp>
      <p:sp>
        <p:nvSpPr>
          <p:cNvPr id="10" name="Text 7"/>
          <p:cNvSpPr/>
          <p:nvPr/>
        </p:nvSpPr>
        <p:spPr>
          <a:xfrm>
            <a:off x="133350" y="4667250"/>
            <a:ext cx="1529169"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Branches</a:t>
            </a:r>
            <a:endParaRPr lang="en-US" sz="1800" dirty="0"/>
          </a:p>
        </p:txBody>
      </p:sp>
      <p:sp>
        <p:nvSpPr>
          <p:cNvPr id="11" name="Text 8"/>
          <p:cNvSpPr/>
          <p:nvPr/>
        </p:nvSpPr>
        <p:spPr>
          <a:xfrm>
            <a:off x="133350" y="5048250"/>
            <a:ext cx="1529169"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Conflicts</a:t>
            </a:r>
            <a:endParaRPr lang="en-US" sz="1800" dirty="0"/>
          </a:p>
        </p:txBody>
      </p:sp>
      <p:sp>
        <p:nvSpPr>
          <p:cNvPr id="12" name="Text 9"/>
          <p:cNvSpPr/>
          <p:nvPr/>
        </p:nvSpPr>
        <p:spPr>
          <a:xfrm>
            <a:off x="133350" y="5429250"/>
            <a:ext cx="1529169"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History</a:t>
            </a:r>
            <a:endParaRPr lang="en-US" sz="1800" dirty="0"/>
          </a:p>
        </p:txBody>
      </p:sp>
      <p:sp>
        <p:nvSpPr>
          <p:cNvPr id="13" name="Text 10"/>
          <p:cNvSpPr/>
          <p:nvPr/>
        </p:nvSpPr>
        <p:spPr>
          <a:xfrm>
            <a:off x="133350" y="5810250"/>
            <a:ext cx="1529169"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Agent-Ready</a:t>
            </a:r>
            <a:endParaRPr lang="en-US" sz="1800" dirty="0"/>
          </a:p>
        </p:txBody>
      </p:sp>
      <p:sp>
        <p:nvSpPr>
          <p:cNvPr id="14" name="Text 11"/>
          <p:cNvSpPr/>
          <p:nvPr/>
        </p:nvSpPr>
        <p:spPr>
          <a:xfrm>
            <a:off x="133350" y="6191250"/>
            <a:ext cx="1529169"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Review</a:t>
            </a:r>
            <a:endParaRPr lang="en-US" sz="1800" dirty="0"/>
          </a:p>
        </p:txBody>
      </p:sp>
      <p:sp>
        <p:nvSpPr>
          <p:cNvPr id="15" name="Text 12"/>
          <p:cNvSpPr/>
          <p:nvPr/>
        </p:nvSpPr>
        <p:spPr>
          <a:xfrm>
            <a:off x="1657350" y="200025"/>
            <a:ext cx="10988040" cy="1057275"/>
          </a:xfrm>
          <a:prstGeom prst="rect">
            <a:avLst/>
          </a:prstGeom>
          <a:noFill/>
          <a:ln/>
        </p:spPr>
        <p:txBody>
          <a:bodyPr wrap="square" lIns="25400" tIns="25400" rIns="25400" bIns="25400" rtlCol="0" anchor="ctr">
            <a:norm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Public vs. Private &amp; Data</a:t>
            </a:r>
            <a:endParaRPr lang="en-US" sz="4800" dirty="0"/>
          </a:p>
        </p:txBody>
      </p:sp>
      <p:sp>
        <p:nvSpPr>
          <p:cNvPr id="16" name="Text 13"/>
          <p:cNvSpPr/>
          <p:nvPr/>
        </p:nvSpPr>
        <p:spPr>
          <a:xfrm>
            <a:off x="12515950" y="133350"/>
            <a:ext cx="1142901"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1</a:t>
            </a:r>
            <a:endParaRPr lang="en-US" sz="2100" dirty="0"/>
          </a:p>
        </p:txBody>
      </p:sp>
      <p:sp>
        <p:nvSpPr>
          <p:cNvPr id="17" name="Shape 14"/>
          <p:cNvSpPr/>
          <p:nvPr/>
        </p:nvSpPr>
        <p:spPr>
          <a:xfrm>
            <a:off x="1657350" y="1219200"/>
            <a:ext cx="11925300" cy="66675"/>
          </a:xfrm>
          <a:prstGeom prst="rect">
            <a:avLst/>
          </a:prstGeom>
          <a:solidFill>
            <a:srgbClr val="000000"/>
          </a:solidFill>
          <a:ln/>
        </p:spPr>
      </p:sp>
      <p:sp>
        <p:nvSpPr>
          <p:cNvPr id="18" name="Shape 15"/>
          <p:cNvSpPr/>
          <p:nvPr/>
        </p:nvSpPr>
        <p:spPr>
          <a:xfrm>
            <a:off x="1809750" y="1619250"/>
            <a:ext cx="5743575" cy="1241425"/>
          </a:xfrm>
          <a:prstGeom prst="rect">
            <a:avLst/>
          </a:prstGeom>
          <a:solidFill>
            <a:srgbClr val="F2F2F2"/>
          </a:solidFill>
          <a:ln/>
        </p:spPr>
      </p:sp>
      <p:sp>
        <p:nvSpPr>
          <p:cNvPr id="19" name="Text 16"/>
          <p:cNvSpPr/>
          <p:nvPr/>
        </p:nvSpPr>
        <p:spPr>
          <a:xfrm>
            <a:off x="2038350" y="1847850"/>
            <a:ext cx="5815013"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Public</a:t>
            </a:r>
            <a:endParaRPr lang="en-US" sz="2100" dirty="0"/>
          </a:p>
        </p:txBody>
      </p:sp>
      <p:sp>
        <p:nvSpPr>
          <p:cNvPr id="20" name="Text 17"/>
          <p:cNvSpPr/>
          <p:nvPr/>
        </p:nvSpPr>
        <p:spPr>
          <a:xfrm>
            <a:off x="2038350" y="2298700"/>
            <a:ext cx="5815013" cy="371475"/>
          </a:xfrm>
          <a:prstGeom prst="rect">
            <a:avLst/>
          </a:prstGeom>
          <a:noFill/>
          <a:ln/>
        </p:spPr>
        <p:txBody>
          <a:bodyPr wrap="square" lIns="25400" tIns="25400" rIns="25400" bIns="25400" rtlCol="0" anchor="t">
            <a:normAutofit/>
          </a:bodyPr>
          <a:lstStyle/>
          <a:p>
            <a:pPr algn="l" indent="0" marL="0">
              <a:lnSpc>
                <a:spcPct val="107143"/>
              </a:lnSpc>
              <a:buNone/>
            </a:pPr>
            <a:r>
              <a:rPr lang="en-US" sz="1875" dirty="0">
                <a:solidFill>
                  <a:srgbClr val="000000"/>
                </a:solidFill>
                <a:latin typeface="Segoe UI" pitchFamily="34" charset="0"/>
                <a:ea typeface="Segoe UI" pitchFamily="34" charset="-122"/>
                <a:cs typeface="Segoe UI" pitchFamily="34" charset="-120"/>
              </a:rPr>
              <a:t>Anyone on the internet can view and copy it.</a:t>
            </a:r>
            <a:endParaRPr lang="en-US" sz="1875" dirty="0"/>
          </a:p>
        </p:txBody>
      </p:sp>
      <p:sp>
        <p:nvSpPr>
          <p:cNvPr id="21" name="Shape 18"/>
          <p:cNvSpPr/>
          <p:nvPr/>
        </p:nvSpPr>
        <p:spPr>
          <a:xfrm>
            <a:off x="7743825" y="1619250"/>
            <a:ext cx="5743575" cy="1241425"/>
          </a:xfrm>
          <a:prstGeom prst="rect">
            <a:avLst/>
          </a:prstGeom>
          <a:solidFill>
            <a:srgbClr val="152A47"/>
          </a:solidFill>
          <a:ln/>
        </p:spPr>
      </p:sp>
      <p:sp>
        <p:nvSpPr>
          <p:cNvPr id="22" name="Text 19"/>
          <p:cNvSpPr/>
          <p:nvPr/>
        </p:nvSpPr>
        <p:spPr>
          <a:xfrm>
            <a:off x="7972425" y="1847850"/>
            <a:ext cx="5815013"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FFFFFF"/>
                </a:solidFill>
                <a:latin typeface="Segoe UI" pitchFamily="34" charset="0"/>
                <a:ea typeface="Segoe UI" pitchFamily="34" charset="-122"/>
                <a:cs typeface="Segoe UI" pitchFamily="34" charset="-120"/>
              </a:rPr>
              <a:t>Private (default for this course)</a:t>
            </a:r>
            <a:endParaRPr lang="en-US" sz="2100" dirty="0"/>
          </a:p>
        </p:txBody>
      </p:sp>
      <p:sp>
        <p:nvSpPr>
          <p:cNvPr id="23" name="Text 20"/>
          <p:cNvSpPr/>
          <p:nvPr/>
        </p:nvSpPr>
        <p:spPr>
          <a:xfrm>
            <a:off x="7972425" y="2298700"/>
            <a:ext cx="5815013" cy="371475"/>
          </a:xfrm>
          <a:prstGeom prst="rect">
            <a:avLst/>
          </a:prstGeom>
          <a:noFill/>
          <a:ln/>
        </p:spPr>
        <p:txBody>
          <a:bodyPr wrap="square" lIns="25400" tIns="25400" rIns="25400" bIns="25400" rtlCol="0" anchor="t">
            <a:normAutofit/>
          </a:bodyPr>
          <a:lstStyle/>
          <a:p>
            <a:pPr algn="l" indent="0" marL="0">
              <a:lnSpc>
                <a:spcPct val="107143"/>
              </a:lnSpc>
              <a:buNone/>
            </a:pPr>
            <a:r>
              <a:rPr lang="en-US" sz="1875" dirty="0">
                <a:solidFill>
                  <a:srgbClr val="FFFFFF"/>
                </a:solidFill>
                <a:latin typeface="Segoe UI" pitchFamily="34" charset="0"/>
                <a:ea typeface="Segoe UI" pitchFamily="34" charset="-122"/>
                <a:cs typeface="Segoe UI" pitchFamily="34" charset="-120"/>
              </a:rPr>
              <a:t>Only you and people you invite.</a:t>
            </a:r>
            <a:endParaRPr lang="en-US" sz="1875" dirty="0"/>
          </a:p>
        </p:txBody>
      </p:sp>
      <p:sp>
        <p:nvSpPr>
          <p:cNvPr id="24" name="Text 21"/>
          <p:cNvSpPr/>
          <p:nvPr/>
        </p:nvSpPr>
        <p:spPr>
          <a:xfrm>
            <a:off x="1809750" y="3146425"/>
            <a:ext cx="6213158"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Never commit</a:t>
            </a:r>
            <a:endParaRPr lang="en-US" sz="2100" dirty="0"/>
          </a:p>
        </p:txBody>
      </p:sp>
      <p:sp>
        <p:nvSpPr>
          <p:cNvPr id="25" name="Shape 22"/>
          <p:cNvSpPr/>
          <p:nvPr/>
        </p:nvSpPr>
        <p:spPr>
          <a:xfrm>
            <a:off x="1809750" y="3749675"/>
            <a:ext cx="114300" cy="114300"/>
          </a:xfrm>
          <a:prstGeom prst="rect">
            <a:avLst/>
          </a:prstGeom>
          <a:solidFill>
            <a:srgbClr val="1F6FB2"/>
          </a:solidFill>
          <a:ln/>
        </p:spPr>
      </p:sp>
      <p:sp>
        <p:nvSpPr>
          <p:cNvPr id="26" name="Text 23"/>
          <p:cNvSpPr/>
          <p:nvPr/>
        </p:nvSpPr>
        <p:spPr>
          <a:xfrm>
            <a:off x="2057400" y="3635375"/>
            <a:ext cx="3307834"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Passwords, API keys, tokens</a:t>
            </a:r>
            <a:endParaRPr lang="en-US" sz="1950" dirty="0"/>
          </a:p>
        </p:txBody>
      </p:sp>
      <p:sp>
        <p:nvSpPr>
          <p:cNvPr id="27" name="Shape 24"/>
          <p:cNvSpPr/>
          <p:nvPr/>
        </p:nvSpPr>
        <p:spPr>
          <a:xfrm>
            <a:off x="1809750" y="4198243"/>
            <a:ext cx="114300" cy="114300"/>
          </a:xfrm>
          <a:prstGeom prst="rect">
            <a:avLst/>
          </a:prstGeom>
          <a:solidFill>
            <a:srgbClr val="1F6FB2"/>
          </a:solidFill>
          <a:ln/>
        </p:spPr>
      </p:sp>
      <p:sp>
        <p:nvSpPr>
          <p:cNvPr id="28" name="Text 25"/>
          <p:cNvSpPr/>
          <p:nvPr/>
        </p:nvSpPr>
        <p:spPr>
          <a:xfrm>
            <a:off x="2057400" y="4083943"/>
            <a:ext cx="3276838"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Student records, grades, PII</a:t>
            </a:r>
            <a:endParaRPr lang="en-US" sz="1950" dirty="0"/>
          </a:p>
        </p:txBody>
      </p:sp>
      <p:sp>
        <p:nvSpPr>
          <p:cNvPr id="29" name="Shape 26"/>
          <p:cNvSpPr/>
          <p:nvPr/>
        </p:nvSpPr>
        <p:spPr>
          <a:xfrm>
            <a:off x="1809750" y="4646811"/>
            <a:ext cx="114300" cy="114300"/>
          </a:xfrm>
          <a:prstGeom prst="rect">
            <a:avLst/>
          </a:prstGeom>
          <a:solidFill>
            <a:srgbClr val="1F6FB2"/>
          </a:solidFill>
          <a:ln/>
        </p:spPr>
      </p:sp>
      <p:sp>
        <p:nvSpPr>
          <p:cNvPr id="30" name="Text 27"/>
          <p:cNvSpPr/>
          <p:nvPr/>
        </p:nvSpPr>
        <p:spPr>
          <a:xfrm>
            <a:off x="2057400" y="4532511"/>
            <a:ext cx="3540740"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CUI or export-controlled data</a:t>
            </a:r>
            <a:endParaRPr lang="en-US" sz="1950" dirty="0"/>
          </a:p>
        </p:txBody>
      </p:sp>
      <p:sp>
        <p:nvSpPr>
          <p:cNvPr id="31" name="Shape 28"/>
          <p:cNvSpPr/>
          <p:nvPr/>
        </p:nvSpPr>
        <p:spPr>
          <a:xfrm>
            <a:off x="1809750" y="5095379"/>
            <a:ext cx="114300" cy="114300"/>
          </a:xfrm>
          <a:prstGeom prst="rect">
            <a:avLst/>
          </a:prstGeom>
          <a:solidFill>
            <a:srgbClr val="1F6FB2"/>
          </a:solidFill>
          <a:ln/>
        </p:spPr>
      </p:sp>
      <p:sp>
        <p:nvSpPr>
          <p:cNvPr id="32" name="Text 29"/>
          <p:cNvSpPr/>
          <p:nvPr/>
        </p:nvSpPr>
        <p:spPr>
          <a:xfrm>
            <a:off x="2057400" y="4981079"/>
            <a:ext cx="3845679"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Anything not cleared for release</a:t>
            </a:r>
            <a:endParaRPr lang="en-US" sz="1950" dirty="0"/>
          </a:p>
        </p:txBody>
      </p:sp>
      <p:sp>
        <p:nvSpPr>
          <p:cNvPr id="33" name="Text 30"/>
          <p:cNvSpPr/>
          <p:nvPr/>
        </p:nvSpPr>
        <p:spPr>
          <a:xfrm>
            <a:off x="7839075" y="3146425"/>
            <a:ext cx="6213158"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Remember</a:t>
            </a:r>
            <a:endParaRPr lang="en-US" sz="2100" dirty="0"/>
          </a:p>
        </p:txBody>
      </p:sp>
      <p:sp>
        <p:nvSpPr>
          <p:cNvPr id="34" name="Shape 31"/>
          <p:cNvSpPr/>
          <p:nvPr/>
        </p:nvSpPr>
        <p:spPr>
          <a:xfrm>
            <a:off x="7839075" y="3749675"/>
            <a:ext cx="114300" cy="114300"/>
          </a:xfrm>
          <a:prstGeom prst="rect">
            <a:avLst/>
          </a:prstGeom>
          <a:solidFill>
            <a:srgbClr val="1F6FB2"/>
          </a:solidFill>
          <a:ln/>
        </p:spPr>
      </p:sp>
      <p:sp>
        <p:nvSpPr>
          <p:cNvPr id="35" name="Text 32"/>
          <p:cNvSpPr/>
          <p:nvPr/>
        </p:nvSpPr>
        <p:spPr>
          <a:xfrm>
            <a:off x="8086725" y="3635375"/>
            <a:ext cx="5562695" cy="706636"/>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History is permanent. Deleting a file later doesn’t remove it from past commits.</a:t>
            </a:r>
            <a:endParaRPr lang="en-US" sz="1950" dirty="0"/>
          </a:p>
        </p:txBody>
      </p:sp>
      <p:sp>
        <p:nvSpPr>
          <p:cNvPr id="36" name="Shape 33"/>
          <p:cNvSpPr/>
          <p:nvPr/>
        </p:nvSpPr>
        <p:spPr>
          <a:xfrm>
            <a:off x="7839075" y="4532511"/>
            <a:ext cx="114300" cy="114300"/>
          </a:xfrm>
          <a:prstGeom prst="rect">
            <a:avLst/>
          </a:prstGeom>
          <a:solidFill>
            <a:srgbClr val="1F6FB2"/>
          </a:solidFill>
          <a:ln/>
        </p:spPr>
      </p:sp>
      <p:sp>
        <p:nvSpPr>
          <p:cNvPr id="37" name="Text 34"/>
          <p:cNvSpPr/>
          <p:nvPr/>
        </p:nvSpPr>
        <p:spPr>
          <a:xfrm>
            <a:off x="8086725" y="4418211"/>
            <a:ext cx="4699486" cy="372368"/>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Pushed a secret? Rotate it immediately.</a:t>
            </a:r>
            <a:endParaRPr lang="en-US" sz="1950" dirty="0"/>
          </a:p>
        </p:txBody>
      </p:sp>
      <p:sp>
        <p:nvSpPr>
          <p:cNvPr id="38" name="Shape 35"/>
          <p:cNvSpPr/>
          <p:nvPr/>
        </p:nvSpPr>
        <p:spPr>
          <a:xfrm>
            <a:off x="7839075" y="4981079"/>
            <a:ext cx="114300" cy="114300"/>
          </a:xfrm>
          <a:prstGeom prst="rect">
            <a:avLst/>
          </a:prstGeom>
          <a:solidFill>
            <a:srgbClr val="1F6FB2"/>
          </a:solidFill>
          <a:ln/>
        </p:spPr>
      </p:sp>
      <p:sp>
        <p:nvSpPr>
          <p:cNvPr id="39" name="Text 36"/>
          <p:cNvSpPr/>
          <p:nvPr/>
        </p:nvSpPr>
        <p:spPr>
          <a:xfrm>
            <a:off x="8086725" y="4866779"/>
            <a:ext cx="5562695" cy="706636"/>
          </a:xfrm>
          <a:prstGeom prst="rect">
            <a:avLst/>
          </a:prstGeom>
          <a:noFill/>
          <a:ln/>
        </p:spPr>
        <p:txBody>
          <a:bodyPr wrap="square" lIns="25400" tIns="25400" rIns="25400" bIns="25400" rtlCol="0" anchor="t">
            <a:normAutofit/>
          </a:bodyPr>
          <a:lstStyle/>
          <a:p>
            <a:pPr algn="l" indent="0" marL="0">
              <a:lnSpc>
                <a:spcPct val="101250"/>
              </a:lnSpc>
              <a:buNone/>
            </a:pPr>
            <a:r>
              <a:rPr lang="en-US" sz="1950" dirty="0">
                <a:solidFill>
                  <a:srgbClr val="000000"/>
                </a:solidFill>
                <a:latin typeface="Segoe UI" pitchFamily="34" charset="0"/>
                <a:ea typeface="Segoe UI" pitchFamily="34" charset="-122"/>
                <a:cs typeface="Segoe UI" pitchFamily="34" charset="-120"/>
              </a:rPr>
              <a:t>Connecting a repo to an agent sends its contents to that service.</a:t>
            </a:r>
            <a:endParaRPr lang="en-US" sz="1950" dirty="0"/>
          </a:p>
        </p:txBody>
      </p:sp>
      <p:sp>
        <p:nvSpPr>
          <p:cNvPr id="40" name="Shape 37"/>
          <p:cNvSpPr/>
          <p:nvPr/>
        </p:nvSpPr>
        <p:spPr>
          <a:xfrm>
            <a:off x="1809750" y="5821065"/>
            <a:ext cx="11677650" cy="19050"/>
          </a:xfrm>
          <a:prstGeom prst="rect">
            <a:avLst/>
          </a:prstGeom>
          <a:solidFill>
            <a:srgbClr val="BFBFBF"/>
          </a:solidFill>
          <a:ln/>
        </p:spPr>
      </p:sp>
      <p:sp>
        <p:nvSpPr>
          <p:cNvPr id="41" name="Text 38"/>
          <p:cNvSpPr/>
          <p:nvPr/>
        </p:nvSpPr>
        <p:spPr>
          <a:xfrm>
            <a:off x="1809750" y="6049665"/>
            <a:ext cx="12027980" cy="384770"/>
          </a:xfrm>
          <a:prstGeom prst="rect">
            <a:avLst/>
          </a:prstGeom>
          <a:noFill/>
          <a:ln/>
        </p:spPr>
        <p:txBody>
          <a:bodyPr wrap="square" lIns="25400" tIns="25400" rIns="25400" bIns="25400" rtlCol="0" anchor="t">
            <a:normAutofit/>
          </a:bodyPr>
          <a:lstStyle/>
          <a:p>
            <a:pPr algn="l" indent="0" marL="0">
              <a:lnSpc>
                <a:spcPct val="105000"/>
              </a:lnSpc>
              <a:buNone/>
            </a:pPr>
            <a:r>
              <a:rPr lang="en-US" sz="1950" dirty="0">
                <a:solidFill>
                  <a:srgbClr val="000000"/>
                </a:solidFill>
                <a:latin typeface="Segoe UI" pitchFamily="34" charset="0"/>
                <a:ea typeface="Segoe UI" pitchFamily="34" charset="-122"/>
                <a:cs typeface="Segoe UI" pitchFamily="34" charset="-120"/>
              </a:rPr>
              <a:t>Follow current USAFA guidance on GenAI tools and data handling. Private is not the same as approved.</a:t>
            </a:r>
            <a:endParaRPr lang="en-US" sz="1950" dirty="0"/>
          </a:p>
        </p:txBody>
      </p:sp>
      <p:sp>
        <p:nvSpPr>
          <p:cNvPr id="42" name="Text 39"/>
          <p:cNvSpPr/>
          <p:nvPr/>
        </p:nvSpPr>
        <p:spPr>
          <a:xfrm>
            <a:off x="1054418" y="9810750"/>
            <a:ext cx="13264515"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1</a:t>
            </a:r>
            <a:endParaRPr lang="en-US" sz="1800" dirty="0"/>
          </a:p>
        </p:txBody>
      </p:sp>
      <p:sp>
        <p:nvSpPr>
          <p:cNvPr id="43" name="Text 40"/>
          <p:cNvSpPr/>
          <p:nvPr/>
        </p:nvSpPr>
        <p:spPr>
          <a:xfrm>
            <a:off x="13336191" y="9810750"/>
            <a:ext cx="322659" cy="342900"/>
          </a:xfrm>
          <a:prstGeom prst="rect">
            <a:avLst/>
          </a:prstGeom>
          <a:noFill/>
          <a:ln/>
        </p:spPr>
        <p:txBody>
          <a:bodyPr wrap="square" lIns="25400" tIns="25400" rIns="25400" bIns="25400" rtlCol="0" anchor="t">
            <a:norm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19</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543050" cy="10287000"/>
          </a:xfrm>
          <a:prstGeom prst="rect">
            <a:avLst/>
          </a:prstGeom>
          <a:solidFill>
            <a:srgbClr val="E6E6E6"/>
          </a:solidFill>
          <a:ln/>
        </p:spPr>
      </p:sp>
      <p:pic>
        <p:nvPicPr>
          <p:cNvPr id="3" name="Image 0" descr="preencoded.png">    </p:cNvPr>
          <p:cNvPicPr>
            <a:picLocks noChangeAspect="1"/>
          </p:cNvPicPr>
          <p:nvPr/>
        </p:nvPicPr>
        <p:blipFill>
          <a:blip r:embed="rId1"/>
          <a:stretch>
            <a:fillRect/>
          </a:stretch>
        </p:blipFill>
        <p:spPr>
          <a:xfrm>
            <a:off x="200025" y="133350"/>
            <a:ext cx="1143000" cy="1143000"/>
          </a:xfrm>
          <a:prstGeom prst="rect">
            <a:avLst/>
          </a:prstGeom>
        </p:spPr>
      </p:pic>
      <p:sp>
        <p:nvSpPr>
          <p:cNvPr id="4" name="Text 1"/>
          <p:cNvSpPr/>
          <p:nvPr/>
        </p:nvSpPr>
        <p:spPr>
          <a:xfrm>
            <a:off x="133350" y="2381250"/>
            <a:ext cx="1529169"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Overview</a:t>
            </a:r>
            <a:endParaRPr lang="en-US" sz="1800" dirty="0"/>
          </a:p>
        </p:txBody>
      </p:sp>
      <p:sp>
        <p:nvSpPr>
          <p:cNvPr id="5" name="Text 2"/>
          <p:cNvSpPr/>
          <p:nvPr/>
        </p:nvSpPr>
        <p:spPr>
          <a:xfrm>
            <a:off x="133350" y="2762250"/>
            <a:ext cx="1529169"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Concepts</a:t>
            </a:r>
            <a:endParaRPr lang="en-US" sz="1800" dirty="0"/>
          </a:p>
        </p:txBody>
      </p:sp>
      <p:sp>
        <p:nvSpPr>
          <p:cNvPr id="6" name="Text 3"/>
          <p:cNvSpPr/>
          <p:nvPr/>
        </p:nvSpPr>
        <p:spPr>
          <a:xfrm>
            <a:off x="133350" y="3143250"/>
            <a:ext cx="1529169"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Setup</a:t>
            </a:r>
            <a:endParaRPr lang="en-US" sz="1800" dirty="0"/>
          </a:p>
        </p:txBody>
      </p:sp>
      <p:sp>
        <p:nvSpPr>
          <p:cNvPr id="7" name="Text 4"/>
          <p:cNvSpPr/>
          <p:nvPr/>
        </p:nvSpPr>
        <p:spPr>
          <a:xfrm>
            <a:off x="133350" y="3524250"/>
            <a:ext cx="1529169"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Clone</a:t>
            </a:r>
            <a:endParaRPr lang="en-US" sz="1800" dirty="0"/>
          </a:p>
        </p:txBody>
      </p:sp>
      <p:sp>
        <p:nvSpPr>
          <p:cNvPr id="8" name="Text 5"/>
          <p:cNvSpPr/>
          <p:nvPr/>
        </p:nvSpPr>
        <p:spPr>
          <a:xfrm>
            <a:off x="133350" y="3905250"/>
            <a:ext cx="1529169"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Commit</a:t>
            </a:r>
            <a:endParaRPr lang="en-US" sz="1800" dirty="0"/>
          </a:p>
        </p:txBody>
      </p:sp>
      <p:sp>
        <p:nvSpPr>
          <p:cNvPr id="9" name="Text 6"/>
          <p:cNvSpPr/>
          <p:nvPr/>
        </p:nvSpPr>
        <p:spPr>
          <a:xfrm>
            <a:off x="133350" y="4286250"/>
            <a:ext cx="1529169"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Sync</a:t>
            </a:r>
            <a:endParaRPr lang="en-US" sz="1800" dirty="0"/>
          </a:p>
        </p:txBody>
      </p:sp>
      <p:sp>
        <p:nvSpPr>
          <p:cNvPr id="10" name="Text 7"/>
          <p:cNvSpPr/>
          <p:nvPr/>
        </p:nvSpPr>
        <p:spPr>
          <a:xfrm>
            <a:off x="133350" y="4667250"/>
            <a:ext cx="1529169"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Branches</a:t>
            </a:r>
            <a:endParaRPr lang="en-US" sz="1800" dirty="0"/>
          </a:p>
        </p:txBody>
      </p:sp>
      <p:sp>
        <p:nvSpPr>
          <p:cNvPr id="11" name="Text 8"/>
          <p:cNvSpPr/>
          <p:nvPr/>
        </p:nvSpPr>
        <p:spPr>
          <a:xfrm>
            <a:off x="133350" y="5048250"/>
            <a:ext cx="1529169"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Conflicts</a:t>
            </a:r>
            <a:endParaRPr lang="en-US" sz="1800" dirty="0"/>
          </a:p>
        </p:txBody>
      </p:sp>
      <p:sp>
        <p:nvSpPr>
          <p:cNvPr id="12" name="Text 9"/>
          <p:cNvSpPr/>
          <p:nvPr/>
        </p:nvSpPr>
        <p:spPr>
          <a:xfrm>
            <a:off x="133350" y="5429250"/>
            <a:ext cx="1529169"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History</a:t>
            </a:r>
            <a:endParaRPr lang="en-US" sz="1800" dirty="0"/>
          </a:p>
        </p:txBody>
      </p:sp>
      <p:sp>
        <p:nvSpPr>
          <p:cNvPr id="13" name="Text 10"/>
          <p:cNvSpPr/>
          <p:nvPr/>
        </p:nvSpPr>
        <p:spPr>
          <a:xfrm>
            <a:off x="133350" y="5810250"/>
            <a:ext cx="1529169"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Agent-Ready</a:t>
            </a:r>
            <a:endParaRPr lang="en-US" sz="1800" dirty="0"/>
          </a:p>
        </p:txBody>
      </p:sp>
      <p:sp>
        <p:nvSpPr>
          <p:cNvPr id="14" name="Text 11"/>
          <p:cNvSpPr/>
          <p:nvPr/>
        </p:nvSpPr>
        <p:spPr>
          <a:xfrm>
            <a:off x="133350" y="6191250"/>
            <a:ext cx="1529169"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Review</a:t>
            </a:r>
            <a:endParaRPr lang="en-US" sz="1800" dirty="0"/>
          </a:p>
        </p:txBody>
      </p:sp>
      <p:sp>
        <p:nvSpPr>
          <p:cNvPr id="15" name="Text 12"/>
          <p:cNvSpPr/>
          <p:nvPr/>
        </p:nvSpPr>
        <p:spPr>
          <a:xfrm>
            <a:off x="1657350" y="200025"/>
            <a:ext cx="10988040" cy="1057275"/>
          </a:xfrm>
          <a:prstGeom prst="rect">
            <a:avLst/>
          </a:prstGeom>
          <a:noFill/>
          <a:ln/>
        </p:spPr>
        <p:txBody>
          <a:bodyPr wrap="square" lIns="25400" tIns="25400" rIns="25400" bIns="25400" rtlCol="0" anchor="ctr">
            <a:norm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Agent-Ready Checklist</a:t>
            </a:r>
            <a:endParaRPr lang="en-US" sz="4800" dirty="0"/>
          </a:p>
        </p:txBody>
      </p:sp>
      <p:sp>
        <p:nvSpPr>
          <p:cNvPr id="16" name="Text 13"/>
          <p:cNvSpPr/>
          <p:nvPr/>
        </p:nvSpPr>
        <p:spPr>
          <a:xfrm>
            <a:off x="12515950" y="133350"/>
            <a:ext cx="1142901"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1</a:t>
            </a:r>
            <a:endParaRPr lang="en-US" sz="2100" dirty="0"/>
          </a:p>
        </p:txBody>
      </p:sp>
      <p:sp>
        <p:nvSpPr>
          <p:cNvPr id="17" name="Shape 14"/>
          <p:cNvSpPr/>
          <p:nvPr/>
        </p:nvSpPr>
        <p:spPr>
          <a:xfrm>
            <a:off x="1657350" y="1219200"/>
            <a:ext cx="11925300" cy="66675"/>
          </a:xfrm>
          <a:prstGeom prst="rect">
            <a:avLst/>
          </a:prstGeom>
          <a:solidFill>
            <a:srgbClr val="000000"/>
          </a:solidFill>
          <a:ln/>
        </p:spPr>
      </p:sp>
      <p:sp>
        <p:nvSpPr>
          <p:cNvPr id="18" name="Text 15"/>
          <p:cNvSpPr/>
          <p:nvPr/>
        </p:nvSpPr>
        <p:spPr>
          <a:xfrm>
            <a:off x="1809750" y="1619250"/>
            <a:ext cx="12845415" cy="393700"/>
          </a:xfrm>
          <a:prstGeom prst="rect">
            <a:avLst/>
          </a:prstGeom>
          <a:noFill/>
          <a:ln/>
        </p:spPr>
        <p:txBody>
          <a:bodyPr wrap="square" lIns="25400" tIns="25400" rIns="25400" bIns="25400" rtlCol="0" anchor="t">
            <a:normAutofit/>
          </a:bodyPr>
          <a:lstStyle/>
          <a:p>
            <a:pPr algn="l" indent="0" marL="0">
              <a:buNone/>
            </a:pPr>
            <a:r>
              <a:rPr lang="en-US" sz="2100" dirty="0">
                <a:solidFill>
                  <a:srgbClr val="000000"/>
                </a:solidFill>
                <a:latin typeface="Segoe UI" pitchFamily="34" charset="0"/>
                <a:ea typeface="Segoe UI" pitchFamily="34" charset="-122"/>
                <a:cs typeface="Segoe UI" pitchFamily="34" charset="-120"/>
              </a:rPr>
              <a:t>Before Lesson 2, bring one of your own projects to this state:</a:t>
            </a:r>
            <a:endParaRPr lang="en-US" sz="2100" dirty="0"/>
          </a:p>
        </p:txBody>
      </p:sp>
      <p:sp>
        <p:nvSpPr>
          <p:cNvPr id="19" name="Shape 16"/>
          <p:cNvSpPr/>
          <p:nvPr/>
        </p:nvSpPr>
        <p:spPr>
          <a:xfrm>
            <a:off x="1809750" y="2222500"/>
            <a:ext cx="11677650" cy="19050"/>
          </a:xfrm>
          <a:prstGeom prst="rect">
            <a:avLst/>
          </a:prstGeom>
          <a:solidFill>
            <a:srgbClr val="BFBFBF"/>
          </a:solidFill>
          <a:ln/>
        </p:spPr>
      </p:sp>
      <p:sp>
        <p:nvSpPr>
          <p:cNvPr id="20" name="Shape 17"/>
          <p:cNvSpPr/>
          <p:nvPr/>
        </p:nvSpPr>
        <p:spPr>
          <a:xfrm>
            <a:off x="1809750" y="2908300"/>
            <a:ext cx="11677650" cy="19050"/>
          </a:xfrm>
          <a:prstGeom prst="rect">
            <a:avLst/>
          </a:prstGeom>
          <a:solidFill>
            <a:srgbClr val="BFBFBF"/>
          </a:solidFill>
          <a:ln/>
        </p:spPr>
      </p:sp>
      <p:sp>
        <p:nvSpPr>
          <p:cNvPr id="21" name="Shape 18"/>
          <p:cNvSpPr/>
          <p:nvPr/>
        </p:nvSpPr>
        <p:spPr>
          <a:xfrm>
            <a:off x="1809750" y="2406650"/>
            <a:ext cx="336550" cy="336550"/>
          </a:xfrm>
          <a:prstGeom prst="rect">
            <a:avLst/>
          </a:prstGeom>
          <a:ln w="25400">
            <a:solidFill>
              <a:srgbClr val="152A47"/>
            </a:solidFill>
            <a:prstDash val="solid"/>
          </a:ln>
        </p:spPr>
      </p:sp>
      <p:sp>
        <p:nvSpPr>
          <p:cNvPr id="22" name="Text 19"/>
          <p:cNvSpPr/>
          <p:nvPr/>
        </p:nvSpPr>
        <p:spPr>
          <a:xfrm>
            <a:off x="2355850" y="2403475"/>
            <a:ext cx="3831928" cy="381000"/>
          </a:xfrm>
          <a:prstGeom prst="rect">
            <a:avLst/>
          </a:prstGeom>
          <a:noFill/>
          <a:ln/>
        </p:spPr>
        <p:txBody>
          <a:bodyPr wrap="square" lIns="25400" tIns="25400" rIns="25400" bIns="25400" rtlCol="0" anchor="t">
            <a:normAutofit/>
          </a:bodyPr>
          <a:lstStyle/>
          <a:p>
            <a:pPr algn="l" indent="0" marL="0">
              <a:buNone/>
            </a:pPr>
            <a:r>
              <a:rPr lang="en-US" sz="2025" dirty="0">
                <a:solidFill>
                  <a:srgbClr val="000000"/>
                </a:solidFill>
                <a:latin typeface="Segoe UI" pitchFamily="34" charset="0"/>
                <a:ea typeface="Segoe UI" pitchFamily="34" charset="-122"/>
                <a:cs typeface="Segoe UI" pitchFamily="34" charset="-120"/>
              </a:rPr>
              <a:t>Repo is on GitHub and </a:t>
            </a:r>
            <a:pPr algn="l" indent="0" marL="0">
              <a:buNone/>
            </a:pPr>
            <a:r>
              <a:rPr lang="en-US" sz="2025" b="1" dirty="0">
                <a:solidFill>
                  <a:srgbClr val="000000"/>
                </a:solidFill>
                <a:latin typeface="Segoe UI" pitchFamily="34" charset="0"/>
                <a:ea typeface="Segoe UI" pitchFamily="34" charset="-122"/>
                <a:cs typeface="Segoe UI" pitchFamily="34" charset="-120"/>
              </a:rPr>
              <a:t>private</a:t>
            </a:r>
            <a:endParaRPr lang="en-US" sz="2025" dirty="0"/>
          </a:p>
        </p:txBody>
      </p:sp>
      <p:sp>
        <p:nvSpPr>
          <p:cNvPr id="23" name="Shape 20"/>
          <p:cNvSpPr/>
          <p:nvPr/>
        </p:nvSpPr>
        <p:spPr>
          <a:xfrm>
            <a:off x="1809750" y="3594100"/>
            <a:ext cx="11677650" cy="19050"/>
          </a:xfrm>
          <a:prstGeom prst="rect">
            <a:avLst/>
          </a:prstGeom>
          <a:solidFill>
            <a:srgbClr val="BFBFBF"/>
          </a:solidFill>
          <a:ln/>
        </p:spPr>
      </p:sp>
      <p:sp>
        <p:nvSpPr>
          <p:cNvPr id="24" name="Shape 21"/>
          <p:cNvSpPr/>
          <p:nvPr/>
        </p:nvSpPr>
        <p:spPr>
          <a:xfrm>
            <a:off x="1809750" y="3092450"/>
            <a:ext cx="336550" cy="336550"/>
          </a:xfrm>
          <a:prstGeom prst="rect">
            <a:avLst/>
          </a:prstGeom>
          <a:ln w="25400">
            <a:solidFill>
              <a:srgbClr val="152A47"/>
            </a:solidFill>
            <a:prstDash val="solid"/>
          </a:ln>
        </p:spPr>
      </p:sp>
      <p:sp>
        <p:nvSpPr>
          <p:cNvPr id="25" name="Text 22"/>
          <p:cNvSpPr/>
          <p:nvPr/>
        </p:nvSpPr>
        <p:spPr>
          <a:xfrm>
            <a:off x="2355850" y="3089275"/>
            <a:ext cx="4028271" cy="381000"/>
          </a:xfrm>
          <a:prstGeom prst="rect">
            <a:avLst/>
          </a:prstGeom>
          <a:noFill/>
          <a:ln/>
        </p:spPr>
        <p:txBody>
          <a:bodyPr wrap="square" lIns="25400" tIns="25400" rIns="25400" bIns="25400" rtlCol="0" anchor="t">
            <a:normAutofit/>
          </a:bodyPr>
          <a:lstStyle/>
          <a:p>
            <a:pPr algn="l" indent="0" marL="0">
              <a:buNone/>
            </a:pPr>
            <a:r>
              <a:rPr lang="en-US" sz="2025" dirty="0">
                <a:solidFill>
                  <a:srgbClr val="000000"/>
                </a:solidFill>
                <a:latin typeface="Segoe UI" pitchFamily="34" charset="0"/>
                <a:ea typeface="Segoe UI" pitchFamily="34" charset="-122"/>
                <a:cs typeface="Segoe UI" pitchFamily="34" charset="-120"/>
              </a:rPr>
              <a:t>main runs as-is (you’ve tested it)</a:t>
            </a:r>
            <a:endParaRPr lang="en-US" sz="2025" dirty="0"/>
          </a:p>
        </p:txBody>
      </p:sp>
      <p:sp>
        <p:nvSpPr>
          <p:cNvPr id="26" name="Shape 23"/>
          <p:cNvSpPr/>
          <p:nvPr/>
        </p:nvSpPr>
        <p:spPr>
          <a:xfrm>
            <a:off x="1809750" y="4279900"/>
            <a:ext cx="11677650" cy="19050"/>
          </a:xfrm>
          <a:prstGeom prst="rect">
            <a:avLst/>
          </a:prstGeom>
          <a:solidFill>
            <a:srgbClr val="BFBFBF"/>
          </a:solidFill>
          <a:ln/>
        </p:spPr>
      </p:sp>
      <p:sp>
        <p:nvSpPr>
          <p:cNvPr id="27" name="Shape 24"/>
          <p:cNvSpPr/>
          <p:nvPr/>
        </p:nvSpPr>
        <p:spPr>
          <a:xfrm>
            <a:off x="1809750" y="3778250"/>
            <a:ext cx="336550" cy="336550"/>
          </a:xfrm>
          <a:prstGeom prst="rect">
            <a:avLst/>
          </a:prstGeom>
          <a:ln w="25400">
            <a:solidFill>
              <a:srgbClr val="152A47"/>
            </a:solidFill>
            <a:prstDash val="solid"/>
          </a:ln>
        </p:spPr>
      </p:sp>
      <p:sp>
        <p:nvSpPr>
          <p:cNvPr id="28" name="Text 25"/>
          <p:cNvSpPr/>
          <p:nvPr/>
        </p:nvSpPr>
        <p:spPr>
          <a:xfrm>
            <a:off x="2355850" y="3775075"/>
            <a:ext cx="3857794" cy="381000"/>
          </a:xfrm>
          <a:prstGeom prst="rect">
            <a:avLst/>
          </a:prstGeom>
          <a:noFill/>
          <a:ln/>
        </p:spPr>
        <p:txBody>
          <a:bodyPr wrap="square" lIns="25400" tIns="25400" rIns="25400" bIns="25400" rtlCol="0" anchor="t">
            <a:normAutofit/>
          </a:bodyPr>
          <a:lstStyle/>
          <a:p>
            <a:pPr algn="l" indent="0" marL="0">
              <a:buNone/>
            </a:pPr>
            <a:r>
              <a:rPr lang="en-US" sz="2025" dirty="0">
                <a:solidFill>
                  <a:srgbClr val="000000"/>
                </a:solidFill>
                <a:latin typeface="Segoe UI" pitchFamily="34" charset="0"/>
                <a:ea typeface="Segoe UI" pitchFamily="34" charset="-122"/>
                <a:cs typeface="Segoe UI" pitchFamily="34" charset="-120"/>
              </a:rPr>
              <a:t>README explains how to run it</a:t>
            </a:r>
            <a:endParaRPr lang="en-US" sz="2025" dirty="0"/>
          </a:p>
        </p:txBody>
      </p:sp>
      <p:sp>
        <p:nvSpPr>
          <p:cNvPr id="29" name="Shape 26"/>
          <p:cNvSpPr/>
          <p:nvPr/>
        </p:nvSpPr>
        <p:spPr>
          <a:xfrm>
            <a:off x="1809750" y="4965700"/>
            <a:ext cx="11677650" cy="19050"/>
          </a:xfrm>
          <a:prstGeom prst="rect">
            <a:avLst/>
          </a:prstGeom>
          <a:solidFill>
            <a:srgbClr val="BFBFBF"/>
          </a:solidFill>
          <a:ln/>
        </p:spPr>
      </p:sp>
      <p:sp>
        <p:nvSpPr>
          <p:cNvPr id="30" name="Shape 27"/>
          <p:cNvSpPr/>
          <p:nvPr/>
        </p:nvSpPr>
        <p:spPr>
          <a:xfrm>
            <a:off x="1809750" y="4464050"/>
            <a:ext cx="336550" cy="336550"/>
          </a:xfrm>
          <a:prstGeom prst="rect">
            <a:avLst/>
          </a:prstGeom>
          <a:ln w="25400">
            <a:solidFill>
              <a:srgbClr val="152A47"/>
            </a:solidFill>
            <a:prstDash val="solid"/>
          </a:ln>
        </p:spPr>
      </p:sp>
      <p:sp>
        <p:nvSpPr>
          <p:cNvPr id="31" name="Text 28"/>
          <p:cNvSpPr/>
          <p:nvPr/>
        </p:nvSpPr>
        <p:spPr>
          <a:xfrm>
            <a:off x="2355850" y="4460875"/>
            <a:ext cx="5627072" cy="381000"/>
          </a:xfrm>
          <a:prstGeom prst="rect">
            <a:avLst/>
          </a:prstGeom>
          <a:noFill/>
          <a:ln/>
        </p:spPr>
        <p:txBody>
          <a:bodyPr wrap="square" lIns="25400" tIns="25400" rIns="25400" bIns="25400" rtlCol="0" anchor="t">
            <a:normAutofit/>
          </a:bodyPr>
          <a:lstStyle/>
          <a:p>
            <a:pPr algn="l" indent="0" marL="0">
              <a:buNone/>
            </a:pPr>
            <a:r>
              <a:rPr lang="en-US" sz="2025" dirty="0">
                <a:solidFill>
                  <a:srgbClr val="000000"/>
                </a:solidFill>
                <a:latin typeface="Segoe UI" pitchFamily="34" charset="0"/>
                <a:ea typeface="Segoe UI" pitchFamily="34" charset="-122"/>
                <a:cs typeface="Segoe UI" pitchFamily="34" charset="-120"/>
              </a:rPr>
              <a:t>.gitignore excludes outputs, data, and secrets</a:t>
            </a:r>
            <a:endParaRPr lang="en-US" sz="2025" dirty="0"/>
          </a:p>
        </p:txBody>
      </p:sp>
      <p:sp>
        <p:nvSpPr>
          <p:cNvPr id="32" name="Shape 29"/>
          <p:cNvSpPr/>
          <p:nvPr/>
        </p:nvSpPr>
        <p:spPr>
          <a:xfrm>
            <a:off x="1809750" y="5651500"/>
            <a:ext cx="11677650" cy="19050"/>
          </a:xfrm>
          <a:prstGeom prst="rect">
            <a:avLst/>
          </a:prstGeom>
          <a:solidFill>
            <a:srgbClr val="BFBFBF"/>
          </a:solidFill>
          <a:ln/>
        </p:spPr>
      </p:sp>
      <p:sp>
        <p:nvSpPr>
          <p:cNvPr id="33" name="Shape 30"/>
          <p:cNvSpPr/>
          <p:nvPr/>
        </p:nvSpPr>
        <p:spPr>
          <a:xfrm>
            <a:off x="1809750" y="5149850"/>
            <a:ext cx="336550" cy="336550"/>
          </a:xfrm>
          <a:prstGeom prst="rect">
            <a:avLst/>
          </a:prstGeom>
          <a:ln w="25400">
            <a:solidFill>
              <a:srgbClr val="152A47"/>
            </a:solidFill>
            <a:prstDash val="solid"/>
          </a:ln>
        </p:spPr>
      </p:sp>
      <p:sp>
        <p:nvSpPr>
          <p:cNvPr id="34" name="Text 31"/>
          <p:cNvSpPr/>
          <p:nvPr/>
        </p:nvSpPr>
        <p:spPr>
          <a:xfrm>
            <a:off x="2355850" y="5146675"/>
            <a:ext cx="4653429" cy="381000"/>
          </a:xfrm>
          <a:prstGeom prst="rect">
            <a:avLst/>
          </a:prstGeom>
          <a:noFill/>
          <a:ln/>
        </p:spPr>
        <p:txBody>
          <a:bodyPr wrap="square" lIns="25400" tIns="25400" rIns="25400" bIns="25400" rtlCol="0" anchor="t">
            <a:normAutofit/>
          </a:bodyPr>
          <a:lstStyle/>
          <a:p>
            <a:pPr algn="l" indent="0" marL="0">
              <a:buNone/>
            </a:pPr>
            <a:r>
              <a:rPr lang="en-US" sz="2025" dirty="0">
                <a:solidFill>
                  <a:srgbClr val="000000"/>
                </a:solidFill>
                <a:latin typeface="Segoe UI" pitchFamily="34" charset="0"/>
                <a:ea typeface="Segoe UI" pitchFamily="34" charset="-122"/>
                <a:cs typeface="Segoe UI" pitchFamily="34" charset="-120"/>
              </a:rPr>
              <a:t>No sensitive data anywhere in history</a:t>
            </a:r>
            <a:endParaRPr lang="en-US" sz="2025" dirty="0"/>
          </a:p>
        </p:txBody>
      </p:sp>
      <p:sp>
        <p:nvSpPr>
          <p:cNvPr id="35" name="Shape 32"/>
          <p:cNvSpPr/>
          <p:nvPr/>
        </p:nvSpPr>
        <p:spPr>
          <a:xfrm>
            <a:off x="1809750" y="6337300"/>
            <a:ext cx="11677650" cy="19050"/>
          </a:xfrm>
          <a:prstGeom prst="rect">
            <a:avLst/>
          </a:prstGeom>
          <a:solidFill>
            <a:srgbClr val="BFBFBF"/>
          </a:solidFill>
          <a:ln/>
        </p:spPr>
      </p:sp>
      <p:sp>
        <p:nvSpPr>
          <p:cNvPr id="36" name="Shape 33"/>
          <p:cNvSpPr/>
          <p:nvPr/>
        </p:nvSpPr>
        <p:spPr>
          <a:xfrm>
            <a:off x="1809750" y="5835650"/>
            <a:ext cx="336550" cy="336550"/>
          </a:xfrm>
          <a:prstGeom prst="rect">
            <a:avLst/>
          </a:prstGeom>
          <a:ln w="25400">
            <a:solidFill>
              <a:srgbClr val="152A47"/>
            </a:solidFill>
            <a:prstDash val="solid"/>
          </a:ln>
        </p:spPr>
      </p:sp>
      <p:sp>
        <p:nvSpPr>
          <p:cNvPr id="37" name="Text 34"/>
          <p:cNvSpPr/>
          <p:nvPr/>
        </p:nvSpPr>
        <p:spPr>
          <a:xfrm>
            <a:off x="2355850" y="5832475"/>
            <a:ext cx="5405626" cy="381000"/>
          </a:xfrm>
          <a:prstGeom prst="rect">
            <a:avLst/>
          </a:prstGeom>
          <a:noFill/>
          <a:ln/>
        </p:spPr>
        <p:txBody>
          <a:bodyPr wrap="square" lIns="25400" tIns="25400" rIns="25400" bIns="25400" rtlCol="0" anchor="t">
            <a:normAutofit/>
          </a:bodyPr>
          <a:lstStyle/>
          <a:p>
            <a:pPr algn="l" indent="0" marL="0">
              <a:buNone/>
            </a:pPr>
            <a:r>
              <a:rPr lang="en-US" sz="2025" dirty="0">
                <a:solidFill>
                  <a:srgbClr val="000000"/>
                </a:solidFill>
                <a:latin typeface="Segoe UI" pitchFamily="34" charset="0"/>
                <a:ea typeface="Segoe UI" pitchFamily="34" charset="-122"/>
                <a:cs typeface="Segoe UI" pitchFamily="34" charset="-120"/>
              </a:rPr>
              <a:t>You can branch, open a PR, merge, and pull</a:t>
            </a:r>
            <a:endParaRPr lang="en-US" sz="2025" dirty="0"/>
          </a:p>
        </p:txBody>
      </p:sp>
      <p:sp>
        <p:nvSpPr>
          <p:cNvPr id="38" name="Shape 35"/>
          <p:cNvSpPr/>
          <p:nvPr/>
        </p:nvSpPr>
        <p:spPr>
          <a:xfrm>
            <a:off x="1809750" y="7023100"/>
            <a:ext cx="11677650" cy="19050"/>
          </a:xfrm>
          <a:prstGeom prst="rect">
            <a:avLst/>
          </a:prstGeom>
          <a:solidFill>
            <a:srgbClr val="BFBFBF"/>
          </a:solidFill>
          <a:ln/>
        </p:spPr>
      </p:sp>
      <p:sp>
        <p:nvSpPr>
          <p:cNvPr id="39" name="Shape 36"/>
          <p:cNvSpPr/>
          <p:nvPr/>
        </p:nvSpPr>
        <p:spPr>
          <a:xfrm>
            <a:off x="1809750" y="6521450"/>
            <a:ext cx="336550" cy="336550"/>
          </a:xfrm>
          <a:prstGeom prst="rect">
            <a:avLst/>
          </a:prstGeom>
          <a:ln w="25400">
            <a:solidFill>
              <a:srgbClr val="152A47"/>
            </a:solidFill>
            <a:prstDash val="solid"/>
          </a:ln>
        </p:spPr>
      </p:sp>
      <p:sp>
        <p:nvSpPr>
          <p:cNvPr id="40" name="Text 37"/>
          <p:cNvSpPr/>
          <p:nvPr/>
        </p:nvSpPr>
        <p:spPr>
          <a:xfrm>
            <a:off x="2355850" y="6518275"/>
            <a:ext cx="4188053" cy="381000"/>
          </a:xfrm>
          <a:prstGeom prst="rect">
            <a:avLst/>
          </a:prstGeom>
          <a:noFill/>
          <a:ln/>
        </p:spPr>
        <p:txBody>
          <a:bodyPr wrap="square" lIns="25400" tIns="25400" rIns="25400" bIns="25400" rtlCol="0" anchor="t">
            <a:normAutofit/>
          </a:bodyPr>
          <a:lstStyle/>
          <a:p>
            <a:pPr algn="l" indent="0" marL="0">
              <a:buNone/>
            </a:pPr>
            <a:r>
              <a:rPr lang="en-US" sz="2025" dirty="0">
                <a:solidFill>
                  <a:srgbClr val="000000"/>
                </a:solidFill>
                <a:latin typeface="Segoe UI" pitchFamily="34" charset="0"/>
                <a:ea typeface="Segoe UI" pitchFamily="34" charset="-122"/>
                <a:cs typeface="Segoe UI" pitchFamily="34" charset="-120"/>
              </a:rPr>
              <a:t>Optional: a first-draft AGENTS.md</a:t>
            </a:r>
            <a:endParaRPr lang="en-US" sz="2025" dirty="0"/>
          </a:p>
        </p:txBody>
      </p:sp>
      <p:sp>
        <p:nvSpPr>
          <p:cNvPr id="41" name="Shape 38"/>
          <p:cNvSpPr/>
          <p:nvPr/>
        </p:nvSpPr>
        <p:spPr>
          <a:xfrm>
            <a:off x="1809750" y="7289800"/>
            <a:ext cx="11677650" cy="1139031"/>
          </a:xfrm>
          <a:prstGeom prst="rect">
            <a:avLst/>
          </a:prstGeom>
          <a:solidFill>
            <a:srgbClr val="152A47"/>
          </a:solidFill>
          <a:ln/>
        </p:spPr>
      </p:sp>
      <p:sp>
        <p:nvSpPr>
          <p:cNvPr id="42" name="Text 39"/>
          <p:cNvSpPr/>
          <p:nvPr/>
        </p:nvSpPr>
        <p:spPr>
          <a:xfrm>
            <a:off x="2057400" y="7499350"/>
            <a:ext cx="11532680" cy="758031"/>
          </a:xfrm>
          <a:prstGeom prst="rect">
            <a:avLst/>
          </a:prstGeom>
          <a:noFill/>
          <a:ln/>
        </p:spPr>
        <p:txBody>
          <a:bodyPr wrap="square" lIns="25400" tIns="25400" rIns="25400" bIns="25400" rtlCol="0" anchor="t">
            <a:normAutofit/>
          </a:bodyPr>
          <a:lstStyle/>
          <a:p>
            <a:pPr algn="l" indent="0" marL="0">
              <a:lnSpc>
                <a:spcPct val="105000"/>
              </a:lnSpc>
              <a:buNone/>
            </a:pPr>
            <a:r>
              <a:rPr lang="en-US" sz="2025" b="1" dirty="0">
                <a:solidFill>
                  <a:srgbClr val="FFFFFF"/>
                </a:solidFill>
                <a:latin typeface="Segoe UI" pitchFamily="34" charset="0"/>
                <a:ea typeface="Segoe UI" pitchFamily="34" charset="-122"/>
                <a:cs typeface="Segoe UI" pitchFamily="34" charset="-120"/>
              </a:rPr>
              <a:t>Next: Lesson 2 </a:t>
            </a:r>
            <a:pPr algn="l" indent="0" marL="0">
              <a:lnSpc>
                <a:spcPct val="105000"/>
              </a:lnSpc>
              <a:buNone/>
            </a:pPr>
            <a:r>
              <a:rPr lang="en-US" sz="2025" dirty="0">
                <a:solidFill>
                  <a:srgbClr val="FFFFFF"/>
                </a:solidFill>
                <a:highlight>
                  <a:srgbClr val="152A47"/>
                </a:highlight>
                <a:latin typeface="Segoe UI" pitchFamily="34" charset="0"/>
                <a:ea typeface="Segoe UI" pitchFamily="34" charset="-122"/>
                <a:cs typeface="Segoe UI" pitchFamily="34" charset="-120"/>
              </a:rPr>
              <a:t>· Agentic AI workflow: connect this repo to a coding agent and review its first pull request.</a:t>
            </a:r>
            <a:endParaRPr lang="en-US" sz="2025" dirty="0"/>
          </a:p>
        </p:txBody>
      </p:sp>
      <p:sp>
        <p:nvSpPr>
          <p:cNvPr id="43" name="Text 40"/>
          <p:cNvSpPr/>
          <p:nvPr/>
        </p:nvSpPr>
        <p:spPr>
          <a:xfrm>
            <a:off x="1054418" y="9810750"/>
            <a:ext cx="13264515"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1</a:t>
            </a:r>
            <a:endParaRPr lang="en-US" sz="1800" dirty="0"/>
          </a:p>
        </p:txBody>
      </p:sp>
      <p:sp>
        <p:nvSpPr>
          <p:cNvPr id="44" name="Text 41"/>
          <p:cNvSpPr/>
          <p:nvPr/>
        </p:nvSpPr>
        <p:spPr>
          <a:xfrm>
            <a:off x="13336191" y="9810750"/>
            <a:ext cx="322659" cy="342900"/>
          </a:xfrm>
          <a:prstGeom prst="rect">
            <a:avLst/>
          </a:prstGeom>
          <a:noFill/>
          <a:ln/>
        </p:spPr>
        <p:txBody>
          <a:bodyPr wrap="square" lIns="25400" tIns="25400" rIns="25400" bIns="25400" rtlCol="0" anchor="t">
            <a:norm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20</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543050" cy="10287000"/>
          </a:xfrm>
          <a:prstGeom prst="rect">
            <a:avLst/>
          </a:prstGeom>
          <a:solidFill>
            <a:srgbClr val="E6E6E6"/>
          </a:solidFill>
          <a:ln/>
        </p:spPr>
      </p:sp>
      <p:pic>
        <p:nvPicPr>
          <p:cNvPr id="3" name="Image 0" descr="preencoded.png">    </p:cNvPr>
          <p:cNvPicPr>
            <a:picLocks noChangeAspect="1"/>
          </p:cNvPicPr>
          <p:nvPr/>
        </p:nvPicPr>
        <p:blipFill>
          <a:blip r:embed="rId1"/>
          <a:stretch>
            <a:fillRect/>
          </a:stretch>
        </p:blipFill>
        <p:spPr>
          <a:xfrm>
            <a:off x="200025" y="133350"/>
            <a:ext cx="1143000" cy="1143000"/>
          </a:xfrm>
          <a:prstGeom prst="rect">
            <a:avLst/>
          </a:prstGeom>
        </p:spPr>
      </p:pic>
      <p:sp>
        <p:nvSpPr>
          <p:cNvPr id="4" name="Text 1"/>
          <p:cNvSpPr/>
          <p:nvPr/>
        </p:nvSpPr>
        <p:spPr>
          <a:xfrm>
            <a:off x="133350" y="2381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Overview</a:t>
            </a:r>
            <a:endParaRPr lang="en-US" sz="1800" dirty="0"/>
          </a:p>
        </p:txBody>
      </p:sp>
      <p:sp>
        <p:nvSpPr>
          <p:cNvPr id="5" name="Text 2"/>
          <p:cNvSpPr/>
          <p:nvPr/>
        </p:nvSpPr>
        <p:spPr>
          <a:xfrm>
            <a:off x="133350" y="2762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Concepts</a:t>
            </a:r>
            <a:endParaRPr lang="en-US" sz="1800" dirty="0"/>
          </a:p>
        </p:txBody>
      </p:sp>
      <p:sp>
        <p:nvSpPr>
          <p:cNvPr id="6" name="Text 3"/>
          <p:cNvSpPr/>
          <p:nvPr/>
        </p:nvSpPr>
        <p:spPr>
          <a:xfrm>
            <a:off x="133350" y="3143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Setup</a:t>
            </a:r>
            <a:endParaRPr lang="en-US" sz="1800" dirty="0"/>
          </a:p>
        </p:txBody>
      </p:sp>
      <p:sp>
        <p:nvSpPr>
          <p:cNvPr id="7" name="Text 4"/>
          <p:cNvSpPr/>
          <p:nvPr/>
        </p:nvSpPr>
        <p:spPr>
          <a:xfrm>
            <a:off x="133350" y="3524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Clone</a:t>
            </a:r>
            <a:endParaRPr lang="en-US" sz="1800" dirty="0"/>
          </a:p>
        </p:txBody>
      </p:sp>
      <p:sp>
        <p:nvSpPr>
          <p:cNvPr id="8" name="Text 5"/>
          <p:cNvSpPr/>
          <p:nvPr/>
        </p:nvSpPr>
        <p:spPr>
          <a:xfrm>
            <a:off x="133350" y="3905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Commit</a:t>
            </a:r>
            <a:endParaRPr lang="en-US" sz="1800" dirty="0"/>
          </a:p>
        </p:txBody>
      </p:sp>
      <p:sp>
        <p:nvSpPr>
          <p:cNvPr id="9" name="Text 6"/>
          <p:cNvSpPr/>
          <p:nvPr/>
        </p:nvSpPr>
        <p:spPr>
          <a:xfrm>
            <a:off x="133350" y="4286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Sync</a:t>
            </a:r>
            <a:endParaRPr lang="en-US" sz="1800" dirty="0"/>
          </a:p>
        </p:txBody>
      </p:sp>
      <p:sp>
        <p:nvSpPr>
          <p:cNvPr id="10" name="Text 7"/>
          <p:cNvSpPr/>
          <p:nvPr/>
        </p:nvSpPr>
        <p:spPr>
          <a:xfrm>
            <a:off x="133350" y="4667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Branches</a:t>
            </a:r>
            <a:endParaRPr lang="en-US" sz="1800" dirty="0"/>
          </a:p>
        </p:txBody>
      </p:sp>
      <p:sp>
        <p:nvSpPr>
          <p:cNvPr id="11" name="Text 8"/>
          <p:cNvSpPr/>
          <p:nvPr/>
        </p:nvSpPr>
        <p:spPr>
          <a:xfrm>
            <a:off x="133350" y="5048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Conflicts</a:t>
            </a:r>
            <a:endParaRPr lang="en-US" sz="1800" dirty="0"/>
          </a:p>
        </p:txBody>
      </p:sp>
      <p:sp>
        <p:nvSpPr>
          <p:cNvPr id="12" name="Text 9"/>
          <p:cNvSpPr/>
          <p:nvPr/>
        </p:nvSpPr>
        <p:spPr>
          <a:xfrm>
            <a:off x="133350" y="5429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History</a:t>
            </a:r>
            <a:endParaRPr lang="en-US" sz="1800" dirty="0"/>
          </a:p>
        </p:txBody>
      </p:sp>
      <p:sp>
        <p:nvSpPr>
          <p:cNvPr id="13" name="Text 10"/>
          <p:cNvSpPr/>
          <p:nvPr/>
        </p:nvSpPr>
        <p:spPr>
          <a:xfrm>
            <a:off x="133350" y="5810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Agent-Ready</a:t>
            </a:r>
            <a:endParaRPr lang="en-US" sz="1800" dirty="0"/>
          </a:p>
        </p:txBody>
      </p:sp>
      <p:sp>
        <p:nvSpPr>
          <p:cNvPr id="14" name="Text 11"/>
          <p:cNvSpPr/>
          <p:nvPr/>
        </p:nvSpPr>
        <p:spPr>
          <a:xfrm>
            <a:off x="133350" y="6191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Review</a:t>
            </a:r>
            <a:endParaRPr lang="en-US" sz="1800" dirty="0"/>
          </a:p>
        </p:txBody>
      </p:sp>
      <p:sp>
        <p:nvSpPr>
          <p:cNvPr id="15" name="Text 12"/>
          <p:cNvSpPr/>
          <p:nvPr/>
        </p:nvSpPr>
        <p:spPr>
          <a:xfrm>
            <a:off x="1657350" y="200025"/>
            <a:ext cx="10988040" cy="1057275"/>
          </a:xfrm>
          <a:prstGeom prst="rect">
            <a:avLst/>
          </a:prstGeom>
          <a:noFill/>
          <a:ln/>
        </p:spPr>
        <p:txBody>
          <a:bodyPr wrap="square" lIns="25400" tIns="25400" rIns="25400" bIns="25400" rtlCol="0" anchor="ctr">
            <a:norm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Troubleshooting</a:t>
            </a:r>
            <a:endParaRPr lang="en-US" sz="4800" dirty="0"/>
          </a:p>
        </p:txBody>
      </p:sp>
      <p:sp>
        <p:nvSpPr>
          <p:cNvPr id="16" name="Text 13"/>
          <p:cNvSpPr/>
          <p:nvPr/>
        </p:nvSpPr>
        <p:spPr>
          <a:xfrm>
            <a:off x="12515950" y="133350"/>
            <a:ext cx="1142901"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1</a:t>
            </a:r>
            <a:endParaRPr lang="en-US" sz="2100" dirty="0"/>
          </a:p>
        </p:txBody>
      </p:sp>
      <p:sp>
        <p:nvSpPr>
          <p:cNvPr id="17" name="Shape 14"/>
          <p:cNvSpPr/>
          <p:nvPr/>
        </p:nvSpPr>
        <p:spPr>
          <a:xfrm>
            <a:off x="1657350" y="1219200"/>
            <a:ext cx="11925300" cy="66675"/>
          </a:xfrm>
          <a:prstGeom prst="rect">
            <a:avLst/>
          </a:prstGeom>
          <a:solidFill>
            <a:srgbClr val="000000"/>
          </a:solidFill>
          <a:ln/>
        </p:spPr>
      </p:sp>
      <p:sp>
        <p:nvSpPr>
          <p:cNvPr id="18" name="Shape 15"/>
          <p:cNvSpPr/>
          <p:nvPr/>
        </p:nvSpPr>
        <p:spPr>
          <a:xfrm>
            <a:off x="1809750" y="1571625"/>
            <a:ext cx="4572000" cy="614363"/>
          </a:xfrm>
          <a:prstGeom prst="rect">
            <a:avLst/>
          </a:prstGeom>
          <a:solidFill>
            <a:srgbClr val="152A47"/>
          </a:solidFill>
          <a:ln/>
        </p:spPr>
      </p:sp>
      <p:sp>
        <p:nvSpPr>
          <p:cNvPr id="19" name="Text 16"/>
          <p:cNvSpPr/>
          <p:nvPr/>
        </p:nvSpPr>
        <p:spPr>
          <a:xfrm>
            <a:off x="1981200" y="1724025"/>
            <a:ext cx="436626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Segoe UI" pitchFamily="34" charset="0"/>
                <a:ea typeface="Segoe UI" pitchFamily="34" charset="-122"/>
                <a:cs typeface="Segoe UI" pitchFamily="34" charset="-120"/>
              </a:rPr>
              <a:t>Symptom</a:t>
            </a:r>
            <a:endParaRPr lang="en-US" sz="1875" dirty="0"/>
          </a:p>
        </p:txBody>
      </p:sp>
      <p:sp>
        <p:nvSpPr>
          <p:cNvPr id="20" name="Shape 17"/>
          <p:cNvSpPr/>
          <p:nvPr/>
        </p:nvSpPr>
        <p:spPr>
          <a:xfrm>
            <a:off x="6381750" y="1571625"/>
            <a:ext cx="7105650" cy="614363"/>
          </a:xfrm>
          <a:prstGeom prst="rect">
            <a:avLst/>
          </a:prstGeom>
          <a:solidFill>
            <a:srgbClr val="152A47"/>
          </a:solidFill>
          <a:ln/>
        </p:spPr>
      </p:sp>
      <p:sp>
        <p:nvSpPr>
          <p:cNvPr id="21" name="Text 18"/>
          <p:cNvSpPr/>
          <p:nvPr/>
        </p:nvSpPr>
        <p:spPr>
          <a:xfrm>
            <a:off x="6553200" y="1724025"/>
            <a:ext cx="697592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Segoe UI" pitchFamily="34" charset="0"/>
                <a:ea typeface="Segoe UI" pitchFamily="34" charset="-122"/>
                <a:cs typeface="Segoe UI" pitchFamily="34" charset="-120"/>
              </a:rPr>
              <a:t>Fix</a:t>
            </a:r>
            <a:endParaRPr lang="en-US" sz="1875" dirty="0"/>
          </a:p>
        </p:txBody>
      </p:sp>
      <p:sp>
        <p:nvSpPr>
          <p:cNvPr id="22" name="Shape 19"/>
          <p:cNvSpPr/>
          <p:nvPr/>
        </p:nvSpPr>
        <p:spPr>
          <a:xfrm>
            <a:off x="1809750" y="3090863"/>
            <a:ext cx="4572000" cy="19050"/>
          </a:xfrm>
          <a:prstGeom prst="rect">
            <a:avLst/>
          </a:prstGeom>
          <a:solidFill>
            <a:srgbClr val="BFBFBF"/>
          </a:solidFill>
          <a:ln/>
        </p:spPr>
      </p:sp>
      <p:sp>
        <p:nvSpPr>
          <p:cNvPr id="23" name="Text 20"/>
          <p:cNvSpPr/>
          <p:nvPr/>
        </p:nvSpPr>
        <p:spPr>
          <a:xfrm>
            <a:off x="1981200" y="2328863"/>
            <a:ext cx="436626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Segoe UI" pitchFamily="34" charset="0"/>
                <a:ea typeface="Segoe UI" pitchFamily="34" charset="-122"/>
                <a:cs typeface="Segoe UI" pitchFamily="34" charset="-120"/>
              </a:rPr>
              <a:t>Push rejected; Desktop shows Pull origin</a:t>
            </a:r>
            <a:endParaRPr lang="en-US" sz="1875" dirty="0"/>
          </a:p>
        </p:txBody>
      </p:sp>
      <p:sp>
        <p:nvSpPr>
          <p:cNvPr id="24" name="Shape 21"/>
          <p:cNvSpPr/>
          <p:nvPr/>
        </p:nvSpPr>
        <p:spPr>
          <a:xfrm>
            <a:off x="6381750" y="3090863"/>
            <a:ext cx="7105650" cy="19050"/>
          </a:xfrm>
          <a:prstGeom prst="rect">
            <a:avLst/>
          </a:prstGeom>
          <a:solidFill>
            <a:srgbClr val="BFBFBF"/>
          </a:solidFill>
          <a:ln/>
        </p:spPr>
      </p:sp>
      <p:sp>
        <p:nvSpPr>
          <p:cNvPr id="25" name="Text 22"/>
          <p:cNvSpPr/>
          <p:nvPr/>
        </p:nvSpPr>
        <p:spPr>
          <a:xfrm>
            <a:off x="6553200" y="2328863"/>
            <a:ext cx="697592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GitHub has newer commits. Pull, resolve any conflict, then push.</a:t>
            </a:r>
            <a:endParaRPr lang="en-US" sz="1875" dirty="0"/>
          </a:p>
        </p:txBody>
      </p:sp>
      <p:sp>
        <p:nvSpPr>
          <p:cNvPr id="26" name="Shape 23"/>
          <p:cNvSpPr/>
          <p:nvPr/>
        </p:nvSpPr>
        <p:spPr>
          <a:xfrm>
            <a:off x="1809750" y="4014788"/>
            <a:ext cx="4572000" cy="19050"/>
          </a:xfrm>
          <a:prstGeom prst="rect">
            <a:avLst/>
          </a:prstGeom>
          <a:solidFill>
            <a:srgbClr val="BFBFBF"/>
          </a:solidFill>
          <a:ln/>
        </p:spPr>
      </p:sp>
      <p:sp>
        <p:nvSpPr>
          <p:cNvPr id="27" name="Text 24"/>
          <p:cNvSpPr/>
          <p:nvPr/>
        </p:nvSpPr>
        <p:spPr>
          <a:xfrm>
            <a:off x="1981200" y="3252788"/>
            <a:ext cx="436626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Segoe UI" pitchFamily="34" charset="0"/>
                <a:ea typeface="Segoe UI" pitchFamily="34" charset="-122"/>
                <a:cs typeface="Segoe UI" pitchFamily="34" charset="-120"/>
              </a:rPr>
              <a:t>Repo missing from Clone list</a:t>
            </a:r>
            <a:endParaRPr lang="en-US" sz="1875" dirty="0"/>
          </a:p>
        </p:txBody>
      </p:sp>
      <p:sp>
        <p:nvSpPr>
          <p:cNvPr id="28" name="Shape 25"/>
          <p:cNvSpPr/>
          <p:nvPr/>
        </p:nvSpPr>
        <p:spPr>
          <a:xfrm>
            <a:off x="6381750" y="4014788"/>
            <a:ext cx="7105650" cy="19050"/>
          </a:xfrm>
          <a:prstGeom prst="rect">
            <a:avLst/>
          </a:prstGeom>
          <a:solidFill>
            <a:srgbClr val="BFBFBF"/>
          </a:solidFill>
          <a:ln/>
        </p:spPr>
      </p:sp>
      <p:sp>
        <p:nvSpPr>
          <p:cNvPr id="29" name="Text 26"/>
          <p:cNvSpPr/>
          <p:nvPr/>
        </p:nvSpPr>
        <p:spPr>
          <a:xfrm>
            <a:off x="6553200" y="3252788"/>
            <a:ext cx="697592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Check the signed-in account (Options › Accounts) or paste the URL in the URL tab.</a:t>
            </a:r>
            <a:endParaRPr lang="en-US" sz="1875" dirty="0"/>
          </a:p>
        </p:txBody>
      </p:sp>
      <p:sp>
        <p:nvSpPr>
          <p:cNvPr id="30" name="Shape 27"/>
          <p:cNvSpPr/>
          <p:nvPr/>
        </p:nvSpPr>
        <p:spPr>
          <a:xfrm>
            <a:off x="1809750" y="4629150"/>
            <a:ext cx="4572000" cy="19050"/>
          </a:xfrm>
          <a:prstGeom prst="rect">
            <a:avLst/>
          </a:prstGeom>
          <a:solidFill>
            <a:srgbClr val="BFBFBF"/>
          </a:solidFill>
          <a:ln/>
        </p:spPr>
      </p:sp>
      <p:sp>
        <p:nvSpPr>
          <p:cNvPr id="31" name="Text 28"/>
          <p:cNvSpPr/>
          <p:nvPr/>
        </p:nvSpPr>
        <p:spPr>
          <a:xfrm>
            <a:off x="1981200" y="4176712"/>
            <a:ext cx="436626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Segoe UI" pitchFamily="34" charset="0"/>
                <a:ea typeface="Segoe UI" pitchFamily="34" charset="-122"/>
                <a:cs typeface="Segoe UI" pitchFamily="34" charset="-120"/>
              </a:rPr>
              <a:t>Authentication failed</a:t>
            </a:r>
            <a:endParaRPr lang="en-US" sz="1875" dirty="0"/>
          </a:p>
        </p:txBody>
      </p:sp>
      <p:sp>
        <p:nvSpPr>
          <p:cNvPr id="32" name="Shape 29"/>
          <p:cNvSpPr/>
          <p:nvPr/>
        </p:nvSpPr>
        <p:spPr>
          <a:xfrm>
            <a:off x="6381750" y="4629150"/>
            <a:ext cx="7105650" cy="19050"/>
          </a:xfrm>
          <a:prstGeom prst="rect">
            <a:avLst/>
          </a:prstGeom>
          <a:solidFill>
            <a:srgbClr val="BFBFBF"/>
          </a:solidFill>
          <a:ln/>
        </p:spPr>
      </p:sp>
      <p:sp>
        <p:nvSpPr>
          <p:cNvPr id="33" name="Text 30"/>
          <p:cNvSpPr/>
          <p:nvPr/>
        </p:nvSpPr>
        <p:spPr>
          <a:xfrm>
            <a:off x="6553200" y="4176712"/>
            <a:ext cx="697592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Sign out and back in under Options › Accounts.</a:t>
            </a:r>
            <a:endParaRPr lang="en-US" sz="1875" dirty="0"/>
          </a:p>
        </p:txBody>
      </p:sp>
      <p:sp>
        <p:nvSpPr>
          <p:cNvPr id="34" name="Shape 31"/>
          <p:cNvSpPr/>
          <p:nvPr/>
        </p:nvSpPr>
        <p:spPr>
          <a:xfrm>
            <a:off x="1809750" y="5553075"/>
            <a:ext cx="4572000" cy="19050"/>
          </a:xfrm>
          <a:prstGeom prst="rect">
            <a:avLst/>
          </a:prstGeom>
          <a:solidFill>
            <a:srgbClr val="BFBFBF"/>
          </a:solidFill>
          <a:ln/>
        </p:spPr>
      </p:sp>
      <p:sp>
        <p:nvSpPr>
          <p:cNvPr id="35" name="Text 32"/>
          <p:cNvSpPr/>
          <p:nvPr/>
        </p:nvSpPr>
        <p:spPr>
          <a:xfrm>
            <a:off x="1981200" y="4791075"/>
            <a:ext cx="436626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Segoe UI" pitchFamily="34" charset="0"/>
                <a:ea typeface="Segoe UI" pitchFamily="34" charset="-122"/>
                <a:cs typeface="Segoe UI" pitchFamily="34" charset="-120"/>
              </a:rPr>
              <a:t>Can’t switch branch or pull: uncommitted changes</a:t>
            </a:r>
            <a:endParaRPr lang="en-US" sz="1875" dirty="0"/>
          </a:p>
        </p:txBody>
      </p:sp>
      <p:sp>
        <p:nvSpPr>
          <p:cNvPr id="36" name="Shape 33"/>
          <p:cNvSpPr/>
          <p:nvPr/>
        </p:nvSpPr>
        <p:spPr>
          <a:xfrm>
            <a:off x="6381750" y="5553075"/>
            <a:ext cx="7105650" cy="19050"/>
          </a:xfrm>
          <a:prstGeom prst="rect">
            <a:avLst/>
          </a:prstGeom>
          <a:solidFill>
            <a:srgbClr val="BFBFBF"/>
          </a:solidFill>
          <a:ln/>
        </p:spPr>
      </p:sp>
      <p:sp>
        <p:nvSpPr>
          <p:cNvPr id="37" name="Text 34"/>
          <p:cNvSpPr/>
          <p:nvPr/>
        </p:nvSpPr>
        <p:spPr>
          <a:xfrm>
            <a:off x="6553200" y="4791075"/>
            <a:ext cx="6975920" cy="657225"/>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Commit them, or choose to stash them when Desktop asks.</a:t>
            </a:r>
            <a:endParaRPr lang="en-US" sz="1875" dirty="0"/>
          </a:p>
        </p:txBody>
      </p:sp>
      <p:sp>
        <p:nvSpPr>
          <p:cNvPr id="38" name="Shape 35"/>
          <p:cNvSpPr/>
          <p:nvPr/>
        </p:nvSpPr>
        <p:spPr>
          <a:xfrm>
            <a:off x="1809750" y="6167438"/>
            <a:ext cx="4572000" cy="19050"/>
          </a:xfrm>
          <a:prstGeom prst="rect">
            <a:avLst/>
          </a:prstGeom>
          <a:solidFill>
            <a:srgbClr val="BFBFBF"/>
          </a:solidFill>
          <a:ln/>
        </p:spPr>
      </p:sp>
      <p:sp>
        <p:nvSpPr>
          <p:cNvPr id="39" name="Text 36"/>
          <p:cNvSpPr/>
          <p:nvPr/>
        </p:nvSpPr>
        <p:spPr>
          <a:xfrm>
            <a:off x="1981200" y="5715000"/>
            <a:ext cx="436626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Segoe UI" pitchFamily="34" charset="0"/>
                <a:ea typeface="Segoe UI" pitchFamily="34" charset="-122"/>
                <a:cs typeface="Segoe UI" pitchFamily="34" charset="-120"/>
              </a:rPr>
              <a:t>Committed to the wrong branch</a:t>
            </a:r>
            <a:endParaRPr lang="en-US" sz="1875" dirty="0"/>
          </a:p>
        </p:txBody>
      </p:sp>
      <p:sp>
        <p:nvSpPr>
          <p:cNvPr id="40" name="Shape 37"/>
          <p:cNvSpPr/>
          <p:nvPr/>
        </p:nvSpPr>
        <p:spPr>
          <a:xfrm>
            <a:off x="6381750" y="6167438"/>
            <a:ext cx="7105650" cy="19050"/>
          </a:xfrm>
          <a:prstGeom prst="rect">
            <a:avLst/>
          </a:prstGeom>
          <a:solidFill>
            <a:srgbClr val="BFBFBF"/>
          </a:solidFill>
          <a:ln/>
        </p:spPr>
      </p:sp>
      <p:sp>
        <p:nvSpPr>
          <p:cNvPr id="41" name="Text 38"/>
          <p:cNvSpPr/>
          <p:nvPr/>
        </p:nvSpPr>
        <p:spPr>
          <a:xfrm>
            <a:off x="6553200" y="5715000"/>
            <a:ext cx="697592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Not pushed: Undo, switch branch, commit again.</a:t>
            </a:r>
            <a:endParaRPr lang="en-US" sz="1875" dirty="0"/>
          </a:p>
        </p:txBody>
      </p:sp>
      <p:sp>
        <p:nvSpPr>
          <p:cNvPr id="42" name="Shape 39"/>
          <p:cNvSpPr/>
          <p:nvPr/>
        </p:nvSpPr>
        <p:spPr>
          <a:xfrm>
            <a:off x="1809750" y="6781800"/>
            <a:ext cx="4572000" cy="19050"/>
          </a:xfrm>
          <a:prstGeom prst="rect">
            <a:avLst/>
          </a:prstGeom>
          <a:solidFill>
            <a:srgbClr val="BFBFBF"/>
          </a:solidFill>
          <a:ln/>
        </p:spPr>
      </p:sp>
      <p:sp>
        <p:nvSpPr>
          <p:cNvPr id="43" name="Text 40"/>
          <p:cNvSpPr/>
          <p:nvPr/>
        </p:nvSpPr>
        <p:spPr>
          <a:xfrm>
            <a:off x="1981200" y="6329363"/>
            <a:ext cx="436626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Segoe UI" pitchFamily="34" charset="0"/>
                <a:ea typeface="Segoe UI" pitchFamily="34" charset="-122"/>
                <a:cs typeface="Segoe UI" pitchFamily="34" charset="-120"/>
              </a:rPr>
              <a:t>Unwanted files in Changes</a:t>
            </a:r>
            <a:endParaRPr lang="en-US" sz="1875" dirty="0"/>
          </a:p>
        </p:txBody>
      </p:sp>
      <p:sp>
        <p:nvSpPr>
          <p:cNvPr id="44" name="Shape 41"/>
          <p:cNvSpPr/>
          <p:nvPr/>
        </p:nvSpPr>
        <p:spPr>
          <a:xfrm>
            <a:off x="6381750" y="6781800"/>
            <a:ext cx="7105650" cy="19050"/>
          </a:xfrm>
          <a:prstGeom prst="rect">
            <a:avLst/>
          </a:prstGeom>
          <a:solidFill>
            <a:srgbClr val="BFBFBF"/>
          </a:solidFill>
          <a:ln/>
        </p:spPr>
      </p:sp>
      <p:sp>
        <p:nvSpPr>
          <p:cNvPr id="45" name="Text 42"/>
          <p:cNvSpPr/>
          <p:nvPr/>
        </p:nvSpPr>
        <p:spPr>
          <a:xfrm>
            <a:off x="6553200" y="6329363"/>
            <a:ext cx="697592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Right-click › Ignore file (adds it to .gitignore).</a:t>
            </a:r>
            <a:endParaRPr lang="en-US" sz="1875" dirty="0"/>
          </a:p>
        </p:txBody>
      </p:sp>
      <p:sp>
        <p:nvSpPr>
          <p:cNvPr id="46" name="Shape 43"/>
          <p:cNvSpPr/>
          <p:nvPr/>
        </p:nvSpPr>
        <p:spPr>
          <a:xfrm>
            <a:off x="1809750" y="7396162"/>
            <a:ext cx="4572000" cy="19050"/>
          </a:xfrm>
          <a:prstGeom prst="rect">
            <a:avLst/>
          </a:prstGeom>
          <a:solidFill>
            <a:srgbClr val="BFBFBF"/>
          </a:solidFill>
          <a:ln/>
        </p:spPr>
      </p:sp>
      <p:sp>
        <p:nvSpPr>
          <p:cNvPr id="47" name="Text 44"/>
          <p:cNvSpPr/>
          <p:nvPr/>
        </p:nvSpPr>
        <p:spPr>
          <a:xfrm>
            <a:off x="1981200" y="6943725"/>
            <a:ext cx="436626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Segoe UI" pitchFamily="34" charset="0"/>
                <a:ea typeface="Segoe UI" pitchFamily="34" charset="-122"/>
                <a:cs typeface="Segoe UI" pitchFamily="34" charset="-120"/>
              </a:rPr>
              <a:t>Files flicker or duplicate</a:t>
            </a:r>
            <a:endParaRPr lang="en-US" sz="1875" dirty="0"/>
          </a:p>
        </p:txBody>
      </p:sp>
      <p:sp>
        <p:nvSpPr>
          <p:cNvPr id="48" name="Shape 45"/>
          <p:cNvSpPr/>
          <p:nvPr/>
        </p:nvSpPr>
        <p:spPr>
          <a:xfrm>
            <a:off x="6381750" y="7396162"/>
            <a:ext cx="7105650" cy="19050"/>
          </a:xfrm>
          <a:prstGeom prst="rect">
            <a:avLst/>
          </a:prstGeom>
          <a:solidFill>
            <a:srgbClr val="BFBFBF"/>
          </a:solidFill>
          <a:ln/>
        </p:spPr>
      </p:sp>
      <p:sp>
        <p:nvSpPr>
          <p:cNvPr id="49" name="Text 46"/>
          <p:cNvSpPr/>
          <p:nvPr/>
        </p:nvSpPr>
        <p:spPr>
          <a:xfrm>
            <a:off x="6553200" y="6943725"/>
            <a:ext cx="697592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Repo is in a OneDrive-synced folder. Re-clone to a local path.</a:t>
            </a:r>
            <a:endParaRPr lang="en-US" sz="1875" dirty="0"/>
          </a:p>
        </p:txBody>
      </p:sp>
      <p:sp>
        <p:nvSpPr>
          <p:cNvPr id="50" name="Shape 47"/>
          <p:cNvSpPr/>
          <p:nvPr/>
        </p:nvSpPr>
        <p:spPr>
          <a:xfrm>
            <a:off x="1809750" y="8010525"/>
            <a:ext cx="4572000" cy="19050"/>
          </a:xfrm>
          <a:prstGeom prst="rect">
            <a:avLst/>
          </a:prstGeom>
          <a:solidFill>
            <a:srgbClr val="BFBFBF"/>
          </a:solidFill>
          <a:ln/>
        </p:spPr>
      </p:sp>
      <p:sp>
        <p:nvSpPr>
          <p:cNvPr id="51" name="Text 48"/>
          <p:cNvSpPr/>
          <p:nvPr/>
        </p:nvSpPr>
        <p:spPr>
          <a:xfrm>
            <a:off x="1981200" y="7558088"/>
            <a:ext cx="436626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Segoe UI" pitchFamily="34" charset="0"/>
                <a:ea typeface="Segoe UI" pitchFamily="34" charset="-122"/>
                <a:cs typeface="Segoe UI" pitchFamily="34" charset="-120"/>
              </a:rPr>
              <a:t>Pushed a password or key</a:t>
            </a:r>
            <a:endParaRPr lang="en-US" sz="1875" dirty="0"/>
          </a:p>
        </p:txBody>
      </p:sp>
      <p:sp>
        <p:nvSpPr>
          <p:cNvPr id="52" name="Shape 49"/>
          <p:cNvSpPr/>
          <p:nvPr/>
        </p:nvSpPr>
        <p:spPr>
          <a:xfrm>
            <a:off x="6381750" y="8010525"/>
            <a:ext cx="7105650" cy="19050"/>
          </a:xfrm>
          <a:prstGeom prst="rect">
            <a:avLst/>
          </a:prstGeom>
          <a:solidFill>
            <a:srgbClr val="BFBFBF"/>
          </a:solidFill>
          <a:ln/>
        </p:spPr>
      </p:sp>
      <p:sp>
        <p:nvSpPr>
          <p:cNvPr id="53" name="Text 50"/>
          <p:cNvSpPr/>
          <p:nvPr/>
        </p:nvSpPr>
        <p:spPr>
          <a:xfrm>
            <a:off x="6553200" y="7558088"/>
            <a:ext cx="697592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Rotate it now. Deleting the file doesn’t remove it from history.</a:t>
            </a:r>
            <a:endParaRPr lang="en-US" sz="1875" dirty="0"/>
          </a:p>
        </p:txBody>
      </p:sp>
      <p:sp>
        <p:nvSpPr>
          <p:cNvPr id="54" name="Text 51"/>
          <p:cNvSpPr/>
          <p:nvPr/>
        </p:nvSpPr>
        <p:spPr>
          <a:xfrm>
            <a:off x="1054418" y="9810750"/>
            <a:ext cx="13264515"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1</a:t>
            </a:r>
            <a:endParaRPr lang="en-US" sz="1800" dirty="0"/>
          </a:p>
        </p:txBody>
      </p:sp>
      <p:sp>
        <p:nvSpPr>
          <p:cNvPr id="55" name="Text 52"/>
          <p:cNvSpPr/>
          <p:nvPr/>
        </p:nvSpPr>
        <p:spPr>
          <a:xfrm>
            <a:off x="13336191" y="9810750"/>
            <a:ext cx="322659" cy="342900"/>
          </a:xfrm>
          <a:prstGeom prst="rect">
            <a:avLst/>
          </a:prstGeom>
          <a:noFill/>
          <a:ln/>
        </p:spPr>
        <p:txBody>
          <a:bodyPr wrap="square" lIns="25400" tIns="25400" rIns="25400" bIns="25400" rtlCol="0" anchor="t">
            <a:norm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21</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543050" cy="10287000"/>
          </a:xfrm>
          <a:prstGeom prst="rect">
            <a:avLst/>
          </a:prstGeom>
          <a:solidFill>
            <a:srgbClr val="E6E6E6"/>
          </a:solidFill>
          <a:ln/>
        </p:spPr>
      </p:sp>
      <p:pic>
        <p:nvPicPr>
          <p:cNvPr id="3" name="Image 0" descr="preencoded.png">    </p:cNvPr>
          <p:cNvPicPr>
            <a:picLocks noChangeAspect="1"/>
          </p:cNvPicPr>
          <p:nvPr/>
        </p:nvPicPr>
        <p:blipFill>
          <a:blip r:embed="rId1"/>
          <a:stretch>
            <a:fillRect/>
          </a:stretch>
        </p:blipFill>
        <p:spPr>
          <a:xfrm>
            <a:off x="200025" y="133350"/>
            <a:ext cx="1143000" cy="1143000"/>
          </a:xfrm>
          <a:prstGeom prst="rect">
            <a:avLst/>
          </a:prstGeom>
        </p:spPr>
      </p:pic>
      <p:sp>
        <p:nvSpPr>
          <p:cNvPr id="4" name="Text 1"/>
          <p:cNvSpPr/>
          <p:nvPr/>
        </p:nvSpPr>
        <p:spPr>
          <a:xfrm>
            <a:off x="133350" y="2381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Overview</a:t>
            </a:r>
            <a:endParaRPr lang="en-US" sz="1800" dirty="0"/>
          </a:p>
        </p:txBody>
      </p:sp>
      <p:sp>
        <p:nvSpPr>
          <p:cNvPr id="5" name="Text 2"/>
          <p:cNvSpPr/>
          <p:nvPr/>
        </p:nvSpPr>
        <p:spPr>
          <a:xfrm>
            <a:off x="133350" y="2762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Concepts</a:t>
            </a:r>
            <a:endParaRPr lang="en-US" sz="1800" dirty="0"/>
          </a:p>
        </p:txBody>
      </p:sp>
      <p:sp>
        <p:nvSpPr>
          <p:cNvPr id="6" name="Text 3"/>
          <p:cNvSpPr/>
          <p:nvPr/>
        </p:nvSpPr>
        <p:spPr>
          <a:xfrm>
            <a:off x="133350" y="3143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Setup</a:t>
            </a:r>
            <a:endParaRPr lang="en-US" sz="1800" dirty="0"/>
          </a:p>
        </p:txBody>
      </p:sp>
      <p:sp>
        <p:nvSpPr>
          <p:cNvPr id="7" name="Text 4"/>
          <p:cNvSpPr/>
          <p:nvPr/>
        </p:nvSpPr>
        <p:spPr>
          <a:xfrm>
            <a:off x="133350" y="3524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Clone</a:t>
            </a:r>
            <a:endParaRPr lang="en-US" sz="1800" dirty="0"/>
          </a:p>
        </p:txBody>
      </p:sp>
      <p:sp>
        <p:nvSpPr>
          <p:cNvPr id="8" name="Text 5"/>
          <p:cNvSpPr/>
          <p:nvPr/>
        </p:nvSpPr>
        <p:spPr>
          <a:xfrm>
            <a:off x="133350" y="3905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Commit</a:t>
            </a:r>
            <a:endParaRPr lang="en-US" sz="1800" dirty="0"/>
          </a:p>
        </p:txBody>
      </p:sp>
      <p:sp>
        <p:nvSpPr>
          <p:cNvPr id="9" name="Text 6"/>
          <p:cNvSpPr/>
          <p:nvPr/>
        </p:nvSpPr>
        <p:spPr>
          <a:xfrm>
            <a:off x="133350" y="4286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Sync</a:t>
            </a:r>
            <a:endParaRPr lang="en-US" sz="1800" dirty="0"/>
          </a:p>
        </p:txBody>
      </p:sp>
      <p:sp>
        <p:nvSpPr>
          <p:cNvPr id="10" name="Text 7"/>
          <p:cNvSpPr/>
          <p:nvPr/>
        </p:nvSpPr>
        <p:spPr>
          <a:xfrm>
            <a:off x="133350" y="4667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Branches</a:t>
            </a:r>
            <a:endParaRPr lang="en-US" sz="1800" dirty="0"/>
          </a:p>
        </p:txBody>
      </p:sp>
      <p:sp>
        <p:nvSpPr>
          <p:cNvPr id="11" name="Text 8"/>
          <p:cNvSpPr/>
          <p:nvPr/>
        </p:nvSpPr>
        <p:spPr>
          <a:xfrm>
            <a:off x="133350" y="5048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Conflicts</a:t>
            </a:r>
            <a:endParaRPr lang="en-US" sz="1800" dirty="0"/>
          </a:p>
        </p:txBody>
      </p:sp>
      <p:sp>
        <p:nvSpPr>
          <p:cNvPr id="12" name="Text 9"/>
          <p:cNvSpPr/>
          <p:nvPr/>
        </p:nvSpPr>
        <p:spPr>
          <a:xfrm>
            <a:off x="133350" y="5429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History</a:t>
            </a:r>
            <a:endParaRPr lang="en-US" sz="1800" dirty="0"/>
          </a:p>
        </p:txBody>
      </p:sp>
      <p:sp>
        <p:nvSpPr>
          <p:cNvPr id="13" name="Text 10"/>
          <p:cNvSpPr/>
          <p:nvPr/>
        </p:nvSpPr>
        <p:spPr>
          <a:xfrm>
            <a:off x="133350" y="5810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Agent-Ready</a:t>
            </a:r>
            <a:endParaRPr lang="en-US" sz="1800" dirty="0"/>
          </a:p>
        </p:txBody>
      </p:sp>
      <p:sp>
        <p:nvSpPr>
          <p:cNvPr id="14" name="Text 11"/>
          <p:cNvSpPr/>
          <p:nvPr/>
        </p:nvSpPr>
        <p:spPr>
          <a:xfrm>
            <a:off x="133350" y="6191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Review</a:t>
            </a:r>
            <a:endParaRPr lang="en-US" sz="1800" dirty="0"/>
          </a:p>
        </p:txBody>
      </p:sp>
      <p:sp>
        <p:nvSpPr>
          <p:cNvPr id="15" name="Text 12"/>
          <p:cNvSpPr/>
          <p:nvPr/>
        </p:nvSpPr>
        <p:spPr>
          <a:xfrm>
            <a:off x="1657350" y="200025"/>
            <a:ext cx="10988040" cy="1057275"/>
          </a:xfrm>
          <a:prstGeom prst="rect">
            <a:avLst/>
          </a:prstGeom>
          <a:noFill/>
          <a:ln/>
        </p:spPr>
        <p:txBody>
          <a:bodyPr wrap="square" lIns="25400" tIns="25400" rIns="25400" bIns="25400" rtlCol="0" anchor="ctr">
            <a:norm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Quick Reference</a:t>
            </a:r>
            <a:endParaRPr lang="en-US" sz="4800" dirty="0"/>
          </a:p>
        </p:txBody>
      </p:sp>
      <p:sp>
        <p:nvSpPr>
          <p:cNvPr id="16" name="Text 13"/>
          <p:cNvSpPr/>
          <p:nvPr/>
        </p:nvSpPr>
        <p:spPr>
          <a:xfrm>
            <a:off x="12515950" y="133350"/>
            <a:ext cx="1142901"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1</a:t>
            </a:r>
            <a:endParaRPr lang="en-US" sz="2100" dirty="0"/>
          </a:p>
        </p:txBody>
      </p:sp>
      <p:sp>
        <p:nvSpPr>
          <p:cNvPr id="17" name="Shape 14"/>
          <p:cNvSpPr/>
          <p:nvPr/>
        </p:nvSpPr>
        <p:spPr>
          <a:xfrm>
            <a:off x="1657350" y="1219200"/>
            <a:ext cx="11925300" cy="66675"/>
          </a:xfrm>
          <a:prstGeom prst="rect">
            <a:avLst/>
          </a:prstGeom>
          <a:solidFill>
            <a:srgbClr val="000000"/>
          </a:solidFill>
          <a:ln/>
        </p:spPr>
      </p:sp>
      <p:sp>
        <p:nvSpPr>
          <p:cNvPr id="18" name="Shape 15"/>
          <p:cNvSpPr/>
          <p:nvPr/>
        </p:nvSpPr>
        <p:spPr>
          <a:xfrm>
            <a:off x="1809750" y="1571625"/>
            <a:ext cx="4191000" cy="614363"/>
          </a:xfrm>
          <a:prstGeom prst="rect">
            <a:avLst/>
          </a:prstGeom>
          <a:solidFill>
            <a:srgbClr val="152A47"/>
          </a:solidFill>
          <a:ln/>
        </p:spPr>
      </p:sp>
      <p:sp>
        <p:nvSpPr>
          <p:cNvPr id="19" name="Text 16"/>
          <p:cNvSpPr/>
          <p:nvPr/>
        </p:nvSpPr>
        <p:spPr>
          <a:xfrm>
            <a:off x="1981200" y="1724025"/>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Segoe UI" pitchFamily="34" charset="0"/>
                <a:ea typeface="Segoe UI" pitchFamily="34" charset="-122"/>
                <a:cs typeface="Segoe UI" pitchFamily="34" charset="-120"/>
              </a:rPr>
              <a:t>To…</a:t>
            </a:r>
            <a:endParaRPr lang="en-US" sz="1875" dirty="0"/>
          </a:p>
        </p:txBody>
      </p:sp>
      <p:sp>
        <p:nvSpPr>
          <p:cNvPr id="20" name="Shape 17"/>
          <p:cNvSpPr/>
          <p:nvPr/>
        </p:nvSpPr>
        <p:spPr>
          <a:xfrm>
            <a:off x="6000750" y="1571625"/>
            <a:ext cx="7486650" cy="614363"/>
          </a:xfrm>
          <a:prstGeom prst="rect">
            <a:avLst/>
          </a:prstGeom>
          <a:solidFill>
            <a:srgbClr val="152A47"/>
          </a:solidFill>
          <a:ln/>
        </p:spPr>
      </p:sp>
      <p:sp>
        <p:nvSpPr>
          <p:cNvPr id="21" name="Text 18"/>
          <p:cNvSpPr/>
          <p:nvPr/>
        </p:nvSpPr>
        <p:spPr>
          <a:xfrm>
            <a:off x="6172200" y="1724025"/>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FFFFFF"/>
                </a:solidFill>
                <a:latin typeface="Segoe UI" pitchFamily="34" charset="0"/>
                <a:ea typeface="Segoe UI" pitchFamily="34" charset="-122"/>
                <a:cs typeface="Segoe UI" pitchFamily="34" charset="-120"/>
              </a:rPr>
              <a:t>In GitHub Desktop</a:t>
            </a:r>
            <a:endParaRPr lang="en-US" sz="1875" dirty="0"/>
          </a:p>
        </p:txBody>
      </p:sp>
      <p:sp>
        <p:nvSpPr>
          <p:cNvPr id="22" name="Shape 19"/>
          <p:cNvSpPr/>
          <p:nvPr/>
        </p:nvSpPr>
        <p:spPr>
          <a:xfrm>
            <a:off x="1809750" y="2743200"/>
            <a:ext cx="4191000" cy="19050"/>
          </a:xfrm>
          <a:prstGeom prst="rect">
            <a:avLst/>
          </a:prstGeom>
          <a:solidFill>
            <a:srgbClr val="BFBFBF"/>
          </a:solidFill>
          <a:ln/>
        </p:spPr>
      </p:sp>
      <p:sp>
        <p:nvSpPr>
          <p:cNvPr id="23" name="Text 20"/>
          <p:cNvSpPr/>
          <p:nvPr/>
        </p:nvSpPr>
        <p:spPr>
          <a:xfrm>
            <a:off x="1981200" y="2309813"/>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Segoe UI" pitchFamily="34" charset="0"/>
                <a:ea typeface="Segoe UI" pitchFamily="34" charset="-122"/>
                <a:cs typeface="Segoe UI" pitchFamily="34" charset="-120"/>
              </a:rPr>
              <a:t>Get a repo from GitHub</a:t>
            </a:r>
            <a:endParaRPr lang="en-US" sz="1875" dirty="0"/>
          </a:p>
        </p:txBody>
      </p:sp>
      <p:sp>
        <p:nvSpPr>
          <p:cNvPr id="24" name="Shape 21"/>
          <p:cNvSpPr/>
          <p:nvPr/>
        </p:nvSpPr>
        <p:spPr>
          <a:xfrm>
            <a:off x="6000750" y="2743200"/>
            <a:ext cx="7486650" cy="19050"/>
          </a:xfrm>
          <a:prstGeom prst="rect">
            <a:avLst/>
          </a:prstGeom>
          <a:solidFill>
            <a:srgbClr val="BFBFBF"/>
          </a:solidFill>
          <a:ln/>
        </p:spPr>
      </p:sp>
      <p:sp>
        <p:nvSpPr>
          <p:cNvPr id="25" name="Text 22"/>
          <p:cNvSpPr/>
          <p:nvPr/>
        </p:nvSpPr>
        <p:spPr>
          <a:xfrm>
            <a:off x="6172200" y="2309813"/>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File › Clone repository</a:t>
            </a:r>
            <a:endParaRPr lang="en-US" sz="1875" dirty="0"/>
          </a:p>
        </p:txBody>
      </p:sp>
      <p:sp>
        <p:nvSpPr>
          <p:cNvPr id="26" name="Shape 23"/>
          <p:cNvSpPr/>
          <p:nvPr/>
        </p:nvSpPr>
        <p:spPr>
          <a:xfrm>
            <a:off x="1809750" y="3319463"/>
            <a:ext cx="4191000" cy="19050"/>
          </a:xfrm>
          <a:prstGeom prst="rect">
            <a:avLst/>
          </a:prstGeom>
          <a:solidFill>
            <a:srgbClr val="BFBFBF"/>
          </a:solidFill>
          <a:ln/>
        </p:spPr>
      </p:sp>
      <p:sp>
        <p:nvSpPr>
          <p:cNvPr id="27" name="Text 24"/>
          <p:cNvSpPr/>
          <p:nvPr/>
        </p:nvSpPr>
        <p:spPr>
          <a:xfrm>
            <a:off x="1981200" y="2886075"/>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Segoe UI" pitchFamily="34" charset="0"/>
                <a:ea typeface="Segoe UI" pitchFamily="34" charset="-122"/>
                <a:cs typeface="Segoe UI" pitchFamily="34" charset="-120"/>
              </a:rPr>
              <a:t>Track an existing folder</a:t>
            </a:r>
            <a:endParaRPr lang="en-US" sz="1875" dirty="0"/>
          </a:p>
        </p:txBody>
      </p:sp>
      <p:sp>
        <p:nvSpPr>
          <p:cNvPr id="28" name="Shape 25"/>
          <p:cNvSpPr/>
          <p:nvPr/>
        </p:nvSpPr>
        <p:spPr>
          <a:xfrm>
            <a:off x="6000750" y="3319463"/>
            <a:ext cx="7486650" cy="19050"/>
          </a:xfrm>
          <a:prstGeom prst="rect">
            <a:avLst/>
          </a:prstGeom>
          <a:solidFill>
            <a:srgbClr val="BFBFBF"/>
          </a:solidFill>
          <a:ln/>
        </p:spPr>
      </p:sp>
      <p:sp>
        <p:nvSpPr>
          <p:cNvPr id="29" name="Text 26"/>
          <p:cNvSpPr/>
          <p:nvPr/>
        </p:nvSpPr>
        <p:spPr>
          <a:xfrm>
            <a:off x="6172200" y="2886075"/>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File › Add local repository › create a repository</a:t>
            </a:r>
            <a:endParaRPr lang="en-US" sz="1875" dirty="0"/>
          </a:p>
        </p:txBody>
      </p:sp>
      <p:sp>
        <p:nvSpPr>
          <p:cNvPr id="30" name="Shape 27"/>
          <p:cNvSpPr/>
          <p:nvPr/>
        </p:nvSpPr>
        <p:spPr>
          <a:xfrm>
            <a:off x="1809750" y="3895725"/>
            <a:ext cx="4191000" cy="19050"/>
          </a:xfrm>
          <a:prstGeom prst="rect">
            <a:avLst/>
          </a:prstGeom>
          <a:solidFill>
            <a:srgbClr val="BFBFBF"/>
          </a:solidFill>
          <a:ln/>
        </p:spPr>
      </p:sp>
      <p:sp>
        <p:nvSpPr>
          <p:cNvPr id="31" name="Text 28"/>
          <p:cNvSpPr/>
          <p:nvPr/>
        </p:nvSpPr>
        <p:spPr>
          <a:xfrm>
            <a:off x="1981200" y="3462337"/>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Segoe UI" pitchFamily="34" charset="0"/>
                <a:ea typeface="Segoe UI" pitchFamily="34" charset="-122"/>
                <a:cs typeface="Segoe UI" pitchFamily="34" charset="-120"/>
              </a:rPr>
              <a:t>Put it on GitHub</a:t>
            </a:r>
            <a:endParaRPr lang="en-US" sz="1875" dirty="0"/>
          </a:p>
        </p:txBody>
      </p:sp>
      <p:sp>
        <p:nvSpPr>
          <p:cNvPr id="32" name="Shape 29"/>
          <p:cNvSpPr/>
          <p:nvPr/>
        </p:nvSpPr>
        <p:spPr>
          <a:xfrm>
            <a:off x="6000750" y="3895725"/>
            <a:ext cx="7486650" cy="19050"/>
          </a:xfrm>
          <a:prstGeom prst="rect">
            <a:avLst/>
          </a:prstGeom>
          <a:solidFill>
            <a:srgbClr val="BFBFBF"/>
          </a:solidFill>
          <a:ln/>
        </p:spPr>
      </p:sp>
      <p:sp>
        <p:nvSpPr>
          <p:cNvPr id="33" name="Text 30"/>
          <p:cNvSpPr/>
          <p:nvPr/>
        </p:nvSpPr>
        <p:spPr>
          <a:xfrm>
            <a:off x="6172200" y="3462337"/>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Publish repository (keep private)</a:t>
            </a:r>
            <a:endParaRPr lang="en-US" sz="1875" dirty="0"/>
          </a:p>
        </p:txBody>
      </p:sp>
      <p:sp>
        <p:nvSpPr>
          <p:cNvPr id="34" name="Shape 31"/>
          <p:cNvSpPr/>
          <p:nvPr/>
        </p:nvSpPr>
        <p:spPr>
          <a:xfrm>
            <a:off x="1809750" y="4471988"/>
            <a:ext cx="4191000" cy="19050"/>
          </a:xfrm>
          <a:prstGeom prst="rect">
            <a:avLst/>
          </a:prstGeom>
          <a:solidFill>
            <a:srgbClr val="BFBFBF"/>
          </a:solidFill>
          <a:ln/>
        </p:spPr>
      </p:sp>
      <p:sp>
        <p:nvSpPr>
          <p:cNvPr id="35" name="Text 32"/>
          <p:cNvSpPr/>
          <p:nvPr/>
        </p:nvSpPr>
        <p:spPr>
          <a:xfrm>
            <a:off x="1981200" y="4038600"/>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Segoe UI" pitchFamily="34" charset="0"/>
                <a:ea typeface="Segoe UI" pitchFamily="34" charset="-122"/>
                <a:cs typeface="Segoe UI" pitchFamily="34" charset="-120"/>
              </a:rPr>
              <a:t>Save a snapshot</a:t>
            </a:r>
            <a:endParaRPr lang="en-US" sz="1875" dirty="0"/>
          </a:p>
        </p:txBody>
      </p:sp>
      <p:sp>
        <p:nvSpPr>
          <p:cNvPr id="36" name="Shape 33"/>
          <p:cNvSpPr/>
          <p:nvPr/>
        </p:nvSpPr>
        <p:spPr>
          <a:xfrm>
            <a:off x="6000750" y="4471988"/>
            <a:ext cx="7486650" cy="19050"/>
          </a:xfrm>
          <a:prstGeom prst="rect">
            <a:avLst/>
          </a:prstGeom>
          <a:solidFill>
            <a:srgbClr val="BFBFBF"/>
          </a:solidFill>
          <a:ln/>
        </p:spPr>
      </p:sp>
      <p:sp>
        <p:nvSpPr>
          <p:cNvPr id="37" name="Text 34"/>
          <p:cNvSpPr/>
          <p:nvPr/>
        </p:nvSpPr>
        <p:spPr>
          <a:xfrm>
            <a:off x="6172200" y="4038600"/>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Changes tab › Summary › Commit to &lt;branch&gt;</a:t>
            </a:r>
            <a:endParaRPr lang="en-US" sz="1875" dirty="0"/>
          </a:p>
        </p:txBody>
      </p:sp>
      <p:sp>
        <p:nvSpPr>
          <p:cNvPr id="38" name="Shape 35"/>
          <p:cNvSpPr/>
          <p:nvPr/>
        </p:nvSpPr>
        <p:spPr>
          <a:xfrm>
            <a:off x="1809750" y="5048250"/>
            <a:ext cx="4191000" cy="19050"/>
          </a:xfrm>
          <a:prstGeom prst="rect">
            <a:avLst/>
          </a:prstGeom>
          <a:solidFill>
            <a:srgbClr val="BFBFBF"/>
          </a:solidFill>
          <a:ln/>
        </p:spPr>
      </p:sp>
      <p:sp>
        <p:nvSpPr>
          <p:cNvPr id="39" name="Text 36"/>
          <p:cNvSpPr/>
          <p:nvPr/>
        </p:nvSpPr>
        <p:spPr>
          <a:xfrm>
            <a:off x="1981200" y="4614863"/>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Segoe UI" pitchFamily="34" charset="0"/>
                <a:ea typeface="Segoe UI" pitchFamily="34" charset="-122"/>
                <a:cs typeface="Segoe UI" pitchFamily="34" charset="-120"/>
              </a:rPr>
              <a:t>Send commits</a:t>
            </a:r>
            <a:endParaRPr lang="en-US" sz="1875" dirty="0"/>
          </a:p>
        </p:txBody>
      </p:sp>
      <p:sp>
        <p:nvSpPr>
          <p:cNvPr id="40" name="Shape 37"/>
          <p:cNvSpPr/>
          <p:nvPr/>
        </p:nvSpPr>
        <p:spPr>
          <a:xfrm>
            <a:off x="6000750" y="5048250"/>
            <a:ext cx="7486650" cy="19050"/>
          </a:xfrm>
          <a:prstGeom prst="rect">
            <a:avLst/>
          </a:prstGeom>
          <a:solidFill>
            <a:srgbClr val="BFBFBF"/>
          </a:solidFill>
          <a:ln/>
        </p:spPr>
      </p:sp>
      <p:sp>
        <p:nvSpPr>
          <p:cNvPr id="41" name="Text 38"/>
          <p:cNvSpPr/>
          <p:nvPr/>
        </p:nvSpPr>
        <p:spPr>
          <a:xfrm>
            <a:off x="6172200" y="4614863"/>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Push origin</a:t>
            </a:r>
            <a:endParaRPr lang="en-US" sz="1875" dirty="0"/>
          </a:p>
        </p:txBody>
      </p:sp>
      <p:sp>
        <p:nvSpPr>
          <p:cNvPr id="42" name="Shape 39"/>
          <p:cNvSpPr/>
          <p:nvPr/>
        </p:nvSpPr>
        <p:spPr>
          <a:xfrm>
            <a:off x="1809750" y="5624513"/>
            <a:ext cx="4191000" cy="19050"/>
          </a:xfrm>
          <a:prstGeom prst="rect">
            <a:avLst/>
          </a:prstGeom>
          <a:solidFill>
            <a:srgbClr val="BFBFBF"/>
          </a:solidFill>
          <a:ln/>
        </p:spPr>
      </p:sp>
      <p:sp>
        <p:nvSpPr>
          <p:cNvPr id="43" name="Text 40"/>
          <p:cNvSpPr/>
          <p:nvPr/>
        </p:nvSpPr>
        <p:spPr>
          <a:xfrm>
            <a:off x="1981200" y="5191125"/>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Segoe UI" pitchFamily="34" charset="0"/>
                <a:ea typeface="Segoe UI" pitchFamily="34" charset="-122"/>
                <a:cs typeface="Segoe UI" pitchFamily="34" charset="-120"/>
              </a:rPr>
              <a:t>Get the latest</a:t>
            </a:r>
            <a:endParaRPr lang="en-US" sz="1875" dirty="0"/>
          </a:p>
        </p:txBody>
      </p:sp>
      <p:sp>
        <p:nvSpPr>
          <p:cNvPr id="44" name="Shape 41"/>
          <p:cNvSpPr/>
          <p:nvPr/>
        </p:nvSpPr>
        <p:spPr>
          <a:xfrm>
            <a:off x="6000750" y="5624513"/>
            <a:ext cx="7486650" cy="19050"/>
          </a:xfrm>
          <a:prstGeom prst="rect">
            <a:avLst/>
          </a:prstGeom>
          <a:solidFill>
            <a:srgbClr val="BFBFBF"/>
          </a:solidFill>
          <a:ln/>
        </p:spPr>
      </p:sp>
      <p:sp>
        <p:nvSpPr>
          <p:cNvPr id="45" name="Text 42"/>
          <p:cNvSpPr/>
          <p:nvPr/>
        </p:nvSpPr>
        <p:spPr>
          <a:xfrm>
            <a:off x="6172200" y="5191125"/>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Fetch origin › Pull origin</a:t>
            </a:r>
            <a:endParaRPr lang="en-US" sz="1875" dirty="0"/>
          </a:p>
        </p:txBody>
      </p:sp>
      <p:sp>
        <p:nvSpPr>
          <p:cNvPr id="46" name="Shape 43"/>
          <p:cNvSpPr/>
          <p:nvPr/>
        </p:nvSpPr>
        <p:spPr>
          <a:xfrm>
            <a:off x="1809750" y="6200775"/>
            <a:ext cx="4191000" cy="19050"/>
          </a:xfrm>
          <a:prstGeom prst="rect">
            <a:avLst/>
          </a:prstGeom>
          <a:solidFill>
            <a:srgbClr val="BFBFBF"/>
          </a:solidFill>
          <a:ln/>
        </p:spPr>
      </p:sp>
      <p:sp>
        <p:nvSpPr>
          <p:cNvPr id="47" name="Text 44"/>
          <p:cNvSpPr/>
          <p:nvPr/>
        </p:nvSpPr>
        <p:spPr>
          <a:xfrm>
            <a:off x="1981200" y="5767388"/>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Segoe UI" pitchFamily="34" charset="0"/>
                <a:ea typeface="Segoe UI" pitchFamily="34" charset="-122"/>
                <a:cs typeface="Segoe UI" pitchFamily="34" charset="-120"/>
              </a:rPr>
              <a:t>Start a branch</a:t>
            </a:r>
            <a:endParaRPr lang="en-US" sz="1875" dirty="0"/>
          </a:p>
        </p:txBody>
      </p:sp>
      <p:sp>
        <p:nvSpPr>
          <p:cNvPr id="48" name="Shape 45"/>
          <p:cNvSpPr/>
          <p:nvPr/>
        </p:nvSpPr>
        <p:spPr>
          <a:xfrm>
            <a:off x="6000750" y="6200775"/>
            <a:ext cx="7486650" cy="19050"/>
          </a:xfrm>
          <a:prstGeom prst="rect">
            <a:avLst/>
          </a:prstGeom>
          <a:solidFill>
            <a:srgbClr val="BFBFBF"/>
          </a:solidFill>
          <a:ln/>
        </p:spPr>
      </p:sp>
      <p:sp>
        <p:nvSpPr>
          <p:cNvPr id="49" name="Text 46"/>
          <p:cNvSpPr/>
          <p:nvPr/>
        </p:nvSpPr>
        <p:spPr>
          <a:xfrm>
            <a:off x="6172200" y="5767388"/>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Current branch › New branch › Publish branch</a:t>
            </a:r>
            <a:endParaRPr lang="en-US" sz="1875" dirty="0"/>
          </a:p>
        </p:txBody>
      </p:sp>
      <p:sp>
        <p:nvSpPr>
          <p:cNvPr id="50" name="Shape 47"/>
          <p:cNvSpPr/>
          <p:nvPr/>
        </p:nvSpPr>
        <p:spPr>
          <a:xfrm>
            <a:off x="1809750" y="6777038"/>
            <a:ext cx="4191000" cy="19050"/>
          </a:xfrm>
          <a:prstGeom prst="rect">
            <a:avLst/>
          </a:prstGeom>
          <a:solidFill>
            <a:srgbClr val="BFBFBF"/>
          </a:solidFill>
          <a:ln/>
        </p:spPr>
      </p:sp>
      <p:sp>
        <p:nvSpPr>
          <p:cNvPr id="51" name="Text 48"/>
          <p:cNvSpPr/>
          <p:nvPr/>
        </p:nvSpPr>
        <p:spPr>
          <a:xfrm>
            <a:off x="1981200" y="6343650"/>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Segoe UI" pitchFamily="34" charset="0"/>
                <a:ea typeface="Segoe UI" pitchFamily="34" charset="-122"/>
                <a:cs typeface="Segoe UI" pitchFamily="34" charset="-120"/>
              </a:rPr>
              <a:t>Use someone’s branch</a:t>
            </a:r>
            <a:endParaRPr lang="en-US" sz="1875" dirty="0"/>
          </a:p>
        </p:txBody>
      </p:sp>
      <p:sp>
        <p:nvSpPr>
          <p:cNvPr id="52" name="Shape 49"/>
          <p:cNvSpPr/>
          <p:nvPr/>
        </p:nvSpPr>
        <p:spPr>
          <a:xfrm>
            <a:off x="6000750" y="6777038"/>
            <a:ext cx="7486650" cy="19050"/>
          </a:xfrm>
          <a:prstGeom prst="rect">
            <a:avLst/>
          </a:prstGeom>
          <a:solidFill>
            <a:srgbClr val="BFBFBF"/>
          </a:solidFill>
          <a:ln/>
        </p:spPr>
      </p:sp>
      <p:sp>
        <p:nvSpPr>
          <p:cNvPr id="53" name="Text 50"/>
          <p:cNvSpPr/>
          <p:nvPr/>
        </p:nvSpPr>
        <p:spPr>
          <a:xfrm>
            <a:off x="6172200" y="6343650"/>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Fetch origin › Current branch › pick it</a:t>
            </a:r>
            <a:endParaRPr lang="en-US" sz="1875" dirty="0"/>
          </a:p>
        </p:txBody>
      </p:sp>
      <p:sp>
        <p:nvSpPr>
          <p:cNvPr id="54" name="Shape 51"/>
          <p:cNvSpPr/>
          <p:nvPr/>
        </p:nvSpPr>
        <p:spPr>
          <a:xfrm>
            <a:off x="1809750" y="7353300"/>
            <a:ext cx="4191000" cy="19050"/>
          </a:xfrm>
          <a:prstGeom prst="rect">
            <a:avLst/>
          </a:prstGeom>
          <a:solidFill>
            <a:srgbClr val="BFBFBF"/>
          </a:solidFill>
          <a:ln/>
        </p:spPr>
      </p:sp>
      <p:sp>
        <p:nvSpPr>
          <p:cNvPr id="55" name="Text 52"/>
          <p:cNvSpPr/>
          <p:nvPr/>
        </p:nvSpPr>
        <p:spPr>
          <a:xfrm>
            <a:off x="1981200" y="6919913"/>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Segoe UI" pitchFamily="34" charset="0"/>
                <a:ea typeface="Segoe UI" pitchFamily="34" charset="-122"/>
                <a:cs typeface="Segoe UI" pitchFamily="34" charset="-120"/>
              </a:rPr>
              <a:t>Propose a merge</a:t>
            </a:r>
            <a:endParaRPr lang="en-US" sz="1875" dirty="0"/>
          </a:p>
        </p:txBody>
      </p:sp>
      <p:sp>
        <p:nvSpPr>
          <p:cNvPr id="56" name="Shape 53"/>
          <p:cNvSpPr/>
          <p:nvPr/>
        </p:nvSpPr>
        <p:spPr>
          <a:xfrm>
            <a:off x="6000750" y="7353300"/>
            <a:ext cx="7486650" cy="19050"/>
          </a:xfrm>
          <a:prstGeom prst="rect">
            <a:avLst/>
          </a:prstGeom>
          <a:solidFill>
            <a:srgbClr val="BFBFBF"/>
          </a:solidFill>
          <a:ln/>
        </p:spPr>
      </p:sp>
      <p:sp>
        <p:nvSpPr>
          <p:cNvPr id="57" name="Text 54"/>
          <p:cNvSpPr/>
          <p:nvPr/>
        </p:nvSpPr>
        <p:spPr>
          <a:xfrm>
            <a:off x="6172200" y="6919913"/>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Branch › Create pull request</a:t>
            </a:r>
            <a:endParaRPr lang="en-US" sz="1875" dirty="0"/>
          </a:p>
        </p:txBody>
      </p:sp>
      <p:sp>
        <p:nvSpPr>
          <p:cNvPr id="58" name="Shape 55"/>
          <p:cNvSpPr/>
          <p:nvPr/>
        </p:nvSpPr>
        <p:spPr>
          <a:xfrm>
            <a:off x="1809750" y="7929563"/>
            <a:ext cx="4191000" cy="19050"/>
          </a:xfrm>
          <a:prstGeom prst="rect">
            <a:avLst/>
          </a:prstGeom>
          <a:solidFill>
            <a:srgbClr val="BFBFBF"/>
          </a:solidFill>
          <a:ln/>
        </p:spPr>
      </p:sp>
      <p:sp>
        <p:nvSpPr>
          <p:cNvPr id="59" name="Text 56"/>
          <p:cNvSpPr/>
          <p:nvPr/>
        </p:nvSpPr>
        <p:spPr>
          <a:xfrm>
            <a:off x="1981200" y="7496175"/>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Segoe UI" pitchFamily="34" charset="0"/>
                <a:ea typeface="Segoe UI" pitchFamily="34" charset="-122"/>
                <a:cs typeface="Segoe UI" pitchFamily="34" charset="-120"/>
              </a:rPr>
              <a:t>Undo a pushed commit</a:t>
            </a:r>
            <a:endParaRPr lang="en-US" sz="1875" dirty="0"/>
          </a:p>
        </p:txBody>
      </p:sp>
      <p:sp>
        <p:nvSpPr>
          <p:cNvPr id="60" name="Shape 57"/>
          <p:cNvSpPr/>
          <p:nvPr/>
        </p:nvSpPr>
        <p:spPr>
          <a:xfrm>
            <a:off x="6000750" y="7929563"/>
            <a:ext cx="7486650" cy="19050"/>
          </a:xfrm>
          <a:prstGeom prst="rect">
            <a:avLst/>
          </a:prstGeom>
          <a:solidFill>
            <a:srgbClr val="BFBFBF"/>
          </a:solidFill>
          <a:ln/>
        </p:spPr>
      </p:sp>
      <p:sp>
        <p:nvSpPr>
          <p:cNvPr id="61" name="Text 58"/>
          <p:cNvSpPr/>
          <p:nvPr/>
        </p:nvSpPr>
        <p:spPr>
          <a:xfrm>
            <a:off x="6172200" y="7496175"/>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History › right-click › Revert changes in commit</a:t>
            </a:r>
            <a:endParaRPr lang="en-US" sz="1875" dirty="0"/>
          </a:p>
        </p:txBody>
      </p:sp>
      <p:sp>
        <p:nvSpPr>
          <p:cNvPr id="62" name="Shape 59"/>
          <p:cNvSpPr/>
          <p:nvPr/>
        </p:nvSpPr>
        <p:spPr>
          <a:xfrm>
            <a:off x="1809750" y="8505825"/>
            <a:ext cx="4191000" cy="19050"/>
          </a:xfrm>
          <a:prstGeom prst="rect">
            <a:avLst/>
          </a:prstGeom>
          <a:solidFill>
            <a:srgbClr val="BFBFBF"/>
          </a:solidFill>
          <a:ln/>
        </p:spPr>
      </p:sp>
      <p:sp>
        <p:nvSpPr>
          <p:cNvPr id="63" name="Text 60"/>
          <p:cNvSpPr/>
          <p:nvPr/>
        </p:nvSpPr>
        <p:spPr>
          <a:xfrm>
            <a:off x="1981200" y="8072438"/>
            <a:ext cx="397383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b="1" dirty="0">
                <a:solidFill>
                  <a:srgbClr val="000000"/>
                </a:solidFill>
                <a:latin typeface="Segoe UI" pitchFamily="34" charset="0"/>
                <a:ea typeface="Segoe UI" pitchFamily="34" charset="-122"/>
                <a:cs typeface="Segoe UI" pitchFamily="34" charset="-120"/>
              </a:rPr>
              <a:t>Edit the code</a:t>
            </a:r>
            <a:endParaRPr lang="en-US" sz="1875" dirty="0"/>
          </a:p>
        </p:txBody>
      </p:sp>
      <p:sp>
        <p:nvSpPr>
          <p:cNvPr id="64" name="Shape 61"/>
          <p:cNvSpPr/>
          <p:nvPr/>
        </p:nvSpPr>
        <p:spPr>
          <a:xfrm>
            <a:off x="6000750" y="8505825"/>
            <a:ext cx="7486650" cy="19050"/>
          </a:xfrm>
          <a:prstGeom prst="rect">
            <a:avLst/>
          </a:prstGeom>
          <a:solidFill>
            <a:srgbClr val="BFBFBF"/>
          </a:solidFill>
          <a:ln/>
        </p:spPr>
      </p:sp>
      <p:sp>
        <p:nvSpPr>
          <p:cNvPr id="65" name="Text 62"/>
          <p:cNvSpPr/>
          <p:nvPr/>
        </p:nvSpPr>
        <p:spPr>
          <a:xfrm>
            <a:off x="6172200" y="8072438"/>
            <a:ext cx="7368350" cy="347663"/>
          </a:xfrm>
          <a:prstGeom prst="rect">
            <a:avLst/>
          </a:prstGeom>
          <a:noFill/>
          <a:ln/>
        </p:spPr>
        <p:txBody>
          <a:bodyPr wrap="square" lIns="25400" tIns="25400" rIns="25400" bIns="25400" rtlCol="0" anchor="t">
            <a:normAutofit/>
          </a:bodyPr>
          <a:lstStyle/>
          <a:p>
            <a:pPr algn="l" indent="0" marL="0">
              <a:lnSpc>
                <a:spcPct val="99490"/>
              </a:lnSpc>
              <a:buNone/>
            </a:pPr>
            <a:r>
              <a:rPr lang="en-US" sz="1875" dirty="0">
                <a:solidFill>
                  <a:srgbClr val="000000"/>
                </a:solidFill>
                <a:latin typeface="Segoe UI" pitchFamily="34" charset="0"/>
                <a:ea typeface="Segoe UI" pitchFamily="34" charset="-122"/>
                <a:cs typeface="Segoe UI" pitchFamily="34" charset="-120"/>
              </a:rPr>
              <a:t>Repository › Open in Visual Studio Code</a:t>
            </a:r>
            <a:endParaRPr lang="en-US" sz="1875" dirty="0"/>
          </a:p>
        </p:txBody>
      </p:sp>
      <p:sp>
        <p:nvSpPr>
          <p:cNvPr id="66" name="Text 63"/>
          <p:cNvSpPr/>
          <p:nvPr/>
        </p:nvSpPr>
        <p:spPr>
          <a:xfrm>
            <a:off x="1054418" y="9810750"/>
            <a:ext cx="13264515"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1</a:t>
            </a:r>
            <a:endParaRPr lang="en-US" sz="1800" dirty="0"/>
          </a:p>
        </p:txBody>
      </p:sp>
      <p:sp>
        <p:nvSpPr>
          <p:cNvPr id="67" name="Text 64"/>
          <p:cNvSpPr/>
          <p:nvPr/>
        </p:nvSpPr>
        <p:spPr>
          <a:xfrm>
            <a:off x="13336191" y="9810750"/>
            <a:ext cx="322659" cy="342900"/>
          </a:xfrm>
          <a:prstGeom prst="rect">
            <a:avLst/>
          </a:prstGeom>
          <a:noFill/>
          <a:ln/>
        </p:spPr>
        <p:txBody>
          <a:bodyPr wrap="square" lIns="25400" tIns="25400" rIns="25400" bIns="25400" rtlCol="0" anchor="t">
            <a:norm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22</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543050" cy="10287000"/>
          </a:xfrm>
          <a:prstGeom prst="rect">
            <a:avLst/>
          </a:prstGeom>
          <a:solidFill>
            <a:srgbClr val="E6E6E6"/>
          </a:solidFill>
          <a:ln/>
        </p:spPr>
      </p:sp>
      <p:pic>
        <p:nvPicPr>
          <p:cNvPr id="3" name="Image 0" descr="preencoded.png">    </p:cNvPr>
          <p:cNvPicPr>
            <a:picLocks noChangeAspect="1"/>
          </p:cNvPicPr>
          <p:nvPr/>
        </p:nvPicPr>
        <p:blipFill>
          <a:blip r:embed="rId1"/>
          <a:stretch>
            <a:fillRect/>
          </a:stretch>
        </p:blipFill>
        <p:spPr>
          <a:xfrm>
            <a:off x="200025" y="133350"/>
            <a:ext cx="1143000" cy="1143000"/>
          </a:xfrm>
          <a:prstGeom prst="rect">
            <a:avLst/>
          </a:prstGeom>
        </p:spPr>
      </p:pic>
      <p:sp>
        <p:nvSpPr>
          <p:cNvPr id="4" name="Text 1"/>
          <p:cNvSpPr/>
          <p:nvPr/>
        </p:nvSpPr>
        <p:spPr>
          <a:xfrm>
            <a:off x="133350" y="2381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Overview</a:t>
            </a:r>
            <a:endParaRPr lang="en-US" sz="1800" dirty="0"/>
          </a:p>
        </p:txBody>
      </p:sp>
      <p:sp>
        <p:nvSpPr>
          <p:cNvPr id="5" name="Text 2"/>
          <p:cNvSpPr/>
          <p:nvPr/>
        </p:nvSpPr>
        <p:spPr>
          <a:xfrm>
            <a:off x="133350" y="2762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Concepts</a:t>
            </a:r>
            <a:endParaRPr lang="en-US" sz="1800" dirty="0"/>
          </a:p>
        </p:txBody>
      </p:sp>
      <p:sp>
        <p:nvSpPr>
          <p:cNvPr id="6" name="Text 3"/>
          <p:cNvSpPr/>
          <p:nvPr/>
        </p:nvSpPr>
        <p:spPr>
          <a:xfrm>
            <a:off x="133350" y="3143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Setup</a:t>
            </a:r>
            <a:endParaRPr lang="en-US" sz="1800" dirty="0"/>
          </a:p>
        </p:txBody>
      </p:sp>
      <p:sp>
        <p:nvSpPr>
          <p:cNvPr id="7" name="Text 4"/>
          <p:cNvSpPr/>
          <p:nvPr/>
        </p:nvSpPr>
        <p:spPr>
          <a:xfrm>
            <a:off x="133350" y="3524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Clone</a:t>
            </a:r>
            <a:endParaRPr lang="en-US" sz="1800" dirty="0"/>
          </a:p>
        </p:txBody>
      </p:sp>
      <p:sp>
        <p:nvSpPr>
          <p:cNvPr id="8" name="Text 5"/>
          <p:cNvSpPr/>
          <p:nvPr/>
        </p:nvSpPr>
        <p:spPr>
          <a:xfrm>
            <a:off x="133350" y="3905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Commit</a:t>
            </a:r>
            <a:endParaRPr lang="en-US" sz="1800" dirty="0"/>
          </a:p>
        </p:txBody>
      </p:sp>
      <p:sp>
        <p:nvSpPr>
          <p:cNvPr id="9" name="Text 6"/>
          <p:cNvSpPr/>
          <p:nvPr/>
        </p:nvSpPr>
        <p:spPr>
          <a:xfrm>
            <a:off x="133350" y="4286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Sync</a:t>
            </a:r>
            <a:endParaRPr lang="en-US" sz="1800" dirty="0"/>
          </a:p>
        </p:txBody>
      </p:sp>
      <p:sp>
        <p:nvSpPr>
          <p:cNvPr id="10" name="Text 7"/>
          <p:cNvSpPr/>
          <p:nvPr/>
        </p:nvSpPr>
        <p:spPr>
          <a:xfrm>
            <a:off x="133350" y="4667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Branches</a:t>
            </a:r>
            <a:endParaRPr lang="en-US" sz="1800" dirty="0"/>
          </a:p>
        </p:txBody>
      </p:sp>
      <p:sp>
        <p:nvSpPr>
          <p:cNvPr id="11" name="Text 8"/>
          <p:cNvSpPr/>
          <p:nvPr/>
        </p:nvSpPr>
        <p:spPr>
          <a:xfrm>
            <a:off x="133350" y="5048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Conflicts</a:t>
            </a:r>
            <a:endParaRPr lang="en-US" sz="1800" dirty="0"/>
          </a:p>
        </p:txBody>
      </p:sp>
      <p:sp>
        <p:nvSpPr>
          <p:cNvPr id="12" name="Text 9"/>
          <p:cNvSpPr/>
          <p:nvPr/>
        </p:nvSpPr>
        <p:spPr>
          <a:xfrm>
            <a:off x="133350" y="5429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History</a:t>
            </a:r>
            <a:endParaRPr lang="en-US" sz="1800" dirty="0"/>
          </a:p>
        </p:txBody>
      </p:sp>
      <p:sp>
        <p:nvSpPr>
          <p:cNvPr id="13" name="Text 10"/>
          <p:cNvSpPr/>
          <p:nvPr/>
        </p:nvSpPr>
        <p:spPr>
          <a:xfrm>
            <a:off x="133350" y="5810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dirty="0">
                <a:solidFill>
                  <a:srgbClr val="000000"/>
                </a:solidFill>
                <a:latin typeface="Segoe UI" pitchFamily="34" charset="0"/>
                <a:ea typeface="Segoe UI" pitchFamily="34" charset="-122"/>
                <a:cs typeface="Segoe UI" pitchFamily="34" charset="-120"/>
              </a:rPr>
              <a:t>Agent-Ready</a:t>
            </a:r>
            <a:endParaRPr lang="en-US" sz="1800" dirty="0"/>
          </a:p>
        </p:txBody>
      </p:sp>
      <p:sp>
        <p:nvSpPr>
          <p:cNvPr id="14" name="Text 11"/>
          <p:cNvSpPr/>
          <p:nvPr/>
        </p:nvSpPr>
        <p:spPr>
          <a:xfrm>
            <a:off x="133350" y="6191250"/>
            <a:ext cx="1442184" cy="323850"/>
          </a:xfrm>
          <a:prstGeom prst="rect">
            <a:avLst/>
          </a:prstGeom>
          <a:noFill/>
          <a:ln/>
        </p:spPr>
        <p:txBody>
          <a:bodyPr wrap="square" lIns="25400" tIns="25400" rIns="25400" bIns="25400" rtlCol="0" anchor="t">
            <a:normAutofit/>
          </a:bodyPr>
          <a:lstStyle/>
          <a:p>
            <a:pPr algn="l" indent="0" marL="0">
              <a:lnSpc>
                <a:spcPct val="93750"/>
              </a:lnSpc>
              <a:buNone/>
            </a:pPr>
            <a:r>
              <a:rPr lang="en-US" sz="1800" b="1" dirty="0">
                <a:solidFill>
                  <a:srgbClr val="00B0F0"/>
                </a:solidFill>
                <a:latin typeface="Segoe UI" pitchFamily="34" charset="0"/>
                <a:ea typeface="Segoe UI" pitchFamily="34" charset="-122"/>
                <a:cs typeface="Segoe UI" pitchFamily="34" charset="-120"/>
              </a:rPr>
              <a:t>Review</a:t>
            </a:r>
            <a:endParaRPr lang="en-US" sz="1800" dirty="0"/>
          </a:p>
        </p:txBody>
      </p:sp>
      <p:sp>
        <p:nvSpPr>
          <p:cNvPr id="15" name="Text 12"/>
          <p:cNvSpPr/>
          <p:nvPr/>
        </p:nvSpPr>
        <p:spPr>
          <a:xfrm>
            <a:off x="1657350" y="200025"/>
            <a:ext cx="10988040" cy="1057275"/>
          </a:xfrm>
          <a:prstGeom prst="rect">
            <a:avLst/>
          </a:prstGeom>
          <a:noFill/>
          <a:ln/>
        </p:spPr>
        <p:txBody>
          <a:bodyPr wrap="square" lIns="25400" tIns="25400" rIns="25400" bIns="25400" rtlCol="0" anchor="ctr">
            <a:normAutofit/>
          </a:bodyPr>
          <a:lstStyle/>
          <a:p>
            <a:pPr algn="l" indent="0" marL="0">
              <a:lnSpc>
                <a:spcPct val="75000"/>
              </a:lnSpc>
              <a:buNone/>
            </a:pPr>
            <a:r>
              <a:rPr lang="en-US" sz="4800" b="1" dirty="0">
                <a:solidFill>
                  <a:srgbClr val="000000"/>
                </a:solidFill>
                <a:latin typeface="Segoe UI" pitchFamily="34" charset="0"/>
                <a:ea typeface="Segoe UI" pitchFamily="34" charset="-122"/>
                <a:cs typeface="Segoe UI" pitchFamily="34" charset="-120"/>
              </a:rPr>
              <a:t>Knowledge Check</a:t>
            </a:r>
            <a:endParaRPr lang="en-US" sz="4800" dirty="0"/>
          </a:p>
        </p:txBody>
      </p:sp>
      <p:sp>
        <p:nvSpPr>
          <p:cNvPr id="16" name="Text 13"/>
          <p:cNvSpPr/>
          <p:nvPr/>
        </p:nvSpPr>
        <p:spPr>
          <a:xfrm>
            <a:off x="12515950" y="133350"/>
            <a:ext cx="1142901" cy="393700"/>
          </a:xfrm>
          <a:prstGeom prst="rect">
            <a:avLst/>
          </a:prstGeom>
          <a:noFill/>
          <a:ln/>
        </p:spPr>
        <p:txBody>
          <a:bodyPr wrap="square" lIns="25400" tIns="25400" rIns="25400" bIns="25400" rtlCol="0" anchor="t">
            <a:normAutofit/>
          </a:bodyPr>
          <a:lstStyle/>
          <a:p>
            <a:pPr algn="l" indent="0" marL="0">
              <a:buNone/>
            </a:pPr>
            <a:r>
              <a:rPr lang="en-US" sz="2100" b="1" dirty="0">
                <a:solidFill>
                  <a:srgbClr val="000000"/>
                </a:solidFill>
                <a:latin typeface="Segoe UI" pitchFamily="34" charset="0"/>
                <a:ea typeface="Segoe UI" pitchFamily="34" charset="-122"/>
                <a:cs typeface="Segoe UI" pitchFamily="34" charset="-120"/>
              </a:rPr>
              <a:t>Lesson 1</a:t>
            </a:r>
            <a:endParaRPr lang="en-US" sz="2100" dirty="0"/>
          </a:p>
        </p:txBody>
      </p:sp>
      <p:sp>
        <p:nvSpPr>
          <p:cNvPr id="17" name="Shape 14"/>
          <p:cNvSpPr/>
          <p:nvPr/>
        </p:nvSpPr>
        <p:spPr>
          <a:xfrm>
            <a:off x="1657350" y="1219200"/>
            <a:ext cx="11925300" cy="66675"/>
          </a:xfrm>
          <a:prstGeom prst="rect">
            <a:avLst/>
          </a:prstGeom>
          <a:solidFill>
            <a:srgbClr val="000000"/>
          </a:solidFill>
          <a:ln/>
        </p:spPr>
      </p:sp>
      <p:sp>
        <p:nvSpPr>
          <p:cNvPr id="18" name="Text 15"/>
          <p:cNvSpPr/>
          <p:nvPr/>
        </p:nvSpPr>
        <p:spPr>
          <a:xfrm>
            <a:off x="1809750" y="1714500"/>
            <a:ext cx="609600" cy="464741"/>
          </a:xfrm>
          <a:prstGeom prst="rect">
            <a:avLst/>
          </a:prstGeom>
          <a:noFill/>
          <a:ln/>
        </p:spPr>
        <p:txBody>
          <a:bodyPr wrap="square" lIns="25400" tIns="25400" rIns="25400" bIns="25400" rtlCol="0" anchor="t">
            <a:normAutofit/>
          </a:bodyPr>
          <a:lstStyle/>
          <a:p>
            <a:pPr algn="l" indent="0" marL="0">
              <a:lnSpc>
                <a:spcPct val="105000"/>
              </a:lnSpc>
              <a:buNone/>
            </a:pPr>
            <a:r>
              <a:rPr lang="en-US" sz="2400" b="1" dirty="0">
                <a:solidFill>
                  <a:srgbClr val="1F6FB2"/>
                </a:solidFill>
                <a:latin typeface="Segoe UI" pitchFamily="34" charset="0"/>
                <a:ea typeface="Segoe UI" pitchFamily="34" charset="-122"/>
                <a:cs typeface="Segoe UI" pitchFamily="34" charset="-120"/>
              </a:rPr>
              <a:t>1</a:t>
            </a:r>
            <a:endParaRPr lang="en-US" sz="2400" dirty="0"/>
          </a:p>
        </p:txBody>
      </p:sp>
      <p:sp>
        <p:nvSpPr>
          <p:cNvPr id="19" name="Text 16"/>
          <p:cNvSpPr/>
          <p:nvPr/>
        </p:nvSpPr>
        <p:spPr>
          <a:xfrm>
            <a:off x="2343150" y="1714500"/>
            <a:ext cx="12258675" cy="464741"/>
          </a:xfrm>
          <a:prstGeom prst="rect">
            <a:avLst/>
          </a:prstGeom>
          <a:noFill/>
          <a:ln/>
        </p:spPr>
        <p:txBody>
          <a:bodyPr wrap="square" lIns="25400" tIns="25400" rIns="25400" bIns="25400" rtlCol="0" anchor="t">
            <a:normAutofit/>
          </a:bodyPr>
          <a:lstStyle/>
          <a:p>
            <a:pPr algn="l" indent="0" marL="0">
              <a:lnSpc>
                <a:spcPct val="105000"/>
              </a:lnSpc>
              <a:buNone/>
            </a:pPr>
            <a:r>
              <a:rPr lang="en-US" sz="2175" dirty="0">
                <a:solidFill>
                  <a:srgbClr val="000000"/>
                </a:solidFill>
                <a:latin typeface="Segoe UI" pitchFamily="34" charset="0"/>
                <a:ea typeface="Segoe UI" pitchFamily="34" charset="-122"/>
                <a:cs typeface="Segoe UI" pitchFamily="34" charset="-120"/>
              </a:rPr>
              <a:t>You edited beam.m, but the change doesn’t appear on GitHub. What did you skip?</a:t>
            </a:r>
            <a:endParaRPr lang="en-US" sz="2175" dirty="0"/>
          </a:p>
        </p:txBody>
      </p:sp>
      <p:sp>
        <p:nvSpPr>
          <p:cNvPr id="20" name="Text 17"/>
          <p:cNvSpPr/>
          <p:nvPr/>
        </p:nvSpPr>
        <p:spPr>
          <a:xfrm>
            <a:off x="1809750" y="2522141"/>
            <a:ext cx="609600" cy="464741"/>
          </a:xfrm>
          <a:prstGeom prst="rect">
            <a:avLst/>
          </a:prstGeom>
          <a:noFill/>
          <a:ln/>
        </p:spPr>
        <p:txBody>
          <a:bodyPr wrap="square" lIns="25400" tIns="25400" rIns="25400" bIns="25400" rtlCol="0" anchor="t">
            <a:normAutofit/>
          </a:bodyPr>
          <a:lstStyle/>
          <a:p>
            <a:pPr algn="l" indent="0" marL="0">
              <a:lnSpc>
                <a:spcPct val="105000"/>
              </a:lnSpc>
              <a:buNone/>
            </a:pPr>
            <a:r>
              <a:rPr lang="en-US" sz="2400" b="1" dirty="0">
                <a:solidFill>
                  <a:srgbClr val="1F6FB2"/>
                </a:solidFill>
                <a:latin typeface="Segoe UI" pitchFamily="34" charset="0"/>
                <a:ea typeface="Segoe UI" pitchFamily="34" charset="-122"/>
                <a:cs typeface="Segoe UI" pitchFamily="34" charset="-120"/>
              </a:rPr>
              <a:t>2</a:t>
            </a:r>
            <a:endParaRPr lang="en-US" sz="2400" dirty="0"/>
          </a:p>
        </p:txBody>
      </p:sp>
      <p:sp>
        <p:nvSpPr>
          <p:cNvPr id="21" name="Text 18"/>
          <p:cNvSpPr/>
          <p:nvPr/>
        </p:nvSpPr>
        <p:spPr>
          <a:xfrm>
            <a:off x="2343150" y="2522141"/>
            <a:ext cx="12258675" cy="464741"/>
          </a:xfrm>
          <a:prstGeom prst="rect">
            <a:avLst/>
          </a:prstGeom>
          <a:noFill/>
          <a:ln/>
        </p:spPr>
        <p:txBody>
          <a:bodyPr wrap="square" lIns="25400" tIns="25400" rIns="25400" bIns="25400" rtlCol="0" anchor="t">
            <a:normAutofit/>
          </a:bodyPr>
          <a:lstStyle/>
          <a:p>
            <a:pPr algn="l" indent="0" marL="0">
              <a:lnSpc>
                <a:spcPct val="105000"/>
              </a:lnSpc>
              <a:buNone/>
            </a:pPr>
            <a:r>
              <a:rPr lang="en-US" sz="2175" dirty="0">
                <a:solidFill>
                  <a:srgbClr val="000000"/>
                </a:solidFill>
                <a:latin typeface="Segoe UI" pitchFamily="34" charset="0"/>
                <a:ea typeface="Segoe UI" pitchFamily="34" charset="-122"/>
                <a:cs typeface="Segoe UI" pitchFamily="34" charset="-120"/>
              </a:rPr>
              <a:t>What is the difference between </a:t>
            </a:r>
            <a:pPr algn="l" indent="0" marL="0">
              <a:lnSpc>
                <a:spcPct val="105000"/>
              </a:lnSpc>
              <a:buNone/>
            </a:pPr>
            <a:r>
              <a:rPr lang="en-US" sz="2175" b="1" dirty="0">
                <a:solidFill>
                  <a:srgbClr val="000000"/>
                </a:solidFill>
                <a:latin typeface="Segoe UI" pitchFamily="34" charset="0"/>
                <a:ea typeface="Segoe UI" pitchFamily="34" charset="-122"/>
                <a:cs typeface="Segoe UI" pitchFamily="34" charset="-120"/>
              </a:rPr>
              <a:t>Fetch </a:t>
            </a:r>
            <a:pPr algn="l" indent="0" marL="0">
              <a:lnSpc>
                <a:spcPct val="105000"/>
              </a:lnSpc>
              <a:buNone/>
            </a:pPr>
            <a:r>
              <a:rPr lang="en-US" sz="2175" dirty="0">
                <a:solidFill>
                  <a:srgbClr val="000000"/>
                </a:solidFill>
                <a:latin typeface="Segoe UI" pitchFamily="34" charset="0"/>
                <a:ea typeface="Segoe UI" pitchFamily="34" charset="-122"/>
                <a:cs typeface="Segoe UI" pitchFamily="34" charset="-120"/>
              </a:rPr>
              <a:t>and </a:t>
            </a:r>
            <a:pPr algn="l" indent="0" marL="0">
              <a:lnSpc>
                <a:spcPct val="105000"/>
              </a:lnSpc>
              <a:buNone/>
            </a:pPr>
            <a:r>
              <a:rPr lang="en-US" sz="2175" b="1" dirty="0">
                <a:solidFill>
                  <a:srgbClr val="000000"/>
                </a:solidFill>
                <a:latin typeface="Segoe UI" pitchFamily="34" charset="0"/>
                <a:ea typeface="Segoe UI" pitchFamily="34" charset="-122"/>
                <a:cs typeface="Segoe UI" pitchFamily="34" charset="-120"/>
              </a:rPr>
              <a:t>Pull</a:t>
            </a:r>
            <a:pPr algn="l" indent="0" marL="0">
              <a:lnSpc>
                <a:spcPct val="105000"/>
              </a:lnSpc>
              <a:buNone/>
            </a:pPr>
            <a:r>
              <a:rPr lang="en-US" sz="2175" dirty="0">
                <a:solidFill>
                  <a:srgbClr val="000000"/>
                </a:solidFill>
                <a:latin typeface="Segoe UI" pitchFamily="34" charset="0"/>
                <a:ea typeface="Segoe UI" pitchFamily="34" charset="-122"/>
                <a:cs typeface="Segoe UI" pitchFamily="34" charset="-120"/>
              </a:rPr>
              <a:t>?</a:t>
            </a:r>
            <a:endParaRPr lang="en-US" sz="2175" dirty="0"/>
          </a:p>
        </p:txBody>
      </p:sp>
      <p:sp>
        <p:nvSpPr>
          <p:cNvPr id="22" name="Text 19"/>
          <p:cNvSpPr/>
          <p:nvPr/>
        </p:nvSpPr>
        <p:spPr>
          <a:xfrm>
            <a:off x="1809750" y="3329781"/>
            <a:ext cx="609600" cy="464741"/>
          </a:xfrm>
          <a:prstGeom prst="rect">
            <a:avLst/>
          </a:prstGeom>
          <a:noFill/>
          <a:ln/>
        </p:spPr>
        <p:txBody>
          <a:bodyPr wrap="square" lIns="25400" tIns="25400" rIns="25400" bIns="25400" rtlCol="0" anchor="t">
            <a:normAutofit/>
          </a:bodyPr>
          <a:lstStyle/>
          <a:p>
            <a:pPr algn="l" indent="0" marL="0">
              <a:lnSpc>
                <a:spcPct val="105000"/>
              </a:lnSpc>
              <a:buNone/>
            </a:pPr>
            <a:r>
              <a:rPr lang="en-US" sz="2400" b="1" dirty="0">
                <a:solidFill>
                  <a:srgbClr val="1F6FB2"/>
                </a:solidFill>
                <a:latin typeface="Segoe UI" pitchFamily="34" charset="0"/>
                <a:ea typeface="Segoe UI" pitchFamily="34" charset="-122"/>
                <a:cs typeface="Segoe UI" pitchFamily="34" charset="-120"/>
              </a:rPr>
              <a:t>3</a:t>
            </a:r>
            <a:endParaRPr lang="en-US" sz="2400" dirty="0"/>
          </a:p>
        </p:txBody>
      </p:sp>
      <p:sp>
        <p:nvSpPr>
          <p:cNvPr id="23" name="Text 20"/>
          <p:cNvSpPr/>
          <p:nvPr/>
        </p:nvSpPr>
        <p:spPr>
          <a:xfrm>
            <a:off x="2343150" y="3329781"/>
            <a:ext cx="12258675" cy="464741"/>
          </a:xfrm>
          <a:prstGeom prst="rect">
            <a:avLst/>
          </a:prstGeom>
          <a:noFill/>
          <a:ln/>
        </p:spPr>
        <p:txBody>
          <a:bodyPr wrap="square" lIns="25400" tIns="25400" rIns="25400" bIns="25400" rtlCol="0" anchor="t">
            <a:normAutofit/>
          </a:bodyPr>
          <a:lstStyle/>
          <a:p>
            <a:pPr algn="l" indent="0" marL="0">
              <a:lnSpc>
                <a:spcPct val="105000"/>
              </a:lnSpc>
              <a:buNone/>
            </a:pPr>
            <a:r>
              <a:rPr lang="en-US" sz="2175" dirty="0">
                <a:solidFill>
                  <a:srgbClr val="000000"/>
                </a:solidFill>
                <a:latin typeface="Segoe UI" pitchFamily="34" charset="0"/>
                <a:ea typeface="Segoe UI" pitchFamily="34" charset="-122"/>
                <a:cs typeface="Segoe UI" pitchFamily="34" charset="-120"/>
              </a:rPr>
              <a:t>Why should a coding agent work on a branch instead of main?</a:t>
            </a:r>
            <a:endParaRPr lang="en-US" sz="2175" dirty="0"/>
          </a:p>
        </p:txBody>
      </p:sp>
      <p:sp>
        <p:nvSpPr>
          <p:cNvPr id="24" name="Text 21"/>
          <p:cNvSpPr/>
          <p:nvPr/>
        </p:nvSpPr>
        <p:spPr>
          <a:xfrm>
            <a:off x="1809750" y="4137422"/>
            <a:ext cx="609600" cy="464741"/>
          </a:xfrm>
          <a:prstGeom prst="rect">
            <a:avLst/>
          </a:prstGeom>
          <a:noFill/>
          <a:ln/>
        </p:spPr>
        <p:txBody>
          <a:bodyPr wrap="square" lIns="25400" tIns="25400" rIns="25400" bIns="25400" rtlCol="0" anchor="t">
            <a:normAutofit/>
          </a:bodyPr>
          <a:lstStyle/>
          <a:p>
            <a:pPr algn="l" indent="0" marL="0">
              <a:lnSpc>
                <a:spcPct val="105000"/>
              </a:lnSpc>
              <a:buNone/>
            </a:pPr>
            <a:r>
              <a:rPr lang="en-US" sz="2400" b="1" dirty="0">
                <a:solidFill>
                  <a:srgbClr val="1F6FB2"/>
                </a:solidFill>
                <a:latin typeface="Segoe UI" pitchFamily="34" charset="0"/>
                <a:ea typeface="Segoe UI" pitchFamily="34" charset="-122"/>
                <a:cs typeface="Segoe UI" pitchFamily="34" charset="-120"/>
              </a:rPr>
              <a:t>4</a:t>
            </a:r>
            <a:endParaRPr lang="en-US" sz="2400" dirty="0"/>
          </a:p>
        </p:txBody>
      </p:sp>
      <p:sp>
        <p:nvSpPr>
          <p:cNvPr id="25" name="Text 22"/>
          <p:cNvSpPr/>
          <p:nvPr/>
        </p:nvSpPr>
        <p:spPr>
          <a:xfrm>
            <a:off x="2343150" y="4137422"/>
            <a:ext cx="12258675" cy="464741"/>
          </a:xfrm>
          <a:prstGeom prst="rect">
            <a:avLst/>
          </a:prstGeom>
          <a:noFill/>
          <a:ln/>
        </p:spPr>
        <p:txBody>
          <a:bodyPr wrap="square" lIns="25400" tIns="25400" rIns="25400" bIns="25400" rtlCol="0" anchor="t">
            <a:normAutofit/>
          </a:bodyPr>
          <a:lstStyle/>
          <a:p>
            <a:pPr algn="l" indent="0" marL="0">
              <a:lnSpc>
                <a:spcPct val="105000"/>
              </a:lnSpc>
              <a:buNone/>
            </a:pPr>
            <a:r>
              <a:rPr lang="en-US" sz="2175" dirty="0">
                <a:solidFill>
                  <a:srgbClr val="000000"/>
                </a:solidFill>
                <a:latin typeface="Segoe UI" pitchFamily="34" charset="0"/>
                <a:ea typeface="Segoe UI" pitchFamily="34" charset="-122"/>
                <a:cs typeface="Segoe UI" pitchFamily="34" charset="-120"/>
              </a:rPr>
              <a:t>Push origin is rejected. What do you do?</a:t>
            </a:r>
            <a:endParaRPr lang="en-US" sz="2175" dirty="0"/>
          </a:p>
        </p:txBody>
      </p:sp>
      <p:sp>
        <p:nvSpPr>
          <p:cNvPr id="26" name="Text 23"/>
          <p:cNvSpPr/>
          <p:nvPr/>
        </p:nvSpPr>
        <p:spPr>
          <a:xfrm>
            <a:off x="1809750" y="4945063"/>
            <a:ext cx="609600" cy="464741"/>
          </a:xfrm>
          <a:prstGeom prst="rect">
            <a:avLst/>
          </a:prstGeom>
          <a:noFill/>
          <a:ln/>
        </p:spPr>
        <p:txBody>
          <a:bodyPr wrap="square" lIns="25400" tIns="25400" rIns="25400" bIns="25400" rtlCol="0" anchor="t">
            <a:normAutofit/>
          </a:bodyPr>
          <a:lstStyle/>
          <a:p>
            <a:pPr algn="l" indent="0" marL="0">
              <a:lnSpc>
                <a:spcPct val="105000"/>
              </a:lnSpc>
              <a:buNone/>
            </a:pPr>
            <a:r>
              <a:rPr lang="en-US" sz="2400" b="1" dirty="0">
                <a:solidFill>
                  <a:srgbClr val="1F6FB2"/>
                </a:solidFill>
                <a:latin typeface="Segoe UI" pitchFamily="34" charset="0"/>
                <a:ea typeface="Segoe UI" pitchFamily="34" charset="-122"/>
                <a:cs typeface="Segoe UI" pitchFamily="34" charset="-120"/>
              </a:rPr>
              <a:t>5</a:t>
            </a:r>
            <a:endParaRPr lang="en-US" sz="2400" dirty="0"/>
          </a:p>
        </p:txBody>
      </p:sp>
      <p:sp>
        <p:nvSpPr>
          <p:cNvPr id="27" name="Text 24"/>
          <p:cNvSpPr/>
          <p:nvPr/>
        </p:nvSpPr>
        <p:spPr>
          <a:xfrm>
            <a:off x="2343150" y="4945063"/>
            <a:ext cx="12258675" cy="464741"/>
          </a:xfrm>
          <a:prstGeom prst="rect">
            <a:avLst/>
          </a:prstGeom>
          <a:noFill/>
          <a:ln/>
        </p:spPr>
        <p:txBody>
          <a:bodyPr wrap="square" lIns="25400" tIns="25400" rIns="25400" bIns="25400" rtlCol="0" anchor="t">
            <a:normAutofit/>
          </a:bodyPr>
          <a:lstStyle/>
          <a:p>
            <a:pPr algn="l" indent="0" marL="0">
              <a:lnSpc>
                <a:spcPct val="105000"/>
              </a:lnSpc>
              <a:buNone/>
            </a:pPr>
            <a:r>
              <a:rPr lang="en-US" sz="2175" dirty="0">
                <a:solidFill>
                  <a:srgbClr val="000000"/>
                </a:solidFill>
                <a:latin typeface="Segoe UI" pitchFamily="34" charset="0"/>
                <a:ea typeface="Segoe UI" pitchFamily="34" charset="-122"/>
                <a:cs typeface="Segoe UI" pitchFamily="34" charset="-120"/>
              </a:rPr>
              <a:t>You pushed a file containing an API key, then deleted it in the next commit. Is the key safe?</a:t>
            </a:r>
            <a:endParaRPr lang="en-US" sz="2175" dirty="0"/>
          </a:p>
        </p:txBody>
      </p:sp>
      <p:sp>
        <p:nvSpPr>
          <p:cNvPr id="28" name="Text 25"/>
          <p:cNvSpPr/>
          <p:nvPr/>
        </p:nvSpPr>
        <p:spPr>
          <a:xfrm>
            <a:off x="1054418" y="9810750"/>
            <a:ext cx="13264515"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2E2E2E"/>
                </a:solidFill>
                <a:latin typeface="Segoe UI" pitchFamily="34" charset="0"/>
                <a:ea typeface="Segoe UI" pitchFamily="34" charset="-122"/>
                <a:cs typeface="Segoe UI" pitchFamily="34" charset="-120"/>
              </a:rPr>
              <a:t>Agentic AI for Engineering · Lesson 1</a:t>
            </a:r>
            <a:endParaRPr lang="en-US" sz="1800" dirty="0"/>
          </a:p>
        </p:txBody>
      </p:sp>
      <p:sp>
        <p:nvSpPr>
          <p:cNvPr id="29" name="Text 26"/>
          <p:cNvSpPr/>
          <p:nvPr/>
        </p:nvSpPr>
        <p:spPr>
          <a:xfrm>
            <a:off x="13336191" y="9810750"/>
            <a:ext cx="322659" cy="342900"/>
          </a:xfrm>
          <a:prstGeom prst="rect">
            <a:avLst/>
          </a:prstGeom>
          <a:noFill/>
          <a:ln/>
        </p:spPr>
        <p:txBody>
          <a:bodyPr wrap="square" lIns="25400" tIns="25400" rIns="25400" bIns="25400" rtlCol="0" anchor="t">
            <a:normAutofit/>
          </a:bodyPr>
          <a:lstStyle/>
          <a:p>
            <a:pPr algn="l" indent="0" marL="0">
              <a:buNone/>
            </a:pPr>
            <a:r>
              <a:rPr lang="en-US" sz="1800" dirty="0">
                <a:solidFill>
                  <a:srgbClr val="2E2E2E"/>
                </a:solidFill>
                <a:latin typeface="Segoe UI" pitchFamily="34" charset="0"/>
                <a:ea typeface="Segoe UI" pitchFamily="34" charset="-122"/>
                <a:cs typeface="Segoe UI" pitchFamily="34" charset="-120"/>
              </a:rPr>
              <a:t>23</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2026-10-22T21:14:36Z</dcterms:created>
  <dcterms:modified xsi:type="dcterms:W3CDTF">2026-10-22T21:14:36Z</dcterms:modified>
</cp:coreProperties>
</file>