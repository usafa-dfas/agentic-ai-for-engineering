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66" r:id="rId20"/>
    <p:sldId id="275" r:id="rId21"/>
    <p:sldId id="276" r:id="rId22"/>
    <p:sldId id="277" r:id="rId23"/>
    <p:sldId id="278" r:id="rId24"/>
  </p:sldIdLst>
  <p:sldSz cx="13716000" cy="10287000"/>
  <p:notesSz cx="1028700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83" autoAdjust="0"/>
    <p:restoredTop sz="74466" autoAdjust="0"/>
  </p:normalViewPr>
  <p:slideViewPr>
    <p:cSldViewPr snapToGrid="0" snapToObjects="1">
      <p:cViewPr varScale="1">
        <p:scale>
          <a:sx n="54" d="100"/>
          <a:sy n="54" d="100"/>
        </p:scale>
        <p:origin x="220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Lesson 1 covers the version control skills everyone needs before we hand a repository to a coding agent in Lesson 2. No prior Git experience is assumed. We'll spend about 15 minutes on concepts, 30 minutes of guided exercises with GitHub Desktop, and 5 minutes on review.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The goal is practical fluency, not Git mastery. Everything we do today maps directly onto how a coding agent like Codex delivers work: it commits to a branch and opens a pull request, and you review and merge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t>Ideally participants complete this before class. Government or managed laptops may block installs, so coordinate with IT ahead of time. Use whatever account type your organization directs; the lesson works the same either way. Course lead: before class, publish the beam-calc template repository (see practice/README.md in the course repo) and send its link with these prerequisites.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Most engineers already do version control by hand with file names and email. Git does the same job with a complete, searchable record. This matters more with agents: an agent may change many files at once, and you need to see exactly what changed and be able to back it out.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Git is the version control engine. It runs on your computer and keeps history in a hidden .git folder inside your project. GitHub is a website that hosts a copy of the repository so others, including coding agents, can reach it. GitHub Desktop is a point-and-click app that runs Git for you and talks to GitHub.</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This is the vocabulary for the rest of the course. Lesson 2 opens with this same table as a review. Point out that the right column is the button or menu you'll click in GitHub Desktop.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This is the bridge to Lesson 2. Cloud coding agents such as ChatGPT Codex work from a GitHub repository. The agent never touches your laptop. It delivers changes as commits on a branch, usually with a pull request. Every skill in today's exercises is a step in that loop.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start here. Walk the room and confirm everyone is signed in. The name and email under Options › Git are stamped on every commit, so use your real name. On a Mac, Options is under GitHub Desktop › Settings.</a:t>
            </a:r>
          </a:p>
          <a:p>
            <a:r>
              <a:t>Screenshot to add: GitHub Desktop, File › Options › Accounts, signed in to GitHub.com (Replace the gray placeholder: right-click › Change Picture › From a File.)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The practice project is deliberately tiny: one script that computes the tip deflection of a cantilever beam. The engineering is trivial so attention stays on Git. Point out README, .gitignore, and AGENTS.md; we'll come back to them at the end.</a:t>
            </a:r>
          </a:p>
          <a:p>
            <a:r>
              <a:t>The intro line and the file-list caption tell participants where this project comes from (Exercise 2) and which files matter today.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t>The course lead shares a link to a GitHub template repository (beam-calc). Use this template makes each participant a separate copy that they own, with full write access; a plain clone of the course lead’s repo would not let them push. They then clone their own copy, not the template. Recommend keeping repos out of OneDrive-synced folders; OneDrive and Git can fight over the same files.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The core loop: edit, review the diff, commit, push. Make them read the diff before committing; that is the same habit they'll need when reviewing agent output. A commit only saves locally; nothing reaches GitHub until Push. If you commit by mistake, Desktop shows an Undo button right after the commit.</a:t>
            </a:r>
          </a:p>
          <a:p>
            <a:r>
              <a:t>Screenshot to add: GitHub Desktop Changes tab: the beam.m diff (P = 500.0 → 750.0), the Summary box, and Commit to main (Replace the gray placeholder: right-click › Change Picture › From a File.)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Editing on github.com simulates a collaborator or an agent pushing a commit. Fetch only checks; it never changes your files. Pull brings the commits down. Habit: pull before you start working, push when you finish.</a:t>
            </a:r>
          </a:p>
          <a:p>
            <a:r>
              <a:t>Screenshot to add: GitHub Desktop toolbar after Fetch origin, showing the Pull origin ↓1 button (Replace the gray placeholder: right-click › Change Picture › From a File.)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Have them switch back to main after committing on the branch and look at beam.m: it says steel again. Then switch to the branch: aluminum. Same folder, two versions. This is how an agent's work stays out of main until you approve 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The Files changed tab is where review happens. In Lesson 2 the agent opens this pull request for you; your job is everything from step 3 on. After merging, the local copy of main is behind GitHub until you pull.</a:t>
            </a:r>
          </a:p>
          <a:p>
            <a:r>
              <a:t>Screenshot to add: GitHub pull request page for feature/aluminum: Files changed tab and the Merge pull request button (Replace the gray placeholder: right-click › Change Picture › From a File.)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Conflicts are normal and not an error. Git refuses to guess when two commits changed the same lines. In VS Code, the Accept Current / Accept Incoming buttons above the markers make this a click. The file must have no markers left before Desktop lets you continue the merge.</a:t>
            </a:r>
          </a:p>
          <a:p>
            <a:r>
              <a:t>Screenshot to add: VS Code showing the beam.m conflict, with Accept Current Change / Accept Incoming Change above the markers (Replace the gray placeholder: right-click › Change Picture › From a File.)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of undo. Discard is for changes you haven't committed. Undo removes the last commit but only if it hasn't been pushed. Revert is the safe choice for anything already on GitHub: it adds a new commit that reverses the old one, so history stays intact. This is how you back out a bad agent commit.</a:t>
            </a:r>
          </a:p>
          <a:p>
            <a:r>
              <a:t>Screenshot to add: GitHub Desktop History tab: right-click a commit to show Revert changes in commit (Replace the gray placeholder: right-click › Change Picture › From a File.)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t>Three small files make a repo usable by people and agents. README tells anyone how to run it. .gitignore keeps generated files, data, and secrets out of commits. AGENTS.md is the instruction file Codex reads at the start of every task. We'll improve it in Lesson 2.</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to stress. First, Git history is permanent: deleting a file in a later commit leaves it in every earlier commit. If a secret is pushed, assume it's compromised and rotate it. Second, connecting a repo to a coding agent sends its contents to that service. Follow current USAFA and DAF guidance on GenAI tools and data. A private repo is not an approval to store controlled data.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dirty="0"/>
              <a:t>Homework, not an in-class exercise. Participants do this after class with one of their own projects (scripts, models, course code) before Lesson 2. It sits just before the Agent-Ready Checklist so they see the steps that get them to its first item. Emphasize the private checkbox on Publish.</a:t>
            </a:r>
          </a:p>
          <a:p>
            <a:r>
              <a:t>Screenshot to add: GitHub Desktop Publish repository dialog with Keep this code private checked (Replace the gray placeholder: right-click › Change Picture › From a File.)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Homework before Lesson 2: pick one of your own projects and bring it to this state. The previous slide has the steps for getting it onto GitHub. Lesson 2 starts from a repo that meets this checklist.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row is the one everyone hits. Desktop is telling you GitHub has commits you don't. Pull first, then push.</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open exercise time. Participants can print it or keep it as a reference for Lesson 2.</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Answers. </a:t>
            </a:r>
          </a:p>
          <a:p>
            <a:r>
              <a:rPr lang="en-US" dirty="0"/>
              <a:t>1: The change was saved but not committed and pushed; check the Changes tab, commit, then Push origin. </a:t>
            </a:r>
          </a:p>
          <a:p>
            <a:r>
              <a:rPr lang="en-US" dirty="0"/>
              <a:t>2: Fetch checks GitHub for new commits without changing your files; Pull downloads them and updates your files. </a:t>
            </a:r>
          </a:p>
          <a:p>
            <a:r>
              <a:rPr lang="en-US" dirty="0"/>
              <a:t>3: A branch keeps main working while the change is reviewed; nothing reaches main until the pull request is merged. </a:t>
            </a:r>
          </a:p>
          <a:p>
            <a:r>
              <a:rPr lang="en-US" dirty="0"/>
              <a:t>4: Pull origin, resolve any conflicts, then push. </a:t>
            </a:r>
          </a:p>
          <a:p>
            <a:r>
              <a:rPr lang="en-US" dirty="0"/>
              <a:t>5: No. The key is still in history and must be treated as compromised; revoke and replace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spTree>
      <p:nvGrpSpPr>
        <p:cNvPr id="1" name=""/>
        <p:cNvGrpSpPr/>
        <p:nvPr/>
      </p:nvGrpSpPr>
      <p:grpSpPr>
        <a:xfrm>
          <a:off x="0" y="0"/>
          <a:ext cx="0" cy="0"/>
          <a:chOff x="0" y="0"/>
          <a:chExt cx="0" cy="0"/>
        </a:xfrm>
      </p:grpSpPr>
      <p:sp>
        <p:nvSpPr>
          <p:cNvPr id="2" name="Sidebar"/>
          <p:cNvSpPr/>
          <p:nvPr userDrawn="1"/>
        </p:nvSpPr>
        <p:spPr>
          <a:xfrm>
            <a:off x="0" y="0"/>
            <a:ext cx="1543050" cy="10287000"/>
          </a:xfrm>
          <a:prstGeom prst="rect">
            <a:avLst/>
          </a:prstGeom>
          <a:solidFill>
            <a:srgbClr val="E6E6E6"/>
          </a:solidFill>
          <a:ln>
            <a:noFill/>
          </a:ln>
        </p:spPr>
        <p:txBody>
          <a:bodyPr/>
          <a:lstStyle/>
          <a:p>
            <a:endParaRPr lang="en-US"/>
          </a:p>
        </p:txBody>
      </p:sp>
      <p:pic>
        <p:nvPicPr>
          <p:cNvPr id="3" name="Logo" descr="U.S. Air Force Academy logo"/>
          <p:cNvPicPr>
            <a:picLocks noChangeAspect="1"/>
          </p:cNvPicPr>
          <p:nvPr userDrawn="1"/>
        </p:nvPicPr>
        <p:blipFill>
          <a:blip r:embed="rId2"/>
          <a:stretch>
            <a:fillRect/>
          </a:stretch>
        </p:blipFill>
        <p:spPr>
          <a:xfrm>
            <a:off x="200025" y="133350"/>
            <a:ext cx="1143000" cy="1143000"/>
          </a:xfrm>
          <a:prstGeom prst="rect">
            <a:avLst/>
          </a:prstGeom>
        </p:spPr>
      </p:pic>
      <p:sp>
        <p:nvSpPr>
          <p:cNvPr id="4" name="Title rule"/>
          <p:cNvSpPr/>
          <p:nvPr userDrawn="1"/>
        </p:nvSpPr>
        <p:spPr>
          <a:xfrm>
            <a:off x="1657350" y="1219200"/>
            <a:ext cx="11925300" cy="66675"/>
          </a:xfrm>
          <a:prstGeom prst="rect">
            <a:avLst/>
          </a:prstGeom>
          <a:solidFill>
            <a:srgbClr val="000000"/>
          </a:solidFill>
          <a:ln>
            <a:noFill/>
          </a:ln>
        </p:spPr>
        <p:txBody>
          <a:bodyPr/>
          <a:lstStyle/>
          <a:p>
            <a:endParaRPr lang="en-US"/>
          </a:p>
        </p:txBody>
      </p:sp>
      <p:sp>
        <p:nvSpPr>
          <p:cNvPr id="5" name="Course title"/>
          <p:cNvSpPr>
            <a:spLocks noGrp="1"/>
          </p:cNvSpPr>
          <p:nvPr>
            <p:ph type="title"/>
          </p:nvPr>
        </p:nvSpPr>
        <p:spPr>
          <a:xfrm>
            <a:off x="1673225" y="155575"/>
            <a:ext cx="11523663" cy="1106488"/>
          </a:xfrm>
        </p:spPr>
        <p:txBody>
          <a:bodyPr wrap="square" lIns="25400" tIns="25400" rIns="25400" bIns="25400" anchor="ctr">
            <a:normAutofit/>
          </a:bodyPr>
          <a:lstStyle>
            <a:lvl1pPr>
              <a:defRPr sz="5400"/>
            </a:lvl1pPr>
          </a:lstStyle>
          <a:p>
            <a:r>
              <a:rPr lang="en-US" dirty="0"/>
              <a:t>Agentic AI for Engineering</a:t>
            </a:r>
          </a:p>
        </p:txBody>
      </p:sp>
      <p:sp>
        <p:nvSpPr>
          <p:cNvPr id="6" name="Lesson number"/>
          <p:cNvSpPr>
            <a:spLocks noGrp="1"/>
          </p:cNvSpPr>
          <p:nvPr>
            <p:ph type="body" idx="1"/>
          </p:nvPr>
        </p:nvSpPr>
        <p:spPr>
          <a:xfrm>
            <a:off x="1657350" y="2286000"/>
            <a:ext cx="11925300" cy="1371600"/>
          </a:xfrm>
        </p:spPr>
        <p:txBody>
          <a:bodyPr wrap="square" lIns="25400" tIns="25400" rIns="25400" bIns="25400">
            <a:noAutofit/>
          </a:bodyPr>
          <a:lstStyle>
            <a:lvl1pPr marL="0" indent="0" algn="ctr">
              <a:spcAft>
                <a:spcPts val="0"/>
              </a:spcAft>
              <a:buNone/>
              <a:defRPr sz="9000" b="1">
                <a:solidFill>
                  <a:schemeClr val="tx1"/>
                </a:solidFill>
              </a:defRPr>
            </a:lvl1pPr>
          </a:lstStyle>
          <a:p>
            <a:r>
              <a:rPr lang="en-US" dirty="0"/>
              <a:t>Lesson N</a:t>
            </a:r>
          </a:p>
        </p:txBody>
      </p:sp>
      <p:sp>
        <p:nvSpPr>
          <p:cNvPr id="7" name="Lesson title"/>
          <p:cNvSpPr>
            <a:spLocks noGrp="1"/>
          </p:cNvSpPr>
          <p:nvPr>
            <p:ph type="body" idx="2"/>
          </p:nvPr>
        </p:nvSpPr>
        <p:spPr>
          <a:xfrm>
            <a:off x="1657350" y="3771900"/>
            <a:ext cx="11925300" cy="990600"/>
          </a:xfrm>
        </p:spPr>
        <p:txBody>
          <a:bodyPr wrap="square" lIns="25400" tIns="25400" rIns="25400" bIns="25400">
            <a:noAutofit/>
          </a:bodyPr>
          <a:lstStyle>
            <a:lvl1pPr marL="0" indent="0" algn="ctr">
              <a:spcAft>
                <a:spcPts val="0"/>
              </a:spcAft>
              <a:buNone/>
              <a:defRPr sz="4400" b="1">
                <a:solidFill>
                  <a:schemeClr val="tx1"/>
                </a:solidFill>
              </a:defRPr>
            </a:lvl1pPr>
          </a:lstStyle>
          <a:p>
            <a:r>
              <a:rPr lang="en-US" dirty="0"/>
              <a:t>Lesson title</a:t>
            </a:r>
          </a:p>
        </p:txBody>
      </p:sp>
      <p:sp>
        <p:nvSpPr>
          <p:cNvPr id="8" name="Subtitle"/>
          <p:cNvSpPr>
            <a:spLocks noGrp="1"/>
          </p:cNvSpPr>
          <p:nvPr>
            <p:ph type="body" idx="3"/>
          </p:nvPr>
        </p:nvSpPr>
        <p:spPr>
          <a:xfrm>
            <a:off x="1657350" y="4838700"/>
            <a:ext cx="11925300" cy="685800"/>
          </a:xfrm>
        </p:spPr>
        <p:txBody>
          <a:bodyPr wrap="square" lIns="25400" tIns="25400" rIns="25400" bIns="25400">
            <a:noAutofit/>
          </a:bodyPr>
          <a:lstStyle>
            <a:lvl1pPr marL="0" indent="0" algn="ctr">
              <a:spcAft>
                <a:spcPts val="0"/>
              </a:spcAft>
              <a:buNone/>
              <a:defRPr sz="3200" b="1">
                <a:solidFill>
                  <a:schemeClr val="tx1"/>
                </a:solidFill>
              </a:defRPr>
            </a:lvl1pPr>
          </a:lstStyle>
          <a:p>
            <a:r>
              <a:rPr lang="en-US" dirty="0"/>
              <a:t>Subtitle</a:t>
            </a:r>
          </a:p>
        </p:txBody>
      </p:sp>
      <p:sp>
        <p:nvSpPr>
          <p:cNvPr id="9" name="Tagline"/>
          <p:cNvSpPr>
            <a:spLocks noGrp="1"/>
          </p:cNvSpPr>
          <p:nvPr>
            <p:ph type="body" idx="4"/>
          </p:nvPr>
        </p:nvSpPr>
        <p:spPr>
          <a:xfrm>
            <a:off x="1657350" y="5600700"/>
            <a:ext cx="11925300" cy="609600"/>
          </a:xfrm>
        </p:spPr>
        <p:txBody>
          <a:bodyPr wrap="square" lIns="25400" tIns="25400" rIns="25400" bIns="25400">
            <a:noAutofit/>
          </a:bodyPr>
          <a:lstStyle>
            <a:lvl1pPr marL="0" indent="0" algn="ctr">
              <a:spcAft>
                <a:spcPts val="0"/>
              </a:spcAft>
              <a:buNone/>
              <a:defRPr sz="2700">
                <a:solidFill>
                  <a:schemeClr val="accent6"/>
                </a:solidFill>
              </a:defRPr>
            </a:lvl1pPr>
          </a:lstStyle>
          <a:p>
            <a:r>
              <a:rPr lang="en-US" dirty="0"/>
              <a:t>One-line description</a:t>
            </a:r>
          </a:p>
        </p:txBody>
      </p:sp>
      <p:sp>
        <p:nvSpPr>
          <p:cNvPr id="10" name="Course line"/>
          <p:cNvSpPr>
            <a:spLocks noGrp="1"/>
          </p:cNvSpPr>
          <p:nvPr>
            <p:ph type="body" idx="5"/>
          </p:nvPr>
        </p:nvSpPr>
        <p:spPr>
          <a:xfrm>
            <a:off x="1657350" y="9334500"/>
            <a:ext cx="11925300" cy="609600"/>
          </a:xfrm>
        </p:spPr>
        <p:txBody>
          <a:bodyPr wrap="square" lIns="25400" tIns="25400" rIns="25400" bIns="25400">
            <a:noAutofit/>
          </a:bodyPr>
          <a:lstStyle>
            <a:lvl1pPr marL="0" indent="0" algn="ctr">
              <a:spcAft>
                <a:spcPts val="0"/>
              </a:spcAft>
              <a:buNone/>
              <a:defRPr sz="3000" b="1">
                <a:solidFill>
                  <a:schemeClr val="tx1"/>
                </a:solidFill>
              </a:defRPr>
            </a:lvl1pPr>
          </a:lstStyle>
          <a:p>
            <a:r>
              <a:rPr lang="en-US" dirty="0"/>
              <a:t>USAFA Instructor Short Course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p>
        </p:txBody>
      </p:sp>
      <p:sp>
        <p:nvSpPr>
          <p:cNvPr id="3" name="Content"/>
          <p:cNvSpPr>
            <a:spLocks noGrp="1"/>
          </p:cNvSpPr>
          <p:nvPr>
            <p:ph type="body" idx="1"/>
          </p:nvPr>
        </p:nvSpPr>
        <p:spPr/>
        <p:txBody>
          <a:bodyPr wrap="square" lIns="25400" tIns="25400" rIns="25400" bIns="25400">
            <a:noAutofit/>
          </a:bodyPr>
          <a:lstStyle/>
          <a:p>
            <a:endParaRPr lang="en-US" dirty="0"/>
          </a:p>
        </p:txBody>
      </p:sp>
      <p:sp>
        <p:nvSpPr>
          <p:cNvPr id="4" name="Footer"/>
          <p:cNvSpPr>
            <a:spLocks noGrp="1"/>
          </p:cNvSpPr>
          <p:nvPr>
            <p:ph type="ftr" sz="quarter" idx="11"/>
          </p:nvPr>
        </p:nvSpPr>
        <p:spPr/>
        <p:txBody>
          <a:bodyPr/>
          <a:lstStyle/>
          <a:p>
            <a:endParaRPr lang="en-US" dirty="0"/>
          </a:p>
        </p:txBody>
      </p:sp>
      <p:sp>
        <p:nvSpPr>
          <p:cNvPr id="5"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p>
        </p:txBody>
      </p:sp>
      <p:sp>
        <p:nvSpPr>
          <p:cNvPr id="3" name="Left content"/>
          <p:cNvSpPr>
            <a:spLocks noGrp="1"/>
          </p:cNvSpPr>
          <p:nvPr>
            <p:ph type="body" idx="1"/>
          </p:nvPr>
        </p:nvSpPr>
        <p:spPr>
          <a:xfrm>
            <a:off x="1809750" y="1600200"/>
            <a:ext cx="5715000" cy="7962900"/>
          </a:xfrm>
        </p:spPr>
        <p:txBody>
          <a:bodyPr wrap="square" lIns="25400" tIns="25400" rIns="25400" bIns="25400">
            <a:noAutofit/>
          </a:bodyPr>
          <a:lstStyle/>
          <a:p>
            <a:endParaRPr lang="en-US" dirty="0"/>
          </a:p>
        </p:txBody>
      </p:sp>
      <p:sp>
        <p:nvSpPr>
          <p:cNvPr id="4" name="Right content"/>
          <p:cNvSpPr>
            <a:spLocks noGrp="1"/>
          </p:cNvSpPr>
          <p:nvPr>
            <p:ph type="body" idx="2"/>
          </p:nvPr>
        </p:nvSpPr>
        <p:spPr>
          <a:xfrm>
            <a:off x="7867650" y="1600200"/>
            <a:ext cx="5715000" cy="7962900"/>
          </a:xfrm>
        </p:spPr>
        <p:txBody>
          <a:bodyPr wrap="square" lIns="25400" tIns="25400" rIns="25400" bIns="25400">
            <a:noAutofit/>
          </a:bodyPr>
          <a:lstStyle/>
          <a:p>
            <a:endParaRPr lang="en-US" dirty="0"/>
          </a:p>
        </p:txBody>
      </p:sp>
      <p:sp>
        <p:nvSpPr>
          <p:cNvPr id="5" name="Footer"/>
          <p:cNvSpPr>
            <a:spLocks noGrp="1"/>
          </p:cNvSpPr>
          <p:nvPr>
            <p:ph type="ftr" sz="quarter" idx="11"/>
          </p:nvPr>
        </p:nvSpPr>
        <p:spPr/>
        <p:txBody>
          <a:bodyPr/>
          <a:lstStyle/>
          <a:p>
            <a:endParaRPr lang="en-US" dirty="0"/>
          </a:p>
        </p:txBody>
      </p:sp>
      <p:sp>
        <p:nvSpPr>
          <p:cNvPr id="6"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ip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p>
        </p:txBody>
      </p:sp>
      <p:sp>
        <p:nvSpPr>
          <p:cNvPr id="3" name="Chip"/>
          <p:cNvSpPr>
            <a:spLocks noGrp="1"/>
          </p:cNvSpPr>
          <p:nvPr>
            <p:ph type="body" idx="13"/>
          </p:nvPr>
        </p:nvSpPr>
        <p:spPr>
          <a:xfrm>
            <a:off x="1809750" y="1524000"/>
            <a:ext cx="1314450" cy="381000"/>
          </a:xfrm>
          <a:prstGeom prst="roundRect">
            <a:avLst>
              <a:gd name="adj" fmla="val 15000"/>
            </a:avLst>
          </a:prstGeom>
          <a:solidFill>
            <a:srgbClr val="595959"/>
          </a:solidFill>
          <a:ln>
            <a:noFill/>
          </a:ln>
        </p:spPr>
        <p:txBody>
          <a:bodyPr wrap="none" lIns="91440" tIns="25400" rIns="91440" bIns="25400" anchor="ctr">
            <a:spAutoFit/>
          </a:bodyPr>
          <a:lstStyle>
            <a:lvl1pPr marL="0" indent="0" algn="ctr">
              <a:spcAft>
                <a:spcPts val="0"/>
              </a:spcAft>
              <a:buNone/>
              <a:defRPr sz="1800" b="1">
                <a:solidFill>
                  <a:schemeClr val="bg1"/>
                </a:solidFill>
              </a:defRPr>
            </a:lvl1pPr>
          </a:lstStyle>
          <a:p>
            <a:r>
              <a:rPr lang="en-US" dirty="0"/>
              <a:t>EXERCISE</a:t>
            </a:r>
          </a:p>
        </p:txBody>
      </p:sp>
      <p:sp>
        <p:nvSpPr>
          <p:cNvPr id="4" name="Steps"/>
          <p:cNvSpPr>
            <a:spLocks noGrp="1"/>
          </p:cNvSpPr>
          <p:nvPr>
            <p:ph type="body" idx="1"/>
          </p:nvPr>
        </p:nvSpPr>
        <p:spPr>
          <a:xfrm>
            <a:off x="1809750" y="2133600"/>
            <a:ext cx="11772900" cy="7429500"/>
          </a:xfrm>
        </p:spPr>
        <p:txBody>
          <a:bodyPr wrap="square" lIns="25400" tIns="25400" rIns="25400" bIns="25400">
            <a:noAutofit/>
          </a:bodyPr>
          <a:lstStyle>
            <a:lvl1pPr marL="571500" indent="-571500">
              <a:spcAft>
                <a:spcPts val="1200"/>
              </a:spcAft>
              <a:buClr>
                <a:schemeClr val="accent1"/>
              </a:buClr>
              <a:buSzPct val="110000"/>
              <a:buFont typeface="+mj-lt"/>
              <a:buAutoNum type="arabicPlain"/>
              <a:defRPr sz="2000"/>
            </a:lvl1pPr>
          </a:lstStyle>
          <a:p>
            <a:r>
              <a:rPr lang="en-US" dirty="0"/>
              <a:t>Numbered step</a:t>
            </a:r>
          </a:p>
        </p:txBody>
      </p:sp>
      <p:sp>
        <p:nvSpPr>
          <p:cNvPr id="5" name="Footer"/>
          <p:cNvSpPr>
            <a:spLocks noGrp="1"/>
          </p:cNvSpPr>
          <p:nvPr>
            <p:ph type="ftr" sz="quarter" idx="11"/>
          </p:nvPr>
        </p:nvSpPr>
        <p:spPr/>
        <p:txBody>
          <a:bodyPr/>
          <a:lstStyle/>
          <a:p>
            <a:endParaRPr lang="en-US" dirty="0"/>
          </a:p>
        </p:txBody>
      </p:sp>
      <p:sp>
        <p:nvSpPr>
          <p:cNvPr id="6"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p, Steps, and Code">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p>
        </p:txBody>
      </p:sp>
      <p:sp>
        <p:nvSpPr>
          <p:cNvPr id="3" name="Chip"/>
          <p:cNvSpPr>
            <a:spLocks noGrp="1"/>
          </p:cNvSpPr>
          <p:nvPr>
            <p:ph type="body" idx="13"/>
          </p:nvPr>
        </p:nvSpPr>
        <p:spPr>
          <a:xfrm>
            <a:off x="1809750" y="1524000"/>
            <a:ext cx="1314450" cy="381000"/>
          </a:xfrm>
          <a:prstGeom prst="roundRect">
            <a:avLst>
              <a:gd name="adj" fmla="val 15000"/>
            </a:avLst>
          </a:prstGeom>
          <a:solidFill>
            <a:srgbClr val="595959"/>
          </a:solidFill>
          <a:ln>
            <a:noFill/>
          </a:ln>
        </p:spPr>
        <p:txBody>
          <a:bodyPr wrap="none" lIns="91440" tIns="25400" rIns="91440" bIns="25400" anchor="ctr">
            <a:spAutoFit/>
          </a:bodyPr>
          <a:lstStyle>
            <a:lvl1pPr marL="0" indent="0" algn="ctr">
              <a:spcAft>
                <a:spcPts val="0"/>
              </a:spcAft>
              <a:buNone/>
              <a:defRPr sz="1800" b="1">
                <a:solidFill>
                  <a:schemeClr val="bg1"/>
                </a:solidFill>
              </a:defRPr>
            </a:lvl1pPr>
          </a:lstStyle>
          <a:p>
            <a:r>
              <a:rPr lang="en-US" dirty="0"/>
              <a:t>EXERCISE</a:t>
            </a:r>
          </a:p>
        </p:txBody>
      </p:sp>
      <p:sp>
        <p:nvSpPr>
          <p:cNvPr id="4" name="Steps"/>
          <p:cNvSpPr>
            <a:spLocks noGrp="1"/>
          </p:cNvSpPr>
          <p:nvPr>
            <p:ph type="body" idx="1"/>
          </p:nvPr>
        </p:nvSpPr>
        <p:spPr>
          <a:xfrm>
            <a:off x="1809750" y="2133600"/>
            <a:ext cx="6096000" cy="7429500"/>
          </a:xfrm>
        </p:spPr>
        <p:txBody>
          <a:bodyPr wrap="square" lIns="25400" tIns="25400" rIns="25400" bIns="25400">
            <a:noAutofit/>
          </a:bodyPr>
          <a:lstStyle>
            <a:lvl1pPr marL="571500" indent="-571500">
              <a:spcAft>
                <a:spcPts val="1200"/>
              </a:spcAft>
              <a:buClr>
                <a:schemeClr val="accent1"/>
              </a:buClr>
              <a:buSzPct val="110000"/>
              <a:buFont typeface="+mj-lt"/>
              <a:buAutoNum type="arabicPlain"/>
              <a:defRPr sz="2000"/>
            </a:lvl1pPr>
          </a:lstStyle>
          <a:p>
            <a:r>
              <a:rPr lang="en-US" dirty="0"/>
              <a:t>Numbered step</a:t>
            </a:r>
          </a:p>
        </p:txBody>
      </p:sp>
      <p:sp>
        <p:nvSpPr>
          <p:cNvPr id="5" name="Code"/>
          <p:cNvSpPr>
            <a:spLocks noGrp="1"/>
          </p:cNvSpPr>
          <p:nvPr>
            <p:ph type="body" idx="14"/>
          </p:nvPr>
        </p:nvSpPr>
        <p:spPr>
          <a:xfrm>
            <a:off x="8153400" y="1524000"/>
            <a:ext cx="5429250" cy="8039100"/>
          </a:xfrm>
          <a:prstGeom prst="roundRect">
            <a:avLst>
              <a:gd name="adj" fmla="val 3000"/>
            </a:avLst>
          </a:prstGeom>
          <a:solidFill>
            <a:srgbClr val="1E1E1E"/>
          </a:solidFill>
          <a:ln>
            <a:noFill/>
          </a:ln>
        </p:spPr>
        <p:txBody>
          <a:bodyPr wrap="square" lIns="228600" tIns="228600" rIns="228600" bIns="228600">
            <a:noAutofit/>
          </a:bodyPr>
          <a:lstStyle>
            <a:lvl1pPr marL="0" indent="0">
              <a:lnSpc>
                <a:spcPct val="115000"/>
              </a:lnSpc>
              <a:spcAft>
                <a:spcPts val="0"/>
              </a:spcAft>
              <a:buNone/>
              <a:defRPr sz="1600">
                <a:solidFill>
                  <a:srgbClr val="D4D4D4"/>
                </a:solidFill>
                <a:latin typeface="Consolas"/>
                <a:ea typeface="Consolas"/>
                <a:cs typeface="Consolas"/>
              </a:defRPr>
            </a:lvl1pPr>
          </a:lstStyle>
          <a:p>
            <a:r>
              <a:rPr lang="en-US" dirty="0"/>
              <a:t>% code or file contents</a:t>
            </a:r>
          </a:p>
        </p:txBody>
      </p:sp>
      <p:sp>
        <p:nvSpPr>
          <p:cNvPr id="6" name="Footer"/>
          <p:cNvSpPr>
            <a:spLocks noGrp="1"/>
          </p:cNvSpPr>
          <p:nvPr>
            <p:ph type="ftr" sz="quarter" idx="11"/>
          </p:nvPr>
        </p:nvSpPr>
        <p:spPr/>
        <p:txBody>
          <a:bodyPr/>
          <a:lstStyle/>
          <a:p>
            <a:endParaRPr lang="en-US" dirty="0"/>
          </a:p>
        </p:txBody>
      </p:sp>
      <p:sp>
        <p:nvSpPr>
          <p:cNvPr id="7"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p>
        </p:txBody>
      </p:sp>
      <p:sp>
        <p:nvSpPr>
          <p:cNvPr id="3" name="Footer"/>
          <p:cNvSpPr>
            <a:spLocks noGrp="1"/>
          </p:cNvSpPr>
          <p:nvPr>
            <p:ph type="ftr" sz="quarter" idx="11"/>
          </p:nvPr>
        </p:nvSpPr>
        <p:spPr/>
        <p:txBody>
          <a:bodyPr/>
          <a:lstStyle/>
          <a:p>
            <a:endParaRPr lang="en-US" dirty="0"/>
          </a:p>
        </p:txBody>
      </p:sp>
      <p:sp>
        <p:nvSpPr>
          <p:cNvPr id="4"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idebar"/>
          <p:cNvSpPr/>
          <p:nvPr userDrawn="1"/>
        </p:nvSpPr>
        <p:spPr>
          <a:xfrm>
            <a:off x="0" y="0"/>
            <a:ext cx="1543050" cy="10287000"/>
          </a:xfrm>
          <a:prstGeom prst="rect">
            <a:avLst/>
          </a:prstGeom>
          <a:solidFill>
            <a:srgbClr val="E6E6E6"/>
          </a:solidFill>
          <a:ln>
            <a:noFill/>
          </a:ln>
        </p:spPr>
        <p:txBody>
          <a:bodyPr/>
          <a:lstStyle/>
          <a:p>
            <a:endParaRPr lang="en-US"/>
          </a:p>
        </p:txBody>
      </p:sp>
      <p:pic>
        <p:nvPicPr>
          <p:cNvPr id="3" name="Logo" descr="U.S. Air Force Academy logo"/>
          <p:cNvPicPr>
            <a:picLocks noChangeAspect="1"/>
          </p:cNvPicPr>
          <p:nvPr userDrawn="1"/>
        </p:nvPicPr>
        <p:blipFill>
          <a:blip r:embed="rId8"/>
          <a:stretch>
            <a:fillRect/>
          </a:stretch>
        </p:blipFill>
        <p:spPr>
          <a:xfrm>
            <a:off x="200025" y="133350"/>
            <a:ext cx="1143000" cy="1143000"/>
          </a:xfrm>
          <a:prstGeom prst="rect">
            <a:avLst/>
          </a:prstGeom>
        </p:spPr>
      </p:pic>
      <p:sp>
        <p:nvSpPr>
          <p:cNvPr id="4" name="Title rule"/>
          <p:cNvSpPr/>
          <p:nvPr userDrawn="1"/>
        </p:nvSpPr>
        <p:spPr>
          <a:xfrm>
            <a:off x="1657350" y="1219200"/>
            <a:ext cx="11925300" cy="66675"/>
          </a:xfrm>
          <a:prstGeom prst="rect">
            <a:avLst/>
          </a:prstGeom>
          <a:solidFill>
            <a:srgbClr val="000000"/>
          </a:solidFill>
          <a:ln>
            <a:noFill/>
          </a:ln>
        </p:spPr>
        <p:txBody>
          <a:bodyPr/>
          <a:lstStyle/>
          <a:p>
            <a:endParaRPr lang="en-US"/>
          </a:p>
        </p:txBody>
      </p:sp>
      <p:sp>
        <p:nvSpPr>
          <p:cNvPr id="5" name="Title Placeholder"/>
          <p:cNvSpPr>
            <a:spLocks noGrp="1"/>
          </p:cNvSpPr>
          <p:nvPr>
            <p:ph type="title"/>
          </p:nvPr>
        </p:nvSpPr>
        <p:spPr>
          <a:xfrm>
            <a:off x="1657350" y="200025"/>
            <a:ext cx="10858500" cy="1057275"/>
          </a:xfrm>
        </p:spPr>
        <p:txBody>
          <a:bodyPr vert="horz" wrap="square" lIns="25400" tIns="25400" rIns="25400" bIns="25400" anchor="ctr">
            <a:normAutofit/>
          </a:bodyPr>
          <a:lstStyle/>
          <a:p>
            <a:r>
              <a:rPr lang="en-US" dirty="0"/>
              <a:t>Click to edit title</a:t>
            </a:r>
          </a:p>
        </p:txBody>
      </p:sp>
      <p:sp>
        <p:nvSpPr>
          <p:cNvPr id="6" name="Text Placeholder"/>
          <p:cNvSpPr>
            <a:spLocks noGrp="1"/>
          </p:cNvSpPr>
          <p:nvPr>
            <p:ph type="body" idx="1"/>
          </p:nvPr>
        </p:nvSpPr>
        <p:spPr>
          <a:xfrm>
            <a:off x="1809750" y="1600200"/>
            <a:ext cx="11772900" cy="7962900"/>
          </a:xfrm>
        </p:spPr>
        <p:txBody>
          <a:bodyPr vert="horz" wrap="square" lIns="25400" tIns="25400" rIns="25400" bIns="25400">
            <a:noAutofit/>
          </a:bodyPr>
          <a:lstStyle/>
          <a:p>
            <a:r>
              <a:rPr lang="en-US" dirty="0"/>
              <a:t>Body text: plain paragraphs</a:t>
            </a:r>
          </a:p>
          <a:p>
            <a:pPr lvl="1"/>
            <a:r>
              <a:rPr lang="en-US"/>
              <a:t>Second level: bullets</a:t>
            </a:r>
          </a:p>
        </p:txBody>
      </p:sp>
      <p:sp>
        <p:nvSpPr>
          <p:cNvPr id="7" name="Footer Placeholder"/>
          <p:cNvSpPr>
            <a:spLocks noGrp="1"/>
          </p:cNvSpPr>
          <p:nvPr>
            <p:ph type="ftr" sz="quarter" idx="11"/>
          </p:nvPr>
        </p:nvSpPr>
        <p:spPr>
          <a:xfrm>
            <a:off x="1054418" y="9810750"/>
            <a:ext cx="13264515" cy="342900"/>
          </a:xfrm>
        </p:spPr>
        <p:txBody>
          <a:bodyPr wrap="square" lIns="25400" tIns="25400" rIns="25400" bIns="25400" anchor="t"/>
          <a:lstStyle>
            <a:lvl1pPr algn="ctr">
              <a:defRPr sz="1800">
                <a:solidFill>
                  <a:srgbClr val="2E2E2E"/>
                </a:solidFill>
                <a:latin typeface="+mn-lt"/>
                <a:ea typeface="+mn-ea"/>
                <a:cs typeface="+mn-cs"/>
              </a:defRPr>
            </a:lvl1pPr>
          </a:lstStyle>
          <a:p>
            <a:endParaRPr lang="en-US" dirty="0"/>
          </a:p>
        </p:txBody>
      </p:sp>
      <p:sp>
        <p:nvSpPr>
          <p:cNvPr id="8" name="Slide Number Placeholder"/>
          <p:cNvSpPr>
            <a:spLocks noGrp="1"/>
          </p:cNvSpPr>
          <p:nvPr>
            <p:ph type="sldNum" sz="quarter" idx="12"/>
          </p:nvPr>
        </p:nvSpPr>
        <p:spPr>
          <a:xfrm>
            <a:off x="12900000" y="9810750"/>
            <a:ext cx="758850" cy="342900"/>
          </a:xfrm>
        </p:spPr>
        <p:txBody>
          <a:bodyPr wrap="square" lIns="25400" tIns="25400" rIns="25400" bIns="25400" anchor="t"/>
          <a:lstStyle>
            <a:lvl1pPr algn="r">
              <a:defRPr sz="1800">
                <a:solidFill>
                  <a:srgbClr val="2E2E2E"/>
                </a:solidFill>
                <a:latin typeface="+mn-lt"/>
                <a:ea typeface="+mn-ea"/>
                <a:cs typeface="+mn-cs"/>
              </a:defRPr>
            </a:lvl1pPr>
          </a:lstStyle>
          <a:p>
            <a:fld id="{B6F15528-21DE-4FAA-801E-634DDDAF4B2B}" type="slidenum">
              <a:rPr lang="en-US"/>
              <a:t>‹#›</a:t>
            </a:fld>
            <a:endParaRPr lang="en-US"/>
          </a:p>
        </p:txBody>
      </p:sp>
      <p:sp>
        <p:nvSpPr>
          <p:cNvPr id="9" name="Lesson tag"/>
          <p:cNvSpPr txBox="1"/>
          <p:nvPr userDrawn="1"/>
        </p:nvSpPr>
        <p:spPr>
          <a:xfrm>
            <a:off x="11658600" y="133350"/>
            <a:ext cx="2000250" cy="393700"/>
          </a:xfrm>
          <a:prstGeom prst="rect">
            <a:avLst/>
          </a:prstGeom>
          <a:noFill/>
        </p:spPr>
        <p:txBody>
          <a:bodyPr wrap="square" lIns="25400" tIns="25400" rIns="25400" bIns="25400" rtlCol="0" anchor="t">
            <a:noAutofit/>
          </a:bodyPr>
          <a:lstStyle/>
          <a:p>
            <a:pPr algn="r"/>
            <a:r>
              <a:rPr lang="en-US" sz="2100" b="1" dirty="0"/>
              <a:t>Lesson 1</a:t>
            </a:r>
          </a:p>
        </p:txBody>
      </p:sp>
      <p:sp>
        <p:nvSpPr>
          <p:cNvPr id="10" name="Section list"/>
          <p:cNvSpPr txBox="1"/>
          <p:nvPr userDrawn="1"/>
        </p:nvSpPr>
        <p:spPr>
          <a:xfrm>
            <a:off x="133350" y="2381250"/>
            <a:ext cx="1409700" cy="4191000"/>
          </a:xfrm>
          <a:prstGeom prst="rect">
            <a:avLst/>
          </a:prstGeom>
          <a:noFill/>
        </p:spPr>
        <p:txBody>
          <a:bodyPr wrap="square" lIns="25400" tIns="0" rIns="0" bIns="0" rtlCol="0" anchor="t">
            <a:noAutofit/>
          </a:bodyPr>
          <a:lstStyle/>
          <a:p>
            <a:pPr>
              <a:lnSpc>
                <a:spcPts val="3000"/>
              </a:lnSpc>
            </a:pPr>
            <a:r>
              <a:rPr lang="en-US" sz="1800" dirty="0"/>
              <a:t>Overview</a:t>
            </a:r>
          </a:p>
          <a:p>
            <a:pPr>
              <a:lnSpc>
                <a:spcPts val="3000"/>
              </a:lnSpc>
            </a:pPr>
            <a:r>
              <a:rPr lang="en-US" sz="1800" dirty="0"/>
              <a:t>Concepts</a:t>
            </a:r>
          </a:p>
          <a:p>
            <a:pPr>
              <a:lnSpc>
                <a:spcPts val="3000"/>
              </a:lnSpc>
            </a:pPr>
            <a:r>
              <a:rPr lang="en-US" sz="1800" dirty="0"/>
              <a:t>Setup</a:t>
            </a:r>
          </a:p>
          <a:p>
            <a:pPr>
              <a:lnSpc>
                <a:spcPts val="3000"/>
              </a:lnSpc>
            </a:pPr>
            <a:r>
              <a:rPr lang="en-US" sz="1800" dirty="0"/>
              <a:t>Clone</a:t>
            </a:r>
          </a:p>
          <a:p>
            <a:pPr>
              <a:lnSpc>
                <a:spcPts val="3000"/>
              </a:lnSpc>
            </a:pPr>
            <a:r>
              <a:rPr lang="en-US" sz="1800" dirty="0"/>
              <a:t>Commit</a:t>
            </a:r>
          </a:p>
          <a:p>
            <a:pPr>
              <a:lnSpc>
                <a:spcPts val="3000"/>
              </a:lnSpc>
            </a:pPr>
            <a:r>
              <a:rPr lang="en-US" sz="1800" dirty="0"/>
              <a:t>Sync</a:t>
            </a:r>
          </a:p>
          <a:p>
            <a:pPr>
              <a:lnSpc>
                <a:spcPts val="3000"/>
              </a:lnSpc>
            </a:pPr>
            <a:r>
              <a:rPr lang="en-US" sz="1800" dirty="0"/>
              <a:t>Branches</a:t>
            </a:r>
          </a:p>
          <a:p>
            <a:pPr>
              <a:lnSpc>
                <a:spcPts val="3000"/>
              </a:lnSpc>
            </a:pPr>
            <a:r>
              <a:rPr lang="en-US" sz="1800" dirty="0"/>
              <a:t>Conflicts</a:t>
            </a:r>
          </a:p>
          <a:p>
            <a:pPr>
              <a:lnSpc>
                <a:spcPts val="3000"/>
              </a:lnSpc>
            </a:pPr>
            <a:r>
              <a:rPr lang="en-US" sz="1800" dirty="0"/>
              <a:t>History</a:t>
            </a:r>
          </a:p>
          <a:p>
            <a:pPr>
              <a:lnSpc>
                <a:spcPts val="3000"/>
              </a:lnSpc>
            </a:pPr>
            <a:r>
              <a:rPr lang="en-US" sz="1800" dirty="0"/>
              <a:t>Agent-Ready</a:t>
            </a:r>
          </a:p>
          <a:p>
            <a:pPr>
              <a:lnSpc>
                <a:spcPts val="3000"/>
              </a:lnSpc>
            </a:pPr>
            <a:r>
              <a:rPr lang="en-US" sz="1800" dirty="0"/>
              <a:t>Review</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0" indent="0" algn="l" defTabSz="914400" rtl="0" eaLnBrk="1" latinLnBrk="0" hangingPunct="1">
        <a:spcBef>
          <a:spcPts val="0"/>
        </a:spcBef>
        <a:spcAft>
          <a:spcPts val="600"/>
        </a:spcAft>
        <a:buNone/>
        <a:defRPr sz="2100" kern="1200">
          <a:solidFill>
            <a:schemeClr val="tx1"/>
          </a:solidFill>
          <a:latin typeface="+mn-lt"/>
          <a:ea typeface="+mn-ea"/>
          <a:cs typeface="+mn-cs"/>
        </a:defRPr>
      </a:lvl1pPr>
      <a:lvl2pPr marL="342900" indent="-342900" algn="l" defTabSz="914400" rtl="0" eaLnBrk="1" latinLnBrk="0" hangingPunct="1">
        <a:spcBef>
          <a:spcPts val="0"/>
        </a:spcBef>
        <a:spcAft>
          <a:spcPts val="600"/>
        </a:spcAft>
        <a:buClr>
          <a:schemeClr val="tx2"/>
        </a:buClr>
        <a:buFont typeface="Arial"/>
        <a:buChar char="•"/>
        <a:defRPr sz="1900" kern="1200">
          <a:solidFill>
            <a:schemeClr val="tx1"/>
          </a:solidFill>
          <a:latin typeface="+mn-lt"/>
          <a:ea typeface="+mn-ea"/>
          <a:cs typeface="+mn-cs"/>
        </a:defRPr>
      </a:lvl2pPr>
      <a:lvl3pPr marL="6858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3pPr>
      <a:lvl4pPr marL="10287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4pPr>
      <a:lvl5pPr marL="13716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5pPr>
      <a:lvl6pPr marL="17145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6pPr>
      <a:lvl7pPr marL="20574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7pPr>
      <a:lvl8pPr marL="24003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8pPr>
      <a:lvl9pPr marL="27432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hyperlink" Target="https://github.com/usafa-dfas/beam-calc"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github.com/usafa-dfas/beam-calc" TargetMode="External"/><Relationship Id="rId4" Type="http://schemas.openxmlformats.org/officeDocument/2006/relationships/image" Target="../media/image2.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urse title"/>
          <p:cNvSpPr>
            <a:spLocks noGrp="1"/>
          </p:cNvSpPr>
          <p:nvPr>
            <p:ph type="title"/>
          </p:nvPr>
        </p:nvSpPr>
        <p:spPr/>
        <p:txBody>
          <a:bodyPr/>
          <a:lstStyle/>
          <a:p>
            <a:r>
              <a:rPr lang="en-US" dirty="0"/>
              <a:t>Agentic AI for Engineering</a:t>
            </a:r>
          </a:p>
        </p:txBody>
      </p:sp>
      <p:sp>
        <p:nvSpPr>
          <p:cNvPr id="3" name="Text 1"/>
          <p:cNvSpPr>
            <a:spLocks noGrp="1"/>
          </p:cNvSpPr>
          <p:nvPr>
            <p:ph type="body" idx="1"/>
          </p:nvPr>
        </p:nvSpPr>
        <p:spPr/>
        <p:txBody>
          <a:bodyPr/>
          <a:lstStyle/>
          <a:p>
            <a:r>
              <a:rPr lang="en-US" dirty="0"/>
              <a:t>Lesson 1</a:t>
            </a:r>
          </a:p>
        </p:txBody>
      </p:sp>
      <p:sp>
        <p:nvSpPr>
          <p:cNvPr id="4" name="Text 2"/>
          <p:cNvSpPr>
            <a:spLocks noGrp="1"/>
          </p:cNvSpPr>
          <p:nvPr>
            <p:ph type="body" idx="2"/>
          </p:nvPr>
        </p:nvSpPr>
        <p:spPr/>
        <p:txBody>
          <a:bodyPr/>
          <a:lstStyle/>
          <a:p>
            <a:r>
              <a:rPr lang="en-US" dirty="0"/>
              <a:t>Introduction to Git and GitHub</a:t>
            </a:r>
          </a:p>
        </p:txBody>
      </p:sp>
      <p:sp>
        <p:nvSpPr>
          <p:cNvPr id="5" name="Text 3"/>
          <p:cNvSpPr>
            <a:spLocks noGrp="1"/>
          </p:cNvSpPr>
          <p:nvPr>
            <p:ph type="body" idx="3"/>
          </p:nvPr>
        </p:nvSpPr>
        <p:spPr/>
        <p:txBody>
          <a:bodyPr/>
          <a:lstStyle/>
          <a:p>
            <a:r>
              <a:rPr lang="en-US" dirty="0"/>
              <a:t>Hands-on with GitHub Desktop</a:t>
            </a:r>
          </a:p>
        </p:txBody>
      </p:sp>
      <p:sp>
        <p:nvSpPr>
          <p:cNvPr id="6" name="Text 4"/>
          <p:cNvSpPr>
            <a:spLocks noGrp="1"/>
          </p:cNvSpPr>
          <p:nvPr>
            <p:ph type="body" idx="4"/>
          </p:nvPr>
        </p:nvSpPr>
        <p:spPr/>
        <p:txBody>
          <a:bodyPr/>
          <a:lstStyle/>
          <a:p>
            <a:r>
              <a:rPr lang="en-US" dirty="0"/>
              <a:t>Version control skills for working with coding agents</a:t>
            </a:r>
          </a:p>
        </p:txBody>
      </p:sp>
      <p:sp>
        <p:nvSpPr>
          <p:cNvPr id="7" name="Text 5"/>
          <p:cNvSpPr>
            <a:spLocks noGrp="1"/>
          </p:cNvSpPr>
          <p:nvPr>
            <p:ph type="body" idx="5"/>
          </p:nvPr>
        </p:nvSpPr>
        <p:spPr/>
        <p:txBody>
          <a:bodyPr/>
          <a:lstStyle/>
          <a:p>
            <a:r>
              <a:rPr lang="en-US" dirty="0"/>
              <a:t>USAFA Instructor Short Course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Lesson Objectives</a:t>
            </a:r>
          </a:p>
        </p:txBody>
      </p:sp>
      <p:sp>
        <p:nvSpPr>
          <p:cNvPr id="3" name="Text 15"/>
          <p:cNvSpPr/>
          <p:nvPr/>
        </p:nvSpPr>
        <p:spPr>
          <a:xfrm>
            <a:off x="1809750" y="1619250"/>
            <a:ext cx="11769090" cy="393700"/>
          </a:xfrm>
          <a:prstGeom prst="rect">
            <a:avLst/>
          </a:prstGeom>
          <a:noFill/>
          <a:ln/>
        </p:spPr>
        <p:txBody>
          <a:bodyPr wrap="square" lIns="25400" tIns="25400" rIns="25400" bIns="25400" rtlCol="0" anchor="t">
            <a:normAutofit/>
          </a:bodyPr>
          <a:lstStyle/>
          <a:p>
            <a:pPr marL="0" indent="0" algn="l">
              <a:buNone/>
            </a:pPr>
            <a:r>
              <a:rPr lang="en-US" sz="2100" dirty="0">
                <a:solidFill>
                  <a:srgbClr val="000000"/>
                </a:solidFill>
                <a:latin typeface="+mn-lt"/>
                <a:ea typeface="+mn-ea"/>
                <a:cs typeface="+mn-cs"/>
              </a:rPr>
              <a:t>By the end of this lesson you can:</a:t>
            </a:r>
            <a:endParaRPr lang="en-US" sz="2100" dirty="0"/>
          </a:p>
        </p:txBody>
      </p:sp>
      <p:sp>
        <p:nvSpPr>
          <p:cNvPr id="4" name="Text 16"/>
          <p:cNvSpPr/>
          <p:nvPr/>
        </p:nvSpPr>
        <p:spPr>
          <a:xfrm>
            <a:off x="1809750" y="2184400"/>
            <a:ext cx="609600" cy="409575"/>
          </a:xfrm>
          <a:prstGeom prst="rect">
            <a:avLst/>
          </a:prstGeom>
          <a:noFill/>
          <a:ln/>
        </p:spPr>
        <p:txBody>
          <a:bodyPr wrap="square" lIns="25400" tIns="25400" rIns="25400" bIns="25400" rtlCol="0" anchor="t">
            <a:normAutofit/>
          </a:bodyPr>
          <a:lstStyle/>
          <a:p>
            <a:pPr marL="0" indent="0" algn="l">
              <a:lnSpc>
                <a:spcPct val="97500"/>
              </a:lnSpc>
              <a:buNone/>
            </a:pPr>
            <a:r>
              <a:rPr lang="en-US" sz="2200" b="1" dirty="0">
                <a:solidFill>
                  <a:srgbClr val="1F6FB2"/>
                </a:solidFill>
                <a:latin typeface="+mn-lt"/>
                <a:ea typeface="+mn-ea"/>
                <a:cs typeface="+mn-cs"/>
              </a:rPr>
              <a:t>1</a:t>
            </a:r>
            <a:endParaRPr lang="en-US" sz="2200" dirty="0"/>
          </a:p>
        </p:txBody>
      </p:sp>
      <p:sp>
        <p:nvSpPr>
          <p:cNvPr id="5" name="Text 17"/>
          <p:cNvSpPr/>
          <p:nvPr/>
        </p:nvSpPr>
        <p:spPr>
          <a:xfrm>
            <a:off x="2343150" y="2209800"/>
            <a:ext cx="11235690" cy="384770"/>
          </a:xfrm>
          <a:prstGeom prst="rect">
            <a:avLst/>
          </a:prstGeom>
          <a:noFill/>
          <a:ln/>
        </p:spPr>
        <p:txBody>
          <a:bodyPr wrap="square" lIns="25400" tIns="25400" rIns="25400" bIns="25400" rtlCol="0" anchor="t">
            <a:normAutofit/>
          </a:bodyPr>
          <a:lstStyle/>
          <a:p>
            <a:pPr marL="0" indent="0" algn="l">
              <a:lnSpc>
                <a:spcPct val="97500"/>
              </a:lnSpc>
              <a:buNone/>
            </a:pPr>
            <a:r>
              <a:rPr lang="en-US" sz="2100" dirty="0">
                <a:solidFill>
                  <a:srgbClr val="000000"/>
                </a:solidFill>
                <a:latin typeface="+mn-lt"/>
                <a:ea typeface="+mn-ea"/>
                <a:cs typeface="+mn-cs"/>
              </a:rPr>
              <a:t>Explain what Git and GitHub each do, and how they differ</a:t>
            </a:r>
            <a:endParaRPr lang="en-US" sz="2100" dirty="0"/>
          </a:p>
        </p:txBody>
      </p:sp>
      <p:sp>
        <p:nvSpPr>
          <p:cNvPr id="6" name="Text 18"/>
          <p:cNvSpPr/>
          <p:nvPr/>
        </p:nvSpPr>
        <p:spPr>
          <a:xfrm>
            <a:off x="1809750" y="2727920"/>
            <a:ext cx="609600" cy="409575"/>
          </a:xfrm>
          <a:prstGeom prst="rect">
            <a:avLst/>
          </a:prstGeom>
          <a:noFill/>
          <a:ln/>
        </p:spPr>
        <p:txBody>
          <a:bodyPr wrap="square" lIns="25400" tIns="25400" rIns="25400" bIns="25400" rtlCol="0" anchor="t">
            <a:normAutofit/>
          </a:bodyPr>
          <a:lstStyle/>
          <a:p>
            <a:pPr marL="0" indent="0" algn="l">
              <a:lnSpc>
                <a:spcPct val="97500"/>
              </a:lnSpc>
              <a:buNone/>
            </a:pPr>
            <a:r>
              <a:rPr lang="en-US" sz="2200" b="1" dirty="0">
                <a:solidFill>
                  <a:srgbClr val="1F6FB2"/>
                </a:solidFill>
                <a:latin typeface="+mn-lt"/>
                <a:ea typeface="+mn-ea"/>
                <a:cs typeface="+mn-cs"/>
              </a:rPr>
              <a:t>2</a:t>
            </a:r>
            <a:endParaRPr lang="en-US" sz="2200" dirty="0"/>
          </a:p>
        </p:txBody>
      </p:sp>
      <p:sp>
        <p:nvSpPr>
          <p:cNvPr id="7" name="Text 19"/>
          <p:cNvSpPr/>
          <p:nvPr/>
        </p:nvSpPr>
        <p:spPr>
          <a:xfrm>
            <a:off x="2343150" y="2753320"/>
            <a:ext cx="11235690" cy="384770"/>
          </a:xfrm>
          <a:prstGeom prst="rect">
            <a:avLst/>
          </a:prstGeom>
          <a:noFill/>
          <a:ln/>
        </p:spPr>
        <p:txBody>
          <a:bodyPr wrap="square" lIns="25400" tIns="25400" rIns="25400" bIns="25400" rtlCol="0" anchor="t">
            <a:normAutofit/>
          </a:bodyPr>
          <a:lstStyle/>
          <a:p>
            <a:pPr marL="0" indent="0" algn="l">
              <a:lnSpc>
                <a:spcPct val="97500"/>
              </a:lnSpc>
              <a:buNone/>
            </a:pPr>
            <a:r>
              <a:rPr lang="en-US" sz="2100" dirty="0">
                <a:solidFill>
                  <a:srgbClr val="000000"/>
                </a:solidFill>
                <a:latin typeface="+mn-lt"/>
                <a:ea typeface="+mn-ea"/>
                <a:cs typeface="+mn-cs"/>
              </a:rPr>
              <a:t>Clone, commit, push, and pull with GitHub Desktop</a:t>
            </a:r>
            <a:endParaRPr lang="en-US" sz="2100" dirty="0"/>
          </a:p>
        </p:txBody>
      </p:sp>
      <p:sp>
        <p:nvSpPr>
          <p:cNvPr id="8" name="Text 20"/>
          <p:cNvSpPr/>
          <p:nvPr/>
        </p:nvSpPr>
        <p:spPr>
          <a:xfrm>
            <a:off x="1809750" y="3271441"/>
            <a:ext cx="609600" cy="409575"/>
          </a:xfrm>
          <a:prstGeom prst="rect">
            <a:avLst/>
          </a:prstGeom>
          <a:noFill/>
          <a:ln/>
        </p:spPr>
        <p:txBody>
          <a:bodyPr wrap="square" lIns="25400" tIns="25400" rIns="25400" bIns="25400" rtlCol="0" anchor="t">
            <a:normAutofit/>
          </a:bodyPr>
          <a:lstStyle/>
          <a:p>
            <a:pPr marL="0" indent="0" algn="l">
              <a:lnSpc>
                <a:spcPct val="97500"/>
              </a:lnSpc>
              <a:buNone/>
            </a:pPr>
            <a:r>
              <a:rPr lang="en-US" sz="2200" b="1" dirty="0">
                <a:solidFill>
                  <a:srgbClr val="1F6FB2"/>
                </a:solidFill>
                <a:latin typeface="+mn-lt"/>
                <a:ea typeface="+mn-ea"/>
                <a:cs typeface="+mn-cs"/>
              </a:rPr>
              <a:t>3</a:t>
            </a:r>
            <a:endParaRPr lang="en-US" sz="2200" dirty="0"/>
          </a:p>
        </p:txBody>
      </p:sp>
      <p:sp>
        <p:nvSpPr>
          <p:cNvPr id="9" name="Text 21"/>
          <p:cNvSpPr/>
          <p:nvPr/>
        </p:nvSpPr>
        <p:spPr>
          <a:xfrm>
            <a:off x="2343150" y="3296841"/>
            <a:ext cx="11235690" cy="384770"/>
          </a:xfrm>
          <a:prstGeom prst="rect">
            <a:avLst/>
          </a:prstGeom>
          <a:noFill/>
          <a:ln/>
        </p:spPr>
        <p:txBody>
          <a:bodyPr wrap="square" lIns="25400" tIns="25400" rIns="25400" bIns="25400" rtlCol="0" anchor="t">
            <a:normAutofit/>
          </a:bodyPr>
          <a:lstStyle/>
          <a:p>
            <a:pPr marL="0" indent="0" algn="l">
              <a:lnSpc>
                <a:spcPct val="97500"/>
              </a:lnSpc>
              <a:buNone/>
            </a:pPr>
            <a:r>
              <a:rPr lang="en-US" sz="2100" dirty="0">
                <a:solidFill>
                  <a:srgbClr val="000000"/>
                </a:solidFill>
                <a:latin typeface="+mn-lt"/>
                <a:ea typeface="+mn-ea"/>
                <a:cs typeface="+mn-cs"/>
              </a:rPr>
              <a:t>Use branches and pull requests to review a change before it reaches main</a:t>
            </a:r>
            <a:endParaRPr lang="en-US" sz="2100" dirty="0"/>
          </a:p>
        </p:txBody>
      </p:sp>
      <p:sp>
        <p:nvSpPr>
          <p:cNvPr id="10" name="Text 22"/>
          <p:cNvSpPr/>
          <p:nvPr/>
        </p:nvSpPr>
        <p:spPr>
          <a:xfrm>
            <a:off x="1809750" y="3814961"/>
            <a:ext cx="609600" cy="409575"/>
          </a:xfrm>
          <a:prstGeom prst="rect">
            <a:avLst/>
          </a:prstGeom>
          <a:noFill/>
          <a:ln/>
        </p:spPr>
        <p:txBody>
          <a:bodyPr wrap="square" lIns="25400" tIns="25400" rIns="25400" bIns="25400" rtlCol="0" anchor="t">
            <a:normAutofit/>
          </a:bodyPr>
          <a:lstStyle/>
          <a:p>
            <a:pPr marL="0" indent="0" algn="l">
              <a:lnSpc>
                <a:spcPct val="97500"/>
              </a:lnSpc>
              <a:buNone/>
            </a:pPr>
            <a:r>
              <a:rPr lang="en-US" sz="2200" b="1" dirty="0">
                <a:solidFill>
                  <a:srgbClr val="1F6FB2"/>
                </a:solidFill>
                <a:latin typeface="+mn-lt"/>
                <a:ea typeface="+mn-ea"/>
                <a:cs typeface="+mn-cs"/>
              </a:rPr>
              <a:t>4</a:t>
            </a:r>
            <a:endParaRPr lang="en-US" sz="2200" dirty="0"/>
          </a:p>
        </p:txBody>
      </p:sp>
      <p:sp>
        <p:nvSpPr>
          <p:cNvPr id="11" name="Text 23"/>
          <p:cNvSpPr/>
          <p:nvPr/>
        </p:nvSpPr>
        <p:spPr>
          <a:xfrm>
            <a:off x="2343150" y="3840361"/>
            <a:ext cx="11235690" cy="384770"/>
          </a:xfrm>
          <a:prstGeom prst="rect">
            <a:avLst/>
          </a:prstGeom>
          <a:noFill/>
          <a:ln/>
        </p:spPr>
        <p:txBody>
          <a:bodyPr wrap="square" lIns="25400" tIns="25400" rIns="25400" bIns="25400" rtlCol="0" anchor="t">
            <a:normAutofit/>
          </a:bodyPr>
          <a:lstStyle/>
          <a:p>
            <a:pPr marL="0" indent="0" algn="l">
              <a:lnSpc>
                <a:spcPct val="97500"/>
              </a:lnSpc>
              <a:buNone/>
            </a:pPr>
            <a:r>
              <a:rPr lang="en-US" sz="2100" dirty="0">
                <a:solidFill>
                  <a:srgbClr val="000000"/>
                </a:solidFill>
                <a:latin typeface="+mn-lt"/>
                <a:ea typeface="+mn-ea"/>
                <a:cs typeface="+mn-cs"/>
              </a:rPr>
              <a:t>Resolve a simple merge conflict and undo a change</a:t>
            </a:r>
            <a:endParaRPr lang="en-US" sz="2100" dirty="0"/>
          </a:p>
        </p:txBody>
      </p:sp>
      <p:sp>
        <p:nvSpPr>
          <p:cNvPr id="12" name="Text 24"/>
          <p:cNvSpPr/>
          <p:nvPr/>
        </p:nvSpPr>
        <p:spPr>
          <a:xfrm>
            <a:off x="1809750" y="4358481"/>
            <a:ext cx="609600" cy="409575"/>
          </a:xfrm>
          <a:prstGeom prst="rect">
            <a:avLst/>
          </a:prstGeom>
          <a:noFill/>
          <a:ln/>
        </p:spPr>
        <p:txBody>
          <a:bodyPr wrap="square" lIns="25400" tIns="25400" rIns="25400" bIns="25400" rtlCol="0" anchor="t">
            <a:normAutofit/>
          </a:bodyPr>
          <a:lstStyle/>
          <a:p>
            <a:pPr marL="0" indent="0" algn="l">
              <a:lnSpc>
                <a:spcPct val="97500"/>
              </a:lnSpc>
              <a:buNone/>
            </a:pPr>
            <a:r>
              <a:rPr lang="en-US" sz="2200" b="1" dirty="0">
                <a:solidFill>
                  <a:srgbClr val="1F6FB2"/>
                </a:solidFill>
                <a:latin typeface="+mn-lt"/>
                <a:ea typeface="+mn-ea"/>
                <a:cs typeface="+mn-cs"/>
              </a:rPr>
              <a:t>5</a:t>
            </a:r>
            <a:endParaRPr lang="en-US" sz="2200" dirty="0"/>
          </a:p>
        </p:txBody>
      </p:sp>
      <p:sp>
        <p:nvSpPr>
          <p:cNvPr id="13" name="Text 25"/>
          <p:cNvSpPr/>
          <p:nvPr/>
        </p:nvSpPr>
        <p:spPr>
          <a:xfrm>
            <a:off x="2343150" y="4383881"/>
            <a:ext cx="11235690" cy="384770"/>
          </a:xfrm>
          <a:prstGeom prst="rect">
            <a:avLst/>
          </a:prstGeom>
          <a:noFill/>
          <a:ln/>
        </p:spPr>
        <p:txBody>
          <a:bodyPr wrap="square" lIns="25400" tIns="25400" rIns="25400" bIns="25400" rtlCol="0" anchor="t">
            <a:normAutofit/>
          </a:bodyPr>
          <a:lstStyle/>
          <a:p>
            <a:pPr marL="0" indent="0" algn="l">
              <a:lnSpc>
                <a:spcPct val="97500"/>
              </a:lnSpc>
              <a:buNone/>
            </a:pPr>
            <a:r>
              <a:rPr lang="en-US" sz="2100" dirty="0">
                <a:solidFill>
                  <a:srgbClr val="000000"/>
                </a:solidFill>
                <a:latin typeface="+mn-lt"/>
                <a:ea typeface="+mn-ea"/>
                <a:cs typeface="+mn-cs"/>
              </a:rPr>
              <a:t>Prepare a repository that a coding agent can work in</a:t>
            </a:r>
            <a:endParaRPr lang="en-US" sz="2100" dirty="0"/>
          </a:p>
        </p:txBody>
      </p:sp>
      <p:sp>
        <p:nvSpPr>
          <p:cNvPr id="14" name="Text 26"/>
          <p:cNvSpPr/>
          <p:nvPr/>
        </p:nvSpPr>
        <p:spPr>
          <a:xfrm>
            <a:off x="1809750" y="5149652"/>
            <a:ext cx="11769090"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mn-lt"/>
                <a:ea typeface="+mn-ea"/>
                <a:cs typeface="+mn-cs"/>
              </a:rPr>
              <a:t>Agenda (50 min)</a:t>
            </a:r>
            <a:endParaRPr lang="en-US" sz="2100" dirty="0"/>
          </a:p>
        </p:txBody>
      </p:sp>
      <p:sp>
        <p:nvSpPr>
          <p:cNvPr id="15" name="Shape 27"/>
          <p:cNvSpPr/>
          <p:nvPr/>
        </p:nvSpPr>
        <p:spPr>
          <a:xfrm>
            <a:off x="1809750" y="5714802"/>
            <a:ext cx="3457575" cy="990600"/>
          </a:xfrm>
          <a:prstGeom prst="rect">
            <a:avLst/>
          </a:prstGeom>
          <a:solidFill>
            <a:srgbClr val="152A47"/>
          </a:solidFill>
          <a:ln/>
        </p:spPr>
        <p:txBody>
          <a:bodyPr/>
          <a:lstStyle/>
          <a:p>
            <a:endParaRPr lang="en-US"/>
          </a:p>
        </p:txBody>
      </p:sp>
      <p:sp>
        <p:nvSpPr>
          <p:cNvPr id="16" name="Text 28"/>
          <p:cNvSpPr/>
          <p:nvPr/>
        </p:nvSpPr>
        <p:spPr>
          <a:xfrm>
            <a:off x="2000250" y="5886252"/>
            <a:ext cx="3384233"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0–15 min</a:t>
            </a:r>
            <a:endParaRPr lang="en-US" sz="1800" dirty="0"/>
          </a:p>
        </p:txBody>
      </p:sp>
      <p:sp>
        <p:nvSpPr>
          <p:cNvPr id="17" name="Text 29"/>
          <p:cNvSpPr/>
          <p:nvPr/>
        </p:nvSpPr>
        <p:spPr>
          <a:xfrm>
            <a:off x="2000250" y="6229152"/>
            <a:ext cx="338423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mn-lt"/>
                <a:ea typeface="+mn-ea"/>
                <a:cs typeface="+mn-cs"/>
              </a:rPr>
              <a:t>Concepts</a:t>
            </a:r>
            <a:endParaRPr lang="en-US" sz="1800" dirty="0"/>
          </a:p>
        </p:txBody>
      </p:sp>
      <p:sp>
        <p:nvSpPr>
          <p:cNvPr id="18" name="Shape 30"/>
          <p:cNvSpPr/>
          <p:nvPr/>
        </p:nvSpPr>
        <p:spPr>
          <a:xfrm>
            <a:off x="5343525" y="5714802"/>
            <a:ext cx="6915150" cy="990600"/>
          </a:xfrm>
          <a:prstGeom prst="rect">
            <a:avLst/>
          </a:prstGeom>
          <a:solidFill>
            <a:srgbClr val="1F6FB2"/>
          </a:solidFill>
          <a:ln/>
        </p:spPr>
        <p:txBody>
          <a:bodyPr/>
          <a:lstStyle/>
          <a:p>
            <a:endParaRPr lang="en-US"/>
          </a:p>
        </p:txBody>
      </p:sp>
      <p:sp>
        <p:nvSpPr>
          <p:cNvPr id="19" name="Text 31"/>
          <p:cNvSpPr/>
          <p:nvPr/>
        </p:nvSpPr>
        <p:spPr>
          <a:xfrm>
            <a:off x="5534025" y="5886252"/>
            <a:ext cx="7187565"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15–45 min</a:t>
            </a:r>
            <a:endParaRPr lang="en-US" sz="1800" dirty="0"/>
          </a:p>
        </p:txBody>
      </p:sp>
      <p:sp>
        <p:nvSpPr>
          <p:cNvPr id="20" name="Text 32"/>
          <p:cNvSpPr/>
          <p:nvPr/>
        </p:nvSpPr>
        <p:spPr>
          <a:xfrm>
            <a:off x="5534025" y="6229152"/>
            <a:ext cx="7187565"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mn-lt"/>
                <a:ea typeface="+mn-ea"/>
                <a:cs typeface="+mn-cs"/>
              </a:rPr>
              <a:t>Guided exercises in GitHub Desktop</a:t>
            </a:r>
            <a:endParaRPr lang="en-US" sz="1800" dirty="0"/>
          </a:p>
        </p:txBody>
      </p:sp>
      <p:sp>
        <p:nvSpPr>
          <p:cNvPr id="21" name="Shape 33"/>
          <p:cNvSpPr/>
          <p:nvPr/>
        </p:nvSpPr>
        <p:spPr>
          <a:xfrm>
            <a:off x="12334875" y="5714802"/>
            <a:ext cx="1152525" cy="990600"/>
          </a:xfrm>
          <a:prstGeom prst="rect">
            <a:avLst/>
          </a:prstGeom>
          <a:solidFill>
            <a:srgbClr val="595959"/>
          </a:solidFill>
          <a:ln/>
        </p:spPr>
        <p:txBody>
          <a:bodyPr/>
          <a:lstStyle/>
          <a:p>
            <a:endParaRPr lang="en-US"/>
          </a:p>
        </p:txBody>
      </p:sp>
      <p:sp>
        <p:nvSpPr>
          <p:cNvPr id="22" name="Text 34"/>
          <p:cNvSpPr/>
          <p:nvPr/>
        </p:nvSpPr>
        <p:spPr>
          <a:xfrm>
            <a:off x="12449175" y="5886252"/>
            <a:ext cx="1000125"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45–50</a:t>
            </a:r>
            <a:endParaRPr lang="en-US" sz="1800" dirty="0"/>
          </a:p>
        </p:txBody>
      </p:sp>
      <p:sp>
        <p:nvSpPr>
          <p:cNvPr id="23" name="Text 35"/>
          <p:cNvSpPr/>
          <p:nvPr/>
        </p:nvSpPr>
        <p:spPr>
          <a:xfrm>
            <a:off x="12449175" y="6229152"/>
            <a:ext cx="1000125"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mn-lt"/>
                <a:ea typeface="+mn-ea"/>
                <a:cs typeface="+mn-cs"/>
              </a:rPr>
              <a:t>Review</a:t>
            </a:r>
            <a:endParaRPr lang="en-US" sz="1800" dirty="0"/>
          </a:p>
        </p:txBody>
      </p:sp>
      <p:sp>
        <p:nvSpPr>
          <p:cNvPr id="24" name="Nav highlight"/>
          <p:cNvSpPr txBox="1"/>
          <p:nvPr userDrawn="1"/>
        </p:nvSpPr>
        <p:spPr>
          <a:xfrm>
            <a:off x="133350" y="238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Overview</a:t>
            </a:r>
            <a:endParaRPr lang="en-US" sz="1800" b="1" dirty="0"/>
          </a:p>
        </p:txBody>
      </p:sp>
      <p:sp>
        <p:nvSpPr>
          <p:cNvPr id="25"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6" name="Slide Number"/>
          <p:cNvSpPr>
            <a:spLocks noGrp="1"/>
          </p:cNvSpPr>
          <p:nvPr>
            <p:ph type="sldNum" sz="quarter" idx="12"/>
          </p:nvPr>
        </p:nvSpPr>
        <p:spPr/>
        <p:txBody>
          <a:bodyPr/>
          <a:lstStyle/>
          <a:p>
            <a:fld id="{B6F15528-21DE-4FAA-801E-634DDDAF4B2B}"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Prerequisites</a:t>
            </a:r>
          </a:p>
        </p:txBody>
      </p:sp>
      <p:sp>
        <p:nvSpPr>
          <p:cNvPr id="3" name="Text 15"/>
          <p:cNvSpPr/>
          <p:nvPr/>
        </p:nvSpPr>
        <p:spPr>
          <a:xfrm>
            <a:off x="1809750" y="1619250"/>
            <a:ext cx="11769090" cy="393700"/>
          </a:xfrm>
          <a:prstGeom prst="rect">
            <a:avLst/>
          </a:prstGeom>
          <a:noFill/>
          <a:ln/>
        </p:spPr>
        <p:txBody>
          <a:bodyPr wrap="square" lIns="25400" tIns="25400" rIns="25400" bIns="25400" rtlCol="0" anchor="t">
            <a:normAutofit/>
          </a:bodyPr>
          <a:lstStyle/>
          <a:p>
            <a:pPr marL="0" indent="0" algn="l">
              <a:buNone/>
            </a:pPr>
            <a:r>
              <a:rPr lang="en-US" sz="2100" dirty="0">
                <a:solidFill>
                  <a:srgbClr val="000000"/>
                </a:solidFill>
                <a:latin typeface="+mn-lt"/>
                <a:ea typeface="+mn-ea"/>
                <a:cs typeface="+mn-cs"/>
              </a:rPr>
              <a:t>Complete before class:</a:t>
            </a:r>
            <a:endParaRPr lang="en-US" sz="2100" dirty="0"/>
          </a:p>
        </p:txBody>
      </p:sp>
      <p:sp>
        <p:nvSpPr>
          <p:cNvPr id="4" name="Shape 16"/>
          <p:cNvSpPr/>
          <p:nvPr/>
        </p:nvSpPr>
        <p:spPr>
          <a:xfrm>
            <a:off x="1809750" y="2165350"/>
            <a:ext cx="11677650" cy="19050"/>
          </a:xfrm>
          <a:prstGeom prst="rect">
            <a:avLst/>
          </a:prstGeom>
          <a:solidFill>
            <a:srgbClr val="BFBFBF"/>
          </a:solidFill>
          <a:ln/>
        </p:spPr>
        <p:txBody>
          <a:bodyPr/>
          <a:lstStyle/>
          <a:p>
            <a:endParaRPr/>
          </a:p>
        </p:txBody>
      </p:sp>
      <p:sp>
        <p:nvSpPr>
          <p:cNvPr id="5" name="Shape 17"/>
          <p:cNvSpPr/>
          <p:nvPr/>
        </p:nvSpPr>
        <p:spPr>
          <a:xfrm>
            <a:off x="1809750" y="3195836"/>
            <a:ext cx="3143250" cy="19050"/>
          </a:xfrm>
          <a:prstGeom prst="rect">
            <a:avLst/>
          </a:prstGeom>
          <a:solidFill>
            <a:srgbClr val="BFBFBF"/>
          </a:solidFill>
          <a:ln/>
        </p:spPr>
        <p:txBody>
          <a:bodyPr/>
          <a:lstStyle/>
          <a:p>
            <a:endParaRPr/>
          </a:p>
        </p:txBody>
      </p:sp>
      <p:sp>
        <p:nvSpPr>
          <p:cNvPr id="6" name="Text 18"/>
          <p:cNvSpPr/>
          <p:nvPr/>
        </p:nvSpPr>
        <p:spPr>
          <a:xfrm>
            <a:off x="1981200" y="2355850"/>
            <a:ext cx="2894648" cy="706636"/>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GitHub account</a:t>
            </a:r>
            <a:endParaRPr lang="en-US" sz="1900" dirty="0"/>
          </a:p>
        </p:txBody>
      </p:sp>
      <p:sp>
        <p:nvSpPr>
          <p:cNvPr id="7" name="Shape 19"/>
          <p:cNvSpPr/>
          <p:nvPr/>
        </p:nvSpPr>
        <p:spPr>
          <a:xfrm>
            <a:off x="4953000" y="3195836"/>
            <a:ext cx="8534400" cy="19050"/>
          </a:xfrm>
          <a:prstGeom prst="rect">
            <a:avLst/>
          </a:prstGeom>
          <a:solidFill>
            <a:srgbClr val="BFBFBF"/>
          </a:solidFill>
          <a:ln/>
        </p:spPr>
        <p:txBody>
          <a:bodyPr/>
          <a:lstStyle/>
          <a:p>
            <a:endParaRPr/>
          </a:p>
        </p:txBody>
      </p:sp>
      <p:sp>
        <p:nvSpPr>
          <p:cNvPr id="8" name="Text 20"/>
          <p:cNvSpPr/>
          <p:nvPr/>
        </p:nvSpPr>
        <p:spPr>
          <a:xfrm>
            <a:off x="5124450" y="2355850"/>
            <a:ext cx="8447532" cy="706636"/>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Sign up at github.com. Use the account type your organization directs (personal or institutional). Turn on two-factor authentication.</a:t>
            </a:r>
            <a:endParaRPr lang="en-US" sz="1900" dirty="0"/>
          </a:p>
        </p:txBody>
      </p:sp>
      <p:sp>
        <p:nvSpPr>
          <p:cNvPr id="9" name="Shape 21"/>
          <p:cNvSpPr/>
          <p:nvPr/>
        </p:nvSpPr>
        <p:spPr>
          <a:xfrm>
            <a:off x="1809750" y="3892054"/>
            <a:ext cx="3143250" cy="19050"/>
          </a:xfrm>
          <a:prstGeom prst="rect">
            <a:avLst/>
          </a:prstGeom>
          <a:solidFill>
            <a:srgbClr val="BFBFBF"/>
          </a:solidFill>
          <a:ln/>
        </p:spPr>
        <p:txBody>
          <a:bodyPr/>
          <a:lstStyle/>
          <a:p>
            <a:endParaRPr/>
          </a:p>
        </p:txBody>
      </p:sp>
      <p:sp>
        <p:nvSpPr>
          <p:cNvPr id="10" name="Text 22"/>
          <p:cNvSpPr/>
          <p:nvPr/>
        </p:nvSpPr>
        <p:spPr>
          <a:xfrm>
            <a:off x="1981200" y="3386336"/>
            <a:ext cx="2894648"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GitHub Desktop</a:t>
            </a:r>
            <a:endParaRPr lang="en-US" sz="1900" dirty="0"/>
          </a:p>
        </p:txBody>
      </p:sp>
      <p:sp>
        <p:nvSpPr>
          <p:cNvPr id="11" name="Shape 23"/>
          <p:cNvSpPr/>
          <p:nvPr/>
        </p:nvSpPr>
        <p:spPr>
          <a:xfrm>
            <a:off x="4953000" y="3892054"/>
            <a:ext cx="8534400" cy="19050"/>
          </a:xfrm>
          <a:prstGeom prst="rect">
            <a:avLst/>
          </a:prstGeom>
          <a:solidFill>
            <a:srgbClr val="BFBFBF"/>
          </a:solidFill>
          <a:ln/>
        </p:spPr>
        <p:txBody>
          <a:bodyPr/>
          <a:lstStyle/>
          <a:p>
            <a:endParaRPr/>
          </a:p>
        </p:txBody>
      </p:sp>
      <p:sp>
        <p:nvSpPr>
          <p:cNvPr id="12" name="Text 24"/>
          <p:cNvSpPr/>
          <p:nvPr/>
        </p:nvSpPr>
        <p:spPr>
          <a:xfrm>
            <a:off x="5124450" y="3386336"/>
            <a:ext cx="8447532"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Install from desktop.github.com. On a managed laptop, check with IT first.</a:t>
            </a:r>
            <a:endParaRPr lang="en-US" sz="1900" dirty="0"/>
          </a:p>
        </p:txBody>
      </p:sp>
      <p:sp>
        <p:nvSpPr>
          <p:cNvPr id="13" name="Shape 25"/>
          <p:cNvSpPr/>
          <p:nvPr/>
        </p:nvSpPr>
        <p:spPr>
          <a:xfrm>
            <a:off x="1809750" y="4588272"/>
            <a:ext cx="3143250" cy="19050"/>
          </a:xfrm>
          <a:prstGeom prst="rect">
            <a:avLst/>
          </a:prstGeom>
          <a:solidFill>
            <a:srgbClr val="BFBFBF"/>
          </a:solidFill>
          <a:ln/>
        </p:spPr>
        <p:txBody>
          <a:bodyPr/>
          <a:lstStyle/>
          <a:p>
            <a:endParaRPr/>
          </a:p>
        </p:txBody>
      </p:sp>
      <p:sp>
        <p:nvSpPr>
          <p:cNvPr id="14" name="Text 26"/>
          <p:cNvSpPr/>
          <p:nvPr/>
        </p:nvSpPr>
        <p:spPr>
          <a:xfrm>
            <a:off x="1981200" y="4082554"/>
            <a:ext cx="2894648"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Text editor</a:t>
            </a:r>
            <a:endParaRPr lang="en-US" sz="1900" dirty="0"/>
          </a:p>
        </p:txBody>
      </p:sp>
      <p:sp>
        <p:nvSpPr>
          <p:cNvPr id="15" name="Shape 27"/>
          <p:cNvSpPr/>
          <p:nvPr/>
        </p:nvSpPr>
        <p:spPr>
          <a:xfrm>
            <a:off x="4953000" y="4588272"/>
            <a:ext cx="8534400" cy="19050"/>
          </a:xfrm>
          <a:prstGeom prst="rect">
            <a:avLst/>
          </a:prstGeom>
          <a:solidFill>
            <a:srgbClr val="BFBFBF"/>
          </a:solidFill>
          <a:ln/>
        </p:spPr>
        <p:txBody>
          <a:bodyPr/>
          <a:lstStyle/>
          <a:p>
            <a:endParaRPr/>
          </a:p>
        </p:txBody>
      </p:sp>
      <p:sp>
        <p:nvSpPr>
          <p:cNvPr id="16" name="Text 28"/>
          <p:cNvSpPr/>
          <p:nvPr/>
        </p:nvSpPr>
        <p:spPr>
          <a:xfrm>
            <a:off x="5124450" y="4082554"/>
            <a:ext cx="8447532"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VS Code recommended. GitHub Desktop can open repos in it directly.</a:t>
            </a:r>
            <a:endParaRPr lang="en-US" sz="1900" dirty="0"/>
          </a:p>
        </p:txBody>
      </p:sp>
      <p:sp>
        <p:nvSpPr>
          <p:cNvPr id="17" name="Shape 29"/>
          <p:cNvSpPr/>
          <p:nvPr/>
        </p:nvSpPr>
        <p:spPr>
          <a:xfrm>
            <a:off x="1809750" y="5284490"/>
            <a:ext cx="3143250" cy="19050"/>
          </a:xfrm>
          <a:prstGeom prst="rect">
            <a:avLst/>
          </a:prstGeom>
          <a:solidFill>
            <a:srgbClr val="BFBFBF"/>
          </a:solidFill>
          <a:ln/>
        </p:spPr>
        <p:txBody>
          <a:bodyPr/>
          <a:lstStyle/>
          <a:p>
            <a:endParaRPr/>
          </a:p>
        </p:txBody>
      </p:sp>
      <p:sp>
        <p:nvSpPr>
          <p:cNvPr id="18" name="Text 30"/>
          <p:cNvSpPr/>
          <p:nvPr/>
        </p:nvSpPr>
        <p:spPr>
          <a:xfrm>
            <a:off x="1981200" y="4778772"/>
            <a:ext cx="2894648"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MATLAB (optional)</a:t>
            </a:r>
            <a:endParaRPr lang="en-US" sz="1900" dirty="0"/>
          </a:p>
        </p:txBody>
      </p:sp>
      <p:sp>
        <p:nvSpPr>
          <p:cNvPr id="19" name="Shape 31"/>
          <p:cNvSpPr/>
          <p:nvPr/>
        </p:nvSpPr>
        <p:spPr>
          <a:xfrm>
            <a:off x="4953000" y="5284490"/>
            <a:ext cx="8534400" cy="19050"/>
          </a:xfrm>
          <a:prstGeom prst="rect">
            <a:avLst/>
          </a:prstGeom>
          <a:solidFill>
            <a:srgbClr val="BFBFBF"/>
          </a:solidFill>
          <a:ln/>
        </p:spPr>
        <p:txBody>
          <a:bodyPr/>
          <a:lstStyle/>
          <a:p>
            <a:endParaRPr/>
          </a:p>
        </p:txBody>
      </p:sp>
      <p:sp>
        <p:nvSpPr>
          <p:cNvPr id="20" name="Text 32"/>
          <p:cNvSpPr/>
          <p:nvPr/>
        </p:nvSpPr>
        <p:spPr>
          <a:xfrm>
            <a:off x="5124450" y="4778772"/>
            <a:ext cx="8447532"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Lets you run the practice project. Not required to learn Git.</a:t>
            </a:r>
            <a:endParaRPr lang="en-US" sz="1900" dirty="0"/>
          </a:p>
        </p:txBody>
      </p:sp>
      <p:sp>
        <p:nvSpPr>
          <p:cNvPr id="21" name="Shape 33"/>
          <p:cNvSpPr/>
          <p:nvPr/>
        </p:nvSpPr>
        <p:spPr>
          <a:xfrm>
            <a:off x="1809750" y="6202119"/>
            <a:ext cx="3143250" cy="19050"/>
          </a:xfrm>
          <a:prstGeom prst="rect">
            <a:avLst/>
          </a:prstGeom>
          <a:solidFill>
            <a:srgbClr val="BFBFBF"/>
          </a:solidFill>
          <a:ln/>
        </p:spPr>
        <p:txBody>
          <a:bodyPr/>
          <a:lstStyle/>
          <a:p>
            <a:endParaRPr/>
          </a:p>
        </p:txBody>
      </p:sp>
      <p:sp>
        <p:nvSpPr>
          <p:cNvPr id="22" name="Text 34"/>
          <p:cNvSpPr/>
          <p:nvPr/>
        </p:nvSpPr>
        <p:spPr>
          <a:xfrm>
            <a:off x="1981200" y="5474990"/>
            <a:ext cx="2894648" cy="384770"/>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Practice repo link</a:t>
            </a:r>
            <a:endParaRPr lang="en-US" sz="1900" dirty="0"/>
          </a:p>
        </p:txBody>
      </p:sp>
      <p:sp>
        <p:nvSpPr>
          <p:cNvPr id="23" name="Shape 35"/>
          <p:cNvSpPr/>
          <p:nvPr/>
        </p:nvSpPr>
        <p:spPr>
          <a:xfrm>
            <a:off x="4953000" y="6202119"/>
            <a:ext cx="8534400" cy="19050"/>
          </a:xfrm>
          <a:prstGeom prst="rect">
            <a:avLst/>
          </a:prstGeom>
          <a:solidFill>
            <a:srgbClr val="BFBFBF"/>
          </a:solidFill>
          <a:ln/>
        </p:spPr>
        <p:txBody>
          <a:bodyPr/>
          <a:lstStyle/>
          <a:p>
            <a:endParaRPr/>
          </a:p>
        </p:txBody>
      </p:sp>
      <p:sp>
        <p:nvSpPr>
          <p:cNvPr id="24" name="Text 36"/>
          <p:cNvSpPr/>
          <p:nvPr/>
        </p:nvSpPr>
        <p:spPr>
          <a:xfrm>
            <a:off x="5124450" y="5474989"/>
            <a:ext cx="8447532" cy="746179"/>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From the course lead: a link to the </a:t>
            </a:r>
            <a:r>
              <a:rPr lang="en-US" sz="1800" dirty="0">
                <a:solidFill>
                  <a:srgbClr val="000000"/>
                </a:solidFill>
                <a:latin typeface="Consolas" pitchFamily="34" charset="0"/>
                <a:ea typeface="Consolas" pitchFamily="34" charset="-122"/>
                <a:cs typeface="Consolas" pitchFamily="34" charset="-120"/>
              </a:rPr>
              <a:t>beam-calc</a:t>
            </a:r>
            <a:r>
              <a:rPr lang="en-US" sz="1900" dirty="0">
                <a:solidFill>
                  <a:srgbClr val="000000"/>
                </a:solidFill>
                <a:latin typeface="+mn-lt"/>
                <a:ea typeface="+mn-ea"/>
                <a:cs typeface="+mn-cs"/>
              </a:rPr>
              <a:t> template repo.</a:t>
            </a:r>
          </a:p>
          <a:p>
            <a:r>
              <a:rPr lang="en-US" sz="2000" dirty="0">
                <a:hlinkClick r:id="rId3"/>
              </a:rPr>
              <a:t>https://github.com/usafa-dfas/beam-calc</a:t>
            </a:r>
            <a:r>
              <a:rPr lang="en-US" sz="2000" dirty="0"/>
              <a:t> </a:t>
            </a:r>
            <a:endParaRPr lang="en-US" sz="1900" dirty="0">
              <a:solidFill>
                <a:srgbClr val="000000"/>
              </a:solidFill>
              <a:latin typeface="+mn-lt"/>
              <a:ea typeface="+mn-ea"/>
              <a:cs typeface="+mn-cs"/>
            </a:endParaRPr>
          </a:p>
        </p:txBody>
      </p:sp>
      <p:sp>
        <p:nvSpPr>
          <p:cNvPr id="25" name="Text 37"/>
          <p:cNvSpPr/>
          <p:nvPr/>
        </p:nvSpPr>
        <p:spPr>
          <a:xfrm>
            <a:off x="1809750" y="6259810"/>
            <a:ext cx="11769090" cy="368300"/>
          </a:xfrm>
          <a:prstGeom prst="rect">
            <a:avLst/>
          </a:prstGeom>
          <a:noFill/>
          <a:ln/>
        </p:spPr>
        <p:txBody>
          <a:bodyPr wrap="square" lIns="25400" tIns="25400" rIns="25400" bIns="25400" rtlCol="0" anchor="t">
            <a:normAutofit/>
          </a:bodyPr>
          <a:lstStyle/>
          <a:p>
            <a:pPr marL="0" indent="0" algn="l">
              <a:buNone/>
            </a:pPr>
            <a:r>
              <a:rPr lang="en-US" sz="1900" dirty="0">
                <a:solidFill>
                  <a:srgbClr val="404040"/>
                </a:solidFill>
                <a:latin typeface="+mn-lt"/>
                <a:ea typeface="+mn-ea"/>
                <a:cs typeface="+mn-cs"/>
              </a:rPr>
              <a:t>You do not need the Git command line for this course. GitHub Desktop includes Git.</a:t>
            </a:r>
            <a:endParaRPr lang="en-US" sz="1900" dirty="0"/>
          </a:p>
        </p:txBody>
      </p:sp>
      <p:sp>
        <p:nvSpPr>
          <p:cNvPr id="26" name="Nav highlight"/>
          <p:cNvSpPr txBox="1"/>
          <p:nvPr userDrawn="1"/>
        </p:nvSpPr>
        <p:spPr>
          <a:xfrm>
            <a:off x="133350" y="238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Overview</a:t>
            </a:r>
            <a:endParaRPr lang="en-US" sz="1800" b="1" dirty="0"/>
          </a:p>
        </p:txBody>
      </p:sp>
      <p:sp>
        <p:nvSpPr>
          <p:cNvPr id="27"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8" name="Slide Number"/>
          <p:cNvSpPr>
            <a:spLocks noGrp="1"/>
          </p:cNvSpPr>
          <p:nvPr>
            <p:ph type="sldNum" sz="quarter" idx="12"/>
          </p:nvPr>
        </p:nvSpPr>
        <p:spPr/>
        <p:txBody>
          <a:bodyPr/>
          <a:lstStyle/>
          <a:p>
            <a:fld id="{B6F15528-21DE-4FAA-801E-634DDDAF4B2B}"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Why Version Control?</a:t>
            </a:r>
          </a:p>
        </p:txBody>
      </p:sp>
      <p:sp>
        <p:nvSpPr>
          <p:cNvPr id="3" name="Text 15"/>
          <p:cNvSpPr/>
          <p:nvPr/>
        </p:nvSpPr>
        <p:spPr>
          <a:xfrm>
            <a:off x="1809750" y="1619250"/>
            <a:ext cx="6234113" cy="419100"/>
          </a:xfrm>
          <a:prstGeom prst="rect">
            <a:avLst/>
          </a:prstGeom>
          <a:noFill/>
          <a:ln/>
        </p:spPr>
        <p:txBody>
          <a:bodyPr wrap="square" lIns="25400" tIns="25400" rIns="25400" bIns="25400" rtlCol="0" anchor="t">
            <a:normAutofit/>
          </a:bodyPr>
          <a:lstStyle/>
          <a:p>
            <a:pPr marL="0" indent="0" algn="l">
              <a:buNone/>
            </a:pPr>
            <a:r>
              <a:rPr lang="en-US" sz="2200" b="1" dirty="0">
                <a:solidFill>
                  <a:srgbClr val="000000"/>
                </a:solidFill>
                <a:latin typeface="+mn-lt"/>
                <a:ea typeface="+mn-ea"/>
                <a:cs typeface="+mn-cs"/>
              </a:rPr>
              <a:t>Without it</a:t>
            </a:r>
            <a:endParaRPr lang="en-US" sz="2200" dirty="0"/>
          </a:p>
        </p:txBody>
      </p:sp>
      <p:sp>
        <p:nvSpPr>
          <p:cNvPr id="4" name="Shape 16"/>
          <p:cNvSpPr/>
          <p:nvPr/>
        </p:nvSpPr>
        <p:spPr>
          <a:xfrm>
            <a:off x="1809750" y="2171700"/>
            <a:ext cx="5667375" cy="2323902"/>
          </a:xfrm>
          <a:prstGeom prst="roundRect">
            <a:avLst>
              <a:gd name="adj" fmla="val 4918"/>
            </a:avLst>
          </a:prstGeom>
          <a:solidFill>
            <a:srgbClr val="1E1E1E"/>
          </a:solidFill>
          <a:ln/>
        </p:spPr>
        <p:txBody>
          <a:bodyPr/>
          <a:lstStyle/>
          <a:p>
            <a:endParaRPr lang="en-US"/>
          </a:p>
        </p:txBody>
      </p:sp>
      <p:sp>
        <p:nvSpPr>
          <p:cNvPr id="5" name="Text 17"/>
          <p:cNvSpPr/>
          <p:nvPr/>
        </p:nvSpPr>
        <p:spPr>
          <a:xfrm>
            <a:off x="2076450" y="2419350"/>
            <a:ext cx="5303996" cy="1866702"/>
          </a:xfrm>
          <a:prstGeom prst="rect">
            <a:avLst/>
          </a:prstGeom>
          <a:noFill/>
          <a:ln/>
        </p:spPr>
        <p:txBody>
          <a:bodyPr wrap="square" lIns="25400" tIns="25400" rIns="25400" bIns="25400" rtlCol="0" anchor="t">
            <a:normAutofit lnSpcReduction="10000"/>
          </a:bodyPr>
          <a:lstStyle/>
          <a:p>
            <a:pPr marL="0" indent="0" algn="l">
              <a:lnSpc>
                <a:spcPct val="140488"/>
              </a:lnSpc>
              <a:buNone/>
            </a:pPr>
            <a:r>
              <a:rPr lang="en-US" sz="1800" dirty="0">
                <a:solidFill>
                  <a:srgbClr val="D4D4D4"/>
                </a:solidFill>
                <a:highlight>
                  <a:srgbClr val="1E1E1E"/>
                </a:highlight>
                <a:latin typeface="Consolas" pitchFamily="34" charset="0"/>
                <a:ea typeface="Consolas" pitchFamily="34" charset="-122"/>
                <a:cs typeface="Consolas" pitchFamily="34" charset="-120"/>
              </a:rPr>
              <a:t>beam.m</a:t>
            </a:r>
            <a:endParaRPr lang="en-US" sz="1800" dirty="0"/>
          </a:p>
          <a:p>
            <a:pPr marL="0" indent="0" algn="l">
              <a:lnSpc>
                <a:spcPct val="140488"/>
              </a:lnSpc>
              <a:buNone/>
            </a:pPr>
            <a:r>
              <a:rPr lang="en-US" sz="1800" dirty="0">
                <a:solidFill>
                  <a:srgbClr val="D4D4D4"/>
                </a:solidFill>
                <a:highlight>
                  <a:srgbClr val="1E1E1E"/>
                </a:highlight>
                <a:latin typeface="Consolas" pitchFamily="34" charset="0"/>
                <a:ea typeface="Consolas" pitchFamily="34" charset="-122"/>
                <a:cs typeface="Consolas" pitchFamily="34" charset="-120"/>
              </a:rPr>
              <a:t>beam_v2.py</a:t>
            </a:r>
            <a:endParaRPr lang="en-US" sz="1800" dirty="0"/>
          </a:p>
          <a:p>
            <a:pPr marL="0" indent="0" algn="l">
              <a:lnSpc>
                <a:spcPct val="140488"/>
              </a:lnSpc>
              <a:buNone/>
            </a:pPr>
            <a:r>
              <a:rPr lang="en-US" sz="1800" dirty="0">
                <a:solidFill>
                  <a:srgbClr val="D4D4D4"/>
                </a:solidFill>
                <a:highlight>
                  <a:srgbClr val="1E1E1E"/>
                </a:highlight>
                <a:latin typeface="Consolas" pitchFamily="34" charset="0"/>
                <a:ea typeface="Consolas" pitchFamily="34" charset="-122"/>
                <a:cs typeface="Consolas" pitchFamily="34" charset="-120"/>
              </a:rPr>
              <a:t>beam_v2_final.py</a:t>
            </a:r>
            <a:endParaRPr lang="en-US" sz="1800" dirty="0"/>
          </a:p>
          <a:p>
            <a:pPr marL="0" indent="0" algn="l">
              <a:lnSpc>
                <a:spcPct val="140488"/>
              </a:lnSpc>
              <a:buNone/>
            </a:pPr>
            <a:r>
              <a:rPr lang="en-US" sz="1800" dirty="0">
                <a:solidFill>
                  <a:srgbClr val="D4D4D4"/>
                </a:solidFill>
                <a:highlight>
                  <a:srgbClr val="1E1E1E"/>
                </a:highlight>
                <a:latin typeface="Consolas" pitchFamily="34" charset="0"/>
                <a:ea typeface="Consolas" pitchFamily="34" charset="-122"/>
                <a:cs typeface="Consolas" pitchFamily="34" charset="-120"/>
              </a:rPr>
              <a:t>beam_v2_final_FIXED.py</a:t>
            </a:r>
            <a:endParaRPr lang="en-US" sz="1800" dirty="0"/>
          </a:p>
          <a:p>
            <a:pPr marL="0" indent="0" algn="l">
              <a:lnSpc>
                <a:spcPct val="140488"/>
              </a:lnSpc>
              <a:buNone/>
            </a:pPr>
            <a:r>
              <a:rPr lang="en-US" sz="1800" dirty="0">
                <a:solidFill>
                  <a:srgbClr val="D4D4D4"/>
                </a:solidFill>
                <a:highlight>
                  <a:srgbClr val="1E1E1E"/>
                </a:highlight>
                <a:latin typeface="Consolas" pitchFamily="34" charset="0"/>
                <a:ea typeface="Consolas" pitchFamily="34" charset="-122"/>
                <a:cs typeface="Consolas" pitchFamily="34" charset="-120"/>
              </a:rPr>
              <a:t>beam_v3_from_email.py</a:t>
            </a:r>
            <a:endParaRPr lang="en-US" sz="1800" dirty="0"/>
          </a:p>
        </p:txBody>
      </p:sp>
      <p:sp>
        <p:nvSpPr>
          <p:cNvPr id="6" name="Text 18"/>
          <p:cNvSpPr/>
          <p:nvPr/>
        </p:nvSpPr>
        <p:spPr>
          <a:xfrm>
            <a:off x="1809750" y="4667052"/>
            <a:ext cx="5570696" cy="731441"/>
          </a:xfrm>
          <a:prstGeom prst="rect">
            <a:avLst/>
          </a:prstGeom>
          <a:noFill/>
          <a:ln/>
        </p:spPr>
        <p:txBody>
          <a:bodyPr wrap="square" lIns="25400" tIns="25400" rIns="25400" bIns="25400" rtlCol="0" anchor="t">
            <a:normAutofit/>
          </a:bodyPr>
          <a:lstStyle/>
          <a:p>
            <a:pPr marL="0" indent="0" algn="l">
              <a:lnSpc>
                <a:spcPct val="105000"/>
              </a:lnSpc>
              <a:buNone/>
            </a:pPr>
            <a:r>
              <a:rPr lang="en-US" sz="1900" dirty="0">
                <a:solidFill>
                  <a:srgbClr val="404040"/>
                </a:solidFill>
                <a:latin typeface="+mn-lt"/>
                <a:ea typeface="+mn-ea"/>
                <a:cs typeface="+mn-cs"/>
              </a:rPr>
              <a:t>Which one is current? What changed between them, and why?</a:t>
            </a:r>
            <a:endParaRPr lang="en-US" sz="1900" dirty="0"/>
          </a:p>
        </p:txBody>
      </p:sp>
      <p:sp>
        <p:nvSpPr>
          <p:cNvPr id="7" name="Text 19"/>
          <p:cNvSpPr/>
          <p:nvPr/>
        </p:nvSpPr>
        <p:spPr>
          <a:xfrm>
            <a:off x="7820025" y="1619250"/>
            <a:ext cx="5758815" cy="419100"/>
          </a:xfrm>
          <a:prstGeom prst="rect">
            <a:avLst/>
          </a:prstGeom>
          <a:noFill/>
          <a:ln/>
        </p:spPr>
        <p:txBody>
          <a:bodyPr wrap="square" lIns="25400" tIns="25400" rIns="25400" bIns="25400" rtlCol="0" anchor="t">
            <a:normAutofit/>
          </a:bodyPr>
          <a:lstStyle/>
          <a:p>
            <a:pPr marL="0" indent="0" algn="l">
              <a:buNone/>
            </a:pPr>
            <a:r>
              <a:rPr lang="en-US" sz="2200" b="1" dirty="0">
                <a:solidFill>
                  <a:srgbClr val="000000"/>
                </a:solidFill>
                <a:latin typeface="+mn-lt"/>
                <a:ea typeface="+mn-ea"/>
                <a:cs typeface="+mn-cs"/>
              </a:rPr>
              <a:t>With Git</a:t>
            </a:r>
            <a:endParaRPr lang="en-US" sz="2200" dirty="0"/>
          </a:p>
        </p:txBody>
      </p:sp>
      <p:sp>
        <p:nvSpPr>
          <p:cNvPr id="8" name="Shape 20"/>
          <p:cNvSpPr/>
          <p:nvPr/>
        </p:nvSpPr>
        <p:spPr>
          <a:xfrm>
            <a:off x="7820025" y="2171700"/>
            <a:ext cx="5667375" cy="1958181"/>
          </a:xfrm>
          <a:prstGeom prst="roundRect">
            <a:avLst>
              <a:gd name="adj" fmla="val 5837"/>
            </a:avLst>
          </a:prstGeom>
          <a:solidFill>
            <a:srgbClr val="1E1E1E"/>
          </a:solidFill>
          <a:ln/>
        </p:spPr>
        <p:txBody>
          <a:bodyPr/>
          <a:lstStyle/>
          <a:p>
            <a:endParaRPr lang="en-US"/>
          </a:p>
        </p:txBody>
      </p:sp>
      <p:sp>
        <p:nvSpPr>
          <p:cNvPr id="9" name="Text 21"/>
          <p:cNvSpPr/>
          <p:nvPr/>
        </p:nvSpPr>
        <p:spPr>
          <a:xfrm>
            <a:off x="8086725" y="2419350"/>
            <a:ext cx="5303996" cy="1500981"/>
          </a:xfrm>
          <a:prstGeom prst="rect">
            <a:avLst/>
          </a:prstGeom>
          <a:noFill/>
          <a:ln/>
        </p:spPr>
        <p:txBody>
          <a:bodyPr wrap="square" lIns="25400" tIns="25400" rIns="25400" bIns="25400" rtlCol="0" anchor="t">
            <a:normAutofit lnSpcReduction="10000"/>
          </a:bodyPr>
          <a:lstStyle/>
          <a:p>
            <a:pPr marL="0" indent="0" algn="l">
              <a:lnSpc>
                <a:spcPct val="140488"/>
              </a:lnSpc>
              <a:buNone/>
            </a:pPr>
            <a:r>
              <a:rPr lang="en-US" sz="1800" dirty="0">
                <a:solidFill>
                  <a:srgbClr val="D4D4D4"/>
                </a:solidFill>
                <a:highlight>
                  <a:srgbClr val="1E1E1E"/>
                </a:highlight>
                <a:latin typeface="Consolas" pitchFamily="34" charset="0"/>
                <a:ea typeface="Consolas" pitchFamily="34" charset="-122"/>
                <a:cs typeface="Consolas" pitchFamily="34" charset="-120"/>
              </a:rPr>
              <a:t>beam.m</a:t>
            </a:r>
            <a:endParaRPr lang="en-US" sz="1800" dirty="0"/>
          </a:p>
          <a:p>
            <a:pPr marL="0" indent="0" algn="l">
              <a:lnSpc>
                <a:spcPct val="140488"/>
              </a:lnSpc>
              <a:buNone/>
            </a:pPr>
            <a:r>
              <a:rPr lang="en-US" sz="1800" dirty="0">
                <a:solidFill>
                  <a:srgbClr val="8C8C8C"/>
                </a:solidFill>
                <a:latin typeface="Consolas" pitchFamily="34" charset="0"/>
                <a:ea typeface="Consolas" pitchFamily="34" charset="-122"/>
                <a:cs typeface="Consolas" pitchFamily="34" charset="-120"/>
              </a:rPr>
              <a:t>e4f5a6b Switch to aluminum</a:t>
            </a:r>
            <a:endParaRPr lang="en-US" sz="1800" dirty="0"/>
          </a:p>
          <a:p>
            <a:pPr marL="0" indent="0" algn="l">
              <a:lnSpc>
                <a:spcPct val="140488"/>
              </a:lnSpc>
              <a:buNone/>
            </a:pPr>
            <a:r>
              <a:rPr lang="en-US" sz="1800" dirty="0">
                <a:solidFill>
                  <a:srgbClr val="8C8C8C"/>
                </a:solidFill>
                <a:latin typeface="Consolas" pitchFamily="34" charset="0"/>
                <a:ea typeface="Consolas" pitchFamily="34" charset="-122"/>
                <a:cs typeface="Consolas" pitchFamily="34" charset="-120"/>
              </a:rPr>
              <a:t>a1b2c3d Fix units on load P</a:t>
            </a:r>
            <a:endParaRPr lang="en-US" sz="1800" dirty="0"/>
          </a:p>
          <a:p>
            <a:pPr marL="0" indent="0" algn="l">
              <a:lnSpc>
                <a:spcPct val="140488"/>
              </a:lnSpc>
              <a:buNone/>
            </a:pPr>
            <a:r>
              <a:rPr lang="en-US" sz="1800" dirty="0">
                <a:solidFill>
                  <a:srgbClr val="8C8C8C"/>
                </a:solidFill>
                <a:latin typeface="Consolas" pitchFamily="34" charset="0"/>
                <a:ea typeface="Consolas" pitchFamily="34" charset="-122"/>
                <a:cs typeface="Consolas" pitchFamily="34" charset="-120"/>
              </a:rPr>
              <a:t>9c8d7e6 Initial version</a:t>
            </a:r>
            <a:endParaRPr lang="en-US" sz="1800" dirty="0"/>
          </a:p>
        </p:txBody>
      </p:sp>
      <p:sp>
        <p:nvSpPr>
          <p:cNvPr id="10" name="Text 22"/>
          <p:cNvSpPr/>
          <p:nvPr/>
        </p:nvSpPr>
        <p:spPr>
          <a:xfrm>
            <a:off x="7820025" y="4301331"/>
            <a:ext cx="5758815" cy="731441"/>
          </a:xfrm>
          <a:prstGeom prst="rect">
            <a:avLst/>
          </a:prstGeom>
          <a:noFill/>
          <a:ln/>
        </p:spPr>
        <p:txBody>
          <a:bodyPr wrap="square" lIns="25400" tIns="25400" rIns="25400" bIns="25400" rtlCol="0" anchor="t">
            <a:normAutofit/>
          </a:bodyPr>
          <a:lstStyle/>
          <a:p>
            <a:pPr marL="0" indent="0" algn="l">
              <a:lnSpc>
                <a:spcPct val="105000"/>
              </a:lnSpc>
              <a:buNone/>
            </a:pPr>
            <a:r>
              <a:rPr lang="en-US" sz="1900" dirty="0">
                <a:solidFill>
                  <a:srgbClr val="404040"/>
                </a:solidFill>
                <a:latin typeface="+mn-lt"/>
                <a:ea typeface="+mn-ea"/>
                <a:cs typeface="+mn-cs"/>
              </a:rPr>
              <a:t>One file. Every saved version, with who, when, and why.</a:t>
            </a:r>
            <a:endParaRPr lang="en-US" sz="1900" dirty="0"/>
          </a:p>
        </p:txBody>
      </p:sp>
      <p:sp>
        <p:nvSpPr>
          <p:cNvPr id="11" name="Shape 23"/>
          <p:cNvSpPr/>
          <p:nvPr/>
        </p:nvSpPr>
        <p:spPr>
          <a:xfrm>
            <a:off x="1809750" y="5893793"/>
            <a:ext cx="2805113" cy="1442641"/>
          </a:xfrm>
          <a:prstGeom prst="rect">
            <a:avLst/>
          </a:prstGeom>
          <a:solidFill>
            <a:srgbClr val="F2F2F2"/>
          </a:solidFill>
          <a:ln/>
        </p:spPr>
        <p:txBody>
          <a:bodyPr/>
          <a:lstStyle/>
          <a:p>
            <a:endParaRPr lang="en-US"/>
          </a:p>
        </p:txBody>
      </p:sp>
      <p:sp>
        <p:nvSpPr>
          <p:cNvPr id="12" name="Text 24"/>
          <p:cNvSpPr/>
          <p:nvPr/>
        </p:nvSpPr>
        <p:spPr>
          <a:xfrm>
            <a:off x="2019300" y="6103343"/>
            <a:ext cx="2624614" cy="368300"/>
          </a:xfrm>
          <a:prstGeom prst="rect">
            <a:avLst/>
          </a:prstGeom>
          <a:noFill/>
          <a:ln/>
        </p:spPr>
        <p:txBody>
          <a:bodyPr wrap="square" lIns="25400" tIns="25400" rIns="25400" bIns="25400" rtlCol="0" anchor="t">
            <a:normAutofit/>
          </a:bodyPr>
          <a:lstStyle/>
          <a:p>
            <a:pPr marL="0" indent="0" algn="l">
              <a:buNone/>
            </a:pPr>
            <a:r>
              <a:rPr lang="en-US" sz="1900" b="1" dirty="0">
                <a:solidFill>
                  <a:srgbClr val="152A47"/>
                </a:solidFill>
                <a:latin typeface="+mn-lt"/>
                <a:ea typeface="+mn-ea"/>
                <a:cs typeface="+mn-cs"/>
              </a:rPr>
              <a:t>History</a:t>
            </a:r>
            <a:endParaRPr lang="en-US" sz="1900" dirty="0"/>
          </a:p>
        </p:txBody>
      </p:sp>
      <p:sp>
        <p:nvSpPr>
          <p:cNvPr id="13" name="Text 25"/>
          <p:cNvSpPr/>
          <p:nvPr/>
        </p:nvSpPr>
        <p:spPr>
          <a:xfrm>
            <a:off x="2019300" y="6509742"/>
            <a:ext cx="2624614" cy="346670"/>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000000"/>
                </a:solidFill>
                <a:latin typeface="+mn-lt"/>
                <a:ea typeface="+mn-ea"/>
                <a:cs typeface="+mn-cs"/>
              </a:rPr>
              <a:t>See any past version</a:t>
            </a:r>
            <a:endParaRPr lang="en-US" sz="1800" dirty="0"/>
          </a:p>
        </p:txBody>
      </p:sp>
      <p:sp>
        <p:nvSpPr>
          <p:cNvPr id="14" name="Shape 26"/>
          <p:cNvSpPr/>
          <p:nvPr/>
        </p:nvSpPr>
        <p:spPr>
          <a:xfrm>
            <a:off x="4767263" y="5893793"/>
            <a:ext cx="2805113" cy="1442641"/>
          </a:xfrm>
          <a:prstGeom prst="rect">
            <a:avLst/>
          </a:prstGeom>
          <a:solidFill>
            <a:srgbClr val="F2F2F2"/>
          </a:solidFill>
          <a:ln/>
        </p:spPr>
        <p:txBody>
          <a:bodyPr/>
          <a:lstStyle/>
          <a:p>
            <a:endParaRPr lang="en-US"/>
          </a:p>
        </p:txBody>
      </p:sp>
      <p:sp>
        <p:nvSpPr>
          <p:cNvPr id="15" name="Text 27"/>
          <p:cNvSpPr/>
          <p:nvPr/>
        </p:nvSpPr>
        <p:spPr>
          <a:xfrm>
            <a:off x="4976813" y="6103343"/>
            <a:ext cx="2624614" cy="368300"/>
          </a:xfrm>
          <a:prstGeom prst="rect">
            <a:avLst/>
          </a:prstGeom>
          <a:noFill/>
          <a:ln/>
        </p:spPr>
        <p:txBody>
          <a:bodyPr wrap="square" lIns="25400" tIns="25400" rIns="25400" bIns="25400" rtlCol="0" anchor="t">
            <a:normAutofit/>
          </a:bodyPr>
          <a:lstStyle/>
          <a:p>
            <a:pPr marL="0" indent="0" algn="l">
              <a:buNone/>
            </a:pPr>
            <a:r>
              <a:rPr lang="en-US" sz="1900" b="1" dirty="0">
                <a:solidFill>
                  <a:srgbClr val="152A47"/>
                </a:solidFill>
                <a:latin typeface="+mn-lt"/>
                <a:ea typeface="+mn-ea"/>
                <a:cs typeface="+mn-cs"/>
              </a:rPr>
              <a:t>Undo</a:t>
            </a:r>
            <a:endParaRPr lang="en-US" sz="1900" dirty="0"/>
          </a:p>
        </p:txBody>
      </p:sp>
      <p:sp>
        <p:nvSpPr>
          <p:cNvPr id="16" name="Text 28"/>
          <p:cNvSpPr/>
          <p:nvPr/>
        </p:nvSpPr>
        <p:spPr>
          <a:xfrm>
            <a:off x="4976813" y="6509742"/>
            <a:ext cx="2462213" cy="655241"/>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000000"/>
                </a:solidFill>
                <a:latin typeface="+mn-lt"/>
                <a:ea typeface="+mn-ea"/>
                <a:cs typeface="+mn-cs"/>
              </a:rPr>
              <a:t>Roll back one change safely</a:t>
            </a:r>
            <a:endParaRPr lang="en-US" sz="1800" dirty="0"/>
          </a:p>
        </p:txBody>
      </p:sp>
      <p:sp>
        <p:nvSpPr>
          <p:cNvPr id="17" name="Shape 29"/>
          <p:cNvSpPr/>
          <p:nvPr/>
        </p:nvSpPr>
        <p:spPr>
          <a:xfrm>
            <a:off x="7724775" y="5893793"/>
            <a:ext cx="2805113" cy="1442641"/>
          </a:xfrm>
          <a:prstGeom prst="rect">
            <a:avLst/>
          </a:prstGeom>
          <a:solidFill>
            <a:srgbClr val="F2F2F2"/>
          </a:solidFill>
          <a:ln/>
        </p:spPr>
        <p:txBody>
          <a:bodyPr/>
          <a:lstStyle/>
          <a:p>
            <a:endParaRPr lang="en-US"/>
          </a:p>
        </p:txBody>
      </p:sp>
      <p:sp>
        <p:nvSpPr>
          <p:cNvPr id="18" name="Text 30"/>
          <p:cNvSpPr/>
          <p:nvPr/>
        </p:nvSpPr>
        <p:spPr>
          <a:xfrm>
            <a:off x="7934325" y="6103343"/>
            <a:ext cx="2624614" cy="368300"/>
          </a:xfrm>
          <a:prstGeom prst="rect">
            <a:avLst/>
          </a:prstGeom>
          <a:noFill/>
          <a:ln/>
        </p:spPr>
        <p:txBody>
          <a:bodyPr wrap="square" lIns="25400" tIns="25400" rIns="25400" bIns="25400" rtlCol="0" anchor="t">
            <a:normAutofit/>
          </a:bodyPr>
          <a:lstStyle/>
          <a:p>
            <a:pPr marL="0" indent="0" algn="l">
              <a:buNone/>
            </a:pPr>
            <a:r>
              <a:rPr lang="en-US" sz="1900" b="1" dirty="0">
                <a:solidFill>
                  <a:srgbClr val="152A47"/>
                </a:solidFill>
                <a:latin typeface="+mn-lt"/>
                <a:ea typeface="+mn-ea"/>
                <a:cs typeface="+mn-cs"/>
              </a:rPr>
              <a:t>Parallel work</a:t>
            </a:r>
            <a:endParaRPr lang="en-US" sz="1900" dirty="0"/>
          </a:p>
        </p:txBody>
      </p:sp>
      <p:sp>
        <p:nvSpPr>
          <p:cNvPr id="19" name="Text 31"/>
          <p:cNvSpPr/>
          <p:nvPr/>
        </p:nvSpPr>
        <p:spPr>
          <a:xfrm>
            <a:off x="7934325" y="6509742"/>
            <a:ext cx="2462213" cy="655241"/>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000000"/>
                </a:solidFill>
                <a:latin typeface="+mn-lt"/>
                <a:ea typeface="+mn-ea"/>
                <a:cs typeface="+mn-cs"/>
              </a:rPr>
              <a:t>Try ideas without breaking main</a:t>
            </a:r>
            <a:endParaRPr lang="en-US" sz="1800" dirty="0"/>
          </a:p>
        </p:txBody>
      </p:sp>
      <p:sp>
        <p:nvSpPr>
          <p:cNvPr id="20" name="Shape 32"/>
          <p:cNvSpPr/>
          <p:nvPr/>
        </p:nvSpPr>
        <p:spPr>
          <a:xfrm>
            <a:off x="10682288" y="5893793"/>
            <a:ext cx="2805113" cy="1442641"/>
          </a:xfrm>
          <a:prstGeom prst="rect">
            <a:avLst/>
          </a:prstGeom>
          <a:solidFill>
            <a:srgbClr val="F2F2F2"/>
          </a:solidFill>
          <a:ln/>
        </p:spPr>
        <p:txBody>
          <a:bodyPr/>
          <a:lstStyle/>
          <a:p>
            <a:endParaRPr lang="en-US"/>
          </a:p>
        </p:txBody>
      </p:sp>
      <p:sp>
        <p:nvSpPr>
          <p:cNvPr id="21" name="Text 33"/>
          <p:cNvSpPr/>
          <p:nvPr/>
        </p:nvSpPr>
        <p:spPr>
          <a:xfrm>
            <a:off x="10891838" y="6103343"/>
            <a:ext cx="2624614" cy="368300"/>
          </a:xfrm>
          <a:prstGeom prst="rect">
            <a:avLst/>
          </a:prstGeom>
          <a:noFill/>
          <a:ln/>
        </p:spPr>
        <p:txBody>
          <a:bodyPr wrap="square" lIns="25400" tIns="25400" rIns="25400" bIns="25400" rtlCol="0" anchor="t">
            <a:normAutofit/>
          </a:bodyPr>
          <a:lstStyle/>
          <a:p>
            <a:pPr marL="0" indent="0" algn="l">
              <a:buNone/>
            </a:pPr>
            <a:r>
              <a:rPr lang="en-US" sz="1900" b="1" dirty="0">
                <a:solidFill>
                  <a:srgbClr val="152A47"/>
                </a:solidFill>
                <a:latin typeface="+mn-lt"/>
                <a:ea typeface="+mn-ea"/>
                <a:cs typeface="+mn-cs"/>
              </a:rPr>
              <a:t>Review</a:t>
            </a:r>
            <a:endParaRPr lang="en-US" sz="1900" dirty="0"/>
          </a:p>
        </p:txBody>
      </p:sp>
      <p:sp>
        <p:nvSpPr>
          <p:cNvPr id="22" name="Text 34"/>
          <p:cNvSpPr/>
          <p:nvPr/>
        </p:nvSpPr>
        <p:spPr>
          <a:xfrm>
            <a:off x="10891838" y="6509742"/>
            <a:ext cx="2462213" cy="655241"/>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000000"/>
                </a:solidFill>
                <a:latin typeface="+mn-lt"/>
                <a:ea typeface="+mn-ea"/>
                <a:cs typeface="+mn-cs"/>
              </a:rPr>
              <a:t>Read every line an agent changed</a:t>
            </a:r>
            <a:endParaRPr lang="en-US" sz="1800" dirty="0"/>
          </a:p>
        </p:txBody>
      </p:sp>
      <p:sp>
        <p:nvSpPr>
          <p:cNvPr id="23" name="Nav highlight"/>
          <p:cNvSpPr txBox="1"/>
          <p:nvPr userDrawn="1"/>
        </p:nvSpPr>
        <p:spPr>
          <a:xfrm>
            <a:off x="133350" y="2762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Concepts</a:t>
            </a:r>
            <a:endParaRPr lang="en-US" sz="1800" b="1" dirty="0"/>
          </a:p>
        </p:txBody>
      </p:sp>
      <p:sp>
        <p:nvSpPr>
          <p:cNvPr id="24"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5" name="Slide Number"/>
          <p:cNvSpPr>
            <a:spLocks noGrp="1"/>
          </p:cNvSpPr>
          <p:nvPr>
            <p:ph type="sldNum" sz="quarter" idx="12"/>
          </p:nvPr>
        </p:nvSpPr>
        <p:spPr/>
        <p:txBody>
          <a:bodyPr/>
          <a:lstStyle/>
          <a:p>
            <a:fld id="{B6F15528-21DE-4FAA-801E-634DDDAF4B2B}"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Git vs. GitHub</a:t>
            </a:r>
          </a:p>
        </p:txBody>
      </p:sp>
      <p:sp>
        <p:nvSpPr>
          <p:cNvPr id="3" name="Shape 15"/>
          <p:cNvSpPr/>
          <p:nvPr/>
        </p:nvSpPr>
        <p:spPr>
          <a:xfrm>
            <a:off x="1809750" y="1619250"/>
            <a:ext cx="3810000" cy="1212850"/>
          </a:xfrm>
          <a:prstGeom prst="roundRect">
            <a:avLst>
              <a:gd name="adj" fmla="val 10995"/>
            </a:avLst>
          </a:prstGeom>
          <a:ln w="25400">
            <a:solidFill>
              <a:srgbClr val="152A47"/>
            </a:solidFill>
            <a:prstDash val="solid"/>
          </a:ln>
        </p:spPr>
        <p:txBody>
          <a:bodyPr/>
          <a:lstStyle/>
          <a:p>
            <a:endParaRPr lang="en-US"/>
          </a:p>
        </p:txBody>
      </p:sp>
      <p:sp>
        <p:nvSpPr>
          <p:cNvPr id="4" name="Text 16"/>
          <p:cNvSpPr/>
          <p:nvPr/>
        </p:nvSpPr>
        <p:spPr>
          <a:xfrm>
            <a:off x="1877695" y="1854200"/>
            <a:ext cx="3674110" cy="419100"/>
          </a:xfrm>
          <a:prstGeom prst="rect">
            <a:avLst/>
          </a:prstGeom>
          <a:noFill/>
          <a:ln/>
        </p:spPr>
        <p:txBody>
          <a:bodyPr wrap="square" lIns="25400" tIns="25400" rIns="25400" bIns="25400" rtlCol="0" anchor="t">
            <a:normAutofit/>
          </a:bodyPr>
          <a:lstStyle/>
          <a:p>
            <a:pPr marL="0" indent="0" algn="ctr">
              <a:buNone/>
            </a:pPr>
            <a:r>
              <a:rPr lang="en-US" sz="2200" b="1" dirty="0">
                <a:solidFill>
                  <a:srgbClr val="000000"/>
                </a:solidFill>
                <a:latin typeface="+mn-lt"/>
                <a:ea typeface="+mn-ea"/>
                <a:cs typeface="+mn-cs"/>
              </a:rPr>
              <a:t>Local repo</a:t>
            </a:r>
            <a:endParaRPr lang="en-US" sz="2200" dirty="0"/>
          </a:p>
        </p:txBody>
      </p:sp>
      <p:sp>
        <p:nvSpPr>
          <p:cNvPr id="5" name="Text 17"/>
          <p:cNvSpPr/>
          <p:nvPr/>
        </p:nvSpPr>
        <p:spPr>
          <a:xfrm>
            <a:off x="1877695" y="2292350"/>
            <a:ext cx="3674110"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000000"/>
                </a:solidFill>
                <a:latin typeface="+mn-lt"/>
                <a:ea typeface="+mn-ea"/>
                <a:cs typeface="+mn-cs"/>
              </a:rPr>
              <a:t>your laptop (Git)</a:t>
            </a:r>
            <a:endParaRPr lang="en-US" sz="1800" dirty="0"/>
          </a:p>
        </p:txBody>
      </p:sp>
      <p:sp>
        <p:nvSpPr>
          <p:cNvPr id="6" name="Text 18"/>
          <p:cNvSpPr/>
          <p:nvPr/>
        </p:nvSpPr>
        <p:spPr>
          <a:xfrm>
            <a:off x="5605463" y="1698625"/>
            <a:ext cx="4086225" cy="2984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00000"/>
                </a:solidFill>
                <a:latin typeface="Consolas" pitchFamily="34" charset="0"/>
                <a:ea typeface="Consolas" pitchFamily="34" charset="-122"/>
                <a:cs typeface="Consolas" pitchFamily="34" charset="-120"/>
              </a:rPr>
              <a:t>push</a:t>
            </a:r>
            <a:endParaRPr lang="en-US" sz="1800" dirty="0"/>
          </a:p>
        </p:txBody>
      </p:sp>
      <p:sp>
        <p:nvSpPr>
          <p:cNvPr id="11" name="Text 23"/>
          <p:cNvSpPr/>
          <p:nvPr/>
        </p:nvSpPr>
        <p:spPr>
          <a:xfrm>
            <a:off x="5605463" y="2492375"/>
            <a:ext cx="4086225" cy="2984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00000"/>
                </a:solidFill>
                <a:latin typeface="Consolas" pitchFamily="34" charset="0"/>
                <a:ea typeface="Consolas" pitchFamily="34" charset="-122"/>
                <a:cs typeface="Consolas" pitchFamily="34" charset="-120"/>
              </a:rPr>
              <a:t>fetch / pull</a:t>
            </a:r>
            <a:endParaRPr lang="en-US" sz="1800" dirty="0"/>
          </a:p>
        </p:txBody>
      </p:sp>
      <p:sp>
        <p:nvSpPr>
          <p:cNvPr id="12" name="Shape 24"/>
          <p:cNvSpPr/>
          <p:nvPr/>
        </p:nvSpPr>
        <p:spPr>
          <a:xfrm>
            <a:off x="9677400" y="1619250"/>
            <a:ext cx="3810000" cy="1212850"/>
          </a:xfrm>
          <a:prstGeom prst="roundRect">
            <a:avLst>
              <a:gd name="adj" fmla="val 10995"/>
            </a:avLst>
          </a:prstGeom>
          <a:ln w="25400">
            <a:solidFill>
              <a:srgbClr val="152A47"/>
            </a:solidFill>
            <a:prstDash val="solid"/>
          </a:ln>
        </p:spPr>
        <p:txBody>
          <a:bodyPr/>
          <a:lstStyle/>
          <a:p>
            <a:endParaRPr lang="en-US"/>
          </a:p>
        </p:txBody>
      </p:sp>
      <p:sp>
        <p:nvSpPr>
          <p:cNvPr id="13" name="Text 25"/>
          <p:cNvSpPr/>
          <p:nvPr/>
        </p:nvSpPr>
        <p:spPr>
          <a:xfrm>
            <a:off x="9745346" y="1854200"/>
            <a:ext cx="3674110" cy="419100"/>
          </a:xfrm>
          <a:prstGeom prst="rect">
            <a:avLst/>
          </a:prstGeom>
          <a:noFill/>
          <a:ln/>
        </p:spPr>
        <p:txBody>
          <a:bodyPr wrap="square" lIns="25400" tIns="25400" rIns="25400" bIns="25400" rtlCol="0" anchor="t">
            <a:normAutofit/>
          </a:bodyPr>
          <a:lstStyle/>
          <a:p>
            <a:pPr marL="0" indent="0" algn="ctr">
              <a:buNone/>
            </a:pPr>
            <a:r>
              <a:rPr lang="en-US" sz="2200" b="1" dirty="0">
                <a:solidFill>
                  <a:srgbClr val="000000"/>
                </a:solidFill>
                <a:latin typeface="+mn-lt"/>
                <a:ea typeface="+mn-ea"/>
                <a:cs typeface="+mn-cs"/>
              </a:rPr>
              <a:t>Remote repo</a:t>
            </a:r>
            <a:endParaRPr lang="en-US" sz="2200" dirty="0"/>
          </a:p>
        </p:txBody>
      </p:sp>
      <p:sp>
        <p:nvSpPr>
          <p:cNvPr id="14" name="Text 26"/>
          <p:cNvSpPr/>
          <p:nvPr/>
        </p:nvSpPr>
        <p:spPr>
          <a:xfrm>
            <a:off x="9745346" y="2292350"/>
            <a:ext cx="3674110"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000000"/>
                </a:solidFill>
                <a:latin typeface="+mn-lt"/>
                <a:ea typeface="+mn-ea"/>
                <a:cs typeface="+mn-cs"/>
              </a:rPr>
              <a:t>GitHub (origin)</a:t>
            </a:r>
            <a:endParaRPr lang="en-US" sz="1800" dirty="0"/>
          </a:p>
        </p:txBody>
      </p:sp>
      <p:sp>
        <p:nvSpPr>
          <p:cNvPr id="15" name="Shape 27"/>
          <p:cNvSpPr/>
          <p:nvPr/>
        </p:nvSpPr>
        <p:spPr>
          <a:xfrm>
            <a:off x="1809750" y="3175000"/>
            <a:ext cx="3740150" cy="57150"/>
          </a:xfrm>
          <a:prstGeom prst="rect">
            <a:avLst/>
          </a:prstGeom>
          <a:solidFill>
            <a:srgbClr val="152A47"/>
          </a:solidFill>
          <a:ln/>
        </p:spPr>
        <p:txBody>
          <a:bodyPr/>
          <a:lstStyle/>
          <a:p>
            <a:endParaRPr lang="en-US"/>
          </a:p>
        </p:txBody>
      </p:sp>
      <p:sp>
        <p:nvSpPr>
          <p:cNvPr id="16" name="Text 28"/>
          <p:cNvSpPr/>
          <p:nvPr/>
        </p:nvSpPr>
        <p:spPr>
          <a:xfrm>
            <a:off x="1809750" y="3403600"/>
            <a:ext cx="4114165" cy="419100"/>
          </a:xfrm>
          <a:prstGeom prst="rect">
            <a:avLst/>
          </a:prstGeom>
          <a:noFill/>
          <a:ln/>
        </p:spPr>
        <p:txBody>
          <a:bodyPr wrap="square" lIns="25400" tIns="25400" rIns="25400" bIns="25400" rtlCol="0" anchor="t">
            <a:normAutofit/>
          </a:bodyPr>
          <a:lstStyle/>
          <a:p>
            <a:pPr marL="0" indent="0" algn="l">
              <a:buNone/>
            </a:pPr>
            <a:r>
              <a:rPr lang="en-US" sz="2200" b="1" dirty="0">
                <a:solidFill>
                  <a:srgbClr val="000000"/>
                </a:solidFill>
                <a:latin typeface="+mn-lt"/>
                <a:ea typeface="+mn-ea"/>
                <a:cs typeface="+mn-cs"/>
              </a:rPr>
              <a:t>Git</a:t>
            </a:r>
            <a:endParaRPr lang="en-US" sz="2200" dirty="0"/>
          </a:p>
        </p:txBody>
      </p:sp>
      <p:sp>
        <p:nvSpPr>
          <p:cNvPr id="17" name="Text 29"/>
          <p:cNvSpPr/>
          <p:nvPr/>
        </p:nvSpPr>
        <p:spPr>
          <a:xfrm>
            <a:off x="1809750" y="3898900"/>
            <a:ext cx="3852355" cy="1082576"/>
          </a:xfrm>
          <a:prstGeom prst="rect">
            <a:avLst/>
          </a:prstGeom>
          <a:noFill/>
          <a:ln/>
        </p:spPr>
        <p:txBody>
          <a:bodyPr wrap="square" lIns="25400" tIns="25400" rIns="25400" bIns="25400" rtlCol="0" anchor="t">
            <a:normAutofit/>
          </a:bodyPr>
          <a:lstStyle/>
          <a:p>
            <a:pPr marL="0" indent="0" algn="l">
              <a:lnSpc>
                <a:spcPct val="105000"/>
              </a:lnSpc>
              <a:buNone/>
            </a:pPr>
            <a:r>
              <a:rPr lang="en-US" sz="1900" dirty="0">
                <a:solidFill>
                  <a:srgbClr val="000000"/>
                </a:solidFill>
                <a:latin typeface="+mn-lt"/>
                <a:ea typeface="+mn-ea"/>
                <a:cs typeface="+mn-cs"/>
              </a:rPr>
              <a:t>Version control software. Runs on your computer. Stores history in a hidden </a:t>
            </a:r>
            <a:r>
              <a:rPr lang="en-US" sz="1700" dirty="0">
                <a:solidFill>
                  <a:srgbClr val="000000"/>
                </a:solidFill>
                <a:latin typeface="Consolas" pitchFamily="34" charset="0"/>
                <a:ea typeface="Consolas" pitchFamily="34" charset="-122"/>
                <a:cs typeface="Consolas" pitchFamily="34" charset="-120"/>
              </a:rPr>
              <a:t>.git </a:t>
            </a:r>
            <a:r>
              <a:rPr lang="en-US" sz="1900" dirty="0">
                <a:solidFill>
                  <a:srgbClr val="000000"/>
                </a:solidFill>
                <a:latin typeface="+mn-lt"/>
                <a:ea typeface="+mn-ea"/>
                <a:cs typeface="+mn-cs"/>
              </a:rPr>
              <a:t>folder in the project.</a:t>
            </a:r>
            <a:endParaRPr lang="en-US" sz="1900" dirty="0"/>
          </a:p>
        </p:txBody>
      </p:sp>
      <p:sp>
        <p:nvSpPr>
          <p:cNvPr id="18" name="Shape 30"/>
          <p:cNvSpPr/>
          <p:nvPr/>
        </p:nvSpPr>
        <p:spPr>
          <a:xfrm>
            <a:off x="5778500" y="3175000"/>
            <a:ext cx="3740150" cy="57150"/>
          </a:xfrm>
          <a:prstGeom prst="rect">
            <a:avLst/>
          </a:prstGeom>
          <a:solidFill>
            <a:srgbClr val="1F6FB2"/>
          </a:solidFill>
          <a:ln/>
        </p:spPr>
        <p:txBody>
          <a:bodyPr/>
          <a:lstStyle/>
          <a:p>
            <a:endParaRPr lang="en-US"/>
          </a:p>
        </p:txBody>
      </p:sp>
      <p:sp>
        <p:nvSpPr>
          <p:cNvPr id="19" name="Text 31"/>
          <p:cNvSpPr/>
          <p:nvPr/>
        </p:nvSpPr>
        <p:spPr>
          <a:xfrm>
            <a:off x="5778500" y="3403600"/>
            <a:ext cx="4114165" cy="419100"/>
          </a:xfrm>
          <a:prstGeom prst="rect">
            <a:avLst/>
          </a:prstGeom>
          <a:noFill/>
          <a:ln/>
        </p:spPr>
        <p:txBody>
          <a:bodyPr wrap="square" lIns="25400" tIns="25400" rIns="25400" bIns="25400" rtlCol="0" anchor="t">
            <a:normAutofit/>
          </a:bodyPr>
          <a:lstStyle/>
          <a:p>
            <a:pPr marL="0" indent="0" algn="l">
              <a:buNone/>
            </a:pPr>
            <a:r>
              <a:rPr lang="en-US" sz="2200" b="1" dirty="0">
                <a:solidFill>
                  <a:srgbClr val="000000"/>
                </a:solidFill>
                <a:latin typeface="+mn-lt"/>
                <a:ea typeface="+mn-ea"/>
                <a:cs typeface="+mn-cs"/>
              </a:rPr>
              <a:t>GitHub</a:t>
            </a:r>
            <a:endParaRPr lang="en-US" sz="2200" dirty="0"/>
          </a:p>
        </p:txBody>
      </p:sp>
      <p:sp>
        <p:nvSpPr>
          <p:cNvPr id="20" name="Text 32"/>
          <p:cNvSpPr/>
          <p:nvPr/>
        </p:nvSpPr>
        <p:spPr>
          <a:xfrm>
            <a:off x="5778500" y="3898900"/>
            <a:ext cx="3852355" cy="1424781"/>
          </a:xfrm>
          <a:prstGeom prst="rect">
            <a:avLst/>
          </a:prstGeom>
          <a:noFill/>
          <a:ln/>
        </p:spPr>
        <p:txBody>
          <a:bodyPr wrap="square" lIns="25400" tIns="25400" rIns="25400" bIns="25400" rtlCol="0" anchor="t">
            <a:normAutofit/>
          </a:bodyPr>
          <a:lstStyle/>
          <a:p>
            <a:pPr marL="0" indent="0" algn="l">
              <a:lnSpc>
                <a:spcPct val="105000"/>
              </a:lnSpc>
              <a:buNone/>
            </a:pPr>
            <a:r>
              <a:rPr lang="en-US" sz="1900" dirty="0">
                <a:solidFill>
                  <a:srgbClr val="000000"/>
                </a:solidFill>
                <a:latin typeface="+mn-lt"/>
                <a:ea typeface="+mn-ea"/>
                <a:cs typeface="+mn-cs"/>
              </a:rPr>
              <a:t>A website that hosts repos. Adds sharing, pull requests, and access control. Coding agents connect here.</a:t>
            </a:r>
            <a:endParaRPr lang="en-US" sz="1900" dirty="0"/>
          </a:p>
        </p:txBody>
      </p:sp>
      <p:sp>
        <p:nvSpPr>
          <p:cNvPr id="21" name="Shape 33"/>
          <p:cNvSpPr/>
          <p:nvPr/>
        </p:nvSpPr>
        <p:spPr>
          <a:xfrm>
            <a:off x="9747250" y="3175000"/>
            <a:ext cx="3740150" cy="57150"/>
          </a:xfrm>
          <a:prstGeom prst="rect">
            <a:avLst/>
          </a:prstGeom>
          <a:solidFill>
            <a:srgbClr val="00B0F0"/>
          </a:solidFill>
          <a:ln/>
        </p:spPr>
        <p:txBody>
          <a:bodyPr/>
          <a:lstStyle/>
          <a:p>
            <a:endParaRPr lang="en-US"/>
          </a:p>
        </p:txBody>
      </p:sp>
      <p:sp>
        <p:nvSpPr>
          <p:cNvPr id="22" name="Text 34"/>
          <p:cNvSpPr/>
          <p:nvPr/>
        </p:nvSpPr>
        <p:spPr>
          <a:xfrm>
            <a:off x="9747250" y="3403600"/>
            <a:ext cx="3831590" cy="419100"/>
          </a:xfrm>
          <a:prstGeom prst="rect">
            <a:avLst/>
          </a:prstGeom>
          <a:noFill/>
          <a:ln/>
        </p:spPr>
        <p:txBody>
          <a:bodyPr wrap="square" lIns="25400" tIns="25400" rIns="25400" bIns="25400" rtlCol="0" anchor="t">
            <a:normAutofit/>
          </a:bodyPr>
          <a:lstStyle/>
          <a:p>
            <a:pPr marL="0" indent="0" algn="l">
              <a:buNone/>
            </a:pPr>
            <a:r>
              <a:rPr lang="en-US" sz="2200" b="1" dirty="0">
                <a:solidFill>
                  <a:srgbClr val="000000"/>
                </a:solidFill>
                <a:latin typeface="+mn-lt"/>
                <a:ea typeface="+mn-ea"/>
                <a:cs typeface="+mn-cs"/>
              </a:rPr>
              <a:t>GitHub Desktop</a:t>
            </a:r>
            <a:endParaRPr lang="en-US" sz="2200" dirty="0"/>
          </a:p>
        </p:txBody>
      </p:sp>
      <p:sp>
        <p:nvSpPr>
          <p:cNvPr id="23" name="Text 35"/>
          <p:cNvSpPr/>
          <p:nvPr/>
        </p:nvSpPr>
        <p:spPr>
          <a:xfrm>
            <a:off x="9747250" y="3898900"/>
            <a:ext cx="3831590" cy="1078111"/>
          </a:xfrm>
          <a:prstGeom prst="rect">
            <a:avLst/>
          </a:prstGeom>
          <a:noFill/>
          <a:ln/>
        </p:spPr>
        <p:txBody>
          <a:bodyPr wrap="square" lIns="25400" tIns="25400" rIns="25400" bIns="25400" rtlCol="0" anchor="t">
            <a:normAutofit/>
          </a:bodyPr>
          <a:lstStyle/>
          <a:p>
            <a:pPr marL="0" indent="0" algn="l">
              <a:lnSpc>
                <a:spcPct val="105000"/>
              </a:lnSpc>
              <a:buNone/>
            </a:pPr>
            <a:r>
              <a:rPr lang="en-US" sz="1900" dirty="0">
                <a:solidFill>
                  <a:srgbClr val="000000"/>
                </a:solidFill>
                <a:latin typeface="+mn-lt"/>
                <a:ea typeface="+mn-ea"/>
                <a:cs typeface="+mn-cs"/>
              </a:rPr>
              <a:t>A free app with buttons for Git commands. Links your local repo to GitHub.</a:t>
            </a:r>
            <a:endParaRPr lang="en-US" sz="1900" dirty="0"/>
          </a:p>
        </p:txBody>
      </p:sp>
      <p:sp>
        <p:nvSpPr>
          <p:cNvPr id="24" name="Text 36"/>
          <p:cNvSpPr/>
          <p:nvPr/>
        </p:nvSpPr>
        <p:spPr>
          <a:xfrm>
            <a:off x="1809750" y="5628481"/>
            <a:ext cx="11769090" cy="368300"/>
          </a:xfrm>
          <a:prstGeom prst="rect">
            <a:avLst/>
          </a:prstGeom>
          <a:noFill/>
          <a:ln/>
        </p:spPr>
        <p:txBody>
          <a:bodyPr wrap="square" lIns="25400" tIns="25400" rIns="25400" bIns="25400" rtlCol="0" anchor="t">
            <a:normAutofit/>
          </a:bodyPr>
          <a:lstStyle/>
          <a:p>
            <a:pPr marL="0" indent="0" algn="l">
              <a:buNone/>
            </a:pPr>
            <a:r>
              <a:rPr lang="en-US" sz="1900" dirty="0">
                <a:solidFill>
                  <a:srgbClr val="404040"/>
                </a:solidFill>
                <a:latin typeface="+mn-lt"/>
                <a:ea typeface="+mn-ea"/>
                <a:cs typeface="+mn-cs"/>
              </a:rPr>
              <a:t>Git works offline. GitHub is only needed to share or back up your work.</a:t>
            </a:r>
            <a:endParaRPr lang="en-US" sz="1900" dirty="0"/>
          </a:p>
        </p:txBody>
      </p:sp>
      <p:sp>
        <p:nvSpPr>
          <p:cNvPr id="25" name="Nav highlight"/>
          <p:cNvSpPr txBox="1"/>
          <p:nvPr userDrawn="1"/>
        </p:nvSpPr>
        <p:spPr>
          <a:xfrm>
            <a:off x="133350" y="2762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Concepts</a:t>
            </a:r>
            <a:endParaRPr lang="en-US" sz="1800" b="1" dirty="0"/>
          </a:p>
        </p:txBody>
      </p:sp>
      <p:sp>
        <p:nvSpPr>
          <p:cNvPr id="2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7" name="Slide Number"/>
          <p:cNvSpPr>
            <a:spLocks noGrp="1"/>
          </p:cNvSpPr>
          <p:nvPr>
            <p:ph type="sldNum" sz="quarter" idx="12"/>
          </p:nvPr>
        </p:nvSpPr>
        <p:spPr/>
        <p:txBody>
          <a:bodyPr/>
          <a:lstStyle/>
          <a:p>
            <a:fld id="{B6F15528-21DE-4FAA-801E-634DDDAF4B2B}" type="slidenum">
              <a:rPr lang="en-US"/>
              <a:t>5</a:t>
            </a:fld>
            <a:endParaRPr lang="en-US"/>
          </a:p>
        </p:txBody>
      </p:sp>
      <p:cxnSp>
        <p:nvCxnSpPr>
          <p:cNvPr id="28" name="Push arrow"/>
          <p:cNvCxnSpPr/>
          <p:nvPr/>
        </p:nvCxnSpPr>
        <p:spPr>
          <a:xfrm>
            <a:off x="5788152" y="2089404"/>
            <a:ext cx="3739896" cy="0"/>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Fetch/pull arrow"/>
          <p:cNvCxnSpPr/>
          <p:nvPr/>
        </p:nvCxnSpPr>
        <p:spPr>
          <a:xfrm flipH="1">
            <a:off x="5769864" y="2363724"/>
            <a:ext cx="3730752" cy="0"/>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Key Terms</a:t>
            </a:r>
          </a:p>
        </p:txBody>
      </p:sp>
      <p:sp>
        <p:nvSpPr>
          <p:cNvPr id="3" name="Shape 15"/>
          <p:cNvSpPr/>
          <p:nvPr/>
        </p:nvSpPr>
        <p:spPr>
          <a:xfrm>
            <a:off x="1809750" y="1571625"/>
            <a:ext cx="2571750" cy="614363"/>
          </a:xfrm>
          <a:prstGeom prst="rect">
            <a:avLst/>
          </a:prstGeom>
          <a:solidFill>
            <a:srgbClr val="152A47"/>
          </a:solidFill>
          <a:ln/>
        </p:spPr>
        <p:txBody>
          <a:bodyPr/>
          <a:lstStyle/>
          <a:p>
            <a:endParaRPr lang="en-US"/>
          </a:p>
        </p:txBody>
      </p:sp>
      <p:sp>
        <p:nvSpPr>
          <p:cNvPr id="4" name="Text 16"/>
          <p:cNvSpPr/>
          <p:nvPr/>
        </p:nvSpPr>
        <p:spPr>
          <a:xfrm>
            <a:off x="1981200" y="1724025"/>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Term</a:t>
            </a:r>
            <a:endParaRPr lang="en-US" sz="1900" dirty="0"/>
          </a:p>
        </p:txBody>
      </p:sp>
      <p:sp>
        <p:nvSpPr>
          <p:cNvPr id="5" name="Shape 17"/>
          <p:cNvSpPr/>
          <p:nvPr/>
        </p:nvSpPr>
        <p:spPr>
          <a:xfrm>
            <a:off x="4381500" y="1571625"/>
            <a:ext cx="5391150" cy="614363"/>
          </a:xfrm>
          <a:prstGeom prst="rect">
            <a:avLst/>
          </a:prstGeom>
          <a:solidFill>
            <a:srgbClr val="152A47"/>
          </a:solidFill>
          <a:ln/>
        </p:spPr>
        <p:txBody>
          <a:bodyPr/>
          <a:lstStyle/>
          <a:p>
            <a:endParaRPr lang="en-US"/>
          </a:p>
        </p:txBody>
      </p:sp>
      <p:sp>
        <p:nvSpPr>
          <p:cNvPr id="6" name="Text 18"/>
          <p:cNvSpPr/>
          <p:nvPr/>
        </p:nvSpPr>
        <p:spPr>
          <a:xfrm>
            <a:off x="4552950" y="1724025"/>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Meaning</a:t>
            </a:r>
            <a:endParaRPr lang="en-US" sz="1900" dirty="0"/>
          </a:p>
        </p:txBody>
      </p:sp>
      <p:sp>
        <p:nvSpPr>
          <p:cNvPr id="7" name="Shape 19"/>
          <p:cNvSpPr/>
          <p:nvPr/>
        </p:nvSpPr>
        <p:spPr>
          <a:xfrm>
            <a:off x="9772650" y="1571625"/>
            <a:ext cx="3714750" cy="614363"/>
          </a:xfrm>
          <a:prstGeom prst="rect">
            <a:avLst/>
          </a:prstGeom>
          <a:solidFill>
            <a:srgbClr val="152A47"/>
          </a:solidFill>
          <a:ln/>
        </p:spPr>
        <p:txBody>
          <a:bodyPr/>
          <a:lstStyle/>
          <a:p>
            <a:endParaRPr lang="en-US"/>
          </a:p>
        </p:txBody>
      </p:sp>
      <p:sp>
        <p:nvSpPr>
          <p:cNvPr id="8" name="Text 20"/>
          <p:cNvSpPr/>
          <p:nvPr/>
        </p:nvSpPr>
        <p:spPr>
          <a:xfrm>
            <a:off x="9944100" y="1724025"/>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GitHub Desktop</a:t>
            </a:r>
            <a:endParaRPr lang="en-US" sz="1900" dirty="0"/>
          </a:p>
        </p:txBody>
      </p:sp>
      <p:sp>
        <p:nvSpPr>
          <p:cNvPr id="9" name="Shape 21"/>
          <p:cNvSpPr/>
          <p:nvPr/>
        </p:nvSpPr>
        <p:spPr>
          <a:xfrm>
            <a:off x="1809750" y="2743200"/>
            <a:ext cx="2571750" cy="19050"/>
          </a:xfrm>
          <a:prstGeom prst="rect">
            <a:avLst/>
          </a:prstGeom>
          <a:solidFill>
            <a:srgbClr val="BFBFBF"/>
          </a:solidFill>
          <a:ln/>
        </p:spPr>
        <p:txBody>
          <a:bodyPr/>
          <a:lstStyle/>
          <a:p>
            <a:endParaRPr lang="en-US"/>
          </a:p>
        </p:txBody>
      </p:sp>
      <p:sp>
        <p:nvSpPr>
          <p:cNvPr id="10" name="Text 22"/>
          <p:cNvSpPr/>
          <p:nvPr/>
        </p:nvSpPr>
        <p:spPr>
          <a:xfrm>
            <a:off x="1981200" y="2309813"/>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Repository</a:t>
            </a:r>
            <a:endParaRPr lang="en-US" sz="1900" dirty="0"/>
          </a:p>
        </p:txBody>
      </p:sp>
      <p:sp>
        <p:nvSpPr>
          <p:cNvPr id="11" name="Shape 23"/>
          <p:cNvSpPr/>
          <p:nvPr/>
        </p:nvSpPr>
        <p:spPr>
          <a:xfrm>
            <a:off x="4381500" y="2743200"/>
            <a:ext cx="5391150" cy="19050"/>
          </a:xfrm>
          <a:prstGeom prst="rect">
            <a:avLst/>
          </a:prstGeom>
          <a:solidFill>
            <a:srgbClr val="BFBFBF"/>
          </a:solidFill>
          <a:ln/>
        </p:spPr>
        <p:txBody>
          <a:bodyPr/>
          <a:lstStyle/>
          <a:p>
            <a:endParaRPr lang="en-US"/>
          </a:p>
        </p:txBody>
      </p:sp>
      <p:sp>
        <p:nvSpPr>
          <p:cNvPr id="12" name="Text 24"/>
          <p:cNvSpPr/>
          <p:nvPr/>
        </p:nvSpPr>
        <p:spPr>
          <a:xfrm>
            <a:off x="4552950" y="2309813"/>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A project folder whose full history Git tracks</a:t>
            </a:r>
            <a:endParaRPr lang="en-US" sz="1900" dirty="0"/>
          </a:p>
        </p:txBody>
      </p:sp>
      <p:sp>
        <p:nvSpPr>
          <p:cNvPr id="13" name="Shape 25"/>
          <p:cNvSpPr/>
          <p:nvPr/>
        </p:nvSpPr>
        <p:spPr>
          <a:xfrm>
            <a:off x="9772650" y="2743200"/>
            <a:ext cx="3714750" cy="19050"/>
          </a:xfrm>
          <a:prstGeom prst="rect">
            <a:avLst/>
          </a:prstGeom>
          <a:solidFill>
            <a:srgbClr val="BFBFBF"/>
          </a:solidFill>
          <a:ln/>
        </p:spPr>
        <p:txBody>
          <a:bodyPr/>
          <a:lstStyle/>
          <a:p>
            <a:endParaRPr lang="en-US"/>
          </a:p>
        </p:txBody>
      </p:sp>
      <p:sp>
        <p:nvSpPr>
          <p:cNvPr id="14" name="Text 26"/>
          <p:cNvSpPr/>
          <p:nvPr/>
        </p:nvSpPr>
        <p:spPr>
          <a:xfrm>
            <a:off x="9944100" y="2309813"/>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New / Add / Clone repository</a:t>
            </a:r>
            <a:endParaRPr lang="en-US" sz="1900" dirty="0"/>
          </a:p>
        </p:txBody>
      </p:sp>
      <p:sp>
        <p:nvSpPr>
          <p:cNvPr id="15" name="Shape 27"/>
          <p:cNvSpPr/>
          <p:nvPr/>
        </p:nvSpPr>
        <p:spPr>
          <a:xfrm>
            <a:off x="1809750" y="3319463"/>
            <a:ext cx="2571750" cy="19050"/>
          </a:xfrm>
          <a:prstGeom prst="rect">
            <a:avLst/>
          </a:prstGeom>
          <a:solidFill>
            <a:srgbClr val="BFBFBF"/>
          </a:solidFill>
          <a:ln/>
        </p:spPr>
        <p:txBody>
          <a:bodyPr/>
          <a:lstStyle/>
          <a:p>
            <a:endParaRPr lang="en-US"/>
          </a:p>
        </p:txBody>
      </p:sp>
      <p:sp>
        <p:nvSpPr>
          <p:cNvPr id="16" name="Text 28"/>
          <p:cNvSpPr/>
          <p:nvPr/>
        </p:nvSpPr>
        <p:spPr>
          <a:xfrm>
            <a:off x="1981200" y="2886075"/>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Clone</a:t>
            </a:r>
            <a:endParaRPr lang="en-US" sz="1900" dirty="0"/>
          </a:p>
        </p:txBody>
      </p:sp>
      <p:sp>
        <p:nvSpPr>
          <p:cNvPr id="17" name="Shape 29"/>
          <p:cNvSpPr/>
          <p:nvPr/>
        </p:nvSpPr>
        <p:spPr>
          <a:xfrm>
            <a:off x="4381500" y="3319463"/>
            <a:ext cx="5391150" cy="19050"/>
          </a:xfrm>
          <a:prstGeom prst="rect">
            <a:avLst/>
          </a:prstGeom>
          <a:solidFill>
            <a:srgbClr val="BFBFBF"/>
          </a:solidFill>
          <a:ln/>
        </p:spPr>
        <p:txBody>
          <a:bodyPr/>
          <a:lstStyle/>
          <a:p>
            <a:endParaRPr lang="en-US"/>
          </a:p>
        </p:txBody>
      </p:sp>
      <p:sp>
        <p:nvSpPr>
          <p:cNvPr id="18" name="Text 30"/>
          <p:cNvSpPr/>
          <p:nvPr/>
        </p:nvSpPr>
        <p:spPr>
          <a:xfrm>
            <a:off x="4552950" y="2886075"/>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Download a repo from GitHub, with its history</a:t>
            </a:r>
            <a:endParaRPr lang="en-US" sz="1900" dirty="0"/>
          </a:p>
        </p:txBody>
      </p:sp>
      <p:sp>
        <p:nvSpPr>
          <p:cNvPr id="19" name="Shape 31"/>
          <p:cNvSpPr/>
          <p:nvPr/>
        </p:nvSpPr>
        <p:spPr>
          <a:xfrm>
            <a:off x="9772650" y="3319463"/>
            <a:ext cx="3714750" cy="19050"/>
          </a:xfrm>
          <a:prstGeom prst="rect">
            <a:avLst/>
          </a:prstGeom>
          <a:solidFill>
            <a:srgbClr val="BFBFBF"/>
          </a:solidFill>
          <a:ln/>
        </p:spPr>
        <p:txBody>
          <a:bodyPr/>
          <a:lstStyle/>
          <a:p>
            <a:endParaRPr lang="en-US"/>
          </a:p>
        </p:txBody>
      </p:sp>
      <p:sp>
        <p:nvSpPr>
          <p:cNvPr id="20" name="Text 32"/>
          <p:cNvSpPr/>
          <p:nvPr/>
        </p:nvSpPr>
        <p:spPr>
          <a:xfrm>
            <a:off x="9944100" y="2886075"/>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File › Clone repository</a:t>
            </a:r>
            <a:endParaRPr lang="en-US" sz="1900" dirty="0"/>
          </a:p>
        </p:txBody>
      </p:sp>
      <p:sp>
        <p:nvSpPr>
          <p:cNvPr id="21" name="Shape 33"/>
          <p:cNvSpPr/>
          <p:nvPr/>
        </p:nvSpPr>
        <p:spPr>
          <a:xfrm>
            <a:off x="1809750" y="3895725"/>
            <a:ext cx="2571750" cy="19050"/>
          </a:xfrm>
          <a:prstGeom prst="rect">
            <a:avLst/>
          </a:prstGeom>
          <a:solidFill>
            <a:srgbClr val="BFBFBF"/>
          </a:solidFill>
          <a:ln/>
        </p:spPr>
        <p:txBody>
          <a:bodyPr/>
          <a:lstStyle/>
          <a:p>
            <a:endParaRPr lang="en-US"/>
          </a:p>
        </p:txBody>
      </p:sp>
      <p:sp>
        <p:nvSpPr>
          <p:cNvPr id="22" name="Text 34"/>
          <p:cNvSpPr/>
          <p:nvPr/>
        </p:nvSpPr>
        <p:spPr>
          <a:xfrm>
            <a:off x="1981200" y="3462337"/>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Commit</a:t>
            </a:r>
            <a:endParaRPr lang="en-US" sz="1900" dirty="0"/>
          </a:p>
        </p:txBody>
      </p:sp>
      <p:sp>
        <p:nvSpPr>
          <p:cNvPr id="23" name="Shape 35"/>
          <p:cNvSpPr/>
          <p:nvPr/>
        </p:nvSpPr>
        <p:spPr>
          <a:xfrm>
            <a:off x="4381500" y="3895725"/>
            <a:ext cx="5391150" cy="19050"/>
          </a:xfrm>
          <a:prstGeom prst="rect">
            <a:avLst/>
          </a:prstGeom>
          <a:solidFill>
            <a:srgbClr val="BFBFBF"/>
          </a:solidFill>
          <a:ln/>
        </p:spPr>
        <p:txBody>
          <a:bodyPr/>
          <a:lstStyle/>
          <a:p>
            <a:endParaRPr lang="en-US"/>
          </a:p>
        </p:txBody>
      </p:sp>
      <p:sp>
        <p:nvSpPr>
          <p:cNvPr id="24" name="Text 36"/>
          <p:cNvSpPr/>
          <p:nvPr/>
        </p:nvSpPr>
        <p:spPr>
          <a:xfrm>
            <a:off x="4552950" y="3462337"/>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A saved snapshot of changes, with a message</a:t>
            </a:r>
            <a:endParaRPr lang="en-US" sz="1900" dirty="0"/>
          </a:p>
        </p:txBody>
      </p:sp>
      <p:sp>
        <p:nvSpPr>
          <p:cNvPr id="25" name="Shape 37"/>
          <p:cNvSpPr/>
          <p:nvPr/>
        </p:nvSpPr>
        <p:spPr>
          <a:xfrm>
            <a:off x="9772650" y="3895725"/>
            <a:ext cx="3714750" cy="19050"/>
          </a:xfrm>
          <a:prstGeom prst="rect">
            <a:avLst/>
          </a:prstGeom>
          <a:solidFill>
            <a:srgbClr val="BFBFBF"/>
          </a:solidFill>
          <a:ln/>
        </p:spPr>
        <p:txBody>
          <a:bodyPr/>
          <a:lstStyle/>
          <a:p>
            <a:endParaRPr lang="en-US"/>
          </a:p>
        </p:txBody>
      </p:sp>
      <p:sp>
        <p:nvSpPr>
          <p:cNvPr id="26" name="Text 38"/>
          <p:cNvSpPr/>
          <p:nvPr/>
        </p:nvSpPr>
        <p:spPr>
          <a:xfrm>
            <a:off x="9944100" y="3462337"/>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Commit to &lt;branch&gt;</a:t>
            </a:r>
            <a:endParaRPr lang="en-US" sz="1900" dirty="0"/>
          </a:p>
        </p:txBody>
      </p:sp>
      <p:sp>
        <p:nvSpPr>
          <p:cNvPr id="27" name="Shape 39"/>
          <p:cNvSpPr/>
          <p:nvPr/>
        </p:nvSpPr>
        <p:spPr>
          <a:xfrm>
            <a:off x="1809750" y="4471988"/>
            <a:ext cx="2571750" cy="19050"/>
          </a:xfrm>
          <a:prstGeom prst="rect">
            <a:avLst/>
          </a:prstGeom>
          <a:solidFill>
            <a:srgbClr val="BFBFBF"/>
          </a:solidFill>
          <a:ln/>
        </p:spPr>
        <p:txBody>
          <a:bodyPr/>
          <a:lstStyle/>
          <a:p>
            <a:endParaRPr lang="en-US"/>
          </a:p>
        </p:txBody>
      </p:sp>
      <p:sp>
        <p:nvSpPr>
          <p:cNvPr id="28" name="Text 40"/>
          <p:cNvSpPr/>
          <p:nvPr/>
        </p:nvSpPr>
        <p:spPr>
          <a:xfrm>
            <a:off x="1981200" y="4038600"/>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Push</a:t>
            </a:r>
            <a:endParaRPr lang="en-US" sz="1900" dirty="0"/>
          </a:p>
        </p:txBody>
      </p:sp>
      <p:sp>
        <p:nvSpPr>
          <p:cNvPr id="29" name="Shape 41"/>
          <p:cNvSpPr/>
          <p:nvPr/>
        </p:nvSpPr>
        <p:spPr>
          <a:xfrm>
            <a:off x="4381500" y="4471988"/>
            <a:ext cx="5391150" cy="19050"/>
          </a:xfrm>
          <a:prstGeom prst="rect">
            <a:avLst/>
          </a:prstGeom>
          <a:solidFill>
            <a:srgbClr val="BFBFBF"/>
          </a:solidFill>
          <a:ln/>
        </p:spPr>
        <p:txBody>
          <a:bodyPr/>
          <a:lstStyle/>
          <a:p>
            <a:endParaRPr lang="en-US"/>
          </a:p>
        </p:txBody>
      </p:sp>
      <p:sp>
        <p:nvSpPr>
          <p:cNvPr id="30" name="Text 42"/>
          <p:cNvSpPr/>
          <p:nvPr/>
        </p:nvSpPr>
        <p:spPr>
          <a:xfrm>
            <a:off x="4552950" y="4038600"/>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Send your commits to GitHub</a:t>
            </a:r>
            <a:endParaRPr lang="en-US" sz="1900" dirty="0"/>
          </a:p>
        </p:txBody>
      </p:sp>
      <p:sp>
        <p:nvSpPr>
          <p:cNvPr id="31" name="Shape 43"/>
          <p:cNvSpPr/>
          <p:nvPr/>
        </p:nvSpPr>
        <p:spPr>
          <a:xfrm>
            <a:off x="9772650" y="4471988"/>
            <a:ext cx="3714750" cy="19050"/>
          </a:xfrm>
          <a:prstGeom prst="rect">
            <a:avLst/>
          </a:prstGeom>
          <a:solidFill>
            <a:srgbClr val="BFBFBF"/>
          </a:solidFill>
          <a:ln/>
        </p:spPr>
        <p:txBody>
          <a:bodyPr/>
          <a:lstStyle/>
          <a:p>
            <a:endParaRPr lang="en-US"/>
          </a:p>
        </p:txBody>
      </p:sp>
      <p:sp>
        <p:nvSpPr>
          <p:cNvPr id="32" name="Text 44"/>
          <p:cNvSpPr/>
          <p:nvPr/>
        </p:nvSpPr>
        <p:spPr>
          <a:xfrm>
            <a:off x="9944100" y="4038600"/>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Push origin</a:t>
            </a:r>
            <a:endParaRPr lang="en-US" sz="1900" dirty="0"/>
          </a:p>
        </p:txBody>
      </p:sp>
      <p:sp>
        <p:nvSpPr>
          <p:cNvPr id="33" name="Shape 45"/>
          <p:cNvSpPr/>
          <p:nvPr/>
        </p:nvSpPr>
        <p:spPr>
          <a:xfrm>
            <a:off x="1809750" y="5048250"/>
            <a:ext cx="2571750" cy="19050"/>
          </a:xfrm>
          <a:prstGeom prst="rect">
            <a:avLst/>
          </a:prstGeom>
          <a:solidFill>
            <a:srgbClr val="BFBFBF"/>
          </a:solidFill>
          <a:ln/>
        </p:spPr>
        <p:txBody>
          <a:bodyPr/>
          <a:lstStyle/>
          <a:p>
            <a:endParaRPr lang="en-US"/>
          </a:p>
        </p:txBody>
      </p:sp>
      <p:sp>
        <p:nvSpPr>
          <p:cNvPr id="34" name="Text 46"/>
          <p:cNvSpPr/>
          <p:nvPr/>
        </p:nvSpPr>
        <p:spPr>
          <a:xfrm>
            <a:off x="1981200" y="4614863"/>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Fetch / Pull</a:t>
            </a:r>
            <a:endParaRPr lang="en-US" sz="1900" dirty="0"/>
          </a:p>
        </p:txBody>
      </p:sp>
      <p:sp>
        <p:nvSpPr>
          <p:cNvPr id="35" name="Shape 47"/>
          <p:cNvSpPr/>
          <p:nvPr/>
        </p:nvSpPr>
        <p:spPr>
          <a:xfrm>
            <a:off x="4381500" y="5048250"/>
            <a:ext cx="5391150" cy="19050"/>
          </a:xfrm>
          <a:prstGeom prst="rect">
            <a:avLst/>
          </a:prstGeom>
          <a:solidFill>
            <a:srgbClr val="BFBFBF"/>
          </a:solidFill>
          <a:ln/>
        </p:spPr>
        <p:txBody>
          <a:bodyPr/>
          <a:lstStyle/>
          <a:p>
            <a:endParaRPr lang="en-US"/>
          </a:p>
        </p:txBody>
      </p:sp>
      <p:sp>
        <p:nvSpPr>
          <p:cNvPr id="36" name="Text 48"/>
          <p:cNvSpPr/>
          <p:nvPr/>
        </p:nvSpPr>
        <p:spPr>
          <a:xfrm>
            <a:off x="4552950" y="4614863"/>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Check for / download commits from GitHub</a:t>
            </a:r>
            <a:endParaRPr lang="en-US" sz="1900" dirty="0"/>
          </a:p>
        </p:txBody>
      </p:sp>
      <p:sp>
        <p:nvSpPr>
          <p:cNvPr id="37" name="Shape 49"/>
          <p:cNvSpPr/>
          <p:nvPr/>
        </p:nvSpPr>
        <p:spPr>
          <a:xfrm>
            <a:off x="9772650" y="5048250"/>
            <a:ext cx="3714750" cy="19050"/>
          </a:xfrm>
          <a:prstGeom prst="rect">
            <a:avLst/>
          </a:prstGeom>
          <a:solidFill>
            <a:srgbClr val="BFBFBF"/>
          </a:solidFill>
          <a:ln/>
        </p:spPr>
        <p:txBody>
          <a:bodyPr/>
          <a:lstStyle/>
          <a:p>
            <a:endParaRPr lang="en-US"/>
          </a:p>
        </p:txBody>
      </p:sp>
      <p:sp>
        <p:nvSpPr>
          <p:cNvPr id="38" name="Text 50"/>
          <p:cNvSpPr/>
          <p:nvPr/>
        </p:nvSpPr>
        <p:spPr>
          <a:xfrm>
            <a:off x="9944100" y="4614863"/>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Fetch origin / Pull origin</a:t>
            </a:r>
            <a:endParaRPr lang="en-US" sz="1900" dirty="0"/>
          </a:p>
        </p:txBody>
      </p:sp>
      <p:sp>
        <p:nvSpPr>
          <p:cNvPr id="39" name="Shape 51"/>
          <p:cNvSpPr/>
          <p:nvPr/>
        </p:nvSpPr>
        <p:spPr>
          <a:xfrm>
            <a:off x="1809750" y="5624513"/>
            <a:ext cx="2571750" cy="19050"/>
          </a:xfrm>
          <a:prstGeom prst="rect">
            <a:avLst/>
          </a:prstGeom>
          <a:solidFill>
            <a:srgbClr val="BFBFBF"/>
          </a:solidFill>
          <a:ln/>
        </p:spPr>
        <p:txBody>
          <a:bodyPr/>
          <a:lstStyle/>
          <a:p>
            <a:endParaRPr lang="en-US"/>
          </a:p>
        </p:txBody>
      </p:sp>
      <p:sp>
        <p:nvSpPr>
          <p:cNvPr id="40" name="Text 52"/>
          <p:cNvSpPr/>
          <p:nvPr/>
        </p:nvSpPr>
        <p:spPr>
          <a:xfrm>
            <a:off x="1981200" y="5191125"/>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Branch</a:t>
            </a:r>
            <a:endParaRPr lang="en-US" sz="1900" dirty="0"/>
          </a:p>
        </p:txBody>
      </p:sp>
      <p:sp>
        <p:nvSpPr>
          <p:cNvPr id="41" name="Shape 53"/>
          <p:cNvSpPr/>
          <p:nvPr/>
        </p:nvSpPr>
        <p:spPr>
          <a:xfrm>
            <a:off x="4381500" y="5624513"/>
            <a:ext cx="5391150" cy="19050"/>
          </a:xfrm>
          <a:prstGeom prst="rect">
            <a:avLst/>
          </a:prstGeom>
          <a:solidFill>
            <a:srgbClr val="BFBFBF"/>
          </a:solidFill>
          <a:ln/>
        </p:spPr>
        <p:txBody>
          <a:bodyPr/>
          <a:lstStyle/>
          <a:p>
            <a:endParaRPr lang="en-US"/>
          </a:p>
        </p:txBody>
      </p:sp>
      <p:sp>
        <p:nvSpPr>
          <p:cNvPr id="42" name="Text 54"/>
          <p:cNvSpPr/>
          <p:nvPr/>
        </p:nvSpPr>
        <p:spPr>
          <a:xfrm>
            <a:off x="4552950" y="5191125"/>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A separate line of commits; main is the default</a:t>
            </a:r>
            <a:endParaRPr lang="en-US" sz="1900" dirty="0"/>
          </a:p>
        </p:txBody>
      </p:sp>
      <p:sp>
        <p:nvSpPr>
          <p:cNvPr id="43" name="Shape 55"/>
          <p:cNvSpPr/>
          <p:nvPr/>
        </p:nvSpPr>
        <p:spPr>
          <a:xfrm>
            <a:off x="9772650" y="5624513"/>
            <a:ext cx="3714750" cy="19050"/>
          </a:xfrm>
          <a:prstGeom prst="rect">
            <a:avLst/>
          </a:prstGeom>
          <a:solidFill>
            <a:srgbClr val="BFBFBF"/>
          </a:solidFill>
          <a:ln/>
        </p:spPr>
        <p:txBody>
          <a:bodyPr/>
          <a:lstStyle/>
          <a:p>
            <a:endParaRPr lang="en-US"/>
          </a:p>
        </p:txBody>
      </p:sp>
      <p:sp>
        <p:nvSpPr>
          <p:cNvPr id="44" name="Text 56"/>
          <p:cNvSpPr/>
          <p:nvPr/>
        </p:nvSpPr>
        <p:spPr>
          <a:xfrm>
            <a:off x="9944100" y="5191125"/>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Current branch menu</a:t>
            </a:r>
            <a:endParaRPr lang="en-US" sz="1900" dirty="0"/>
          </a:p>
        </p:txBody>
      </p:sp>
      <p:sp>
        <p:nvSpPr>
          <p:cNvPr id="45" name="Shape 57"/>
          <p:cNvSpPr/>
          <p:nvPr/>
        </p:nvSpPr>
        <p:spPr>
          <a:xfrm>
            <a:off x="1809750" y="6200775"/>
            <a:ext cx="2571750" cy="19050"/>
          </a:xfrm>
          <a:prstGeom prst="rect">
            <a:avLst/>
          </a:prstGeom>
          <a:solidFill>
            <a:srgbClr val="BFBFBF"/>
          </a:solidFill>
          <a:ln/>
        </p:spPr>
        <p:txBody>
          <a:bodyPr/>
          <a:lstStyle/>
          <a:p>
            <a:endParaRPr lang="en-US"/>
          </a:p>
        </p:txBody>
      </p:sp>
      <p:sp>
        <p:nvSpPr>
          <p:cNvPr id="46" name="Text 58"/>
          <p:cNvSpPr/>
          <p:nvPr/>
        </p:nvSpPr>
        <p:spPr>
          <a:xfrm>
            <a:off x="1981200" y="5767388"/>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Diff</a:t>
            </a:r>
            <a:endParaRPr lang="en-US" sz="1900" dirty="0"/>
          </a:p>
        </p:txBody>
      </p:sp>
      <p:sp>
        <p:nvSpPr>
          <p:cNvPr id="47" name="Shape 59"/>
          <p:cNvSpPr/>
          <p:nvPr/>
        </p:nvSpPr>
        <p:spPr>
          <a:xfrm>
            <a:off x="4381500" y="6200775"/>
            <a:ext cx="5391150" cy="19050"/>
          </a:xfrm>
          <a:prstGeom prst="rect">
            <a:avLst/>
          </a:prstGeom>
          <a:solidFill>
            <a:srgbClr val="BFBFBF"/>
          </a:solidFill>
          <a:ln/>
        </p:spPr>
        <p:txBody>
          <a:bodyPr/>
          <a:lstStyle/>
          <a:p>
            <a:endParaRPr lang="en-US"/>
          </a:p>
        </p:txBody>
      </p:sp>
      <p:sp>
        <p:nvSpPr>
          <p:cNvPr id="48" name="Text 60"/>
          <p:cNvSpPr/>
          <p:nvPr/>
        </p:nvSpPr>
        <p:spPr>
          <a:xfrm>
            <a:off x="4552950" y="5767388"/>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Line-by-line changes: + added, − removed</a:t>
            </a:r>
            <a:endParaRPr lang="en-US" sz="1900" dirty="0"/>
          </a:p>
        </p:txBody>
      </p:sp>
      <p:sp>
        <p:nvSpPr>
          <p:cNvPr id="49" name="Shape 61"/>
          <p:cNvSpPr/>
          <p:nvPr/>
        </p:nvSpPr>
        <p:spPr>
          <a:xfrm>
            <a:off x="9772650" y="6200775"/>
            <a:ext cx="3714750" cy="19050"/>
          </a:xfrm>
          <a:prstGeom prst="rect">
            <a:avLst/>
          </a:prstGeom>
          <a:solidFill>
            <a:srgbClr val="BFBFBF"/>
          </a:solidFill>
          <a:ln/>
        </p:spPr>
        <p:txBody>
          <a:bodyPr/>
          <a:lstStyle/>
          <a:p>
            <a:endParaRPr lang="en-US"/>
          </a:p>
        </p:txBody>
      </p:sp>
      <p:sp>
        <p:nvSpPr>
          <p:cNvPr id="50" name="Text 62"/>
          <p:cNvSpPr/>
          <p:nvPr/>
        </p:nvSpPr>
        <p:spPr>
          <a:xfrm>
            <a:off x="9944100" y="5767388"/>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Changes tab / History tab</a:t>
            </a:r>
            <a:endParaRPr lang="en-US" sz="1900" dirty="0"/>
          </a:p>
        </p:txBody>
      </p:sp>
      <p:sp>
        <p:nvSpPr>
          <p:cNvPr id="51" name="Shape 63"/>
          <p:cNvSpPr/>
          <p:nvPr/>
        </p:nvSpPr>
        <p:spPr>
          <a:xfrm>
            <a:off x="1809750" y="7086600"/>
            <a:ext cx="2571750" cy="19050"/>
          </a:xfrm>
          <a:prstGeom prst="rect">
            <a:avLst/>
          </a:prstGeom>
          <a:solidFill>
            <a:srgbClr val="BFBFBF"/>
          </a:solidFill>
          <a:ln/>
        </p:spPr>
        <p:txBody>
          <a:bodyPr/>
          <a:lstStyle/>
          <a:p>
            <a:endParaRPr lang="en-US"/>
          </a:p>
        </p:txBody>
      </p:sp>
      <p:sp>
        <p:nvSpPr>
          <p:cNvPr id="52" name="Text 64"/>
          <p:cNvSpPr/>
          <p:nvPr/>
        </p:nvSpPr>
        <p:spPr>
          <a:xfrm>
            <a:off x="1981200" y="6343650"/>
            <a:ext cx="2306003"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Pull Request (PR)</a:t>
            </a:r>
            <a:endParaRPr lang="en-US" sz="1900" dirty="0"/>
          </a:p>
        </p:txBody>
      </p:sp>
      <p:sp>
        <p:nvSpPr>
          <p:cNvPr id="53" name="Shape 65"/>
          <p:cNvSpPr/>
          <p:nvPr/>
        </p:nvSpPr>
        <p:spPr>
          <a:xfrm>
            <a:off x="4381500" y="7086600"/>
            <a:ext cx="5391150" cy="19050"/>
          </a:xfrm>
          <a:prstGeom prst="rect">
            <a:avLst/>
          </a:prstGeom>
          <a:solidFill>
            <a:srgbClr val="BFBFBF"/>
          </a:solidFill>
          <a:ln/>
        </p:spPr>
        <p:txBody>
          <a:bodyPr/>
          <a:lstStyle/>
          <a:p>
            <a:endParaRPr lang="en-US"/>
          </a:p>
        </p:txBody>
      </p:sp>
      <p:sp>
        <p:nvSpPr>
          <p:cNvPr id="54" name="Text 66"/>
          <p:cNvSpPr/>
          <p:nvPr/>
        </p:nvSpPr>
        <p:spPr>
          <a:xfrm>
            <a:off x="4552950" y="6343650"/>
            <a:ext cx="5209985"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A request on GitHub to review and merge one branch into another</a:t>
            </a:r>
            <a:endParaRPr lang="en-US" sz="1900" dirty="0"/>
          </a:p>
        </p:txBody>
      </p:sp>
      <p:sp>
        <p:nvSpPr>
          <p:cNvPr id="55" name="Shape 67"/>
          <p:cNvSpPr/>
          <p:nvPr/>
        </p:nvSpPr>
        <p:spPr>
          <a:xfrm>
            <a:off x="9772650" y="7086600"/>
            <a:ext cx="3714750" cy="19050"/>
          </a:xfrm>
          <a:prstGeom prst="rect">
            <a:avLst/>
          </a:prstGeom>
          <a:solidFill>
            <a:srgbClr val="BFBFBF"/>
          </a:solidFill>
          <a:ln/>
        </p:spPr>
        <p:txBody>
          <a:bodyPr/>
          <a:lstStyle/>
          <a:p>
            <a:endParaRPr lang="en-US"/>
          </a:p>
        </p:txBody>
      </p:sp>
      <p:sp>
        <p:nvSpPr>
          <p:cNvPr id="56" name="Text 68"/>
          <p:cNvSpPr/>
          <p:nvPr/>
        </p:nvSpPr>
        <p:spPr>
          <a:xfrm>
            <a:off x="9944100" y="6343650"/>
            <a:ext cx="3483293"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Create Pull Request</a:t>
            </a:r>
            <a:endParaRPr lang="en-US" sz="1900" dirty="0"/>
          </a:p>
        </p:txBody>
      </p:sp>
      <p:sp>
        <p:nvSpPr>
          <p:cNvPr id="57" name="Shape 69"/>
          <p:cNvSpPr/>
          <p:nvPr/>
        </p:nvSpPr>
        <p:spPr>
          <a:xfrm>
            <a:off x="1809750" y="7972425"/>
            <a:ext cx="2571750" cy="19050"/>
          </a:xfrm>
          <a:prstGeom prst="rect">
            <a:avLst/>
          </a:prstGeom>
          <a:solidFill>
            <a:srgbClr val="BFBFBF"/>
          </a:solidFill>
          <a:ln/>
        </p:spPr>
        <p:txBody>
          <a:bodyPr/>
          <a:lstStyle/>
          <a:p>
            <a:endParaRPr lang="en-US"/>
          </a:p>
        </p:txBody>
      </p:sp>
      <p:sp>
        <p:nvSpPr>
          <p:cNvPr id="58" name="Text 70"/>
          <p:cNvSpPr/>
          <p:nvPr/>
        </p:nvSpPr>
        <p:spPr>
          <a:xfrm>
            <a:off x="1981200" y="7229475"/>
            <a:ext cx="2306003"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Merge conflict</a:t>
            </a:r>
            <a:endParaRPr lang="en-US" sz="1900" dirty="0"/>
          </a:p>
        </p:txBody>
      </p:sp>
      <p:sp>
        <p:nvSpPr>
          <p:cNvPr id="59" name="Shape 71"/>
          <p:cNvSpPr/>
          <p:nvPr/>
        </p:nvSpPr>
        <p:spPr>
          <a:xfrm>
            <a:off x="4381500" y="7972425"/>
            <a:ext cx="5391150" cy="19050"/>
          </a:xfrm>
          <a:prstGeom prst="rect">
            <a:avLst/>
          </a:prstGeom>
          <a:solidFill>
            <a:srgbClr val="BFBFBF"/>
          </a:solidFill>
          <a:ln/>
        </p:spPr>
        <p:txBody>
          <a:bodyPr/>
          <a:lstStyle/>
          <a:p>
            <a:endParaRPr lang="en-US"/>
          </a:p>
        </p:txBody>
      </p:sp>
      <p:sp>
        <p:nvSpPr>
          <p:cNvPr id="60" name="Text 72"/>
          <p:cNvSpPr/>
          <p:nvPr/>
        </p:nvSpPr>
        <p:spPr>
          <a:xfrm>
            <a:off x="4552950" y="7229475"/>
            <a:ext cx="5209985"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Two commits changed the same lines; you choose the result</a:t>
            </a:r>
            <a:endParaRPr lang="en-US" sz="1900" dirty="0"/>
          </a:p>
        </p:txBody>
      </p:sp>
      <p:sp>
        <p:nvSpPr>
          <p:cNvPr id="61" name="Shape 73"/>
          <p:cNvSpPr/>
          <p:nvPr/>
        </p:nvSpPr>
        <p:spPr>
          <a:xfrm>
            <a:off x="9772650" y="7972425"/>
            <a:ext cx="3714750" cy="19050"/>
          </a:xfrm>
          <a:prstGeom prst="rect">
            <a:avLst/>
          </a:prstGeom>
          <a:solidFill>
            <a:srgbClr val="BFBFBF"/>
          </a:solidFill>
          <a:ln/>
        </p:spPr>
        <p:txBody>
          <a:bodyPr/>
          <a:lstStyle/>
          <a:p>
            <a:endParaRPr lang="en-US"/>
          </a:p>
        </p:txBody>
      </p:sp>
      <p:sp>
        <p:nvSpPr>
          <p:cNvPr id="62" name="Text 74"/>
          <p:cNvSpPr/>
          <p:nvPr/>
        </p:nvSpPr>
        <p:spPr>
          <a:xfrm>
            <a:off x="9944100" y="7229475"/>
            <a:ext cx="3483293"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Resolve conflicts dialog</a:t>
            </a:r>
            <a:endParaRPr lang="en-US" sz="1900" dirty="0"/>
          </a:p>
        </p:txBody>
      </p:sp>
      <p:sp>
        <p:nvSpPr>
          <p:cNvPr id="63" name="Shape 75"/>
          <p:cNvSpPr/>
          <p:nvPr/>
        </p:nvSpPr>
        <p:spPr>
          <a:xfrm>
            <a:off x="1809750" y="8548688"/>
            <a:ext cx="2571750" cy="19050"/>
          </a:xfrm>
          <a:prstGeom prst="rect">
            <a:avLst/>
          </a:prstGeom>
          <a:solidFill>
            <a:srgbClr val="BFBFBF"/>
          </a:solidFill>
          <a:ln/>
        </p:spPr>
        <p:txBody>
          <a:bodyPr/>
          <a:lstStyle/>
          <a:p>
            <a:endParaRPr lang="en-US"/>
          </a:p>
        </p:txBody>
      </p:sp>
      <p:sp>
        <p:nvSpPr>
          <p:cNvPr id="64" name="Text 76"/>
          <p:cNvSpPr/>
          <p:nvPr/>
        </p:nvSpPr>
        <p:spPr>
          <a:xfrm>
            <a:off x="1981200" y="8115300"/>
            <a:ext cx="230600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Origin</a:t>
            </a:r>
            <a:endParaRPr lang="en-US" sz="1900" dirty="0"/>
          </a:p>
        </p:txBody>
      </p:sp>
      <p:sp>
        <p:nvSpPr>
          <p:cNvPr id="65" name="Shape 77"/>
          <p:cNvSpPr/>
          <p:nvPr/>
        </p:nvSpPr>
        <p:spPr>
          <a:xfrm>
            <a:off x="4381500" y="8548688"/>
            <a:ext cx="5391150" cy="19050"/>
          </a:xfrm>
          <a:prstGeom prst="rect">
            <a:avLst/>
          </a:prstGeom>
          <a:solidFill>
            <a:srgbClr val="BFBFBF"/>
          </a:solidFill>
          <a:ln/>
        </p:spPr>
        <p:txBody>
          <a:bodyPr/>
          <a:lstStyle/>
          <a:p>
            <a:endParaRPr lang="en-US"/>
          </a:p>
        </p:txBody>
      </p:sp>
      <p:sp>
        <p:nvSpPr>
          <p:cNvPr id="66" name="Text 78"/>
          <p:cNvSpPr/>
          <p:nvPr/>
        </p:nvSpPr>
        <p:spPr>
          <a:xfrm>
            <a:off x="4552950" y="8115300"/>
            <a:ext cx="5209985"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The name for the GitHub copy of your repo</a:t>
            </a:r>
            <a:endParaRPr lang="en-US" sz="1900" dirty="0"/>
          </a:p>
        </p:txBody>
      </p:sp>
      <p:sp>
        <p:nvSpPr>
          <p:cNvPr id="67" name="Shape 79"/>
          <p:cNvSpPr/>
          <p:nvPr/>
        </p:nvSpPr>
        <p:spPr>
          <a:xfrm>
            <a:off x="9772650" y="8548688"/>
            <a:ext cx="3714750" cy="19050"/>
          </a:xfrm>
          <a:prstGeom prst="rect">
            <a:avLst/>
          </a:prstGeom>
          <a:solidFill>
            <a:srgbClr val="BFBFBF"/>
          </a:solidFill>
          <a:ln/>
        </p:spPr>
        <p:txBody>
          <a:bodyPr/>
          <a:lstStyle/>
          <a:p>
            <a:endParaRPr lang="en-US"/>
          </a:p>
        </p:txBody>
      </p:sp>
      <p:sp>
        <p:nvSpPr>
          <p:cNvPr id="68" name="Text 80"/>
          <p:cNvSpPr/>
          <p:nvPr/>
        </p:nvSpPr>
        <p:spPr>
          <a:xfrm>
            <a:off x="9944100" y="8115300"/>
            <a:ext cx="3483293"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Shown on the sync button</a:t>
            </a:r>
            <a:endParaRPr lang="en-US" sz="1900" dirty="0"/>
          </a:p>
        </p:txBody>
      </p:sp>
      <p:sp>
        <p:nvSpPr>
          <p:cNvPr id="69" name="Nav highlight"/>
          <p:cNvSpPr txBox="1"/>
          <p:nvPr userDrawn="1"/>
        </p:nvSpPr>
        <p:spPr>
          <a:xfrm>
            <a:off x="133350" y="2762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Concepts</a:t>
            </a:r>
            <a:endParaRPr lang="en-US" sz="1800" b="1" dirty="0"/>
          </a:p>
        </p:txBody>
      </p:sp>
      <p:sp>
        <p:nvSpPr>
          <p:cNvPr id="70"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71" name="Slide Number"/>
          <p:cNvSpPr>
            <a:spLocks noGrp="1"/>
          </p:cNvSpPr>
          <p:nvPr>
            <p:ph type="sldNum" sz="quarter" idx="12"/>
          </p:nvPr>
        </p:nvSpPr>
        <p:spPr/>
        <p:txBody>
          <a:bodyPr/>
          <a:lstStyle/>
          <a:p>
            <a:fld id="{B6F15528-21DE-4FAA-801E-634DDDAF4B2B}" type="slidenum">
              <a:rPr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Why This Matters for Agents</a:t>
            </a:r>
          </a:p>
        </p:txBody>
      </p:sp>
      <p:sp>
        <p:nvSpPr>
          <p:cNvPr id="3" name="Text 15"/>
          <p:cNvSpPr/>
          <p:nvPr/>
        </p:nvSpPr>
        <p:spPr>
          <a:xfrm>
            <a:off x="1809750" y="1619250"/>
            <a:ext cx="11769090" cy="784820"/>
          </a:xfrm>
          <a:prstGeom prst="rect">
            <a:avLst/>
          </a:prstGeom>
          <a:noFill/>
          <a:ln/>
        </p:spPr>
        <p:txBody>
          <a:bodyPr wrap="square" lIns="25400" tIns="25400" rIns="25400" bIns="25400" rtlCol="0" anchor="t">
            <a:normAutofit/>
          </a:bodyPr>
          <a:lstStyle/>
          <a:p>
            <a:pPr marL="0" indent="0" algn="l">
              <a:lnSpc>
                <a:spcPct val="105000"/>
              </a:lnSpc>
              <a:buNone/>
            </a:pPr>
            <a:r>
              <a:rPr lang="en-US" sz="2100" dirty="0">
                <a:solidFill>
                  <a:srgbClr val="000000"/>
                </a:solidFill>
                <a:latin typeface="+mn-lt"/>
                <a:ea typeface="+mn-ea"/>
                <a:cs typeface="+mn-cs"/>
              </a:rPr>
              <a:t>A cloud coding agent such as ChatGPT Codex works from your GitHub repo, not your laptop. The loop looks like this:</a:t>
            </a:r>
            <a:endParaRPr lang="en-US" sz="2100" dirty="0"/>
          </a:p>
        </p:txBody>
      </p:sp>
      <p:sp>
        <p:nvSpPr>
          <p:cNvPr id="4" name="Shape 16"/>
          <p:cNvSpPr/>
          <p:nvPr/>
        </p:nvSpPr>
        <p:spPr>
          <a:xfrm>
            <a:off x="1809750" y="2651720"/>
            <a:ext cx="2244030" cy="2609850"/>
          </a:xfrm>
          <a:prstGeom prst="rect">
            <a:avLst/>
          </a:prstGeom>
          <a:solidFill>
            <a:srgbClr val="152A47"/>
          </a:solidFill>
          <a:ln/>
        </p:spPr>
        <p:txBody>
          <a:bodyPr/>
          <a:lstStyle/>
          <a:p>
            <a:endParaRPr lang="en-US"/>
          </a:p>
        </p:txBody>
      </p:sp>
      <p:sp>
        <p:nvSpPr>
          <p:cNvPr id="5" name="Text 17"/>
          <p:cNvSpPr/>
          <p:nvPr/>
        </p:nvSpPr>
        <p:spPr>
          <a:xfrm>
            <a:off x="1981200" y="2861270"/>
            <a:ext cx="2091244" cy="469900"/>
          </a:xfrm>
          <a:prstGeom prst="rect">
            <a:avLst/>
          </a:prstGeom>
          <a:noFill/>
          <a:ln/>
        </p:spPr>
        <p:txBody>
          <a:bodyPr wrap="square" lIns="25400" tIns="25400" rIns="25400" bIns="25400" rtlCol="0" anchor="t">
            <a:normAutofit/>
          </a:bodyPr>
          <a:lstStyle/>
          <a:p>
            <a:pPr marL="0" indent="0" algn="l">
              <a:buNone/>
            </a:pPr>
            <a:r>
              <a:rPr lang="en-US" sz="2500" b="1" dirty="0">
                <a:solidFill>
                  <a:srgbClr val="00B0F0"/>
                </a:solidFill>
                <a:latin typeface="+mn-lt"/>
                <a:ea typeface="+mn-ea"/>
                <a:cs typeface="+mn-cs"/>
              </a:rPr>
              <a:t>1</a:t>
            </a:r>
            <a:endParaRPr lang="en-US" sz="2500" dirty="0"/>
          </a:p>
        </p:txBody>
      </p:sp>
      <p:sp>
        <p:nvSpPr>
          <p:cNvPr id="6" name="Text 18"/>
          <p:cNvSpPr/>
          <p:nvPr/>
        </p:nvSpPr>
        <p:spPr>
          <a:xfrm>
            <a:off x="1981200" y="3388321"/>
            <a:ext cx="1977330" cy="681038"/>
          </a:xfrm>
          <a:prstGeom prst="rect">
            <a:avLst/>
          </a:prstGeom>
          <a:noFill/>
          <a:ln/>
        </p:spPr>
        <p:txBody>
          <a:bodyPr wrap="square" lIns="25400" tIns="25400" rIns="25400" bIns="25400" rtlCol="0" anchor="t">
            <a:normAutofit/>
          </a:bodyPr>
          <a:lstStyle/>
          <a:p>
            <a:pPr marL="0" indent="0" algn="l">
              <a:lnSpc>
                <a:spcPct val="103316"/>
              </a:lnSpc>
              <a:buNone/>
            </a:pPr>
            <a:r>
              <a:rPr lang="en-US" sz="1900" dirty="0">
                <a:solidFill>
                  <a:srgbClr val="FFFFFF"/>
                </a:solidFill>
                <a:latin typeface="+mn-lt"/>
                <a:ea typeface="+mn-ea"/>
                <a:cs typeface="+mn-cs"/>
              </a:rPr>
              <a:t>You push the repo to GitHub</a:t>
            </a:r>
            <a:endParaRPr lang="en-US" sz="1900" dirty="0"/>
          </a:p>
        </p:txBody>
      </p:sp>
      <p:sp>
        <p:nvSpPr>
          <p:cNvPr id="7" name="Shape 19"/>
          <p:cNvSpPr/>
          <p:nvPr/>
        </p:nvSpPr>
        <p:spPr>
          <a:xfrm>
            <a:off x="4168080" y="2651720"/>
            <a:ext cx="2244130" cy="2609850"/>
          </a:xfrm>
          <a:prstGeom prst="rect">
            <a:avLst/>
          </a:prstGeom>
          <a:solidFill>
            <a:srgbClr val="F2F2F2"/>
          </a:solidFill>
          <a:ln/>
        </p:spPr>
        <p:txBody>
          <a:bodyPr/>
          <a:lstStyle/>
          <a:p>
            <a:endParaRPr lang="en-US"/>
          </a:p>
        </p:txBody>
      </p:sp>
      <p:sp>
        <p:nvSpPr>
          <p:cNvPr id="8" name="Text 20"/>
          <p:cNvSpPr/>
          <p:nvPr/>
        </p:nvSpPr>
        <p:spPr>
          <a:xfrm>
            <a:off x="4339530" y="2861270"/>
            <a:ext cx="2091353" cy="469900"/>
          </a:xfrm>
          <a:prstGeom prst="rect">
            <a:avLst/>
          </a:prstGeom>
          <a:noFill/>
          <a:ln/>
        </p:spPr>
        <p:txBody>
          <a:bodyPr wrap="square" lIns="25400" tIns="25400" rIns="25400" bIns="25400" rtlCol="0" anchor="t">
            <a:normAutofit/>
          </a:bodyPr>
          <a:lstStyle/>
          <a:p>
            <a:pPr marL="0" indent="0" algn="l">
              <a:buNone/>
            </a:pPr>
            <a:r>
              <a:rPr lang="en-US" sz="2500" b="1" dirty="0">
                <a:solidFill>
                  <a:srgbClr val="1F6FB2"/>
                </a:solidFill>
                <a:latin typeface="+mn-lt"/>
                <a:ea typeface="+mn-ea"/>
                <a:cs typeface="+mn-cs"/>
              </a:rPr>
              <a:t>2</a:t>
            </a:r>
            <a:endParaRPr lang="en-US" sz="2500" dirty="0"/>
          </a:p>
        </p:txBody>
      </p:sp>
      <p:sp>
        <p:nvSpPr>
          <p:cNvPr id="9" name="Text 21"/>
          <p:cNvSpPr/>
          <p:nvPr/>
        </p:nvSpPr>
        <p:spPr>
          <a:xfrm>
            <a:off x="4339530" y="3388321"/>
            <a:ext cx="1977430" cy="1002506"/>
          </a:xfrm>
          <a:prstGeom prst="rect">
            <a:avLst/>
          </a:prstGeom>
          <a:noFill/>
          <a:ln/>
        </p:spPr>
        <p:txBody>
          <a:bodyPr wrap="square" lIns="25400" tIns="25400" rIns="25400" bIns="25400" rtlCol="0" anchor="t">
            <a:normAutofit/>
          </a:bodyPr>
          <a:lstStyle/>
          <a:p>
            <a:pPr marL="0" indent="0" algn="l">
              <a:lnSpc>
                <a:spcPct val="103316"/>
              </a:lnSpc>
              <a:buNone/>
            </a:pPr>
            <a:r>
              <a:rPr lang="en-US" sz="1900" dirty="0">
                <a:solidFill>
                  <a:srgbClr val="000000"/>
                </a:solidFill>
                <a:latin typeface="+mn-lt"/>
                <a:ea typeface="+mn-ea"/>
                <a:cs typeface="+mn-cs"/>
              </a:rPr>
              <a:t>Agent reads the repo in its sandbox</a:t>
            </a:r>
            <a:endParaRPr lang="en-US" sz="1900" dirty="0"/>
          </a:p>
        </p:txBody>
      </p:sp>
      <p:sp>
        <p:nvSpPr>
          <p:cNvPr id="10" name="Shape 22"/>
          <p:cNvSpPr/>
          <p:nvPr/>
        </p:nvSpPr>
        <p:spPr>
          <a:xfrm>
            <a:off x="6526510" y="2651720"/>
            <a:ext cx="2244030" cy="2609850"/>
          </a:xfrm>
          <a:prstGeom prst="rect">
            <a:avLst/>
          </a:prstGeom>
          <a:solidFill>
            <a:srgbClr val="F2F2F2"/>
          </a:solidFill>
          <a:ln/>
        </p:spPr>
        <p:txBody>
          <a:bodyPr/>
          <a:lstStyle/>
          <a:p>
            <a:endParaRPr lang="en-US"/>
          </a:p>
        </p:txBody>
      </p:sp>
      <p:sp>
        <p:nvSpPr>
          <p:cNvPr id="11" name="Text 23"/>
          <p:cNvSpPr/>
          <p:nvPr/>
        </p:nvSpPr>
        <p:spPr>
          <a:xfrm>
            <a:off x="6697960" y="2861270"/>
            <a:ext cx="2091244" cy="469900"/>
          </a:xfrm>
          <a:prstGeom prst="rect">
            <a:avLst/>
          </a:prstGeom>
          <a:noFill/>
          <a:ln/>
        </p:spPr>
        <p:txBody>
          <a:bodyPr wrap="square" lIns="25400" tIns="25400" rIns="25400" bIns="25400" rtlCol="0" anchor="t">
            <a:normAutofit/>
          </a:bodyPr>
          <a:lstStyle/>
          <a:p>
            <a:pPr marL="0" indent="0" algn="l">
              <a:buNone/>
            </a:pPr>
            <a:r>
              <a:rPr lang="en-US" sz="2500" b="1" dirty="0">
                <a:solidFill>
                  <a:srgbClr val="1F6FB2"/>
                </a:solidFill>
                <a:latin typeface="+mn-lt"/>
                <a:ea typeface="+mn-ea"/>
                <a:cs typeface="+mn-cs"/>
              </a:rPr>
              <a:t>3</a:t>
            </a:r>
            <a:endParaRPr lang="en-US" sz="2500" dirty="0"/>
          </a:p>
        </p:txBody>
      </p:sp>
      <p:sp>
        <p:nvSpPr>
          <p:cNvPr id="12" name="Text 24"/>
          <p:cNvSpPr/>
          <p:nvPr/>
        </p:nvSpPr>
        <p:spPr>
          <a:xfrm>
            <a:off x="6697960" y="3388321"/>
            <a:ext cx="1977330" cy="1002506"/>
          </a:xfrm>
          <a:prstGeom prst="rect">
            <a:avLst/>
          </a:prstGeom>
          <a:noFill/>
          <a:ln/>
        </p:spPr>
        <p:txBody>
          <a:bodyPr wrap="square" lIns="25400" tIns="25400" rIns="25400" bIns="25400" rtlCol="0" anchor="t">
            <a:normAutofit/>
          </a:bodyPr>
          <a:lstStyle/>
          <a:p>
            <a:pPr marL="0" indent="0" algn="l">
              <a:lnSpc>
                <a:spcPct val="103316"/>
              </a:lnSpc>
              <a:buNone/>
            </a:pPr>
            <a:r>
              <a:rPr lang="en-US" sz="1900" dirty="0">
                <a:solidFill>
                  <a:srgbClr val="000000"/>
                </a:solidFill>
                <a:latin typeface="+mn-lt"/>
                <a:ea typeface="+mn-ea"/>
                <a:cs typeface="+mn-cs"/>
              </a:rPr>
              <a:t>Agent commits to a branch and opens a Pull Request (PR)</a:t>
            </a:r>
            <a:endParaRPr lang="en-US" sz="1900" dirty="0"/>
          </a:p>
        </p:txBody>
      </p:sp>
      <p:sp>
        <p:nvSpPr>
          <p:cNvPr id="13" name="Shape 25"/>
          <p:cNvSpPr/>
          <p:nvPr/>
        </p:nvSpPr>
        <p:spPr>
          <a:xfrm>
            <a:off x="8884841" y="2651720"/>
            <a:ext cx="2244130" cy="2609850"/>
          </a:xfrm>
          <a:prstGeom prst="rect">
            <a:avLst/>
          </a:prstGeom>
          <a:solidFill>
            <a:srgbClr val="152A47"/>
          </a:solidFill>
          <a:ln/>
        </p:spPr>
        <p:txBody>
          <a:bodyPr/>
          <a:lstStyle/>
          <a:p>
            <a:endParaRPr lang="en-US"/>
          </a:p>
        </p:txBody>
      </p:sp>
      <p:sp>
        <p:nvSpPr>
          <p:cNvPr id="14" name="Text 26"/>
          <p:cNvSpPr/>
          <p:nvPr/>
        </p:nvSpPr>
        <p:spPr>
          <a:xfrm>
            <a:off x="9056291" y="2861270"/>
            <a:ext cx="2091353" cy="469900"/>
          </a:xfrm>
          <a:prstGeom prst="rect">
            <a:avLst/>
          </a:prstGeom>
          <a:noFill/>
          <a:ln/>
        </p:spPr>
        <p:txBody>
          <a:bodyPr wrap="square" lIns="25400" tIns="25400" rIns="25400" bIns="25400" rtlCol="0" anchor="t">
            <a:normAutofit/>
          </a:bodyPr>
          <a:lstStyle/>
          <a:p>
            <a:pPr marL="0" indent="0" algn="l">
              <a:buNone/>
            </a:pPr>
            <a:r>
              <a:rPr lang="en-US" sz="2500" b="1" dirty="0">
                <a:solidFill>
                  <a:srgbClr val="00B0F0"/>
                </a:solidFill>
                <a:latin typeface="+mn-lt"/>
                <a:ea typeface="+mn-ea"/>
                <a:cs typeface="+mn-cs"/>
              </a:rPr>
              <a:t>4</a:t>
            </a:r>
            <a:endParaRPr lang="en-US" sz="2500" dirty="0"/>
          </a:p>
        </p:txBody>
      </p:sp>
      <p:sp>
        <p:nvSpPr>
          <p:cNvPr id="15" name="Text 27"/>
          <p:cNvSpPr/>
          <p:nvPr/>
        </p:nvSpPr>
        <p:spPr>
          <a:xfrm>
            <a:off x="9056291" y="3388321"/>
            <a:ext cx="1977430" cy="1002506"/>
          </a:xfrm>
          <a:prstGeom prst="rect">
            <a:avLst/>
          </a:prstGeom>
          <a:noFill/>
          <a:ln/>
        </p:spPr>
        <p:txBody>
          <a:bodyPr wrap="square" lIns="25400" tIns="25400" rIns="25400" bIns="25400" rtlCol="0" anchor="t">
            <a:normAutofit/>
          </a:bodyPr>
          <a:lstStyle/>
          <a:p>
            <a:pPr marL="0" indent="0" algn="l">
              <a:lnSpc>
                <a:spcPct val="103316"/>
              </a:lnSpc>
              <a:buNone/>
            </a:pPr>
            <a:r>
              <a:rPr lang="en-US" sz="1900" dirty="0">
                <a:solidFill>
                  <a:srgbClr val="FFFFFF"/>
                </a:solidFill>
                <a:latin typeface="+mn-lt"/>
                <a:ea typeface="+mn-ea"/>
                <a:cs typeface="+mn-cs"/>
              </a:rPr>
              <a:t>You review the diff, test, and merge</a:t>
            </a:r>
            <a:endParaRPr lang="en-US" sz="1900" dirty="0"/>
          </a:p>
        </p:txBody>
      </p:sp>
      <p:sp>
        <p:nvSpPr>
          <p:cNvPr id="16" name="Shape 28"/>
          <p:cNvSpPr/>
          <p:nvPr/>
        </p:nvSpPr>
        <p:spPr>
          <a:xfrm>
            <a:off x="11243271" y="2651720"/>
            <a:ext cx="2244030" cy="2609850"/>
          </a:xfrm>
          <a:prstGeom prst="rect">
            <a:avLst/>
          </a:prstGeom>
          <a:solidFill>
            <a:srgbClr val="152A47"/>
          </a:solidFill>
          <a:ln/>
        </p:spPr>
        <p:txBody>
          <a:bodyPr/>
          <a:lstStyle/>
          <a:p>
            <a:endParaRPr lang="en-US"/>
          </a:p>
        </p:txBody>
      </p:sp>
      <p:sp>
        <p:nvSpPr>
          <p:cNvPr id="17" name="Text 29"/>
          <p:cNvSpPr/>
          <p:nvPr/>
        </p:nvSpPr>
        <p:spPr>
          <a:xfrm>
            <a:off x="11414721" y="2861270"/>
            <a:ext cx="2091244" cy="469900"/>
          </a:xfrm>
          <a:prstGeom prst="rect">
            <a:avLst/>
          </a:prstGeom>
          <a:noFill/>
          <a:ln/>
        </p:spPr>
        <p:txBody>
          <a:bodyPr wrap="square" lIns="25400" tIns="25400" rIns="25400" bIns="25400" rtlCol="0" anchor="t">
            <a:normAutofit/>
          </a:bodyPr>
          <a:lstStyle/>
          <a:p>
            <a:pPr marL="0" indent="0" algn="l">
              <a:buNone/>
            </a:pPr>
            <a:r>
              <a:rPr lang="en-US" sz="2500" b="1" dirty="0">
                <a:solidFill>
                  <a:srgbClr val="00B0F0"/>
                </a:solidFill>
                <a:latin typeface="+mn-lt"/>
                <a:ea typeface="+mn-ea"/>
                <a:cs typeface="+mn-cs"/>
              </a:rPr>
              <a:t>5</a:t>
            </a:r>
            <a:endParaRPr lang="en-US" sz="2500" dirty="0"/>
          </a:p>
        </p:txBody>
      </p:sp>
      <p:sp>
        <p:nvSpPr>
          <p:cNvPr id="18" name="Text 30"/>
          <p:cNvSpPr/>
          <p:nvPr/>
        </p:nvSpPr>
        <p:spPr>
          <a:xfrm>
            <a:off x="11414721" y="3388321"/>
            <a:ext cx="1977330" cy="681038"/>
          </a:xfrm>
          <a:prstGeom prst="rect">
            <a:avLst/>
          </a:prstGeom>
          <a:noFill/>
          <a:ln/>
        </p:spPr>
        <p:txBody>
          <a:bodyPr wrap="square" lIns="25400" tIns="25400" rIns="25400" bIns="25400" rtlCol="0" anchor="t">
            <a:normAutofit/>
          </a:bodyPr>
          <a:lstStyle/>
          <a:p>
            <a:pPr marL="0" indent="0" algn="l">
              <a:lnSpc>
                <a:spcPct val="103316"/>
              </a:lnSpc>
              <a:buNone/>
            </a:pPr>
            <a:r>
              <a:rPr lang="en-US" sz="1900" dirty="0">
                <a:solidFill>
                  <a:srgbClr val="FFFFFF"/>
                </a:solidFill>
                <a:latin typeface="+mn-lt"/>
                <a:ea typeface="+mn-ea"/>
                <a:cs typeface="+mn-cs"/>
              </a:rPr>
              <a:t>You pull the result to your laptop</a:t>
            </a:r>
            <a:endParaRPr lang="en-US" sz="1900" dirty="0"/>
          </a:p>
        </p:txBody>
      </p:sp>
      <p:sp>
        <p:nvSpPr>
          <p:cNvPr id="19" name="Shape 31"/>
          <p:cNvSpPr/>
          <p:nvPr/>
        </p:nvSpPr>
        <p:spPr>
          <a:xfrm>
            <a:off x="1809750" y="5594946"/>
            <a:ext cx="209550" cy="209550"/>
          </a:xfrm>
          <a:prstGeom prst="rect">
            <a:avLst/>
          </a:prstGeom>
          <a:solidFill>
            <a:srgbClr val="152A47"/>
          </a:solidFill>
          <a:ln/>
        </p:spPr>
        <p:txBody>
          <a:bodyPr/>
          <a:lstStyle/>
          <a:p>
            <a:endParaRPr lang="en-US"/>
          </a:p>
        </p:txBody>
      </p:sp>
      <p:sp>
        <p:nvSpPr>
          <p:cNvPr id="20" name="Text 32"/>
          <p:cNvSpPr/>
          <p:nvPr/>
        </p:nvSpPr>
        <p:spPr>
          <a:xfrm>
            <a:off x="2114550" y="5547321"/>
            <a:ext cx="3008426" cy="342900"/>
          </a:xfrm>
          <a:prstGeom prst="rect">
            <a:avLst/>
          </a:prstGeom>
          <a:noFill/>
          <a:ln/>
        </p:spPr>
        <p:txBody>
          <a:bodyPr wrap="square" lIns="0" tIns="0" rIns="0" bIns="0" rtlCol="0" anchor="t">
            <a:normAutofit/>
          </a:bodyPr>
          <a:lstStyle/>
          <a:p>
            <a:pPr marL="0" indent="0" algn="l">
              <a:buNone/>
            </a:pPr>
            <a:r>
              <a:rPr lang="en-US" sz="1800" dirty="0">
                <a:solidFill>
                  <a:srgbClr val="404040"/>
                </a:solidFill>
                <a:latin typeface="+mn-lt"/>
                <a:ea typeface="+mn-ea"/>
                <a:cs typeface="+mn-cs"/>
              </a:rPr>
              <a:t>Your steps (today's exercises)</a:t>
            </a:r>
            <a:endParaRPr lang="en-US" sz="1800" dirty="0"/>
          </a:p>
        </p:txBody>
      </p:sp>
      <p:sp>
        <p:nvSpPr>
          <p:cNvPr id="21" name="Shape 33"/>
          <p:cNvSpPr/>
          <p:nvPr/>
        </p:nvSpPr>
        <p:spPr>
          <a:xfrm>
            <a:off x="5302052" y="5588596"/>
            <a:ext cx="222250" cy="222250"/>
          </a:xfrm>
          <a:prstGeom prst="rect">
            <a:avLst/>
          </a:prstGeom>
          <a:solidFill>
            <a:srgbClr val="F2F2F2"/>
          </a:solidFill>
          <a:ln w="6350">
            <a:solidFill>
              <a:srgbClr val="BFBFBF"/>
            </a:solidFill>
            <a:prstDash val="solid"/>
          </a:ln>
        </p:spPr>
        <p:txBody>
          <a:bodyPr/>
          <a:lstStyle/>
          <a:p>
            <a:endParaRPr lang="en-US"/>
          </a:p>
        </p:txBody>
      </p:sp>
      <p:sp>
        <p:nvSpPr>
          <p:cNvPr id="22" name="Text 34"/>
          <p:cNvSpPr/>
          <p:nvPr/>
        </p:nvSpPr>
        <p:spPr>
          <a:xfrm>
            <a:off x="5619552" y="5547321"/>
            <a:ext cx="2343646" cy="342900"/>
          </a:xfrm>
          <a:prstGeom prst="rect">
            <a:avLst/>
          </a:prstGeom>
          <a:noFill/>
          <a:ln/>
        </p:spPr>
        <p:txBody>
          <a:bodyPr wrap="square" lIns="0" tIns="0" rIns="0" bIns="0" rtlCol="0" anchor="t">
            <a:normAutofit/>
          </a:bodyPr>
          <a:lstStyle/>
          <a:p>
            <a:pPr marL="0" indent="0" algn="l">
              <a:buNone/>
            </a:pPr>
            <a:r>
              <a:rPr lang="en-US" sz="1800" dirty="0">
                <a:solidFill>
                  <a:srgbClr val="404040"/>
                </a:solidFill>
                <a:latin typeface="+mn-lt"/>
                <a:ea typeface="+mn-ea"/>
                <a:cs typeface="+mn-cs"/>
              </a:rPr>
              <a:t>Agent steps (Lesson 2)</a:t>
            </a:r>
            <a:endParaRPr lang="en-US" sz="1800" dirty="0"/>
          </a:p>
        </p:txBody>
      </p:sp>
      <p:sp>
        <p:nvSpPr>
          <p:cNvPr id="23" name="Shape 35"/>
          <p:cNvSpPr/>
          <p:nvPr/>
        </p:nvSpPr>
        <p:spPr>
          <a:xfrm>
            <a:off x="1809750" y="6137871"/>
            <a:ext cx="11677650" cy="19050"/>
          </a:xfrm>
          <a:prstGeom prst="rect">
            <a:avLst/>
          </a:prstGeom>
          <a:solidFill>
            <a:srgbClr val="BFBFBF"/>
          </a:solidFill>
          <a:ln/>
        </p:spPr>
        <p:txBody>
          <a:bodyPr/>
          <a:lstStyle/>
          <a:p>
            <a:endParaRPr lang="en-US"/>
          </a:p>
        </p:txBody>
      </p:sp>
      <p:sp>
        <p:nvSpPr>
          <p:cNvPr id="24" name="Text 36"/>
          <p:cNvSpPr/>
          <p:nvPr/>
        </p:nvSpPr>
        <p:spPr>
          <a:xfrm>
            <a:off x="1809750" y="6404571"/>
            <a:ext cx="11769090" cy="438150"/>
          </a:xfrm>
          <a:prstGeom prst="rect">
            <a:avLst/>
          </a:prstGeom>
          <a:noFill/>
          <a:ln/>
        </p:spPr>
        <p:txBody>
          <a:bodyPr wrap="square" lIns="25400" tIns="25400" rIns="25400" bIns="25400" rtlCol="0" anchor="t">
            <a:normAutofit/>
          </a:bodyPr>
          <a:lstStyle/>
          <a:p>
            <a:pPr marL="0" indent="0" algn="l">
              <a:lnSpc>
                <a:spcPct val="105000"/>
              </a:lnSpc>
              <a:buNone/>
            </a:pPr>
            <a:r>
              <a:rPr lang="en-US" sz="2200" b="1" dirty="0">
                <a:solidFill>
                  <a:srgbClr val="000000"/>
                </a:solidFill>
                <a:latin typeface="+mn-lt"/>
                <a:ea typeface="+mn-ea"/>
                <a:cs typeface="+mn-cs"/>
              </a:rPr>
              <a:t>Every agent change arrives as a commit you can read, test, and revert.</a:t>
            </a:r>
            <a:endParaRPr lang="en-US" sz="2200" dirty="0"/>
          </a:p>
        </p:txBody>
      </p:sp>
      <p:sp>
        <p:nvSpPr>
          <p:cNvPr id="25" name="Nav highlight"/>
          <p:cNvSpPr txBox="1"/>
          <p:nvPr userDrawn="1"/>
        </p:nvSpPr>
        <p:spPr>
          <a:xfrm>
            <a:off x="133350" y="2762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Concepts</a:t>
            </a:r>
            <a:endParaRPr lang="en-US" sz="1800" b="1" dirty="0"/>
          </a:p>
        </p:txBody>
      </p:sp>
      <p:sp>
        <p:nvSpPr>
          <p:cNvPr id="2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7" name="Slide Number"/>
          <p:cNvSpPr>
            <a:spLocks noGrp="1"/>
          </p:cNvSpPr>
          <p:nvPr>
            <p:ph type="sldNum" sz="quarter" idx="12"/>
          </p:nvPr>
        </p:nvSpPr>
        <p:spPr/>
        <p:txBody>
          <a:bodyPr/>
          <a:lstStyle/>
          <a:p>
            <a:fld id="{B6F15528-21DE-4FAA-801E-634DDDAF4B2B}" type="slidenum">
              <a:rPr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Exercise 1: Sign In &amp; Configure</a:t>
            </a:r>
          </a:p>
        </p:txBody>
      </p:sp>
      <p:sp>
        <p:nvSpPr>
          <p:cNvPr id="3" name="Shape 15"/>
          <p:cNvSpPr/>
          <p:nvPr/>
        </p:nvSpPr>
        <p:spPr>
          <a:xfrm>
            <a:off x="1809750" y="1524000"/>
            <a:ext cx="1314450" cy="381000"/>
          </a:xfrm>
          <a:prstGeom prst="roundRect">
            <a:avLst>
              <a:gd name="adj" fmla="val 15000"/>
            </a:avLst>
          </a:prstGeom>
          <a:solidFill>
            <a:srgbClr val="595959"/>
          </a:solidFill>
          <a:ln/>
        </p:spPr>
        <p:txBody>
          <a:bodyPr/>
          <a:lstStyle/>
          <a:p>
            <a:endParaRPr lang="en-US"/>
          </a:p>
        </p:txBody>
      </p:sp>
      <p:sp>
        <p:nvSpPr>
          <p:cNvPr id="4" name="Text 16"/>
          <p:cNvSpPr/>
          <p:nvPr/>
        </p:nvSpPr>
        <p:spPr>
          <a:xfrm>
            <a:off x="1962150" y="1562100"/>
            <a:ext cx="108585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EXERCISE</a:t>
            </a:r>
            <a:endParaRPr lang="en-US" sz="1800" dirty="0"/>
          </a:p>
        </p:txBody>
      </p:sp>
      <p:sp>
        <p:nvSpPr>
          <p:cNvPr id="5" name="Text 17"/>
          <p:cNvSpPr/>
          <p:nvPr/>
        </p:nvSpPr>
        <p:spPr>
          <a:xfrm>
            <a:off x="1809750" y="2152650"/>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6" name="Text 18"/>
          <p:cNvSpPr/>
          <p:nvPr/>
        </p:nvSpPr>
        <p:spPr>
          <a:xfrm>
            <a:off x="2343150" y="2152650"/>
            <a:ext cx="569976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Open GitHub Desktop.</a:t>
            </a:r>
            <a:endParaRPr lang="en-US" sz="2000" dirty="0"/>
          </a:p>
        </p:txBody>
      </p:sp>
      <p:sp>
        <p:nvSpPr>
          <p:cNvPr id="7" name="Text 19"/>
          <p:cNvSpPr/>
          <p:nvPr/>
        </p:nvSpPr>
        <p:spPr>
          <a:xfrm>
            <a:off x="1809750" y="2786063"/>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8" name="Text 20"/>
          <p:cNvSpPr/>
          <p:nvPr/>
        </p:nvSpPr>
        <p:spPr>
          <a:xfrm>
            <a:off x="2343150" y="2786063"/>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File › Options › Accounts › </a:t>
            </a:r>
            <a:r>
              <a:rPr lang="en-US" sz="2000" b="1" dirty="0">
                <a:solidFill>
                  <a:srgbClr val="000000"/>
                </a:solidFill>
                <a:latin typeface="+mn-lt"/>
                <a:ea typeface="+mn-ea"/>
                <a:cs typeface="+mn-cs"/>
              </a:rPr>
              <a:t>Sign in </a:t>
            </a:r>
            <a:r>
              <a:rPr lang="en-US" sz="2000" dirty="0">
                <a:solidFill>
                  <a:srgbClr val="000000"/>
                </a:solidFill>
                <a:latin typeface="+mn-lt"/>
                <a:ea typeface="+mn-ea"/>
                <a:cs typeface="+mn-cs"/>
              </a:rPr>
              <a:t>to GitHub.com. Finish in the browser.</a:t>
            </a:r>
            <a:endParaRPr lang="en-US" sz="2000" dirty="0"/>
          </a:p>
        </p:txBody>
      </p:sp>
      <p:sp>
        <p:nvSpPr>
          <p:cNvPr id="9" name="Text 21"/>
          <p:cNvSpPr/>
          <p:nvPr/>
        </p:nvSpPr>
        <p:spPr>
          <a:xfrm>
            <a:off x="1809750" y="3728045"/>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10" name="Text 22"/>
          <p:cNvSpPr/>
          <p:nvPr/>
        </p:nvSpPr>
        <p:spPr>
          <a:xfrm>
            <a:off x="2343150" y="3728045"/>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Options › Git: confirm your </a:t>
            </a:r>
            <a:r>
              <a:rPr lang="en-US" sz="2000" b="1" dirty="0">
                <a:solidFill>
                  <a:srgbClr val="000000"/>
                </a:solidFill>
                <a:latin typeface="+mn-lt"/>
                <a:ea typeface="+mn-ea"/>
                <a:cs typeface="+mn-cs"/>
              </a:rPr>
              <a:t>name </a:t>
            </a:r>
            <a:r>
              <a:rPr lang="en-US" sz="2000" dirty="0">
                <a:solidFill>
                  <a:srgbClr val="000000"/>
                </a:solidFill>
                <a:latin typeface="+mn-lt"/>
                <a:ea typeface="+mn-ea"/>
                <a:cs typeface="+mn-cs"/>
              </a:rPr>
              <a:t>and </a:t>
            </a:r>
            <a:r>
              <a:rPr lang="en-US" sz="2000" b="1" dirty="0">
                <a:solidFill>
                  <a:srgbClr val="000000"/>
                </a:solidFill>
                <a:latin typeface="+mn-lt"/>
                <a:ea typeface="+mn-ea"/>
                <a:cs typeface="+mn-cs"/>
              </a:rPr>
              <a:t>email </a:t>
            </a:r>
            <a:r>
              <a:rPr lang="en-US" sz="2000" dirty="0">
                <a:solidFill>
                  <a:srgbClr val="000000"/>
                </a:solidFill>
                <a:latin typeface="+mn-lt"/>
                <a:ea typeface="+mn-ea"/>
                <a:cs typeface="+mn-cs"/>
              </a:rPr>
              <a:t>. These label every commit you make.</a:t>
            </a:r>
            <a:endParaRPr lang="en-US" sz="2000" dirty="0"/>
          </a:p>
        </p:txBody>
      </p:sp>
      <p:sp>
        <p:nvSpPr>
          <p:cNvPr id="11" name="Text 23"/>
          <p:cNvSpPr/>
          <p:nvPr/>
        </p:nvSpPr>
        <p:spPr>
          <a:xfrm>
            <a:off x="1809750" y="4670028"/>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4</a:t>
            </a:r>
            <a:endParaRPr lang="en-US" sz="2200" dirty="0"/>
          </a:p>
        </p:txBody>
      </p:sp>
      <p:sp>
        <p:nvSpPr>
          <p:cNvPr id="12" name="Text 24"/>
          <p:cNvSpPr/>
          <p:nvPr/>
        </p:nvSpPr>
        <p:spPr>
          <a:xfrm>
            <a:off x="2343150" y="4670028"/>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Options › Integrations: set External editor to </a:t>
            </a:r>
            <a:r>
              <a:rPr lang="en-US" sz="2000" b="1" dirty="0">
                <a:solidFill>
                  <a:srgbClr val="000000"/>
                </a:solidFill>
                <a:latin typeface="+mn-lt"/>
                <a:ea typeface="+mn-ea"/>
                <a:cs typeface="+mn-cs"/>
              </a:rPr>
              <a:t>Visual Studio Code</a:t>
            </a:r>
            <a:r>
              <a:rPr lang="en-US" sz="2000" dirty="0">
                <a:solidFill>
                  <a:srgbClr val="000000"/>
                </a:solidFill>
                <a:latin typeface="+mn-lt"/>
                <a:ea typeface="+mn-ea"/>
                <a:cs typeface="+mn-cs"/>
              </a:rPr>
              <a:t>.</a:t>
            </a:r>
            <a:endParaRPr lang="en-US" sz="2000" dirty="0"/>
          </a:p>
        </p:txBody>
      </p:sp>
      <p:sp>
        <p:nvSpPr>
          <p:cNvPr id="13" name="Text 25"/>
          <p:cNvSpPr/>
          <p:nvPr/>
        </p:nvSpPr>
        <p:spPr>
          <a:xfrm>
            <a:off x="1809750" y="5612011"/>
            <a:ext cx="6286500" cy="358080"/>
          </a:xfrm>
          <a:prstGeom prst="rect">
            <a:avLst/>
          </a:prstGeom>
          <a:noFill/>
          <a:ln/>
        </p:spPr>
        <p:txBody>
          <a:bodyPr wrap="square" lIns="25400" tIns="25400" rIns="25400" bIns="25400" rtlCol="0" anchor="t">
            <a:normAutofit/>
          </a:bodyPr>
          <a:lstStyle/>
          <a:p>
            <a:pPr marL="0" indent="0" algn="l">
              <a:lnSpc>
                <a:spcPct val="105000"/>
              </a:lnSpc>
              <a:buNone/>
            </a:pPr>
            <a:r>
              <a:rPr lang="en-US" sz="1800" dirty="0">
                <a:solidFill>
                  <a:srgbClr val="404040"/>
                </a:solidFill>
                <a:latin typeface="+mn-lt"/>
                <a:ea typeface="+mn-ea"/>
                <a:cs typeface="+mn-cs"/>
              </a:rPr>
              <a:t>Mac: GitHub Desktop › Settings instead of File › Options.</a:t>
            </a:r>
            <a:endParaRPr lang="en-US" sz="1800" dirty="0"/>
          </a:p>
        </p:txBody>
      </p:sp>
      <p:sp>
        <p:nvSpPr>
          <p:cNvPr id="14" name="Nav highlight"/>
          <p:cNvSpPr txBox="1"/>
          <p:nvPr userDrawn="1"/>
        </p:nvSpPr>
        <p:spPr>
          <a:xfrm>
            <a:off x="133350" y="3143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Setup</a:t>
            </a:r>
            <a:endParaRPr lang="en-US" sz="1800" b="1" dirty="0"/>
          </a:p>
        </p:txBody>
      </p:sp>
      <p:sp>
        <p:nvSpPr>
          <p:cNvPr id="15"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16" name="Slide Number"/>
          <p:cNvSpPr>
            <a:spLocks noGrp="1"/>
          </p:cNvSpPr>
          <p:nvPr>
            <p:ph type="sldNum" sz="quarter" idx="12"/>
          </p:nvPr>
        </p:nvSpPr>
        <p:spPr/>
        <p:txBody>
          <a:bodyPr/>
          <a:lstStyle/>
          <a:p>
            <a:fld id="{B6F15528-21DE-4FAA-801E-634DDDAF4B2B}" type="slidenum">
              <a:rPr lang="en-US"/>
              <a:t>8</a:t>
            </a:fld>
            <a:endParaRPr lang="en-US"/>
          </a:p>
        </p:txBody>
      </p:sp>
      <p:pic>
        <p:nvPicPr>
          <p:cNvPr id="17" name="Screenshot placeholder" descr="Screenshot to add: GitHub Desktop, File › Options › Accounts, signed in to GitHub.com"/>
          <p:cNvPicPr>
            <a:picLocks noChangeAspect="1"/>
          </p:cNvPicPr>
          <p:nvPr/>
        </p:nvPicPr>
        <p:blipFill>
          <a:blip r:embed="rId3"/>
          <a:stretch>
            <a:fillRect/>
          </a:stretch>
        </p:blipFill>
        <p:spPr>
          <a:xfrm>
            <a:off x="8138160" y="2103120"/>
            <a:ext cx="5349240" cy="3291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The Practice Project</a:t>
            </a:r>
          </a:p>
        </p:txBody>
      </p:sp>
      <p:sp>
        <p:nvSpPr>
          <p:cNvPr id="3" name="Text 15"/>
          <p:cNvSpPr/>
          <p:nvPr/>
        </p:nvSpPr>
        <p:spPr>
          <a:xfrm>
            <a:off x="1809750" y="2122170"/>
            <a:ext cx="4611052" cy="784820"/>
          </a:xfrm>
          <a:prstGeom prst="rect">
            <a:avLst/>
          </a:prstGeom>
          <a:noFill/>
          <a:ln/>
        </p:spPr>
        <p:txBody>
          <a:bodyPr wrap="square" lIns="25400" tIns="25400" rIns="25400" bIns="25400" rtlCol="0" anchor="t">
            <a:normAutofit/>
          </a:bodyPr>
          <a:lstStyle/>
          <a:p>
            <a:pPr marL="0" indent="0" algn="l">
              <a:lnSpc>
                <a:spcPct val="105000"/>
              </a:lnSpc>
              <a:buNone/>
            </a:pPr>
            <a:r>
              <a:rPr lang="en-US" sz="2100" b="1" dirty="0">
                <a:solidFill>
                  <a:srgbClr val="000000"/>
                </a:solidFill>
                <a:latin typeface="+mn-lt"/>
                <a:ea typeface="+mn-ea"/>
                <a:cs typeface="+mn-cs"/>
              </a:rPr>
              <a:t>beam-calc </a:t>
            </a:r>
            <a:r>
              <a:rPr lang="en-US" sz="2100" dirty="0">
                <a:solidFill>
                  <a:srgbClr val="000000"/>
                </a:solidFill>
                <a:latin typeface="+mn-lt"/>
                <a:ea typeface="+mn-ea"/>
                <a:cs typeface="+mn-cs"/>
              </a:rPr>
              <a:t>: tip deflection of a cantilever beam under a point load.</a:t>
            </a:r>
            <a:endParaRPr lang="en-US" sz="2100" dirty="0"/>
          </a:p>
        </p:txBody>
      </p:sp>
      <p:sp>
        <p:nvSpPr>
          <p:cNvPr id="4" name="Text 16"/>
          <p:cNvSpPr/>
          <p:nvPr/>
        </p:nvSpPr>
        <p:spPr>
          <a:xfrm>
            <a:off x="1742599" y="3211790"/>
            <a:ext cx="4611052" cy="419100"/>
          </a:xfrm>
          <a:prstGeom prst="rect">
            <a:avLst/>
          </a:prstGeom>
          <a:noFill/>
          <a:ln/>
        </p:spPr>
        <p:txBody>
          <a:bodyPr wrap="square" lIns="25400" tIns="25400" rIns="25400" bIns="25400" rtlCol="0" anchor="t">
            <a:normAutofit lnSpcReduction="10000"/>
          </a:bodyPr>
          <a:lstStyle/>
          <a:p>
            <a:pPr marL="0" indent="0" algn="ctr">
              <a:buNone/>
            </a:pPr>
            <a:r>
              <a:rPr lang="en-US" sz="2500" i="1" dirty="0">
                <a:solidFill>
                  <a:srgbClr val="000000"/>
                </a:solidFill>
                <a:latin typeface="Cambria Math" pitchFamily="34" charset="0"/>
                <a:ea typeface="Cambria Math" pitchFamily="34" charset="-122"/>
                <a:cs typeface="Cambria Math" pitchFamily="34" charset="-120"/>
              </a:rPr>
              <a:t>δ = P L³ / (3 E I)</a:t>
            </a:r>
            <a:endParaRPr lang="en-US" sz="2500" dirty="0"/>
          </a:p>
        </p:txBody>
      </p:sp>
      <p:sp>
        <p:nvSpPr>
          <p:cNvPr id="5" name="Shape 17"/>
          <p:cNvSpPr/>
          <p:nvPr/>
        </p:nvSpPr>
        <p:spPr>
          <a:xfrm>
            <a:off x="1809750" y="3935690"/>
            <a:ext cx="4476750" cy="2937371"/>
          </a:xfrm>
          <a:prstGeom prst="roundRect">
            <a:avLst>
              <a:gd name="adj" fmla="val 3891"/>
            </a:avLst>
          </a:prstGeom>
          <a:solidFill>
            <a:srgbClr val="1E1E1E"/>
          </a:solidFill>
          <a:ln/>
        </p:spPr>
        <p:txBody>
          <a:bodyPr/>
          <a:lstStyle/>
          <a:p>
            <a:endParaRPr lang="en-US"/>
          </a:p>
        </p:txBody>
      </p:sp>
      <p:sp>
        <p:nvSpPr>
          <p:cNvPr id="6" name="Text 18"/>
          <p:cNvSpPr/>
          <p:nvPr/>
        </p:nvSpPr>
        <p:spPr>
          <a:xfrm>
            <a:off x="2057400" y="4164290"/>
            <a:ext cx="4115752" cy="2518271"/>
          </a:xfrm>
          <a:prstGeom prst="rect">
            <a:avLst/>
          </a:prstGeom>
          <a:noFill/>
          <a:ln/>
        </p:spPr>
        <p:txBody>
          <a:bodyPr wrap="none" lIns="25400" tIns="25400" rIns="25400" bIns="25400" rtlCol="0" anchor="t">
            <a:normAutofit lnSpcReduction="10000"/>
          </a:bodyPr>
          <a:lstStyle/>
          <a:p>
            <a:pPr marL="0" indent="0" algn="l">
              <a:lnSpc>
                <a:spcPct val="136098"/>
              </a:lnSpc>
              <a:buNone/>
            </a:pPr>
            <a:r>
              <a:rPr lang="en-US" sz="1800" dirty="0">
                <a:solidFill>
                  <a:srgbClr val="D4D4D4"/>
                </a:solidFill>
                <a:latin typeface="Consolas" pitchFamily="34" charset="0"/>
                <a:ea typeface="Consolas" pitchFamily="34" charset="-122"/>
                <a:cs typeface="Consolas" pitchFamily="34" charset="-120"/>
              </a:rPr>
              <a:t>beam-calc/</a:t>
            </a:r>
            <a:endParaRPr lang="en-US" sz="1800" dirty="0"/>
          </a:p>
          <a:p>
            <a:pPr marL="0" indent="0" algn="l">
              <a:lnSpc>
                <a:spcPct val="136098"/>
              </a:lnSpc>
              <a:buNone/>
            </a:pPr>
            <a:r>
              <a:rPr lang="en-US" sz="1800" dirty="0">
                <a:solidFill>
                  <a:srgbClr val="D4D4D4"/>
                </a:solidFill>
                <a:latin typeface="Consolas" pitchFamily="34" charset="0"/>
                <a:ea typeface="Consolas" pitchFamily="34" charset="-122"/>
                <a:cs typeface="Consolas" pitchFamily="34" charset="-120"/>
              </a:rPr>
              <a:t>├─ README.md</a:t>
            </a:r>
            <a:endParaRPr lang="en-US" sz="1800" dirty="0"/>
          </a:p>
          <a:p>
            <a:pPr marL="0" indent="0" algn="l">
              <a:lnSpc>
                <a:spcPct val="136098"/>
              </a:lnSpc>
              <a:buNone/>
            </a:pPr>
            <a:r>
              <a:rPr lang="en-US" sz="1800" dirty="0">
                <a:solidFill>
                  <a:srgbClr val="D4D4D4"/>
                </a:solidFill>
                <a:latin typeface="Consolas" pitchFamily="34" charset="0"/>
                <a:ea typeface="Consolas" pitchFamily="34" charset="-122"/>
                <a:cs typeface="Consolas" pitchFamily="34" charset="-120"/>
              </a:rPr>
              <a:t>├─ AGENTS.md</a:t>
            </a:r>
            <a:endParaRPr lang="en-US" sz="1800" dirty="0"/>
          </a:p>
          <a:p>
            <a:pPr marL="0" indent="0" algn="l">
              <a:lnSpc>
                <a:spcPct val="136098"/>
              </a:lnSpc>
              <a:buNone/>
            </a:pPr>
            <a:r>
              <a:rPr lang="en-US" sz="1800" dirty="0">
                <a:solidFill>
                  <a:srgbClr val="D4D4D4"/>
                </a:solidFill>
                <a:latin typeface="Consolas" pitchFamily="34" charset="0"/>
                <a:ea typeface="Consolas" pitchFamily="34" charset="-122"/>
                <a:cs typeface="Consolas" pitchFamily="34" charset="-120"/>
              </a:rPr>
              <a:t>├─ .gitignore</a:t>
            </a:r>
            <a:endParaRPr lang="en-US" sz="1800" dirty="0"/>
          </a:p>
          <a:p>
            <a:pPr marL="0" indent="0" algn="l">
              <a:lnSpc>
                <a:spcPct val="136098"/>
              </a:lnSpc>
              <a:buNone/>
            </a:pPr>
            <a:r>
              <a:rPr lang="en-US" sz="1800" dirty="0">
                <a:solidFill>
                  <a:srgbClr val="D4D4D4"/>
                </a:solidFill>
                <a:latin typeface="Consolas" pitchFamily="34" charset="0"/>
                <a:ea typeface="Consolas" pitchFamily="34" charset="-122"/>
                <a:cs typeface="Consolas" pitchFamily="34" charset="-120"/>
              </a:rPr>
              <a:t>├─ beam.m</a:t>
            </a:r>
            <a:endParaRPr lang="en-US" sz="1800" dirty="0"/>
          </a:p>
          <a:p>
            <a:pPr marL="0" indent="0" algn="l">
              <a:lnSpc>
                <a:spcPct val="136098"/>
              </a:lnSpc>
              <a:buNone/>
            </a:pPr>
            <a:r>
              <a:rPr lang="en-US" sz="1800" dirty="0">
                <a:solidFill>
                  <a:srgbClr val="D4D4D4"/>
                </a:solidFill>
                <a:latin typeface="Consolas" pitchFamily="34" charset="0"/>
                <a:ea typeface="Consolas" pitchFamily="34" charset="-122"/>
                <a:cs typeface="Consolas" pitchFamily="34" charset="-120"/>
              </a:rPr>
              <a:t>└─ tests/</a:t>
            </a:r>
            <a:endParaRPr lang="en-US" sz="1800" dirty="0"/>
          </a:p>
          <a:p>
            <a:pPr marL="0" indent="0" algn="l">
              <a:lnSpc>
                <a:spcPct val="136098"/>
              </a:lnSpc>
              <a:buNone/>
            </a:pPr>
            <a:r>
              <a:rPr lang="en-US" sz="1800" dirty="0">
                <a:solidFill>
                  <a:srgbClr val="D4D4D4"/>
                </a:solidFill>
                <a:latin typeface="Consolas" pitchFamily="34" charset="0"/>
                <a:ea typeface="Consolas" pitchFamily="34" charset="-122"/>
                <a:cs typeface="Consolas" pitchFamily="34" charset="-120"/>
              </a:rPr>
              <a:t>   └─ testBeam.m</a:t>
            </a:r>
            <a:endParaRPr lang="en-US" sz="1800" dirty="0"/>
          </a:p>
        </p:txBody>
      </p:sp>
      <p:sp>
        <p:nvSpPr>
          <p:cNvPr id="7" name="Text 19"/>
          <p:cNvSpPr/>
          <p:nvPr/>
        </p:nvSpPr>
        <p:spPr>
          <a:xfrm>
            <a:off x="6572250" y="2122170"/>
            <a:ext cx="7006590" cy="29845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000"/>
                </a:solidFill>
                <a:latin typeface="Consolas" pitchFamily="34" charset="0"/>
                <a:ea typeface="Consolas" pitchFamily="34" charset="-122"/>
                <a:cs typeface="Consolas" pitchFamily="34" charset="-120"/>
              </a:rPr>
              <a:t>beam.m</a:t>
            </a:r>
            <a:endParaRPr lang="en-US" sz="1800" dirty="0"/>
          </a:p>
        </p:txBody>
      </p:sp>
      <p:sp>
        <p:nvSpPr>
          <p:cNvPr id="8" name="Shape 20"/>
          <p:cNvSpPr/>
          <p:nvPr/>
        </p:nvSpPr>
        <p:spPr>
          <a:xfrm>
            <a:off x="6572250" y="2515870"/>
            <a:ext cx="6915150" cy="3961606"/>
          </a:xfrm>
          <a:prstGeom prst="roundRect">
            <a:avLst>
              <a:gd name="adj" fmla="val 2885"/>
            </a:avLst>
          </a:prstGeom>
          <a:solidFill>
            <a:srgbClr val="1E1E1E"/>
          </a:solidFill>
          <a:ln/>
        </p:spPr>
        <p:txBody>
          <a:bodyPr/>
          <a:lstStyle/>
          <a:p>
            <a:endParaRPr lang="en-US"/>
          </a:p>
        </p:txBody>
      </p:sp>
      <p:sp>
        <p:nvSpPr>
          <p:cNvPr id="9" name="Text 21"/>
          <p:cNvSpPr/>
          <p:nvPr/>
        </p:nvSpPr>
        <p:spPr>
          <a:xfrm>
            <a:off x="6819900" y="2744470"/>
            <a:ext cx="6627304" cy="3542506"/>
          </a:xfrm>
          <a:prstGeom prst="rect">
            <a:avLst/>
          </a:prstGeom>
          <a:noFill/>
          <a:ln/>
        </p:spPr>
        <p:txBody>
          <a:bodyPr wrap="none" lIns="25400" tIns="25400" rIns="25400" bIns="25400" rtlCol="0" anchor="t">
            <a:normAutofit/>
          </a:bodyPr>
          <a:lstStyle/>
          <a:p>
            <a:pPr marL="0" indent="0" algn="l">
              <a:lnSpc>
                <a:spcPct val="138000"/>
              </a:lnSpc>
              <a:buNone/>
            </a:pPr>
            <a:r>
              <a:rPr lang="en-US" sz="1700" dirty="0">
                <a:solidFill>
                  <a:srgbClr val="6A9955"/>
                </a:solidFill>
                <a:latin typeface="Consolas" pitchFamily="34" charset="0"/>
                <a:ea typeface="Consolas" pitchFamily="34" charset="-122"/>
                <a:cs typeface="Consolas" pitchFamily="34" charset="-120"/>
              </a:rPr>
              <a:t>% Cantilever beam tip deflection</a:t>
            </a:r>
            <a:endParaRPr lang="en-US" sz="1700" dirty="0"/>
          </a:p>
          <a:p>
            <a:pPr marL="0" indent="0" algn="l">
              <a:lnSpc>
                <a:spcPct val="138000"/>
              </a:lnSpc>
              <a:buNone/>
            </a:pPr>
            <a:r>
              <a:rPr lang="en-US" sz="1700" dirty="0">
                <a:solidFill>
                  <a:srgbClr val="D4D4D4"/>
                </a:solidFill>
                <a:highlight>
                  <a:srgbClr val="1E1E1E"/>
                </a:highlight>
                <a:latin typeface="Consolas" pitchFamily="34" charset="0"/>
                <a:ea typeface="Consolas" pitchFamily="34" charset="-122"/>
                <a:cs typeface="Consolas" pitchFamily="34" charset="-120"/>
              </a:rPr>
              <a:t>E = 200e9;           </a:t>
            </a:r>
            <a:r>
              <a:rPr lang="en-US" sz="1700" dirty="0">
                <a:solidFill>
                  <a:srgbClr val="6A9955"/>
                </a:solidFill>
                <a:latin typeface="Consolas" pitchFamily="34" charset="0"/>
                <a:ea typeface="Consolas" pitchFamily="34" charset="-122"/>
                <a:cs typeface="Consolas" pitchFamily="34" charset="-120"/>
              </a:rPr>
              <a:t>% Pa, steel</a:t>
            </a:r>
            <a:endParaRPr lang="en-US" sz="1700" dirty="0"/>
          </a:p>
          <a:p>
            <a:pPr marL="0" indent="0" algn="l">
              <a:lnSpc>
                <a:spcPct val="138000"/>
              </a:lnSpc>
              <a:buNone/>
            </a:pPr>
            <a:r>
              <a:rPr lang="en-US" sz="1700" dirty="0">
                <a:solidFill>
                  <a:srgbClr val="D4D4D4"/>
                </a:solidFill>
                <a:highlight>
                  <a:srgbClr val="1E1E1E"/>
                </a:highlight>
                <a:latin typeface="Consolas" pitchFamily="34" charset="0"/>
                <a:ea typeface="Consolas" pitchFamily="34" charset="-122"/>
                <a:cs typeface="Consolas" pitchFamily="34" charset="-120"/>
              </a:rPr>
              <a:t>L = 2.0;             </a:t>
            </a:r>
            <a:r>
              <a:rPr lang="en-US" sz="1700" dirty="0">
                <a:solidFill>
                  <a:srgbClr val="6A9955"/>
                </a:solidFill>
                <a:latin typeface="Consolas" pitchFamily="34" charset="0"/>
                <a:ea typeface="Consolas" pitchFamily="34" charset="-122"/>
                <a:cs typeface="Consolas" pitchFamily="34" charset="-120"/>
              </a:rPr>
              <a:t>% m, length</a:t>
            </a:r>
            <a:endParaRPr lang="en-US" sz="1700" dirty="0"/>
          </a:p>
          <a:p>
            <a:pPr marL="0" indent="0" algn="l">
              <a:lnSpc>
                <a:spcPct val="138000"/>
              </a:lnSpc>
              <a:buNone/>
            </a:pPr>
            <a:r>
              <a:rPr lang="en-US" sz="1700" dirty="0">
                <a:solidFill>
                  <a:srgbClr val="D4D4D4"/>
                </a:solidFill>
                <a:highlight>
                  <a:srgbClr val="1E1E1E"/>
                </a:highlight>
                <a:latin typeface="Consolas" pitchFamily="34" charset="0"/>
                <a:ea typeface="Consolas" pitchFamily="34" charset="-122"/>
                <a:cs typeface="Consolas" pitchFamily="34" charset="-120"/>
              </a:rPr>
              <a:t>P = 500.0;           </a:t>
            </a:r>
            <a:r>
              <a:rPr lang="en-US" sz="1700" dirty="0">
                <a:solidFill>
                  <a:srgbClr val="6A9955"/>
                </a:solidFill>
                <a:latin typeface="Consolas" pitchFamily="34" charset="0"/>
                <a:ea typeface="Consolas" pitchFamily="34" charset="-122"/>
                <a:cs typeface="Consolas" pitchFamily="34" charset="-120"/>
              </a:rPr>
              <a:t>% N, tip load</a:t>
            </a:r>
            <a:endParaRPr lang="en-US" sz="1700" dirty="0"/>
          </a:p>
          <a:p>
            <a:pPr marL="0" indent="0" algn="l">
              <a:lnSpc>
                <a:spcPct val="138000"/>
              </a:lnSpc>
              <a:buNone/>
            </a:pPr>
            <a:r>
              <a:rPr lang="en-US" sz="1700" dirty="0">
                <a:solidFill>
                  <a:srgbClr val="D4D4D4"/>
                </a:solidFill>
                <a:highlight>
                  <a:srgbClr val="1E1E1E"/>
                </a:highlight>
                <a:latin typeface="Consolas" pitchFamily="34" charset="0"/>
                <a:ea typeface="Consolas" pitchFamily="34" charset="-122"/>
                <a:cs typeface="Consolas" pitchFamily="34" charset="-120"/>
              </a:rPr>
              <a:t>b = 0.05; h = 0.10;  </a:t>
            </a:r>
            <a:r>
              <a:rPr lang="en-US" sz="1700" dirty="0">
                <a:solidFill>
                  <a:srgbClr val="6A9955"/>
                </a:solidFill>
                <a:latin typeface="Consolas" pitchFamily="34" charset="0"/>
                <a:ea typeface="Consolas" pitchFamily="34" charset="-122"/>
                <a:cs typeface="Consolas" pitchFamily="34" charset="-120"/>
              </a:rPr>
              <a:t>% m, section</a:t>
            </a:r>
            <a:endParaRPr lang="en-US" sz="1700" dirty="0"/>
          </a:p>
          <a:p>
            <a:pPr marL="0" indent="0" algn="l">
              <a:lnSpc>
                <a:spcPct val="138000"/>
              </a:lnSpc>
              <a:buNone/>
            </a:pPr>
            <a:r>
              <a:rPr lang="en-US" sz="1700" dirty="0">
                <a:solidFill>
                  <a:srgbClr val="D4D4D4"/>
                </a:solidFill>
                <a:highlight>
                  <a:srgbClr val="1E1E1E"/>
                </a:highlight>
                <a:latin typeface="Consolas" pitchFamily="34" charset="0"/>
                <a:ea typeface="Consolas" pitchFamily="34" charset="-122"/>
                <a:cs typeface="Consolas" pitchFamily="34" charset="-120"/>
              </a:rPr>
              <a:t>I = b*h^3/12;</a:t>
            </a:r>
            <a:endParaRPr lang="en-US" sz="1700" dirty="0"/>
          </a:p>
          <a:p>
            <a:pPr marL="0" indent="0" algn="l">
              <a:lnSpc>
                <a:spcPct val="138000"/>
              </a:lnSpc>
              <a:buNone/>
            </a:pPr>
            <a:r>
              <a:rPr lang="en-US" sz="1700" dirty="0">
                <a:solidFill>
                  <a:srgbClr val="D4D4D4"/>
                </a:solidFill>
                <a:highlight>
                  <a:srgbClr val="1E1E1E"/>
                </a:highlight>
                <a:latin typeface="Consolas" pitchFamily="34" charset="0"/>
                <a:ea typeface="Consolas" pitchFamily="34" charset="-122"/>
                <a:cs typeface="Consolas" pitchFamily="34" charset="-120"/>
              </a:rPr>
              <a:t>delta = P*L^3/(3*E*I);</a:t>
            </a:r>
            <a:endParaRPr lang="en-US" sz="1700" dirty="0"/>
          </a:p>
          <a:p>
            <a:pPr marL="0" indent="0" algn="l">
              <a:lnSpc>
                <a:spcPct val="138000"/>
              </a:lnSpc>
              <a:buNone/>
            </a:pPr>
            <a:r>
              <a:rPr lang="en-US" sz="1700" dirty="0">
                <a:solidFill>
                  <a:srgbClr val="D4D4D4"/>
                </a:solidFill>
                <a:highlight>
                  <a:srgbClr val="1E1E1E"/>
                </a:highlight>
                <a:latin typeface="Consolas" pitchFamily="34" charset="0"/>
                <a:ea typeface="Consolas" pitchFamily="34" charset="-122"/>
                <a:cs typeface="Consolas" pitchFamily="34" charset="-120"/>
              </a:rPr>
              <a:t>fprintf('Tip deflection: %.2f mm\n', delta*1e3)</a:t>
            </a:r>
            <a:endParaRPr lang="en-US" sz="1700" dirty="0"/>
          </a:p>
        </p:txBody>
      </p:sp>
      <p:sp>
        <p:nvSpPr>
          <p:cNvPr id="10" name="Text 22"/>
          <p:cNvSpPr/>
          <p:nvPr/>
        </p:nvSpPr>
        <p:spPr>
          <a:xfrm>
            <a:off x="6572250" y="6610826"/>
            <a:ext cx="700659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404040"/>
                </a:solidFill>
                <a:latin typeface="+mn-lt"/>
                <a:ea typeface="+mn-ea"/>
                <a:cs typeface="+mn-cs"/>
              </a:rPr>
              <a:t>Output: </a:t>
            </a:r>
            <a:r>
              <a:rPr lang="en-US" sz="1800" dirty="0">
                <a:solidFill>
                  <a:srgbClr val="404040"/>
                </a:solidFill>
                <a:latin typeface="Consolas" pitchFamily="34" charset="0"/>
                <a:ea typeface="Consolas" pitchFamily="34" charset="-122"/>
                <a:cs typeface="Consolas" pitchFamily="34" charset="-120"/>
              </a:rPr>
              <a:t>Tip deflection: 1.60 mm</a:t>
            </a:r>
            <a:endParaRPr lang="en-US" sz="1800" dirty="0"/>
          </a:p>
        </p:txBody>
      </p:sp>
      <p:sp>
        <p:nvSpPr>
          <p:cNvPr id="11" name="Nav highlight"/>
          <p:cNvSpPr txBox="1"/>
          <p:nvPr userDrawn="1"/>
        </p:nvSpPr>
        <p:spPr>
          <a:xfrm>
            <a:off x="133350" y="3143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Setup</a:t>
            </a:r>
            <a:endParaRPr lang="en-US" sz="1800" b="1" dirty="0"/>
          </a:p>
        </p:txBody>
      </p:sp>
      <p:sp>
        <p:nvSpPr>
          <p:cNvPr id="12"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13" name="Slide Number"/>
          <p:cNvSpPr>
            <a:spLocks noGrp="1"/>
          </p:cNvSpPr>
          <p:nvPr>
            <p:ph type="sldNum" sz="quarter" idx="12"/>
          </p:nvPr>
        </p:nvSpPr>
        <p:spPr/>
        <p:txBody>
          <a:bodyPr/>
          <a:lstStyle/>
          <a:p>
            <a:fld id="{B6F15528-21DE-4FAA-801E-634DDDAF4B2B}" type="slidenum">
              <a:rPr lang="en-US"/>
              <a:t>9</a:t>
            </a:fld>
            <a:endParaRPr lang="en-US"/>
          </a:p>
        </p:txBody>
      </p:sp>
      <p:sp>
        <p:nvSpPr>
          <p:cNvPr id="14" name="Intro"/>
          <p:cNvSpPr txBox="1"/>
          <p:nvPr/>
        </p:nvSpPr>
        <p:spPr>
          <a:xfrm>
            <a:off x="1810512" y="1481328"/>
            <a:ext cx="11704320" cy="411480"/>
          </a:xfrm>
          <a:prstGeom prst="rect">
            <a:avLst/>
          </a:prstGeom>
          <a:noFill/>
        </p:spPr>
        <p:txBody>
          <a:bodyPr wrap="square" lIns="25400" rIns="25400" tIns="25400" bIns="25400">
            <a:spAutoFit/>
          </a:bodyPr>
          <a:lstStyle/>
          <a:p>
            <a:r>
              <a:rPr sz="2000" b="1"/>
              <a:t>Today’s practice project. </a:t>
            </a:r>
            <a:r>
              <a:rPr sz="2000" b="0"/>
              <a:t>In Exercise 2 you copy it to your own GitHub account; Exercises 3–8 change it.</a:t>
            </a:r>
          </a:p>
        </p:txBody>
      </p:sp>
      <p:sp>
        <p:nvSpPr>
          <p:cNvPr id="15" name="File list caption"/>
          <p:cNvSpPr txBox="1"/>
          <p:nvPr/>
        </p:nvSpPr>
        <p:spPr>
          <a:xfrm>
            <a:off x="1810512" y="6967728"/>
            <a:ext cx="4480560" cy="1097280"/>
          </a:xfrm>
          <a:prstGeom prst="rect">
            <a:avLst/>
          </a:prstGeom>
          <a:noFill/>
        </p:spPr>
        <p:txBody>
          <a:bodyPr wrap="square" lIns="25400" rIns="25400" tIns="25400" bIns="25400">
            <a:spAutoFit/>
          </a:bodyPr>
          <a:lstStyle/>
          <a:p>
            <a:r>
              <a:rPr sz="1600" b="0">
                <a:solidFill>
                  <a:srgbClr val="404040"/>
                </a:solidFill>
              </a:rPr>
              <a:t>The files in the repo. You’ll edit beam.m; tests/ checks it. README.md, AGENTS.md, and .gitignore come back at the end of the lesson.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Exercise 2: Copy &amp; Clone</a:t>
            </a:r>
          </a:p>
        </p:txBody>
      </p:sp>
      <p:sp>
        <p:nvSpPr>
          <p:cNvPr id="3" name="Shape 15"/>
          <p:cNvSpPr/>
          <p:nvPr/>
        </p:nvSpPr>
        <p:spPr>
          <a:xfrm>
            <a:off x="1809750" y="1524000"/>
            <a:ext cx="1314450" cy="381000"/>
          </a:xfrm>
          <a:prstGeom prst="roundRect">
            <a:avLst>
              <a:gd name="adj" fmla="val 15000"/>
            </a:avLst>
          </a:prstGeom>
          <a:solidFill>
            <a:srgbClr val="595959"/>
          </a:solidFill>
          <a:ln/>
        </p:spPr>
        <p:txBody>
          <a:bodyPr/>
          <a:lstStyle/>
          <a:p>
            <a:endParaRPr/>
          </a:p>
        </p:txBody>
      </p:sp>
      <p:sp>
        <p:nvSpPr>
          <p:cNvPr id="4" name="Text 16"/>
          <p:cNvSpPr/>
          <p:nvPr/>
        </p:nvSpPr>
        <p:spPr>
          <a:xfrm>
            <a:off x="1962150" y="1562100"/>
            <a:ext cx="108585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EXERCISE</a:t>
            </a:r>
            <a:endParaRPr lang="en-US" sz="1800" dirty="0"/>
          </a:p>
        </p:txBody>
      </p:sp>
      <p:sp>
        <p:nvSpPr>
          <p:cNvPr id="5" name="Text 17"/>
          <p:cNvSpPr/>
          <p:nvPr/>
        </p:nvSpPr>
        <p:spPr>
          <a:xfrm>
            <a:off x="1809750" y="2114550"/>
            <a:ext cx="6286500" cy="368300"/>
          </a:xfrm>
          <a:prstGeom prst="rect">
            <a:avLst/>
          </a:prstGeom>
          <a:noFill/>
          <a:ln/>
        </p:spPr>
        <p:txBody>
          <a:bodyPr wrap="square" lIns="25400" tIns="25400" rIns="25400" bIns="25400" rtlCol="0" anchor="t">
            <a:normAutofit/>
          </a:bodyPr>
          <a:lstStyle/>
          <a:p>
            <a:pPr marL="0" indent="0" algn="l">
              <a:buNone/>
            </a:pPr>
            <a:r>
              <a:rPr lang="en-US" sz="1900" b="1" dirty="0">
                <a:solidFill>
                  <a:srgbClr val="152A47"/>
                </a:solidFill>
                <a:latin typeface="+mn-lt"/>
                <a:ea typeface="+mn-ea"/>
                <a:cs typeface="+mn-cs"/>
              </a:rPr>
              <a:t>On GitHub (browser)</a:t>
            </a:r>
            <a:endParaRPr lang="en-US" sz="1900" dirty="0"/>
          </a:p>
        </p:txBody>
      </p:sp>
      <p:sp>
        <p:nvSpPr>
          <p:cNvPr id="6" name="Text 18"/>
          <p:cNvSpPr/>
          <p:nvPr/>
        </p:nvSpPr>
        <p:spPr>
          <a:xfrm>
            <a:off x="1809750" y="2654300"/>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7" name="Text 19"/>
          <p:cNvSpPr/>
          <p:nvPr/>
        </p:nvSpPr>
        <p:spPr>
          <a:xfrm>
            <a:off x="2343150" y="2654300"/>
            <a:ext cx="9563100" cy="423863"/>
          </a:xfrm>
          <a:prstGeom prst="rect">
            <a:avLst/>
          </a:prstGeom>
          <a:noFill/>
          <a:ln/>
        </p:spPr>
        <p:txBody>
          <a:bodyPr wrap="square" lIns="25400" tIns="25400" rIns="25400" bIns="25400" rtlCol="0" anchor="t">
            <a:normAutofit/>
          </a:bodyPr>
          <a:lstStyle/>
          <a:p>
            <a:r>
              <a:rPr lang="en-US" sz="2000" dirty="0">
                <a:solidFill>
                  <a:srgbClr val="000000"/>
                </a:solidFill>
                <a:latin typeface="+mn-lt"/>
                <a:ea typeface="+mn-ea"/>
                <a:cs typeface="+mn-cs"/>
              </a:rPr>
              <a:t>Open the course lead’s beam-calc link: </a:t>
            </a:r>
            <a:r>
              <a:rPr lang="en-US" sz="2000" dirty="0">
                <a:hlinkClick r:id="rId3"/>
              </a:rPr>
              <a:t>https://github.com/usafa-dfas/beam-calc</a:t>
            </a:r>
            <a:r>
              <a:rPr lang="en-US" sz="2000" dirty="0"/>
              <a:t> </a:t>
            </a:r>
          </a:p>
        </p:txBody>
      </p:sp>
      <p:sp>
        <p:nvSpPr>
          <p:cNvPr id="8" name="Text 20"/>
          <p:cNvSpPr/>
          <p:nvPr/>
        </p:nvSpPr>
        <p:spPr>
          <a:xfrm>
            <a:off x="1809750" y="3211513"/>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9" name="Text 21"/>
          <p:cNvSpPr/>
          <p:nvPr/>
        </p:nvSpPr>
        <p:spPr>
          <a:xfrm>
            <a:off x="2343150" y="3211513"/>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b="1" dirty="0">
                <a:solidFill>
                  <a:srgbClr val="000000"/>
                </a:solidFill>
                <a:latin typeface="+mn-lt"/>
                <a:ea typeface="+mn-ea"/>
                <a:cs typeface="+mn-cs"/>
              </a:rPr>
              <a:t>Use this template </a:t>
            </a:r>
            <a:r>
              <a:rPr lang="en-US" sz="2000" dirty="0">
                <a:solidFill>
                  <a:srgbClr val="000000"/>
                </a:solidFill>
                <a:latin typeface="+mn-lt"/>
                <a:ea typeface="+mn-ea"/>
                <a:cs typeface="+mn-cs"/>
              </a:rPr>
              <a:t>› Create a new repository. Owner: you. Visibility: </a:t>
            </a:r>
            <a:r>
              <a:rPr lang="en-US" sz="2000" b="1" dirty="0">
                <a:solidFill>
                  <a:srgbClr val="000000"/>
                </a:solidFill>
                <a:latin typeface="+mn-lt"/>
                <a:ea typeface="+mn-ea"/>
                <a:cs typeface="+mn-cs"/>
              </a:rPr>
              <a:t>Private</a:t>
            </a:r>
            <a:r>
              <a:rPr lang="en-US" sz="2000" dirty="0">
                <a:solidFill>
                  <a:srgbClr val="000000"/>
                </a:solidFill>
                <a:latin typeface="+mn-lt"/>
                <a:ea typeface="+mn-ea"/>
                <a:cs typeface="+mn-cs"/>
              </a:rPr>
              <a:t>.</a:t>
            </a:r>
            <a:endParaRPr lang="en-US" sz="2000" dirty="0"/>
          </a:p>
        </p:txBody>
      </p:sp>
      <p:sp>
        <p:nvSpPr>
          <p:cNvPr id="10" name="Text 22"/>
          <p:cNvSpPr/>
          <p:nvPr/>
        </p:nvSpPr>
        <p:spPr>
          <a:xfrm>
            <a:off x="1962150" y="6840538"/>
            <a:ext cx="6286500" cy="368300"/>
          </a:xfrm>
          <a:prstGeom prst="rect">
            <a:avLst/>
          </a:prstGeom>
          <a:noFill/>
          <a:ln/>
        </p:spPr>
        <p:txBody>
          <a:bodyPr wrap="square" lIns="25400" tIns="25400" rIns="25400" bIns="25400" rtlCol="0" anchor="t">
            <a:normAutofit/>
          </a:bodyPr>
          <a:lstStyle/>
          <a:p>
            <a:pPr marL="0" indent="0" algn="l">
              <a:buNone/>
            </a:pPr>
            <a:r>
              <a:rPr lang="en-US" sz="1900" b="1" dirty="0">
                <a:solidFill>
                  <a:srgbClr val="152A47"/>
                </a:solidFill>
                <a:latin typeface="+mn-lt"/>
                <a:ea typeface="+mn-ea"/>
                <a:cs typeface="+mn-cs"/>
              </a:rPr>
              <a:t>In GitHub Desktop</a:t>
            </a:r>
            <a:endParaRPr lang="en-US" sz="1900" dirty="0"/>
          </a:p>
        </p:txBody>
      </p:sp>
      <p:sp>
        <p:nvSpPr>
          <p:cNvPr id="11" name="Text 23"/>
          <p:cNvSpPr/>
          <p:nvPr/>
        </p:nvSpPr>
        <p:spPr>
          <a:xfrm>
            <a:off x="1962150" y="7380289"/>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12" name="Text 24"/>
          <p:cNvSpPr/>
          <p:nvPr/>
        </p:nvSpPr>
        <p:spPr>
          <a:xfrm>
            <a:off x="2495550" y="7380289"/>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File › </a:t>
            </a:r>
            <a:r>
              <a:rPr lang="en-US" sz="2000" b="1" dirty="0">
                <a:solidFill>
                  <a:srgbClr val="000000"/>
                </a:solidFill>
                <a:latin typeface="+mn-lt"/>
                <a:ea typeface="+mn-ea"/>
                <a:cs typeface="+mn-cs"/>
              </a:rPr>
              <a:t>Clone repository </a:t>
            </a:r>
            <a:r>
              <a:rPr lang="en-US" sz="2000" dirty="0">
                <a:solidFill>
                  <a:srgbClr val="000000"/>
                </a:solidFill>
                <a:latin typeface="+mn-lt"/>
                <a:ea typeface="+mn-ea"/>
                <a:cs typeface="+mn-cs"/>
              </a:rPr>
              <a:t>› pick your new beam-calc.</a:t>
            </a:r>
            <a:endParaRPr lang="en-US" sz="2000" dirty="0"/>
          </a:p>
        </p:txBody>
      </p:sp>
      <p:sp>
        <p:nvSpPr>
          <p:cNvPr id="13" name="Text 25"/>
          <p:cNvSpPr/>
          <p:nvPr/>
        </p:nvSpPr>
        <p:spPr>
          <a:xfrm>
            <a:off x="1962150" y="8246071"/>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4</a:t>
            </a:r>
            <a:endParaRPr lang="en-US" sz="2200" dirty="0"/>
          </a:p>
        </p:txBody>
      </p:sp>
      <p:sp>
        <p:nvSpPr>
          <p:cNvPr id="14" name="Text 26"/>
          <p:cNvSpPr/>
          <p:nvPr/>
        </p:nvSpPr>
        <p:spPr>
          <a:xfrm>
            <a:off x="2495550" y="8246071"/>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Choose a local path outside OneDrive. Click </a:t>
            </a:r>
            <a:r>
              <a:rPr lang="en-US" sz="2000" b="1" dirty="0">
                <a:solidFill>
                  <a:srgbClr val="000000"/>
                </a:solidFill>
                <a:latin typeface="+mn-lt"/>
                <a:ea typeface="+mn-ea"/>
                <a:cs typeface="+mn-cs"/>
              </a:rPr>
              <a:t>Clone</a:t>
            </a:r>
            <a:r>
              <a:rPr lang="en-US" sz="2000" dirty="0">
                <a:solidFill>
                  <a:srgbClr val="000000"/>
                </a:solidFill>
                <a:latin typeface="+mn-lt"/>
                <a:ea typeface="+mn-ea"/>
                <a:cs typeface="+mn-cs"/>
              </a:rPr>
              <a:t>.</a:t>
            </a:r>
            <a:endParaRPr lang="en-US" sz="2000" dirty="0"/>
          </a:p>
        </p:txBody>
      </p:sp>
      <p:sp>
        <p:nvSpPr>
          <p:cNvPr id="15" name="Text 27"/>
          <p:cNvSpPr/>
          <p:nvPr/>
        </p:nvSpPr>
        <p:spPr>
          <a:xfrm>
            <a:off x="1962150" y="9111854"/>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5</a:t>
            </a:r>
            <a:endParaRPr lang="en-US" sz="2200" dirty="0"/>
          </a:p>
        </p:txBody>
      </p:sp>
      <p:sp>
        <p:nvSpPr>
          <p:cNvPr id="16" name="Text 28"/>
          <p:cNvSpPr/>
          <p:nvPr/>
        </p:nvSpPr>
        <p:spPr>
          <a:xfrm>
            <a:off x="2495550" y="9111854"/>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Repository › Show in Explorer. Confirm the files are there.</a:t>
            </a:r>
            <a:endParaRPr lang="en-US" sz="2000" dirty="0"/>
          </a:p>
        </p:txBody>
      </p:sp>
      <p:sp>
        <p:nvSpPr>
          <p:cNvPr id="17" name="Nav highlight"/>
          <p:cNvSpPr txBox="1"/>
          <p:nvPr userDrawn="1"/>
        </p:nvSpPr>
        <p:spPr>
          <a:xfrm>
            <a:off x="133350" y="3524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Clone</a:t>
            </a:r>
            <a:endParaRPr lang="en-US" sz="1800" b="1" dirty="0"/>
          </a:p>
        </p:txBody>
      </p:sp>
      <p:sp>
        <p:nvSpPr>
          <p:cNvPr id="18"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19" name="Slide Number"/>
          <p:cNvSpPr>
            <a:spLocks noGrp="1"/>
          </p:cNvSpPr>
          <p:nvPr>
            <p:ph type="sldNum" sz="quarter" idx="12"/>
          </p:nvPr>
        </p:nvSpPr>
        <p:spPr/>
        <p:txBody>
          <a:bodyPr/>
          <a:lstStyle/>
          <a:p>
            <a:fld id="{B6F15528-21DE-4FAA-801E-634DDDAF4B2B}" type="slidenum">
              <a:rPr lang="en-US"/>
              <a:t>10</a:t>
            </a:fld>
            <a:endParaRPr lang="en-US"/>
          </a:p>
        </p:txBody>
      </p:sp>
      <p:pic>
        <p:nvPicPr>
          <p:cNvPr id="21" name="Picture 20">
            <a:extLst>
              <a:ext uri="{FF2B5EF4-FFF2-40B4-BE49-F238E27FC236}">
                <a16:creationId xmlns:a16="http://schemas.microsoft.com/office/drawing/2014/main" id="{F6E1AF76-2545-20C1-6B9D-C234068BCF97}"/>
              </a:ext>
            </a:extLst>
          </p:cNvPr>
          <p:cNvPicPr>
            <a:picLocks noChangeAspect="1"/>
          </p:cNvPicPr>
          <p:nvPr/>
        </p:nvPicPr>
        <p:blipFill>
          <a:blip r:embed="rId4"/>
          <a:stretch>
            <a:fillRect/>
          </a:stretch>
        </p:blipFill>
        <p:spPr>
          <a:xfrm>
            <a:off x="5785775" y="3782292"/>
            <a:ext cx="7213244" cy="3278312"/>
          </a:xfrm>
          <a:prstGeom prst="rect">
            <a:avLst/>
          </a:prstGeom>
        </p:spPr>
      </p:pic>
      <p:cxnSp>
        <p:nvCxnSpPr>
          <p:cNvPr id="23" name="Straight Arrow Connector 22">
            <a:extLst>
              <a:ext uri="{FF2B5EF4-FFF2-40B4-BE49-F238E27FC236}">
                <a16:creationId xmlns:a16="http://schemas.microsoft.com/office/drawing/2014/main" id="{09A8F2F3-48CC-DBEA-9C83-69B08D7096BF}"/>
              </a:ext>
            </a:extLst>
          </p:cNvPr>
          <p:cNvCxnSpPr>
            <a:cxnSpLocks/>
          </p:cNvCxnSpPr>
          <p:nvPr/>
        </p:nvCxnSpPr>
        <p:spPr>
          <a:xfrm>
            <a:off x="7073900" y="3416300"/>
            <a:ext cx="4832350" cy="8636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A8D43298-7184-3240-7734-642B55B18BCA}"/>
              </a:ext>
            </a:extLst>
          </p:cNvPr>
          <p:cNvPicPr>
            <a:picLocks noChangeAspect="1"/>
          </p:cNvPicPr>
          <p:nvPr/>
        </p:nvPicPr>
        <p:blipFill>
          <a:blip r:embed="rId5"/>
          <a:stretch>
            <a:fillRect/>
          </a:stretch>
        </p:blipFill>
        <p:spPr>
          <a:xfrm>
            <a:off x="9661205" y="7365961"/>
            <a:ext cx="2295845" cy="22196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Exercise 3: Edit, Review, Commit</a:t>
            </a:r>
          </a:p>
        </p:txBody>
      </p:sp>
      <p:sp>
        <p:nvSpPr>
          <p:cNvPr id="3" name="Shape 15"/>
          <p:cNvSpPr/>
          <p:nvPr/>
        </p:nvSpPr>
        <p:spPr>
          <a:xfrm>
            <a:off x="1809750" y="1524000"/>
            <a:ext cx="1314450" cy="381000"/>
          </a:xfrm>
          <a:prstGeom prst="roundRect">
            <a:avLst>
              <a:gd name="adj" fmla="val 15000"/>
            </a:avLst>
          </a:prstGeom>
          <a:solidFill>
            <a:srgbClr val="595959"/>
          </a:solidFill>
          <a:ln/>
        </p:spPr>
        <p:txBody>
          <a:bodyPr/>
          <a:lstStyle/>
          <a:p>
            <a:endParaRPr lang="en-US"/>
          </a:p>
        </p:txBody>
      </p:sp>
      <p:sp>
        <p:nvSpPr>
          <p:cNvPr id="4" name="Text 16"/>
          <p:cNvSpPr/>
          <p:nvPr/>
        </p:nvSpPr>
        <p:spPr>
          <a:xfrm>
            <a:off x="1962150" y="1562100"/>
            <a:ext cx="108585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EXERCISE</a:t>
            </a:r>
            <a:endParaRPr lang="en-US" sz="1800" dirty="0"/>
          </a:p>
        </p:txBody>
      </p:sp>
      <p:sp>
        <p:nvSpPr>
          <p:cNvPr id="5" name="Text 17"/>
          <p:cNvSpPr/>
          <p:nvPr/>
        </p:nvSpPr>
        <p:spPr>
          <a:xfrm>
            <a:off x="1809750" y="2114550"/>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6" name="Text 18"/>
          <p:cNvSpPr/>
          <p:nvPr/>
        </p:nvSpPr>
        <p:spPr>
          <a:xfrm>
            <a:off x="2343150" y="2114550"/>
            <a:ext cx="10674350" cy="423863"/>
          </a:xfrm>
          <a:prstGeom prst="rect">
            <a:avLst/>
          </a:prstGeom>
          <a:noFill/>
          <a:ln/>
        </p:spPr>
        <p:txBody>
          <a:bodyPr wrap="square" lIns="25400" tIns="25400" rIns="25400" bIns="25400" rtlCol="0" anchor="t">
            <a:normAutofit fontScale="92500"/>
          </a:bodyPr>
          <a:lstStyle/>
          <a:p>
            <a:pPr>
              <a:lnSpc>
                <a:spcPct val="101250"/>
              </a:lnSpc>
            </a:pPr>
            <a:r>
              <a:rPr lang="en-US" sz="2000" dirty="0">
                <a:solidFill>
                  <a:srgbClr val="000000"/>
                </a:solidFill>
              </a:rPr>
              <a:t>Open </a:t>
            </a:r>
            <a:r>
              <a:rPr lang="en-US" sz="2000" dirty="0" err="1">
                <a:solidFill>
                  <a:srgbClr val="000000"/>
                </a:solidFill>
              </a:rPr>
              <a:t>beam.m</a:t>
            </a:r>
            <a:r>
              <a:rPr lang="en-US" sz="2000" dirty="0">
                <a:solidFill>
                  <a:srgbClr val="000000"/>
                </a:solidFill>
              </a:rPr>
              <a:t> in MATLAB, (or for faster editing: right-click Current </a:t>
            </a:r>
            <a:r>
              <a:rPr lang="en-US" sz="2000" dirty="0">
                <a:solidFill>
                  <a:srgbClr val="000000"/>
                </a:solidFill>
                <a:latin typeface="+mn-lt"/>
                <a:ea typeface="+mn-ea"/>
                <a:cs typeface="+mn-cs"/>
              </a:rPr>
              <a:t>Repository › </a:t>
            </a:r>
            <a:r>
              <a:rPr lang="en-US" sz="2000" b="1" dirty="0">
                <a:solidFill>
                  <a:srgbClr val="000000"/>
                </a:solidFill>
                <a:latin typeface="+mn-lt"/>
                <a:ea typeface="+mn-ea"/>
                <a:cs typeface="+mn-cs"/>
              </a:rPr>
              <a:t>Open in Visual Studio Code</a:t>
            </a:r>
            <a:r>
              <a:rPr lang="en-US" sz="2000" b="1" dirty="0">
                <a:solidFill>
                  <a:srgbClr val="000000"/>
                </a:solidFill>
              </a:rPr>
              <a:t>)</a:t>
            </a:r>
            <a:endParaRPr lang="en-US" sz="2000" dirty="0"/>
          </a:p>
        </p:txBody>
      </p:sp>
      <p:sp>
        <p:nvSpPr>
          <p:cNvPr id="7" name="Text 19"/>
          <p:cNvSpPr/>
          <p:nvPr/>
        </p:nvSpPr>
        <p:spPr>
          <a:xfrm>
            <a:off x="1809750" y="2690813"/>
            <a:ext cx="609600" cy="744637"/>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8" name="Text 20"/>
          <p:cNvSpPr/>
          <p:nvPr/>
        </p:nvSpPr>
        <p:spPr>
          <a:xfrm>
            <a:off x="2343150" y="2690813"/>
            <a:ext cx="5337048" cy="744637"/>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In beam.m change the load to </a:t>
            </a:r>
            <a:r>
              <a:rPr lang="en-US" sz="1800" dirty="0">
                <a:solidFill>
                  <a:srgbClr val="000000"/>
                </a:solidFill>
                <a:latin typeface="Consolas" pitchFamily="34" charset="0"/>
                <a:ea typeface="Consolas" pitchFamily="34" charset="-122"/>
                <a:cs typeface="Consolas" pitchFamily="34" charset="-120"/>
              </a:rPr>
              <a:t>P = 750.0; </a:t>
            </a:r>
            <a:r>
              <a:rPr lang="en-US" sz="2000" dirty="0">
                <a:solidFill>
                  <a:srgbClr val="000000"/>
                </a:solidFill>
                <a:latin typeface="+mn-lt"/>
                <a:ea typeface="+mn-ea"/>
                <a:cs typeface="+mn-cs"/>
              </a:rPr>
              <a:t>Save.</a:t>
            </a:r>
            <a:endParaRPr lang="en-US" sz="2000" dirty="0"/>
          </a:p>
        </p:txBody>
      </p:sp>
      <p:sp>
        <p:nvSpPr>
          <p:cNvPr id="9" name="Text 21"/>
          <p:cNvSpPr/>
          <p:nvPr/>
        </p:nvSpPr>
        <p:spPr>
          <a:xfrm>
            <a:off x="1809750" y="3383607"/>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10" name="Text 22"/>
          <p:cNvSpPr/>
          <p:nvPr/>
        </p:nvSpPr>
        <p:spPr>
          <a:xfrm>
            <a:off x="2343150" y="3383607"/>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Back in Desktop, open the </a:t>
            </a:r>
            <a:r>
              <a:rPr lang="en-US" sz="2000" b="1" dirty="0">
                <a:solidFill>
                  <a:srgbClr val="000000"/>
                </a:solidFill>
                <a:latin typeface="+mn-lt"/>
                <a:ea typeface="+mn-ea"/>
                <a:cs typeface="+mn-cs"/>
              </a:rPr>
              <a:t>Changes </a:t>
            </a:r>
            <a:r>
              <a:rPr lang="en-US" sz="2000" dirty="0">
                <a:solidFill>
                  <a:srgbClr val="000000"/>
                </a:solidFill>
                <a:latin typeface="+mn-lt"/>
                <a:ea typeface="+mn-ea"/>
                <a:cs typeface="+mn-cs"/>
              </a:rPr>
              <a:t>tab and read the diff.</a:t>
            </a:r>
            <a:endParaRPr lang="en-US" sz="2000" dirty="0"/>
          </a:p>
        </p:txBody>
      </p:sp>
      <p:sp>
        <p:nvSpPr>
          <p:cNvPr id="11" name="Text 23"/>
          <p:cNvSpPr/>
          <p:nvPr/>
        </p:nvSpPr>
        <p:spPr>
          <a:xfrm>
            <a:off x="1809750" y="4268440"/>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4</a:t>
            </a:r>
            <a:endParaRPr lang="en-US" sz="2200" dirty="0"/>
          </a:p>
        </p:txBody>
      </p:sp>
      <p:sp>
        <p:nvSpPr>
          <p:cNvPr id="12" name="Text 24"/>
          <p:cNvSpPr/>
          <p:nvPr/>
        </p:nvSpPr>
        <p:spPr>
          <a:xfrm>
            <a:off x="2343150" y="4268440"/>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Summary: </a:t>
            </a:r>
            <a:r>
              <a:rPr lang="en-US" sz="2000" i="1" dirty="0">
                <a:solidFill>
                  <a:srgbClr val="000000"/>
                </a:solidFill>
                <a:latin typeface="+mn-lt"/>
                <a:ea typeface="+mn-ea"/>
                <a:cs typeface="+mn-cs"/>
              </a:rPr>
              <a:t>Increase tip load to 750 N</a:t>
            </a:r>
            <a:r>
              <a:rPr lang="en-US" sz="2000" dirty="0">
                <a:solidFill>
                  <a:srgbClr val="000000"/>
                </a:solidFill>
                <a:latin typeface="+mn-lt"/>
                <a:ea typeface="+mn-ea"/>
                <a:cs typeface="+mn-cs"/>
              </a:rPr>
              <a:t>. Click </a:t>
            </a:r>
            <a:r>
              <a:rPr lang="en-US" sz="2000" b="1" dirty="0">
                <a:solidFill>
                  <a:srgbClr val="000000"/>
                </a:solidFill>
                <a:latin typeface="+mn-lt"/>
                <a:ea typeface="+mn-ea"/>
                <a:cs typeface="+mn-cs"/>
              </a:rPr>
              <a:t>Commit to main</a:t>
            </a:r>
            <a:r>
              <a:rPr lang="en-US" sz="2000" dirty="0">
                <a:solidFill>
                  <a:srgbClr val="000000"/>
                </a:solidFill>
                <a:latin typeface="+mn-lt"/>
                <a:ea typeface="+mn-ea"/>
                <a:cs typeface="+mn-cs"/>
              </a:rPr>
              <a:t>.</a:t>
            </a:r>
            <a:endParaRPr lang="en-US" sz="2000" dirty="0"/>
          </a:p>
        </p:txBody>
      </p:sp>
      <p:sp>
        <p:nvSpPr>
          <p:cNvPr id="13" name="Text 25"/>
          <p:cNvSpPr/>
          <p:nvPr/>
        </p:nvSpPr>
        <p:spPr>
          <a:xfrm>
            <a:off x="1809750" y="5153273"/>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5</a:t>
            </a:r>
            <a:endParaRPr lang="en-US" sz="2200" dirty="0"/>
          </a:p>
        </p:txBody>
      </p:sp>
      <p:sp>
        <p:nvSpPr>
          <p:cNvPr id="14" name="Text 26"/>
          <p:cNvSpPr/>
          <p:nvPr/>
        </p:nvSpPr>
        <p:spPr>
          <a:xfrm>
            <a:off x="2343150" y="5153273"/>
            <a:ext cx="569976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Click </a:t>
            </a:r>
            <a:r>
              <a:rPr lang="en-US" sz="2000" b="1" dirty="0">
                <a:solidFill>
                  <a:srgbClr val="000000"/>
                </a:solidFill>
                <a:latin typeface="+mn-lt"/>
                <a:ea typeface="+mn-ea"/>
                <a:cs typeface="+mn-cs"/>
              </a:rPr>
              <a:t>Push origin</a:t>
            </a:r>
            <a:r>
              <a:rPr lang="en-US" sz="2000" dirty="0">
                <a:solidFill>
                  <a:srgbClr val="000000"/>
                </a:solidFill>
                <a:latin typeface="+mn-lt"/>
                <a:ea typeface="+mn-ea"/>
                <a:cs typeface="+mn-cs"/>
              </a:rPr>
              <a:t>. Refresh GitHub to see it.</a:t>
            </a:r>
            <a:endParaRPr lang="en-US" sz="2000" dirty="0"/>
          </a:p>
        </p:txBody>
      </p:sp>
      <p:sp>
        <p:nvSpPr>
          <p:cNvPr id="15" name="Shape 27"/>
          <p:cNvSpPr/>
          <p:nvPr/>
        </p:nvSpPr>
        <p:spPr>
          <a:xfrm>
            <a:off x="1809750" y="5748585"/>
            <a:ext cx="5715000" cy="1432322"/>
          </a:xfrm>
          <a:prstGeom prst="roundRect">
            <a:avLst>
              <a:gd name="adj" fmla="val 7980"/>
            </a:avLst>
          </a:prstGeom>
          <a:solidFill>
            <a:srgbClr val="1E1E1E"/>
          </a:solidFill>
          <a:ln/>
        </p:spPr>
        <p:txBody>
          <a:bodyPr/>
          <a:lstStyle/>
          <a:p>
            <a:endParaRPr lang="en-US"/>
          </a:p>
        </p:txBody>
      </p:sp>
      <p:sp>
        <p:nvSpPr>
          <p:cNvPr id="16" name="Text 28"/>
          <p:cNvSpPr/>
          <p:nvPr/>
        </p:nvSpPr>
        <p:spPr>
          <a:xfrm>
            <a:off x="2038350" y="5939085"/>
            <a:ext cx="5415534" cy="388541"/>
          </a:xfrm>
          <a:prstGeom prst="rect">
            <a:avLst/>
          </a:prstGeom>
          <a:noFill/>
          <a:ln/>
        </p:spPr>
        <p:txBody>
          <a:bodyPr wrap="none" lIns="25400" tIns="25400" rIns="25400" bIns="25400" rtlCol="0" anchor="t">
            <a:normAutofit/>
          </a:bodyPr>
          <a:lstStyle/>
          <a:p>
            <a:pPr marL="0" indent="0" algn="l">
              <a:lnSpc>
                <a:spcPct val="138000"/>
              </a:lnSpc>
              <a:buNone/>
            </a:pPr>
            <a:r>
              <a:rPr lang="en-US" sz="1700" dirty="0">
                <a:solidFill>
                  <a:srgbClr val="8C8C8C"/>
                </a:solidFill>
                <a:latin typeface="Consolas" pitchFamily="34" charset="0"/>
                <a:ea typeface="Consolas" pitchFamily="34" charset="-122"/>
                <a:cs typeface="Consolas" pitchFamily="34" charset="-120"/>
              </a:rPr>
              <a:t>beam.m</a:t>
            </a:r>
            <a:endParaRPr lang="en-US" sz="1700" dirty="0"/>
          </a:p>
        </p:txBody>
      </p:sp>
      <p:sp>
        <p:nvSpPr>
          <p:cNvPr id="17" name="Text 29"/>
          <p:cNvSpPr/>
          <p:nvPr/>
        </p:nvSpPr>
        <p:spPr>
          <a:xfrm>
            <a:off x="2038350" y="6289526"/>
            <a:ext cx="5415534" cy="388541"/>
          </a:xfrm>
          <a:prstGeom prst="rect">
            <a:avLst/>
          </a:prstGeom>
          <a:noFill/>
          <a:ln/>
        </p:spPr>
        <p:txBody>
          <a:bodyPr wrap="none" lIns="25400" tIns="25400" rIns="25400" bIns="25400" rtlCol="0" anchor="t">
            <a:normAutofit/>
          </a:bodyPr>
          <a:lstStyle/>
          <a:p>
            <a:pPr marL="0" indent="0" algn="l">
              <a:lnSpc>
                <a:spcPct val="138000"/>
              </a:lnSpc>
              <a:buNone/>
            </a:pPr>
            <a:r>
              <a:rPr lang="en-US" sz="1700" dirty="0">
                <a:solidFill>
                  <a:srgbClr val="F48771"/>
                </a:solidFill>
                <a:latin typeface="Consolas" pitchFamily="34" charset="0"/>
                <a:ea typeface="Consolas" pitchFamily="34" charset="-122"/>
                <a:cs typeface="Consolas" pitchFamily="34" charset="-120"/>
              </a:rPr>
              <a:t>− P = 500.0;   % N, tip load</a:t>
            </a:r>
            <a:endParaRPr lang="en-US" sz="1700" dirty="0"/>
          </a:p>
        </p:txBody>
      </p:sp>
      <p:sp>
        <p:nvSpPr>
          <p:cNvPr id="18" name="Text 30"/>
          <p:cNvSpPr/>
          <p:nvPr/>
        </p:nvSpPr>
        <p:spPr>
          <a:xfrm>
            <a:off x="2038350" y="6639967"/>
            <a:ext cx="5415534" cy="388541"/>
          </a:xfrm>
          <a:prstGeom prst="rect">
            <a:avLst/>
          </a:prstGeom>
          <a:noFill/>
          <a:ln/>
        </p:spPr>
        <p:txBody>
          <a:bodyPr wrap="none" lIns="25400" tIns="25400" rIns="25400" bIns="25400" rtlCol="0" anchor="t">
            <a:normAutofit/>
          </a:bodyPr>
          <a:lstStyle/>
          <a:p>
            <a:pPr marL="0" indent="0" algn="l">
              <a:lnSpc>
                <a:spcPct val="138000"/>
              </a:lnSpc>
              <a:buNone/>
            </a:pPr>
            <a:r>
              <a:rPr lang="en-US" sz="1700" dirty="0">
                <a:solidFill>
                  <a:srgbClr val="89D185"/>
                </a:solidFill>
                <a:latin typeface="Consolas" pitchFamily="34" charset="0"/>
                <a:ea typeface="Consolas" pitchFamily="34" charset="-122"/>
                <a:cs typeface="Consolas" pitchFamily="34" charset="-120"/>
              </a:rPr>
              <a:t>+ P = 750.0;   % N, tip load</a:t>
            </a:r>
            <a:endParaRPr lang="en-US" sz="1700" dirty="0"/>
          </a:p>
        </p:txBody>
      </p:sp>
      <p:sp>
        <p:nvSpPr>
          <p:cNvPr id="19" name="Text 31"/>
          <p:cNvSpPr/>
          <p:nvPr/>
        </p:nvSpPr>
        <p:spPr>
          <a:xfrm>
            <a:off x="1809750" y="7390457"/>
            <a:ext cx="5886450" cy="678061"/>
          </a:xfrm>
          <a:prstGeom prst="rect">
            <a:avLst/>
          </a:prstGeom>
          <a:noFill/>
          <a:ln/>
        </p:spPr>
        <p:txBody>
          <a:bodyPr wrap="square" lIns="25400" tIns="25400" rIns="25400" bIns="25400" rtlCol="0" anchor="t">
            <a:normAutofit/>
          </a:bodyPr>
          <a:lstStyle/>
          <a:p>
            <a:pPr marL="0" indent="0" algn="l">
              <a:lnSpc>
                <a:spcPct val="105000"/>
              </a:lnSpc>
              <a:buNone/>
            </a:pPr>
            <a:r>
              <a:rPr lang="en-US" sz="1800" dirty="0">
                <a:solidFill>
                  <a:srgbClr val="404040"/>
                </a:solidFill>
                <a:latin typeface="+mn-lt"/>
                <a:ea typeface="+mn-ea"/>
                <a:cs typeface="+mn-cs"/>
              </a:rPr>
              <a:t>Good commits: one logical change, with a summary that says what and why.</a:t>
            </a:r>
            <a:endParaRPr lang="en-US" sz="1800" dirty="0"/>
          </a:p>
        </p:txBody>
      </p:sp>
      <p:sp>
        <p:nvSpPr>
          <p:cNvPr id="20" name="Nav highlight"/>
          <p:cNvSpPr txBox="1"/>
          <p:nvPr userDrawn="1"/>
        </p:nvSpPr>
        <p:spPr>
          <a:xfrm>
            <a:off x="133350" y="3905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Commit</a:t>
            </a:r>
            <a:endParaRPr lang="en-US" sz="1800" b="1" dirty="0"/>
          </a:p>
        </p:txBody>
      </p:sp>
      <p:sp>
        <p:nvSpPr>
          <p:cNvPr id="21"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2" name="Slide Number"/>
          <p:cNvSpPr>
            <a:spLocks noGrp="1"/>
          </p:cNvSpPr>
          <p:nvPr>
            <p:ph type="sldNum" sz="quarter" idx="12"/>
          </p:nvPr>
        </p:nvSpPr>
        <p:spPr/>
        <p:txBody>
          <a:bodyPr/>
          <a:lstStyle/>
          <a:p>
            <a:fld id="{B6F15528-21DE-4FAA-801E-634DDDAF4B2B}" type="slidenum">
              <a:rPr lang="en-US"/>
              <a:t>11</a:t>
            </a:fld>
            <a:endParaRPr lang="en-US"/>
          </a:p>
        </p:txBody>
      </p:sp>
      <p:pic>
        <p:nvPicPr>
          <p:cNvPr id="23" name="Screenshot placeholder" descr="Screenshot to add: GitHub Desktop Changes tab: the beam.m diff (P = 500.0 → 750.0), the Summary box, and Commit to main"/>
          <p:cNvPicPr>
            <a:picLocks noChangeAspect="1"/>
          </p:cNvPicPr>
          <p:nvPr/>
        </p:nvPicPr>
        <p:blipFill>
          <a:blip r:embed="rId3"/>
          <a:stretch>
            <a:fillRect/>
          </a:stretch>
        </p:blipFill>
        <p:spPr>
          <a:xfrm>
            <a:off x="8138160" y="2743200"/>
            <a:ext cx="5349240" cy="3474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Exercise 4: Push, Fetch, Pull</a:t>
            </a:r>
          </a:p>
        </p:txBody>
      </p:sp>
      <p:sp>
        <p:nvSpPr>
          <p:cNvPr id="3" name="Shape 15"/>
          <p:cNvSpPr/>
          <p:nvPr/>
        </p:nvSpPr>
        <p:spPr>
          <a:xfrm>
            <a:off x="1809750" y="1524000"/>
            <a:ext cx="3790950" cy="1423988"/>
          </a:xfrm>
          <a:prstGeom prst="rect">
            <a:avLst/>
          </a:prstGeom>
          <a:solidFill>
            <a:srgbClr val="F2F2F2"/>
          </a:solidFill>
          <a:ln/>
        </p:spPr>
        <p:txBody>
          <a:bodyPr/>
          <a:lstStyle/>
          <a:p>
            <a:endParaRPr lang="en-US"/>
          </a:p>
        </p:txBody>
      </p:sp>
      <p:sp>
        <p:nvSpPr>
          <p:cNvPr id="4" name="Text 16"/>
          <p:cNvSpPr/>
          <p:nvPr/>
        </p:nvSpPr>
        <p:spPr>
          <a:xfrm>
            <a:off x="2019300" y="1733550"/>
            <a:ext cx="3709035" cy="323850"/>
          </a:xfrm>
          <a:prstGeom prst="rect">
            <a:avLst/>
          </a:prstGeom>
          <a:noFill/>
          <a:ln/>
        </p:spPr>
        <p:txBody>
          <a:bodyPr wrap="square" lIns="25400" tIns="25400" rIns="25400" bIns="25400" rtlCol="0" anchor="t">
            <a:normAutofit lnSpcReduction="10000"/>
          </a:bodyPr>
          <a:lstStyle/>
          <a:p>
            <a:pPr marL="0" indent="0" algn="l">
              <a:buNone/>
            </a:pPr>
            <a:r>
              <a:rPr lang="en-US" sz="1900" b="1" dirty="0">
                <a:solidFill>
                  <a:srgbClr val="152A47"/>
                </a:solidFill>
                <a:latin typeface="Consolas" pitchFamily="34" charset="0"/>
                <a:ea typeface="Consolas" pitchFamily="34" charset="-122"/>
                <a:cs typeface="Consolas" pitchFamily="34" charset="-120"/>
              </a:rPr>
              <a:t>Push origin</a:t>
            </a:r>
            <a:endParaRPr lang="en-US" sz="1900" dirty="0"/>
          </a:p>
        </p:txBody>
      </p:sp>
      <p:sp>
        <p:nvSpPr>
          <p:cNvPr id="5" name="Text 17"/>
          <p:cNvSpPr/>
          <p:nvPr/>
        </p:nvSpPr>
        <p:spPr>
          <a:xfrm>
            <a:off x="2019300" y="2095500"/>
            <a:ext cx="3709035" cy="359569"/>
          </a:xfrm>
          <a:prstGeom prst="rect">
            <a:avLst/>
          </a:prstGeom>
          <a:noFill/>
          <a:ln/>
        </p:spPr>
        <p:txBody>
          <a:bodyPr wrap="square" lIns="25400" tIns="25400" rIns="25400" bIns="25400" rtlCol="0" anchor="t">
            <a:normAutofit/>
          </a:bodyPr>
          <a:lstStyle/>
          <a:p>
            <a:pPr marL="0" indent="0" algn="l">
              <a:lnSpc>
                <a:spcPct val="103316"/>
              </a:lnSpc>
              <a:buNone/>
            </a:pPr>
            <a:r>
              <a:rPr lang="en-US" sz="1900" dirty="0">
                <a:solidFill>
                  <a:srgbClr val="000000"/>
                </a:solidFill>
                <a:latin typeface="+mn-lt"/>
                <a:ea typeface="+mn-ea"/>
                <a:cs typeface="+mn-cs"/>
              </a:rPr>
              <a:t>Upload your commits to GitHub</a:t>
            </a:r>
            <a:endParaRPr lang="en-US" sz="1900" dirty="0"/>
          </a:p>
        </p:txBody>
      </p:sp>
      <p:sp>
        <p:nvSpPr>
          <p:cNvPr id="6" name="Shape 18"/>
          <p:cNvSpPr/>
          <p:nvPr/>
        </p:nvSpPr>
        <p:spPr>
          <a:xfrm>
            <a:off x="5753100" y="1524000"/>
            <a:ext cx="3790950" cy="1423988"/>
          </a:xfrm>
          <a:prstGeom prst="rect">
            <a:avLst/>
          </a:prstGeom>
          <a:solidFill>
            <a:srgbClr val="F2F2F2"/>
          </a:solidFill>
          <a:ln/>
        </p:spPr>
        <p:txBody>
          <a:bodyPr/>
          <a:lstStyle/>
          <a:p>
            <a:endParaRPr lang="en-US"/>
          </a:p>
        </p:txBody>
      </p:sp>
      <p:sp>
        <p:nvSpPr>
          <p:cNvPr id="7" name="Text 19"/>
          <p:cNvSpPr/>
          <p:nvPr/>
        </p:nvSpPr>
        <p:spPr>
          <a:xfrm>
            <a:off x="5962650" y="1733550"/>
            <a:ext cx="3709035" cy="323850"/>
          </a:xfrm>
          <a:prstGeom prst="rect">
            <a:avLst/>
          </a:prstGeom>
          <a:noFill/>
          <a:ln/>
        </p:spPr>
        <p:txBody>
          <a:bodyPr wrap="square" lIns="25400" tIns="25400" rIns="25400" bIns="25400" rtlCol="0" anchor="t">
            <a:normAutofit lnSpcReduction="10000"/>
          </a:bodyPr>
          <a:lstStyle/>
          <a:p>
            <a:pPr marL="0" indent="0" algn="l">
              <a:buNone/>
            </a:pPr>
            <a:r>
              <a:rPr lang="en-US" sz="1900" b="1" dirty="0">
                <a:solidFill>
                  <a:srgbClr val="152A47"/>
                </a:solidFill>
                <a:latin typeface="Consolas" pitchFamily="34" charset="0"/>
                <a:ea typeface="Consolas" pitchFamily="34" charset="-122"/>
                <a:cs typeface="Consolas" pitchFamily="34" charset="-120"/>
              </a:rPr>
              <a:t>Fetch origin</a:t>
            </a:r>
            <a:endParaRPr lang="en-US" sz="1900" dirty="0"/>
          </a:p>
        </p:txBody>
      </p:sp>
      <p:sp>
        <p:nvSpPr>
          <p:cNvPr id="8" name="Text 20"/>
          <p:cNvSpPr/>
          <p:nvPr/>
        </p:nvSpPr>
        <p:spPr>
          <a:xfrm>
            <a:off x="5962650" y="2095500"/>
            <a:ext cx="3473006" cy="681038"/>
          </a:xfrm>
          <a:prstGeom prst="rect">
            <a:avLst/>
          </a:prstGeom>
          <a:noFill/>
          <a:ln/>
        </p:spPr>
        <p:txBody>
          <a:bodyPr wrap="square" lIns="25400" tIns="25400" rIns="25400" bIns="25400" rtlCol="0" anchor="t">
            <a:normAutofit/>
          </a:bodyPr>
          <a:lstStyle/>
          <a:p>
            <a:pPr marL="0" indent="0" algn="l">
              <a:lnSpc>
                <a:spcPct val="103316"/>
              </a:lnSpc>
              <a:buNone/>
            </a:pPr>
            <a:r>
              <a:rPr lang="en-US" sz="1900" dirty="0">
                <a:solidFill>
                  <a:srgbClr val="000000"/>
                </a:solidFill>
                <a:latin typeface="+mn-lt"/>
                <a:ea typeface="+mn-ea"/>
                <a:cs typeface="+mn-cs"/>
              </a:rPr>
              <a:t>Check GitHub for new commits. Files don’t change.</a:t>
            </a:r>
            <a:endParaRPr lang="en-US" sz="1900" dirty="0"/>
          </a:p>
        </p:txBody>
      </p:sp>
      <p:sp>
        <p:nvSpPr>
          <p:cNvPr id="9" name="Shape 21"/>
          <p:cNvSpPr/>
          <p:nvPr/>
        </p:nvSpPr>
        <p:spPr>
          <a:xfrm>
            <a:off x="9696450" y="1524000"/>
            <a:ext cx="3790950" cy="1423988"/>
          </a:xfrm>
          <a:prstGeom prst="rect">
            <a:avLst/>
          </a:prstGeom>
          <a:solidFill>
            <a:srgbClr val="F2F2F2"/>
          </a:solidFill>
          <a:ln/>
        </p:spPr>
        <p:txBody>
          <a:bodyPr/>
          <a:lstStyle/>
          <a:p>
            <a:endParaRPr lang="en-US"/>
          </a:p>
        </p:txBody>
      </p:sp>
      <p:sp>
        <p:nvSpPr>
          <p:cNvPr id="10" name="Text 22"/>
          <p:cNvSpPr/>
          <p:nvPr/>
        </p:nvSpPr>
        <p:spPr>
          <a:xfrm>
            <a:off x="9906000" y="1733550"/>
            <a:ext cx="3672840" cy="323850"/>
          </a:xfrm>
          <a:prstGeom prst="rect">
            <a:avLst/>
          </a:prstGeom>
          <a:noFill/>
          <a:ln/>
        </p:spPr>
        <p:txBody>
          <a:bodyPr wrap="square" lIns="25400" tIns="25400" rIns="25400" bIns="25400" rtlCol="0" anchor="t">
            <a:normAutofit lnSpcReduction="10000"/>
          </a:bodyPr>
          <a:lstStyle/>
          <a:p>
            <a:pPr marL="0" indent="0" algn="l">
              <a:buNone/>
            </a:pPr>
            <a:r>
              <a:rPr lang="en-US" sz="1900" b="1" dirty="0">
                <a:solidFill>
                  <a:srgbClr val="152A47"/>
                </a:solidFill>
                <a:latin typeface="Consolas" pitchFamily="34" charset="0"/>
                <a:ea typeface="Consolas" pitchFamily="34" charset="-122"/>
                <a:cs typeface="Consolas" pitchFamily="34" charset="-120"/>
              </a:rPr>
              <a:t>Pull origin</a:t>
            </a:r>
            <a:endParaRPr lang="en-US" sz="1900" dirty="0"/>
          </a:p>
        </p:txBody>
      </p:sp>
      <p:sp>
        <p:nvSpPr>
          <p:cNvPr id="11" name="Text 23"/>
          <p:cNvSpPr/>
          <p:nvPr/>
        </p:nvSpPr>
        <p:spPr>
          <a:xfrm>
            <a:off x="9906000" y="2095500"/>
            <a:ext cx="3473006" cy="681038"/>
          </a:xfrm>
          <a:prstGeom prst="rect">
            <a:avLst/>
          </a:prstGeom>
          <a:noFill/>
          <a:ln/>
        </p:spPr>
        <p:txBody>
          <a:bodyPr wrap="square" lIns="25400" tIns="25400" rIns="25400" bIns="25400" rtlCol="0" anchor="t">
            <a:normAutofit/>
          </a:bodyPr>
          <a:lstStyle/>
          <a:p>
            <a:pPr marL="0" indent="0" algn="l">
              <a:lnSpc>
                <a:spcPct val="103316"/>
              </a:lnSpc>
              <a:buNone/>
            </a:pPr>
            <a:r>
              <a:rPr lang="en-US" sz="1900" dirty="0">
                <a:solidFill>
                  <a:srgbClr val="000000"/>
                </a:solidFill>
                <a:latin typeface="+mn-lt"/>
                <a:ea typeface="+mn-ea"/>
                <a:cs typeface="+mn-cs"/>
              </a:rPr>
              <a:t>Download new commits into your files</a:t>
            </a:r>
            <a:endParaRPr lang="en-US" sz="1900" dirty="0"/>
          </a:p>
        </p:txBody>
      </p:sp>
      <p:sp>
        <p:nvSpPr>
          <p:cNvPr id="12" name="Shape 24"/>
          <p:cNvSpPr/>
          <p:nvPr/>
        </p:nvSpPr>
        <p:spPr>
          <a:xfrm>
            <a:off x="1809750" y="3271838"/>
            <a:ext cx="1314450" cy="381000"/>
          </a:xfrm>
          <a:prstGeom prst="roundRect">
            <a:avLst>
              <a:gd name="adj" fmla="val 15000"/>
            </a:avLst>
          </a:prstGeom>
          <a:solidFill>
            <a:srgbClr val="595959"/>
          </a:solidFill>
          <a:ln/>
        </p:spPr>
        <p:txBody>
          <a:bodyPr/>
          <a:lstStyle/>
          <a:p>
            <a:endParaRPr lang="en-US"/>
          </a:p>
        </p:txBody>
      </p:sp>
      <p:sp>
        <p:nvSpPr>
          <p:cNvPr id="13" name="Text 25"/>
          <p:cNvSpPr/>
          <p:nvPr/>
        </p:nvSpPr>
        <p:spPr>
          <a:xfrm>
            <a:off x="1962150" y="3309938"/>
            <a:ext cx="108585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EXERCISE</a:t>
            </a:r>
            <a:endParaRPr lang="en-US" sz="1800" dirty="0"/>
          </a:p>
        </p:txBody>
      </p:sp>
      <p:sp>
        <p:nvSpPr>
          <p:cNvPr id="14" name="Text 26"/>
          <p:cNvSpPr/>
          <p:nvPr/>
        </p:nvSpPr>
        <p:spPr>
          <a:xfrm>
            <a:off x="1809750" y="3900488"/>
            <a:ext cx="11769090" cy="381000"/>
          </a:xfrm>
          <a:prstGeom prst="rect">
            <a:avLst/>
          </a:prstGeom>
          <a:noFill/>
          <a:ln/>
        </p:spPr>
        <p:txBody>
          <a:bodyPr wrap="square" lIns="25400" tIns="25400" rIns="25400" bIns="25400" rtlCol="0" anchor="t">
            <a:normAutofit/>
          </a:bodyPr>
          <a:lstStyle/>
          <a:p>
            <a:pPr marL="0" indent="0" algn="l">
              <a:buNone/>
            </a:pPr>
            <a:r>
              <a:rPr lang="en-US" sz="2000" dirty="0">
                <a:solidFill>
                  <a:srgbClr val="000000"/>
                </a:solidFill>
                <a:latin typeface="+mn-lt"/>
                <a:ea typeface="+mn-ea"/>
                <a:cs typeface="+mn-cs"/>
              </a:rPr>
              <a:t>Simulate a teammate (or an agent) changing the repo:</a:t>
            </a:r>
            <a:endParaRPr lang="en-US" sz="2000" dirty="0"/>
          </a:p>
        </p:txBody>
      </p:sp>
      <p:sp>
        <p:nvSpPr>
          <p:cNvPr id="15" name="Text 27"/>
          <p:cNvSpPr/>
          <p:nvPr/>
        </p:nvSpPr>
        <p:spPr>
          <a:xfrm>
            <a:off x="1809750" y="4491038"/>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16" name="Text 28"/>
          <p:cNvSpPr/>
          <p:nvPr/>
        </p:nvSpPr>
        <p:spPr>
          <a:xfrm>
            <a:off x="2343150" y="4491038"/>
            <a:ext cx="1123569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On GitHub, open README.md › pencil icon. Add a line: </a:t>
            </a:r>
            <a:r>
              <a:rPr lang="en-US" sz="2000" i="1" dirty="0">
                <a:solidFill>
                  <a:srgbClr val="000000"/>
                </a:solidFill>
                <a:latin typeface="+mn-lt"/>
                <a:ea typeface="+mn-ea"/>
                <a:cs typeface="+mn-cs"/>
              </a:rPr>
              <a:t>Units: SI throughout.</a:t>
            </a:r>
            <a:endParaRPr lang="en-US" sz="2000" dirty="0"/>
          </a:p>
        </p:txBody>
      </p:sp>
      <p:sp>
        <p:nvSpPr>
          <p:cNvPr id="17" name="Text 29"/>
          <p:cNvSpPr/>
          <p:nvPr/>
        </p:nvSpPr>
        <p:spPr>
          <a:xfrm>
            <a:off x="1809750" y="5067300"/>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18" name="Text 30"/>
          <p:cNvSpPr/>
          <p:nvPr/>
        </p:nvSpPr>
        <p:spPr>
          <a:xfrm>
            <a:off x="2343150" y="5067300"/>
            <a:ext cx="1123569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b="1" dirty="0">
                <a:solidFill>
                  <a:srgbClr val="000000"/>
                </a:solidFill>
                <a:latin typeface="+mn-lt"/>
                <a:ea typeface="+mn-ea"/>
                <a:cs typeface="+mn-cs"/>
              </a:rPr>
              <a:t>Commit changes </a:t>
            </a:r>
            <a:r>
              <a:rPr lang="en-US" sz="2000" dirty="0">
                <a:solidFill>
                  <a:srgbClr val="000000"/>
                </a:solidFill>
                <a:latin typeface="+mn-lt"/>
                <a:ea typeface="+mn-ea"/>
                <a:cs typeface="+mn-cs"/>
              </a:rPr>
              <a:t>directly to main.</a:t>
            </a:r>
            <a:endParaRPr lang="en-US" sz="2000" dirty="0"/>
          </a:p>
        </p:txBody>
      </p:sp>
      <p:sp>
        <p:nvSpPr>
          <p:cNvPr id="19" name="Text 31"/>
          <p:cNvSpPr/>
          <p:nvPr/>
        </p:nvSpPr>
        <p:spPr>
          <a:xfrm>
            <a:off x="1809750" y="5643563"/>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20" name="Text 32"/>
          <p:cNvSpPr/>
          <p:nvPr/>
        </p:nvSpPr>
        <p:spPr>
          <a:xfrm>
            <a:off x="2343150" y="5643563"/>
            <a:ext cx="1123569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In Desktop: </a:t>
            </a:r>
            <a:r>
              <a:rPr lang="en-US" sz="2000" b="1" dirty="0">
                <a:solidFill>
                  <a:srgbClr val="000000"/>
                </a:solidFill>
                <a:latin typeface="+mn-lt"/>
                <a:ea typeface="+mn-ea"/>
                <a:cs typeface="+mn-cs"/>
              </a:rPr>
              <a:t>Fetch origin</a:t>
            </a:r>
            <a:r>
              <a:rPr lang="en-US" sz="2000" dirty="0">
                <a:solidFill>
                  <a:srgbClr val="000000"/>
                </a:solidFill>
                <a:latin typeface="+mn-lt"/>
                <a:ea typeface="+mn-ea"/>
                <a:cs typeface="+mn-cs"/>
              </a:rPr>
              <a:t>. The button changes to </a:t>
            </a:r>
            <a:r>
              <a:rPr lang="en-US" sz="2000" b="1" dirty="0">
                <a:solidFill>
                  <a:srgbClr val="000000"/>
                </a:solidFill>
                <a:latin typeface="+mn-lt"/>
                <a:ea typeface="+mn-ea"/>
                <a:cs typeface="+mn-cs"/>
              </a:rPr>
              <a:t>Pull origin ↓1</a:t>
            </a:r>
            <a:r>
              <a:rPr lang="en-US" sz="2000" dirty="0">
                <a:solidFill>
                  <a:srgbClr val="000000"/>
                </a:solidFill>
                <a:latin typeface="+mn-lt"/>
                <a:ea typeface="+mn-ea"/>
                <a:cs typeface="+mn-cs"/>
              </a:rPr>
              <a:t>.</a:t>
            </a:r>
            <a:endParaRPr lang="en-US" sz="2000" dirty="0"/>
          </a:p>
        </p:txBody>
      </p:sp>
      <p:sp>
        <p:nvSpPr>
          <p:cNvPr id="21" name="Text 33"/>
          <p:cNvSpPr/>
          <p:nvPr/>
        </p:nvSpPr>
        <p:spPr>
          <a:xfrm>
            <a:off x="1809750" y="6219825"/>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4</a:t>
            </a:r>
            <a:endParaRPr lang="en-US" sz="2200" dirty="0"/>
          </a:p>
        </p:txBody>
      </p:sp>
      <p:sp>
        <p:nvSpPr>
          <p:cNvPr id="22" name="Text 34"/>
          <p:cNvSpPr/>
          <p:nvPr/>
        </p:nvSpPr>
        <p:spPr>
          <a:xfrm>
            <a:off x="2343150" y="6219825"/>
            <a:ext cx="1123569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b="1" dirty="0">
                <a:solidFill>
                  <a:srgbClr val="000000"/>
                </a:solidFill>
                <a:latin typeface="+mn-lt"/>
                <a:ea typeface="+mn-ea"/>
                <a:cs typeface="+mn-cs"/>
              </a:rPr>
              <a:t>Pull origin</a:t>
            </a:r>
            <a:r>
              <a:rPr lang="en-US" sz="2000" dirty="0">
                <a:solidFill>
                  <a:srgbClr val="000000"/>
                </a:solidFill>
                <a:latin typeface="+mn-lt"/>
                <a:ea typeface="+mn-ea"/>
                <a:cs typeface="+mn-cs"/>
              </a:rPr>
              <a:t>. Open README.md locally and confirm the new line.</a:t>
            </a:r>
            <a:endParaRPr lang="en-US" sz="2000" dirty="0"/>
          </a:p>
        </p:txBody>
      </p:sp>
      <p:sp>
        <p:nvSpPr>
          <p:cNvPr id="23" name="Shape 35"/>
          <p:cNvSpPr/>
          <p:nvPr/>
        </p:nvSpPr>
        <p:spPr>
          <a:xfrm>
            <a:off x="1809750" y="6853238"/>
            <a:ext cx="11677650" cy="19050"/>
          </a:xfrm>
          <a:prstGeom prst="rect">
            <a:avLst/>
          </a:prstGeom>
          <a:solidFill>
            <a:srgbClr val="BFBFBF"/>
          </a:solidFill>
          <a:ln/>
        </p:spPr>
        <p:txBody>
          <a:bodyPr/>
          <a:lstStyle/>
          <a:p>
            <a:endParaRPr lang="en-US"/>
          </a:p>
        </p:txBody>
      </p:sp>
      <p:sp>
        <p:nvSpPr>
          <p:cNvPr id="24" name="Text 36"/>
          <p:cNvSpPr/>
          <p:nvPr/>
        </p:nvSpPr>
        <p:spPr>
          <a:xfrm>
            <a:off x="1809750" y="7081838"/>
            <a:ext cx="11769090"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mn-lt"/>
                <a:ea typeface="+mn-ea"/>
                <a:cs typeface="+mn-cs"/>
              </a:rPr>
              <a:t>Pull before you start. Push when you finish.</a:t>
            </a:r>
            <a:endParaRPr lang="en-US" sz="2100" dirty="0"/>
          </a:p>
        </p:txBody>
      </p:sp>
      <p:sp>
        <p:nvSpPr>
          <p:cNvPr id="25" name="Nav highlight"/>
          <p:cNvSpPr txBox="1"/>
          <p:nvPr userDrawn="1"/>
        </p:nvSpPr>
        <p:spPr>
          <a:xfrm>
            <a:off x="133350" y="4286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Sync</a:t>
            </a:r>
            <a:endParaRPr lang="en-US" sz="1800" b="1" dirty="0"/>
          </a:p>
        </p:txBody>
      </p:sp>
      <p:sp>
        <p:nvSpPr>
          <p:cNvPr id="2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7" name="Slide Number"/>
          <p:cNvSpPr>
            <a:spLocks noGrp="1"/>
          </p:cNvSpPr>
          <p:nvPr>
            <p:ph type="sldNum" sz="quarter" idx="12"/>
          </p:nvPr>
        </p:nvSpPr>
        <p:spPr/>
        <p:txBody>
          <a:bodyPr/>
          <a:lstStyle/>
          <a:p>
            <a:fld id="{B6F15528-21DE-4FAA-801E-634DDDAF4B2B}" type="slidenum">
              <a:rPr lang="en-US"/>
              <a:t>12</a:t>
            </a:fld>
            <a:endParaRPr lang="en-US"/>
          </a:p>
        </p:txBody>
      </p:sp>
      <p:pic>
        <p:nvPicPr>
          <p:cNvPr id="28" name="Screenshot placeholder" descr="Screenshot to add: GitHub Desktop toolbar after Fetch origin, showing the Pull origin ↓1 button"/>
          <p:cNvPicPr>
            <a:picLocks noChangeAspect="1"/>
          </p:cNvPicPr>
          <p:nvPr/>
        </p:nvPicPr>
        <p:blipFill>
          <a:blip r:embed="rId3"/>
          <a:stretch>
            <a:fillRect/>
          </a:stretch>
        </p:blipFill>
        <p:spPr>
          <a:xfrm>
            <a:off x="1810512" y="7680960"/>
            <a:ext cx="8229600" cy="1737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Exercise 5: Work on a Branch</a:t>
            </a:r>
          </a:p>
        </p:txBody>
      </p:sp>
      <p:pic>
        <p:nvPicPr>
          <p:cNvPr id="3"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09750" y="1571625"/>
            <a:ext cx="11677650" cy="2000250"/>
          </a:xfrm>
          <a:prstGeom prst="rect">
            <a:avLst/>
          </a:prstGeom>
        </p:spPr>
      </p:pic>
      <p:sp>
        <p:nvSpPr>
          <p:cNvPr id="4" name="Shape 15"/>
          <p:cNvSpPr/>
          <p:nvPr/>
        </p:nvSpPr>
        <p:spPr>
          <a:xfrm>
            <a:off x="1809750" y="3800475"/>
            <a:ext cx="1314450" cy="381000"/>
          </a:xfrm>
          <a:prstGeom prst="roundRect">
            <a:avLst>
              <a:gd name="adj" fmla="val 15000"/>
            </a:avLst>
          </a:prstGeom>
          <a:solidFill>
            <a:srgbClr val="595959"/>
          </a:solidFill>
          <a:ln/>
        </p:spPr>
        <p:txBody>
          <a:bodyPr/>
          <a:lstStyle/>
          <a:p>
            <a:endParaRPr lang="en-US"/>
          </a:p>
        </p:txBody>
      </p:sp>
      <p:sp>
        <p:nvSpPr>
          <p:cNvPr id="5" name="Text 16"/>
          <p:cNvSpPr/>
          <p:nvPr/>
        </p:nvSpPr>
        <p:spPr>
          <a:xfrm>
            <a:off x="1962150" y="3838575"/>
            <a:ext cx="108585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EXERCISE</a:t>
            </a:r>
            <a:endParaRPr lang="en-US" sz="1800" dirty="0"/>
          </a:p>
        </p:txBody>
      </p:sp>
      <p:sp>
        <p:nvSpPr>
          <p:cNvPr id="6" name="Text 17"/>
          <p:cNvSpPr/>
          <p:nvPr/>
        </p:nvSpPr>
        <p:spPr>
          <a:xfrm>
            <a:off x="1809750" y="4371975"/>
            <a:ext cx="609600" cy="712490"/>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7" name="Text 18"/>
          <p:cNvSpPr/>
          <p:nvPr/>
        </p:nvSpPr>
        <p:spPr>
          <a:xfrm>
            <a:off x="2343150" y="4371975"/>
            <a:ext cx="5287994" cy="712490"/>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Current branch </a:t>
            </a:r>
            <a:r>
              <a:rPr lang="en-US" sz="1900" dirty="0">
                <a:solidFill>
                  <a:srgbClr val="000000"/>
                </a:solidFill>
                <a:latin typeface="+mn-lt"/>
                <a:ea typeface="+mn-ea"/>
                <a:cs typeface="+mn-cs"/>
              </a:rPr>
              <a:t>› </a:t>
            </a:r>
            <a:r>
              <a:rPr lang="en-US" sz="1900" b="1" dirty="0">
                <a:solidFill>
                  <a:srgbClr val="000000"/>
                </a:solidFill>
                <a:latin typeface="+mn-lt"/>
                <a:ea typeface="+mn-ea"/>
                <a:cs typeface="+mn-cs"/>
              </a:rPr>
              <a:t>New branch</a:t>
            </a:r>
            <a:r>
              <a:rPr lang="en-US" sz="1900" dirty="0">
                <a:solidFill>
                  <a:srgbClr val="000000"/>
                </a:solidFill>
                <a:latin typeface="+mn-lt"/>
                <a:ea typeface="+mn-ea"/>
                <a:cs typeface="+mn-cs"/>
              </a:rPr>
              <a:t>: </a:t>
            </a:r>
            <a:r>
              <a:rPr lang="en-US" sz="1700" dirty="0">
                <a:solidFill>
                  <a:srgbClr val="000000"/>
                </a:solidFill>
                <a:latin typeface="Consolas" pitchFamily="34" charset="0"/>
                <a:ea typeface="Consolas" pitchFamily="34" charset="-122"/>
                <a:cs typeface="Consolas" pitchFamily="34" charset="-120"/>
              </a:rPr>
              <a:t>feature/aluminum</a:t>
            </a:r>
            <a:endParaRPr lang="en-US" sz="1900" dirty="0"/>
          </a:p>
        </p:txBody>
      </p:sp>
      <p:sp>
        <p:nvSpPr>
          <p:cNvPr id="8" name="Text 19"/>
          <p:cNvSpPr/>
          <p:nvPr/>
        </p:nvSpPr>
        <p:spPr>
          <a:xfrm>
            <a:off x="1809750" y="6771382"/>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9" name="Text 20"/>
          <p:cNvSpPr/>
          <p:nvPr/>
        </p:nvSpPr>
        <p:spPr>
          <a:xfrm>
            <a:off x="2343150" y="6771382"/>
            <a:ext cx="5647373" cy="423863"/>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In beam.m: </a:t>
            </a:r>
            <a:r>
              <a:rPr lang="en-US" sz="1700" dirty="0">
                <a:solidFill>
                  <a:srgbClr val="000000"/>
                </a:solidFill>
                <a:latin typeface="Consolas" pitchFamily="34" charset="0"/>
                <a:ea typeface="Consolas" pitchFamily="34" charset="-122"/>
                <a:cs typeface="Consolas" pitchFamily="34" charset="-120"/>
              </a:rPr>
              <a:t>E = 69e9; % Pa, aluminum</a:t>
            </a:r>
            <a:endParaRPr lang="en-US" sz="1900" dirty="0"/>
          </a:p>
        </p:txBody>
      </p:sp>
      <p:sp>
        <p:nvSpPr>
          <p:cNvPr id="10" name="Text 21"/>
          <p:cNvSpPr/>
          <p:nvPr/>
        </p:nvSpPr>
        <p:spPr>
          <a:xfrm>
            <a:off x="1809750" y="7328595"/>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11" name="Text 22"/>
          <p:cNvSpPr/>
          <p:nvPr/>
        </p:nvSpPr>
        <p:spPr>
          <a:xfrm>
            <a:off x="2343150" y="7328595"/>
            <a:ext cx="5647373" cy="423863"/>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Commit to feature/aluminum.</a:t>
            </a:r>
            <a:endParaRPr lang="en-US" sz="1900" dirty="0"/>
          </a:p>
        </p:txBody>
      </p:sp>
      <p:sp>
        <p:nvSpPr>
          <p:cNvPr id="12" name="Text 23"/>
          <p:cNvSpPr/>
          <p:nvPr/>
        </p:nvSpPr>
        <p:spPr>
          <a:xfrm>
            <a:off x="1809750" y="7885807"/>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4</a:t>
            </a:r>
            <a:endParaRPr lang="en-US" sz="2200" dirty="0"/>
          </a:p>
        </p:txBody>
      </p:sp>
      <p:sp>
        <p:nvSpPr>
          <p:cNvPr id="13" name="Text 24"/>
          <p:cNvSpPr/>
          <p:nvPr/>
        </p:nvSpPr>
        <p:spPr>
          <a:xfrm>
            <a:off x="2343150" y="7885807"/>
            <a:ext cx="5647373" cy="423863"/>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Publish branch</a:t>
            </a:r>
            <a:r>
              <a:rPr lang="en-US" sz="1900" dirty="0">
                <a:solidFill>
                  <a:srgbClr val="000000"/>
                </a:solidFill>
                <a:latin typeface="+mn-lt"/>
                <a:ea typeface="+mn-ea"/>
                <a:cs typeface="+mn-cs"/>
              </a:rPr>
              <a:t>.</a:t>
            </a:r>
            <a:endParaRPr lang="en-US" sz="1900" dirty="0"/>
          </a:p>
        </p:txBody>
      </p:sp>
      <p:sp>
        <p:nvSpPr>
          <p:cNvPr id="14" name="Text 25"/>
          <p:cNvSpPr/>
          <p:nvPr/>
        </p:nvSpPr>
        <p:spPr>
          <a:xfrm>
            <a:off x="1809750" y="8443020"/>
            <a:ext cx="609600" cy="706636"/>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5</a:t>
            </a:r>
            <a:endParaRPr lang="en-US" sz="2200" dirty="0"/>
          </a:p>
        </p:txBody>
      </p:sp>
      <p:sp>
        <p:nvSpPr>
          <p:cNvPr id="15" name="Text 26"/>
          <p:cNvSpPr/>
          <p:nvPr/>
        </p:nvSpPr>
        <p:spPr>
          <a:xfrm>
            <a:off x="2343150" y="8443020"/>
            <a:ext cx="5287994" cy="706636"/>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Switch Current branch to main. Look at beam.m.</a:t>
            </a:r>
            <a:endParaRPr lang="en-US" sz="1900" dirty="0"/>
          </a:p>
        </p:txBody>
      </p:sp>
      <p:sp>
        <p:nvSpPr>
          <p:cNvPr id="16" name="Text 27"/>
          <p:cNvSpPr/>
          <p:nvPr/>
        </p:nvSpPr>
        <p:spPr>
          <a:xfrm>
            <a:off x="7820025" y="4352925"/>
            <a:ext cx="5758815" cy="758031"/>
          </a:xfrm>
          <a:prstGeom prst="rect">
            <a:avLst/>
          </a:prstGeom>
          <a:noFill/>
          <a:ln/>
        </p:spPr>
        <p:txBody>
          <a:bodyPr wrap="square" lIns="25400" tIns="25400" rIns="25400" bIns="25400" rtlCol="0" anchor="t">
            <a:normAutofit/>
          </a:bodyPr>
          <a:lstStyle/>
          <a:p>
            <a:pPr marL="0" indent="0" algn="l">
              <a:lnSpc>
                <a:spcPct val="105000"/>
              </a:lnSpc>
              <a:buNone/>
            </a:pPr>
            <a:r>
              <a:rPr lang="en-US" sz="2000" b="1" dirty="0">
                <a:solidFill>
                  <a:srgbClr val="000000"/>
                </a:solidFill>
                <a:latin typeface="+mn-lt"/>
                <a:ea typeface="+mn-ea"/>
                <a:cs typeface="+mn-cs"/>
              </a:rPr>
              <a:t>Branch: </a:t>
            </a:r>
            <a:r>
              <a:rPr lang="en-US" sz="2000" dirty="0">
                <a:solidFill>
                  <a:srgbClr val="000000"/>
                </a:solidFill>
                <a:latin typeface="+mn-lt"/>
                <a:ea typeface="+mn-ea"/>
                <a:cs typeface="+mn-cs"/>
              </a:rPr>
              <a:t>a separate line of commits. main stays unchanged until the branch is merged.</a:t>
            </a:r>
            <a:endParaRPr lang="en-US" sz="2000" dirty="0"/>
          </a:p>
        </p:txBody>
      </p:sp>
      <p:sp>
        <p:nvSpPr>
          <p:cNvPr id="17" name="Text 28"/>
          <p:cNvSpPr/>
          <p:nvPr/>
        </p:nvSpPr>
        <p:spPr>
          <a:xfrm>
            <a:off x="7820025" y="6797874"/>
            <a:ext cx="5758815" cy="758031"/>
          </a:xfrm>
          <a:prstGeom prst="rect">
            <a:avLst/>
          </a:prstGeom>
          <a:noFill/>
          <a:ln/>
        </p:spPr>
        <p:txBody>
          <a:bodyPr wrap="square" lIns="25400" tIns="25400" rIns="25400" bIns="25400" rtlCol="0" anchor="t">
            <a:normAutofit/>
          </a:bodyPr>
          <a:lstStyle/>
          <a:p>
            <a:pPr marL="0" indent="0" algn="l">
              <a:lnSpc>
                <a:spcPct val="105000"/>
              </a:lnSpc>
              <a:buNone/>
            </a:pPr>
            <a:r>
              <a:rPr lang="en-US" sz="2000" dirty="0">
                <a:solidFill>
                  <a:srgbClr val="000000"/>
                </a:solidFill>
                <a:latin typeface="+mn-lt"/>
                <a:ea typeface="+mn-ea"/>
                <a:cs typeface="+mn-cs"/>
              </a:rPr>
              <a:t>Switching branches swaps the files in your folder. Commit before you switch.</a:t>
            </a:r>
            <a:endParaRPr lang="en-US" sz="2000" dirty="0"/>
          </a:p>
        </p:txBody>
      </p:sp>
      <p:sp>
        <p:nvSpPr>
          <p:cNvPr id="18" name="Text 29"/>
          <p:cNvSpPr/>
          <p:nvPr/>
        </p:nvSpPr>
        <p:spPr>
          <a:xfrm>
            <a:off x="7820025" y="7689255"/>
            <a:ext cx="5758815" cy="398066"/>
          </a:xfrm>
          <a:prstGeom prst="rect">
            <a:avLst/>
          </a:prstGeom>
          <a:noFill/>
          <a:ln/>
        </p:spPr>
        <p:txBody>
          <a:bodyPr wrap="square" lIns="25400" tIns="25400" rIns="25400" bIns="25400" rtlCol="0" anchor="t">
            <a:normAutofit/>
          </a:bodyPr>
          <a:lstStyle/>
          <a:p>
            <a:pPr marL="0" indent="0" algn="l">
              <a:lnSpc>
                <a:spcPct val="105000"/>
              </a:lnSpc>
              <a:buNone/>
            </a:pPr>
            <a:r>
              <a:rPr lang="en-US" sz="2000" b="1" dirty="0">
                <a:solidFill>
                  <a:srgbClr val="FF0000"/>
                </a:solidFill>
                <a:latin typeface="+mn-lt"/>
                <a:ea typeface="+mn-ea"/>
                <a:cs typeface="+mn-cs"/>
              </a:rPr>
              <a:t>Coding agents always work on their own branch.</a:t>
            </a:r>
            <a:endParaRPr lang="en-US" sz="2000" b="1" dirty="0">
              <a:solidFill>
                <a:srgbClr val="FF0000"/>
              </a:solidFill>
            </a:endParaRPr>
          </a:p>
        </p:txBody>
      </p:sp>
      <p:sp>
        <p:nvSpPr>
          <p:cNvPr id="19" name="Nav highlight"/>
          <p:cNvSpPr txBox="1"/>
          <p:nvPr userDrawn="1"/>
        </p:nvSpPr>
        <p:spPr>
          <a:xfrm>
            <a:off x="133350" y="4667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Branches</a:t>
            </a:r>
            <a:endParaRPr lang="en-US" sz="1800" b="1" dirty="0"/>
          </a:p>
        </p:txBody>
      </p:sp>
      <p:sp>
        <p:nvSpPr>
          <p:cNvPr id="20"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1" name="Slide Number"/>
          <p:cNvSpPr>
            <a:spLocks noGrp="1"/>
          </p:cNvSpPr>
          <p:nvPr>
            <p:ph type="sldNum" sz="quarter" idx="12"/>
          </p:nvPr>
        </p:nvSpPr>
        <p:spPr/>
        <p:txBody>
          <a:bodyPr/>
          <a:lstStyle/>
          <a:p>
            <a:fld id="{B6F15528-21DE-4FAA-801E-634DDDAF4B2B}" type="slidenum">
              <a:rPr lang="en-US"/>
              <a:t>13</a:t>
            </a:fld>
            <a:endParaRPr lang="en-US"/>
          </a:p>
        </p:txBody>
      </p:sp>
      <p:pic>
        <p:nvPicPr>
          <p:cNvPr id="26" name="Picture 25">
            <a:extLst>
              <a:ext uri="{FF2B5EF4-FFF2-40B4-BE49-F238E27FC236}">
                <a16:creationId xmlns:a16="http://schemas.microsoft.com/office/drawing/2014/main" id="{C2504C3C-66D3-6C9B-9B7C-03931170A189}"/>
              </a:ext>
            </a:extLst>
          </p:cNvPr>
          <p:cNvPicPr>
            <a:picLocks noChangeAspect="1"/>
          </p:cNvPicPr>
          <p:nvPr/>
        </p:nvPicPr>
        <p:blipFill>
          <a:blip r:embed="rId4"/>
          <a:stretch>
            <a:fillRect/>
          </a:stretch>
        </p:blipFill>
        <p:spPr>
          <a:xfrm>
            <a:off x="1890019" y="5110956"/>
            <a:ext cx="8752581" cy="1552471"/>
          </a:xfrm>
          <a:prstGeom prst="rect">
            <a:avLst/>
          </a:prstGeom>
        </p:spPr>
      </p:pic>
      <p:cxnSp>
        <p:nvCxnSpPr>
          <p:cNvPr id="27" name="Straight Arrow Connector 26">
            <a:extLst>
              <a:ext uri="{FF2B5EF4-FFF2-40B4-BE49-F238E27FC236}">
                <a16:creationId xmlns:a16="http://schemas.microsoft.com/office/drawing/2014/main" id="{C7780F49-AAA2-C680-7F9E-1164F7B5A043}"/>
              </a:ext>
            </a:extLst>
          </p:cNvPr>
          <p:cNvCxnSpPr>
            <a:cxnSpLocks/>
          </p:cNvCxnSpPr>
          <p:nvPr/>
        </p:nvCxnSpPr>
        <p:spPr>
          <a:xfrm>
            <a:off x="4914900" y="4667250"/>
            <a:ext cx="5003800" cy="11752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8" name="Kicker"/>
          <p:cNvSpPr/>
          <p:nvPr/>
        </p:nvSpPr>
        <p:spPr>
          <a:xfrm>
            <a:off x="7818120" y="8183879"/>
            <a:ext cx="5669280" cy="1371600"/>
          </a:xfrm>
          <a:prstGeom prst="rect">
            <a:avLst/>
          </a:prstGeom>
          <a:solidFill>
            <a:srgbClr val="15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r>
              <a:rPr sz="1700" b="1">
                <a:solidFill>
                  <a:srgbClr val="FFFFFF"/>
                </a:solidFill>
              </a:rPr>
              <a:t>Why branch? </a:t>
            </a:r>
            <a:r>
              <a:rPr sz="1700" b="0">
                <a:solidFill>
                  <a:srgbClr val="FFFFFF"/>
                </a:solidFill>
              </a:rPr>
              <a:t>A branch is a separate line of commits. Try a change (yours or an agent’s) without touching main; merge it when it works, or delete it and nothing is lost.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Exercise 6: Pull Request &amp; Merge</a:t>
            </a:r>
          </a:p>
        </p:txBody>
      </p:sp>
      <p:sp>
        <p:nvSpPr>
          <p:cNvPr id="3" name="Shape 15"/>
          <p:cNvSpPr/>
          <p:nvPr/>
        </p:nvSpPr>
        <p:spPr>
          <a:xfrm>
            <a:off x="1809750" y="1524000"/>
            <a:ext cx="1314450" cy="381000"/>
          </a:xfrm>
          <a:prstGeom prst="roundRect">
            <a:avLst>
              <a:gd name="adj" fmla="val 15000"/>
            </a:avLst>
          </a:prstGeom>
          <a:solidFill>
            <a:srgbClr val="595959"/>
          </a:solidFill>
          <a:ln/>
        </p:spPr>
        <p:txBody>
          <a:bodyPr/>
          <a:lstStyle/>
          <a:p>
            <a:endParaRPr lang="en-US"/>
          </a:p>
        </p:txBody>
      </p:sp>
      <p:sp>
        <p:nvSpPr>
          <p:cNvPr id="4" name="Text 16"/>
          <p:cNvSpPr/>
          <p:nvPr/>
        </p:nvSpPr>
        <p:spPr>
          <a:xfrm>
            <a:off x="1962150" y="1562100"/>
            <a:ext cx="108585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EXERCISE</a:t>
            </a:r>
            <a:endParaRPr lang="en-US" sz="1800" dirty="0"/>
          </a:p>
        </p:txBody>
      </p:sp>
      <p:sp>
        <p:nvSpPr>
          <p:cNvPr id="5" name="Text 17"/>
          <p:cNvSpPr/>
          <p:nvPr/>
        </p:nvSpPr>
        <p:spPr>
          <a:xfrm>
            <a:off x="1809750" y="2114550"/>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6" name="Text 18"/>
          <p:cNvSpPr/>
          <p:nvPr/>
        </p:nvSpPr>
        <p:spPr>
          <a:xfrm>
            <a:off x="2343150" y="2114550"/>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Switch to feature/aluminum. Branch › </a:t>
            </a:r>
            <a:r>
              <a:rPr lang="en-US" sz="2000" b="1" dirty="0">
                <a:solidFill>
                  <a:srgbClr val="000000"/>
                </a:solidFill>
                <a:latin typeface="+mn-lt"/>
                <a:ea typeface="+mn-ea"/>
                <a:cs typeface="+mn-cs"/>
              </a:rPr>
              <a:t>Create pull request </a:t>
            </a:r>
            <a:r>
              <a:rPr lang="en-US" sz="2000" dirty="0">
                <a:solidFill>
                  <a:srgbClr val="000000"/>
                </a:solidFill>
                <a:latin typeface="+mn-lt"/>
                <a:ea typeface="+mn-ea"/>
                <a:cs typeface="+mn-cs"/>
              </a:rPr>
              <a:t>. GitHub opens.</a:t>
            </a:r>
            <a:endParaRPr lang="en-US" sz="2000" dirty="0"/>
          </a:p>
        </p:txBody>
      </p:sp>
      <p:sp>
        <p:nvSpPr>
          <p:cNvPr id="7" name="Text 19"/>
          <p:cNvSpPr/>
          <p:nvPr/>
        </p:nvSpPr>
        <p:spPr>
          <a:xfrm>
            <a:off x="1809750" y="2999383"/>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8" name="Text 20"/>
          <p:cNvSpPr/>
          <p:nvPr/>
        </p:nvSpPr>
        <p:spPr>
          <a:xfrm>
            <a:off x="2343150" y="2999383"/>
            <a:ext cx="5337048"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Add a title and one-line description. </a:t>
            </a:r>
            <a:r>
              <a:rPr lang="en-US" sz="2000" b="1" dirty="0">
                <a:solidFill>
                  <a:srgbClr val="000000"/>
                </a:solidFill>
                <a:latin typeface="+mn-lt"/>
                <a:ea typeface="+mn-ea"/>
                <a:cs typeface="+mn-cs"/>
              </a:rPr>
              <a:t>Create pull request </a:t>
            </a:r>
            <a:r>
              <a:rPr lang="en-US" sz="2000" dirty="0">
                <a:solidFill>
                  <a:srgbClr val="000000"/>
                </a:solidFill>
                <a:latin typeface="+mn-lt"/>
                <a:ea typeface="+mn-ea"/>
                <a:cs typeface="+mn-cs"/>
              </a:rPr>
              <a:t>.</a:t>
            </a:r>
            <a:endParaRPr lang="en-US" sz="2000" dirty="0"/>
          </a:p>
        </p:txBody>
      </p:sp>
      <p:sp>
        <p:nvSpPr>
          <p:cNvPr id="9" name="Text 21"/>
          <p:cNvSpPr/>
          <p:nvPr/>
        </p:nvSpPr>
        <p:spPr>
          <a:xfrm>
            <a:off x="1809750" y="3884216"/>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10" name="Text 22"/>
          <p:cNvSpPr/>
          <p:nvPr/>
        </p:nvSpPr>
        <p:spPr>
          <a:xfrm>
            <a:off x="2343150" y="3884216"/>
            <a:ext cx="569976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Open </a:t>
            </a:r>
            <a:r>
              <a:rPr lang="en-US" sz="2000" b="1" dirty="0">
                <a:solidFill>
                  <a:srgbClr val="000000"/>
                </a:solidFill>
                <a:latin typeface="+mn-lt"/>
                <a:ea typeface="+mn-ea"/>
                <a:cs typeface="+mn-cs"/>
              </a:rPr>
              <a:t>Files changed</a:t>
            </a:r>
            <a:r>
              <a:rPr lang="en-US" sz="2000" dirty="0">
                <a:solidFill>
                  <a:srgbClr val="000000"/>
                </a:solidFill>
                <a:latin typeface="+mn-lt"/>
                <a:ea typeface="+mn-ea"/>
                <a:cs typeface="+mn-cs"/>
              </a:rPr>
              <a:t>. Review every line.</a:t>
            </a:r>
            <a:endParaRPr lang="en-US" sz="2000" dirty="0"/>
          </a:p>
        </p:txBody>
      </p:sp>
      <p:sp>
        <p:nvSpPr>
          <p:cNvPr id="11" name="Text 23"/>
          <p:cNvSpPr/>
          <p:nvPr/>
        </p:nvSpPr>
        <p:spPr>
          <a:xfrm>
            <a:off x="1809750" y="4460478"/>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4</a:t>
            </a:r>
            <a:endParaRPr lang="en-US" sz="2200" dirty="0"/>
          </a:p>
        </p:txBody>
      </p:sp>
      <p:sp>
        <p:nvSpPr>
          <p:cNvPr id="12" name="Text 24"/>
          <p:cNvSpPr/>
          <p:nvPr/>
        </p:nvSpPr>
        <p:spPr>
          <a:xfrm>
            <a:off x="2343150" y="4460478"/>
            <a:ext cx="5530850"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b="1" dirty="0">
                <a:solidFill>
                  <a:srgbClr val="000000"/>
                </a:solidFill>
                <a:latin typeface="+mn-lt"/>
                <a:ea typeface="+mn-ea"/>
                <a:cs typeface="+mn-cs"/>
              </a:rPr>
              <a:t>Merge pull request </a:t>
            </a:r>
            <a:r>
              <a:rPr lang="en-US" sz="2000" dirty="0">
                <a:solidFill>
                  <a:srgbClr val="000000"/>
                </a:solidFill>
                <a:latin typeface="+mn-lt"/>
                <a:ea typeface="+mn-ea"/>
                <a:cs typeface="+mn-cs"/>
              </a:rPr>
              <a:t>› Confirm. Then </a:t>
            </a:r>
            <a:r>
              <a:rPr lang="en-US" sz="2000" b="1" dirty="0">
                <a:solidFill>
                  <a:srgbClr val="000000"/>
                </a:solidFill>
                <a:latin typeface="+mn-lt"/>
                <a:ea typeface="+mn-ea"/>
                <a:cs typeface="+mn-cs"/>
              </a:rPr>
              <a:t>Delete branch </a:t>
            </a:r>
            <a:r>
              <a:rPr lang="en-US" sz="2000" dirty="0">
                <a:solidFill>
                  <a:srgbClr val="000000"/>
                </a:solidFill>
                <a:latin typeface="+mn-lt"/>
                <a:ea typeface="+mn-ea"/>
                <a:cs typeface="+mn-cs"/>
              </a:rPr>
              <a:t>.</a:t>
            </a:r>
            <a:endParaRPr lang="en-US" sz="2000" dirty="0"/>
          </a:p>
        </p:txBody>
      </p:sp>
      <p:sp>
        <p:nvSpPr>
          <p:cNvPr id="13" name="Text 25"/>
          <p:cNvSpPr/>
          <p:nvPr/>
        </p:nvSpPr>
        <p:spPr>
          <a:xfrm>
            <a:off x="1809750" y="5116116"/>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5</a:t>
            </a:r>
            <a:endParaRPr lang="en-US" sz="2200" dirty="0"/>
          </a:p>
        </p:txBody>
      </p:sp>
      <p:sp>
        <p:nvSpPr>
          <p:cNvPr id="14" name="Text 26"/>
          <p:cNvSpPr/>
          <p:nvPr/>
        </p:nvSpPr>
        <p:spPr>
          <a:xfrm>
            <a:off x="2343150" y="5116116"/>
            <a:ext cx="569976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In Desktop: switch to main, </a:t>
            </a:r>
            <a:r>
              <a:rPr lang="en-US" sz="2000" b="1" dirty="0">
                <a:solidFill>
                  <a:srgbClr val="000000"/>
                </a:solidFill>
                <a:latin typeface="+mn-lt"/>
                <a:ea typeface="+mn-ea"/>
                <a:cs typeface="+mn-cs"/>
              </a:rPr>
              <a:t>Pull origin</a:t>
            </a:r>
            <a:r>
              <a:rPr lang="en-US" sz="2000" dirty="0">
                <a:solidFill>
                  <a:srgbClr val="000000"/>
                </a:solidFill>
                <a:latin typeface="+mn-lt"/>
                <a:ea typeface="+mn-ea"/>
                <a:cs typeface="+mn-cs"/>
              </a:rPr>
              <a:t>.</a:t>
            </a:r>
            <a:endParaRPr lang="en-US" sz="2000" dirty="0"/>
          </a:p>
        </p:txBody>
      </p:sp>
      <p:sp>
        <p:nvSpPr>
          <p:cNvPr id="15" name="Shape 27"/>
          <p:cNvSpPr/>
          <p:nvPr/>
        </p:nvSpPr>
        <p:spPr>
          <a:xfrm>
            <a:off x="1809750" y="5943600"/>
            <a:ext cx="11676888" cy="1600200"/>
          </a:xfrm>
          <a:prstGeom prst="rect">
            <a:avLst/>
          </a:prstGeom>
          <a:solidFill>
            <a:srgbClr val="F2F2F2"/>
          </a:solidFill>
          <a:ln/>
        </p:spPr>
        <p:txBody>
          <a:bodyPr/>
          <a:lstStyle/>
          <a:p>
            <a:endParaRPr lang="en-US"/>
          </a:p>
        </p:txBody>
      </p:sp>
      <p:sp>
        <p:nvSpPr>
          <p:cNvPr id="16" name="Text 28"/>
          <p:cNvSpPr/>
          <p:nvPr/>
        </p:nvSpPr>
        <p:spPr>
          <a:xfrm>
            <a:off x="2038350" y="6108192"/>
            <a:ext cx="11247120" cy="1325880"/>
          </a:xfrm>
          <a:prstGeom prst="rect">
            <a:avLst/>
          </a:prstGeom>
          <a:noFill/>
          <a:ln/>
        </p:spPr>
        <p:txBody>
          <a:bodyPr wrap="square" lIns="25400" tIns="25400" rIns="25400" bIns="25400" rtlCol="0" anchor="t">
            <a:normAutofit/>
          </a:bodyPr>
          <a:lstStyle/>
          <a:p>
            <a:pPr marL="0" indent="0" algn="l">
              <a:lnSpc>
                <a:spcPct val="105000"/>
              </a:lnSpc>
              <a:buNone/>
            </a:pPr>
            <a:r>
              <a:rPr lang="en-US" sz="1900" dirty="0" b="1">
                <a:solidFill>
                  <a:srgbClr val="000000"/>
                </a:solidFill>
                <a:latin typeface="+mn-lt"/>
                <a:ea typeface="+mn-ea"/>
                <a:cs typeface="+mn-cs"/>
              </a:rPr>
              <a:t>A pull request (PR) </a:t>
            </a:r>
            <a:r>
              <a:rPr lang="en-US" sz="1900" dirty="0">
                <a:solidFill>
                  <a:srgbClr val="000000"/>
                </a:solidFill>
                <a:latin typeface="+mn-lt"/>
                <a:ea typeface="+mn-ea"/>
                <a:cs typeface="+mn-cs"/>
              </a:rPr>
              <a:t>asks to merge one branch into another. GitHub shows the diff, the commits, and a comment thread, so reviewers can comment line by line before anything reaches main. Nothing changes on main until someone clicks Merge. In Lesson 2, every change a coding agent makes arrives as a PR for you to review.</a:t>
            </a:r>
            <a:endParaRPr lang="en-US" sz="1900" dirty="0"/>
          </a:p>
        </p:txBody>
      </p:sp>
      <p:sp>
        <p:nvSpPr>
          <p:cNvPr id="17" name="Nav highlight"/>
          <p:cNvSpPr txBox="1"/>
          <p:nvPr userDrawn="1"/>
        </p:nvSpPr>
        <p:spPr>
          <a:xfrm>
            <a:off x="133350" y="4667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Branches</a:t>
            </a:r>
            <a:endParaRPr lang="en-US" sz="1800" b="1" dirty="0"/>
          </a:p>
        </p:txBody>
      </p:sp>
      <p:sp>
        <p:nvSpPr>
          <p:cNvPr id="18"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19" name="Slide Number"/>
          <p:cNvSpPr>
            <a:spLocks noGrp="1"/>
          </p:cNvSpPr>
          <p:nvPr>
            <p:ph type="sldNum" sz="quarter" idx="12"/>
          </p:nvPr>
        </p:nvSpPr>
        <p:spPr/>
        <p:txBody>
          <a:bodyPr/>
          <a:lstStyle/>
          <a:p>
            <a:fld id="{B6F15528-21DE-4FAA-801E-634DDDAF4B2B}" type="slidenum">
              <a:rPr lang="en-US"/>
              <a:t>14</a:t>
            </a:fld>
            <a:endParaRPr lang="en-US"/>
          </a:p>
        </p:txBody>
      </p:sp>
      <p:pic>
        <p:nvPicPr>
          <p:cNvPr id="20" name="Screenshot placeholder" descr="Screenshot to add: GitHub pull request page for feature/aluminum: Files changed tab and the Merge pull request button"/>
          <p:cNvPicPr>
            <a:picLocks noChangeAspect="1"/>
          </p:cNvPicPr>
          <p:nvPr/>
        </p:nvPicPr>
        <p:blipFill>
          <a:blip r:embed="rId3"/>
          <a:stretch>
            <a:fillRect/>
          </a:stretch>
        </p:blipFill>
        <p:spPr>
          <a:xfrm>
            <a:off x="8092440" y="2103120"/>
            <a:ext cx="5394960" cy="35661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Exercise 7: Resolve a Conflict</a:t>
            </a:r>
          </a:p>
        </p:txBody>
      </p:sp>
      <p:sp>
        <p:nvSpPr>
          <p:cNvPr id="3" name="Text 15"/>
          <p:cNvSpPr/>
          <p:nvPr/>
        </p:nvSpPr>
        <p:spPr>
          <a:xfrm>
            <a:off x="1809750" y="1524000"/>
            <a:ext cx="6082665" cy="758031"/>
          </a:xfrm>
          <a:prstGeom prst="rect">
            <a:avLst/>
          </a:prstGeom>
          <a:noFill/>
          <a:ln/>
        </p:spPr>
        <p:txBody>
          <a:bodyPr wrap="square" lIns="25400" tIns="25400" rIns="25400" bIns="25400" rtlCol="0" anchor="t">
            <a:normAutofit/>
          </a:bodyPr>
          <a:lstStyle/>
          <a:p>
            <a:pPr marL="0" indent="0" algn="l">
              <a:lnSpc>
                <a:spcPct val="105000"/>
              </a:lnSpc>
              <a:buNone/>
            </a:pPr>
            <a:r>
              <a:rPr lang="en-US" sz="2000" dirty="0">
                <a:solidFill>
                  <a:srgbClr val="000000"/>
                </a:solidFill>
                <a:latin typeface="+mn-lt"/>
                <a:ea typeface="+mn-ea"/>
                <a:cs typeface="+mn-cs"/>
              </a:rPr>
              <a:t>A conflict happens when two commits change the same lines. You decide the result.</a:t>
            </a:r>
            <a:endParaRPr lang="en-US" sz="2000" dirty="0"/>
          </a:p>
        </p:txBody>
      </p:sp>
      <p:sp>
        <p:nvSpPr>
          <p:cNvPr id="4" name="Shape 16"/>
          <p:cNvSpPr/>
          <p:nvPr/>
        </p:nvSpPr>
        <p:spPr>
          <a:xfrm>
            <a:off x="1809750" y="2415381"/>
            <a:ext cx="1314450" cy="381000"/>
          </a:xfrm>
          <a:prstGeom prst="roundRect">
            <a:avLst>
              <a:gd name="adj" fmla="val 15000"/>
            </a:avLst>
          </a:prstGeom>
          <a:solidFill>
            <a:srgbClr val="595959"/>
          </a:solidFill>
          <a:ln/>
        </p:spPr>
        <p:txBody>
          <a:bodyPr/>
          <a:lstStyle/>
          <a:p>
            <a:endParaRPr lang="en-US"/>
          </a:p>
        </p:txBody>
      </p:sp>
      <p:sp>
        <p:nvSpPr>
          <p:cNvPr id="5" name="Text 17"/>
          <p:cNvSpPr/>
          <p:nvPr/>
        </p:nvSpPr>
        <p:spPr>
          <a:xfrm>
            <a:off x="1962150" y="2453481"/>
            <a:ext cx="108585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EXERCISE</a:t>
            </a:r>
            <a:endParaRPr lang="en-US" sz="1800" dirty="0"/>
          </a:p>
        </p:txBody>
      </p:sp>
      <p:sp>
        <p:nvSpPr>
          <p:cNvPr id="6" name="Text 18"/>
          <p:cNvSpPr/>
          <p:nvPr/>
        </p:nvSpPr>
        <p:spPr>
          <a:xfrm>
            <a:off x="1809750" y="2967831"/>
            <a:ext cx="609600" cy="712490"/>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7" name="Text 19"/>
          <p:cNvSpPr/>
          <p:nvPr/>
        </p:nvSpPr>
        <p:spPr>
          <a:xfrm>
            <a:off x="2343150" y="2967831"/>
            <a:ext cx="5533263" cy="712490"/>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On GitHub, edit beam.m on main: </a:t>
            </a:r>
            <a:r>
              <a:rPr lang="en-US" sz="1700" dirty="0">
                <a:solidFill>
                  <a:srgbClr val="000000"/>
                </a:solidFill>
                <a:latin typeface="Consolas" pitchFamily="34" charset="0"/>
                <a:ea typeface="Consolas" pitchFamily="34" charset="-122"/>
                <a:cs typeface="Consolas" pitchFamily="34" charset="-120"/>
              </a:rPr>
              <a:t>L = 2.5; </a:t>
            </a:r>
            <a:r>
              <a:rPr lang="en-US" sz="1900" dirty="0">
                <a:solidFill>
                  <a:srgbClr val="000000"/>
                </a:solidFill>
                <a:latin typeface="+mn-lt"/>
                <a:ea typeface="+mn-ea"/>
                <a:cs typeface="+mn-cs"/>
              </a:rPr>
              <a:t>. Commit.</a:t>
            </a:r>
            <a:endParaRPr lang="en-US" sz="1900" dirty="0"/>
          </a:p>
        </p:txBody>
      </p:sp>
      <p:sp>
        <p:nvSpPr>
          <p:cNvPr id="8" name="Text 20"/>
          <p:cNvSpPr/>
          <p:nvPr/>
        </p:nvSpPr>
        <p:spPr>
          <a:xfrm>
            <a:off x="1809750" y="3794621"/>
            <a:ext cx="609600" cy="712490"/>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9" name="Text 21"/>
          <p:cNvSpPr/>
          <p:nvPr/>
        </p:nvSpPr>
        <p:spPr>
          <a:xfrm>
            <a:off x="2343150" y="3794621"/>
            <a:ext cx="5533263" cy="712490"/>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Locally, on main: </a:t>
            </a:r>
            <a:r>
              <a:rPr lang="en-US" sz="1700" dirty="0">
                <a:solidFill>
                  <a:srgbClr val="000000"/>
                </a:solidFill>
                <a:latin typeface="Consolas" pitchFamily="34" charset="0"/>
                <a:ea typeface="Consolas" pitchFamily="34" charset="-122"/>
                <a:cs typeface="Consolas" pitchFamily="34" charset="-120"/>
              </a:rPr>
              <a:t>L = 3.0; </a:t>
            </a:r>
            <a:r>
              <a:rPr lang="en-US" sz="1900" dirty="0">
                <a:solidFill>
                  <a:srgbClr val="000000"/>
                </a:solidFill>
                <a:latin typeface="+mn-lt"/>
                <a:ea typeface="+mn-ea"/>
                <a:cs typeface="+mn-cs"/>
              </a:rPr>
              <a:t>. Commit. Don’t pull first.</a:t>
            </a:r>
            <a:endParaRPr lang="en-US" sz="1900" dirty="0"/>
          </a:p>
        </p:txBody>
      </p:sp>
      <p:sp>
        <p:nvSpPr>
          <p:cNvPr id="10" name="Text 22"/>
          <p:cNvSpPr/>
          <p:nvPr/>
        </p:nvSpPr>
        <p:spPr>
          <a:xfrm>
            <a:off x="1809750" y="4621411"/>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11" name="Text 23"/>
          <p:cNvSpPr/>
          <p:nvPr/>
        </p:nvSpPr>
        <p:spPr>
          <a:xfrm>
            <a:off x="2343150" y="4621411"/>
            <a:ext cx="5909310" cy="423863"/>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Push origin </a:t>
            </a:r>
            <a:r>
              <a:rPr lang="en-US" sz="1900" dirty="0">
                <a:solidFill>
                  <a:srgbClr val="000000"/>
                </a:solidFill>
                <a:latin typeface="+mn-lt"/>
                <a:ea typeface="+mn-ea"/>
                <a:cs typeface="+mn-cs"/>
              </a:rPr>
              <a:t>is rejected. Click </a:t>
            </a:r>
            <a:r>
              <a:rPr lang="en-US" sz="1900" b="1" dirty="0">
                <a:solidFill>
                  <a:srgbClr val="000000"/>
                </a:solidFill>
                <a:latin typeface="+mn-lt"/>
                <a:ea typeface="+mn-ea"/>
                <a:cs typeface="+mn-cs"/>
              </a:rPr>
              <a:t>Pull origin</a:t>
            </a:r>
            <a:r>
              <a:rPr lang="en-US" sz="1900" dirty="0">
                <a:solidFill>
                  <a:srgbClr val="000000"/>
                </a:solidFill>
                <a:latin typeface="+mn-lt"/>
                <a:ea typeface="+mn-ea"/>
                <a:cs typeface="+mn-cs"/>
              </a:rPr>
              <a:t>.</a:t>
            </a:r>
            <a:endParaRPr lang="en-US" sz="1900" dirty="0"/>
          </a:p>
        </p:txBody>
      </p:sp>
      <p:sp>
        <p:nvSpPr>
          <p:cNvPr id="12" name="Text 24"/>
          <p:cNvSpPr/>
          <p:nvPr/>
        </p:nvSpPr>
        <p:spPr>
          <a:xfrm>
            <a:off x="1809750" y="5159573"/>
            <a:ext cx="609600" cy="706636"/>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4</a:t>
            </a:r>
            <a:endParaRPr lang="en-US" sz="2200" dirty="0"/>
          </a:p>
        </p:txBody>
      </p:sp>
      <p:sp>
        <p:nvSpPr>
          <p:cNvPr id="13" name="Text 25"/>
          <p:cNvSpPr/>
          <p:nvPr/>
        </p:nvSpPr>
        <p:spPr>
          <a:xfrm>
            <a:off x="2343150" y="5159573"/>
            <a:ext cx="5533263" cy="706636"/>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Desktop lists the conflicted file. </a:t>
            </a:r>
            <a:r>
              <a:rPr lang="en-US" sz="1900" b="1" dirty="0">
                <a:solidFill>
                  <a:srgbClr val="000000"/>
                </a:solidFill>
                <a:latin typeface="+mn-lt"/>
                <a:ea typeface="+mn-ea"/>
                <a:cs typeface="+mn-cs"/>
              </a:rPr>
              <a:t>Open in Visual Studio Code </a:t>
            </a:r>
            <a:r>
              <a:rPr lang="en-US" sz="1900" dirty="0">
                <a:solidFill>
                  <a:srgbClr val="000000"/>
                </a:solidFill>
                <a:latin typeface="+mn-lt"/>
                <a:ea typeface="+mn-ea"/>
                <a:cs typeface="+mn-cs"/>
              </a:rPr>
              <a:t>.</a:t>
            </a:r>
            <a:endParaRPr lang="en-US" sz="1900" dirty="0"/>
          </a:p>
        </p:txBody>
      </p:sp>
      <p:sp>
        <p:nvSpPr>
          <p:cNvPr id="14" name="Text 26"/>
          <p:cNvSpPr/>
          <p:nvPr/>
        </p:nvSpPr>
        <p:spPr>
          <a:xfrm>
            <a:off x="1809750" y="5980509"/>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5</a:t>
            </a:r>
            <a:endParaRPr lang="en-US" sz="2200" dirty="0"/>
          </a:p>
        </p:txBody>
      </p:sp>
      <p:sp>
        <p:nvSpPr>
          <p:cNvPr id="15" name="Text 27"/>
          <p:cNvSpPr/>
          <p:nvPr/>
        </p:nvSpPr>
        <p:spPr>
          <a:xfrm>
            <a:off x="2343150" y="5980509"/>
            <a:ext cx="5909310" cy="423863"/>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Keep one value, delete the markers, save.</a:t>
            </a:r>
            <a:endParaRPr lang="en-US" sz="1900" dirty="0"/>
          </a:p>
        </p:txBody>
      </p:sp>
      <p:sp>
        <p:nvSpPr>
          <p:cNvPr id="16" name="Text 28"/>
          <p:cNvSpPr/>
          <p:nvPr/>
        </p:nvSpPr>
        <p:spPr>
          <a:xfrm>
            <a:off x="1809750" y="6518672"/>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6</a:t>
            </a:r>
            <a:endParaRPr lang="en-US" sz="2200" dirty="0"/>
          </a:p>
        </p:txBody>
      </p:sp>
      <p:sp>
        <p:nvSpPr>
          <p:cNvPr id="17" name="Text 29"/>
          <p:cNvSpPr/>
          <p:nvPr/>
        </p:nvSpPr>
        <p:spPr>
          <a:xfrm>
            <a:off x="2343150" y="6518672"/>
            <a:ext cx="5909310" cy="423863"/>
          </a:xfrm>
          <a:prstGeom prst="rect">
            <a:avLst/>
          </a:prstGeom>
          <a:noFill/>
          <a:ln/>
        </p:spPr>
        <p:txBody>
          <a:bodyPr wrap="square" lIns="25400" tIns="25400" rIns="25400" bIns="25400" rtlCol="0" anchor="t">
            <a:normAutofit/>
          </a:bodyPr>
          <a:lstStyle/>
          <a:p>
            <a:pPr marL="0" indent="0" algn="l">
              <a:lnSpc>
                <a:spcPct val="101250"/>
              </a:lnSpc>
              <a:buNone/>
            </a:pPr>
            <a:r>
              <a:rPr lang="en-US" sz="1900" b="1" dirty="0">
                <a:solidFill>
                  <a:srgbClr val="000000"/>
                </a:solidFill>
                <a:latin typeface="+mn-lt"/>
                <a:ea typeface="+mn-ea"/>
                <a:cs typeface="+mn-cs"/>
              </a:rPr>
              <a:t>Continue merge</a:t>
            </a:r>
            <a:r>
              <a:rPr lang="en-US" sz="1900" dirty="0">
                <a:solidFill>
                  <a:srgbClr val="000000"/>
                </a:solidFill>
                <a:latin typeface="+mn-lt"/>
                <a:ea typeface="+mn-ea"/>
                <a:cs typeface="+mn-cs"/>
              </a:rPr>
              <a:t>, then </a:t>
            </a:r>
            <a:r>
              <a:rPr lang="en-US" sz="1900" b="1" dirty="0">
                <a:solidFill>
                  <a:srgbClr val="000000"/>
                </a:solidFill>
                <a:latin typeface="+mn-lt"/>
                <a:ea typeface="+mn-ea"/>
                <a:cs typeface="+mn-cs"/>
              </a:rPr>
              <a:t>Push origin</a:t>
            </a:r>
            <a:r>
              <a:rPr lang="en-US" sz="1900" dirty="0">
                <a:solidFill>
                  <a:srgbClr val="000000"/>
                </a:solidFill>
                <a:latin typeface="+mn-lt"/>
                <a:ea typeface="+mn-ea"/>
                <a:cs typeface="+mn-cs"/>
              </a:rPr>
              <a:t>.</a:t>
            </a:r>
            <a:endParaRPr lang="en-US" sz="1900" dirty="0"/>
          </a:p>
        </p:txBody>
      </p:sp>
      <p:sp>
        <p:nvSpPr>
          <p:cNvPr id="18" name="Text 30"/>
          <p:cNvSpPr/>
          <p:nvPr/>
        </p:nvSpPr>
        <p:spPr>
          <a:xfrm>
            <a:off x="8001000" y="1524000"/>
            <a:ext cx="5577840" cy="29845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000"/>
                </a:solidFill>
                <a:latin typeface="Consolas" pitchFamily="34" charset="0"/>
                <a:ea typeface="Consolas" pitchFamily="34" charset="-122"/>
                <a:cs typeface="Consolas" pitchFamily="34" charset="-120"/>
              </a:rPr>
              <a:t>beam.m during the conflict</a:t>
            </a:r>
            <a:endParaRPr lang="en-US" sz="1800" dirty="0"/>
          </a:p>
        </p:txBody>
      </p:sp>
      <p:sp>
        <p:nvSpPr>
          <p:cNvPr id="19" name="Shape 31"/>
          <p:cNvSpPr/>
          <p:nvPr/>
        </p:nvSpPr>
        <p:spPr>
          <a:xfrm>
            <a:off x="8001000" y="1936750"/>
            <a:ext cx="5486400" cy="2987378"/>
          </a:xfrm>
          <a:prstGeom prst="roundRect">
            <a:avLst>
              <a:gd name="adj" fmla="val 3826"/>
            </a:avLst>
          </a:prstGeom>
          <a:solidFill>
            <a:srgbClr val="1E1E1E"/>
          </a:solidFill>
          <a:ln/>
        </p:spPr>
        <p:txBody>
          <a:bodyPr/>
          <a:lstStyle/>
          <a:p>
            <a:endParaRPr lang="en-US"/>
          </a:p>
        </p:txBody>
      </p:sp>
      <p:sp>
        <p:nvSpPr>
          <p:cNvPr id="20" name="Text 32"/>
          <p:cNvSpPr/>
          <p:nvPr/>
        </p:nvSpPr>
        <p:spPr>
          <a:xfrm>
            <a:off x="8248650" y="2165350"/>
            <a:ext cx="5140833" cy="399554"/>
          </a:xfrm>
          <a:prstGeom prst="rect">
            <a:avLst/>
          </a:prstGeom>
          <a:noFill/>
          <a:ln/>
        </p:spPr>
        <p:txBody>
          <a:bodyPr wrap="none" lIns="25400" tIns="25400" rIns="25400" bIns="25400" rtlCol="0" anchor="t">
            <a:normAutofit/>
          </a:bodyPr>
          <a:lstStyle/>
          <a:p>
            <a:pPr marL="0" indent="0" algn="l">
              <a:lnSpc>
                <a:spcPct val="142312"/>
              </a:lnSpc>
              <a:buNone/>
            </a:pPr>
            <a:r>
              <a:rPr lang="en-US" sz="1700" dirty="0">
                <a:solidFill>
                  <a:srgbClr val="D4D4D4"/>
                </a:solidFill>
                <a:latin typeface="Consolas" pitchFamily="34" charset="0"/>
                <a:ea typeface="Consolas" pitchFamily="34" charset="-122"/>
                <a:cs typeface="Consolas" pitchFamily="34" charset="-120"/>
              </a:rPr>
              <a:t>E = 200e9;   </a:t>
            </a:r>
            <a:r>
              <a:rPr lang="en-US" sz="1700" dirty="0">
                <a:solidFill>
                  <a:srgbClr val="6A9955"/>
                </a:solidFill>
                <a:latin typeface="Consolas" pitchFamily="34" charset="0"/>
                <a:ea typeface="Consolas" pitchFamily="34" charset="-122"/>
                <a:cs typeface="Consolas" pitchFamily="34" charset="-120"/>
              </a:rPr>
              <a:t>% Pa</a:t>
            </a:r>
            <a:endParaRPr lang="en-US" sz="1700" dirty="0"/>
          </a:p>
        </p:txBody>
      </p:sp>
      <p:sp>
        <p:nvSpPr>
          <p:cNvPr id="21" name="Text 33"/>
          <p:cNvSpPr/>
          <p:nvPr/>
        </p:nvSpPr>
        <p:spPr>
          <a:xfrm>
            <a:off x="8248650" y="2526804"/>
            <a:ext cx="5140833" cy="399554"/>
          </a:xfrm>
          <a:prstGeom prst="rect">
            <a:avLst/>
          </a:prstGeom>
          <a:noFill/>
          <a:ln/>
        </p:spPr>
        <p:txBody>
          <a:bodyPr wrap="none" lIns="25400" tIns="25400" rIns="25400" bIns="25400" rtlCol="0" anchor="t">
            <a:normAutofit/>
          </a:bodyPr>
          <a:lstStyle/>
          <a:p>
            <a:pPr marL="0" indent="0" algn="l">
              <a:lnSpc>
                <a:spcPct val="142312"/>
              </a:lnSpc>
              <a:buNone/>
            </a:pPr>
            <a:r>
              <a:rPr lang="en-US" sz="1700" dirty="0">
                <a:solidFill>
                  <a:srgbClr val="F48771"/>
                </a:solidFill>
                <a:latin typeface="Consolas" pitchFamily="34" charset="0"/>
                <a:ea typeface="Consolas" pitchFamily="34" charset="-122"/>
                <a:cs typeface="Consolas" pitchFamily="34" charset="-120"/>
              </a:rPr>
              <a:t>&lt;&lt;&lt;&lt;&lt;&lt;&lt; HEAD</a:t>
            </a:r>
            <a:endParaRPr lang="en-US" sz="1700" dirty="0"/>
          </a:p>
        </p:txBody>
      </p:sp>
      <p:sp>
        <p:nvSpPr>
          <p:cNvPr id="22" name="Text 34"/>
          <p:cNvSpPr/>
          <p:nvPr/>
        </p:nvSpPr>
        <p:spPr>
          <a:xfrm>
            <a:off x="8248650" y="2888258"/>
            <a:ext cx="5140833" cy="399554"/>
          </a:xfrm>
          <a:prstGeom prst="rect">
            <a:avLst/>
          </a:prstGeom>
          <a:noFill/>
          <a:ln/>
        </p:spPr>
        <p:txBody>
          <a:bodyPr wrap="none" lIns="25400" tIns="25400" rIns="25400" bIns="25400" rtlCol="0" anchor="t">
            <a:normAutofit/>
          </a:bodyPr>
          <a:lstStyle/>
          <a:p>
            <a:pPr marL="0" indent="0" algn="l">
              <a:lnSpc>
                <a:spcPct val="142312"/>
              </a:lnSpc>
              <a:buNone/>
            </a:pPr>
            <a:r>
              <a:rPr lang="en-US" sz="1700" dirty="0">
                <a:solidFill>
                  <a:srgbClr val="D4D4D4"/>
                </a:solidFill>
                <a:latin typeface="Consolas" pitchFamily="34" charset="0"/>
                <a:ea typeface="Consolas" pitchFamily="34" charset="-122"/>
                <a:cs typeface="Consolas" pitchFamily="34" charset="-120"/>
              </a:rPr>
              <a:t>L = 3.0;     </a:t>
            </a:r>
            <a:r>
              <a:rPr lang="en-US" sz="1700" dirty="0">
                <a:solidFill>
                  <a:srgbClr val="6A9955"/>
                </a:solidFill>
                <a:latin typeface="Consolas" pitchFamily="34" charset="0"/>
                <a:ea typeface="Consolas" pitchFamily="34" charset="-122"/>
                <a:cs typeface="Consolas" pitchFamily="34" charset="-120"/>
              </a:rPr>
              <a:t>% m</a:t>
            </a:r>
            <a:endParaRPr lang="en-US" sz="1700" dirty="0"/>
          </a:p>
        </p:txBody>
      </p:sp>
      <p:sp>
        <p:nvSpPr>
          <p:cNvPr id="23" name="Text 35"/>
          <p:cNvSpPr/>
          <p:nvPr/>
        </p:nvSpPr>
        <p:spPr>
          <a:xfrm>
            <a:off x="8248650" y="3249712"/>
            <a:ext cx="5140833" cy="399554"/>
          </a:xfrm>
          <a:prstGeom prst="rect">
            <a:avLst/>
          </a:prstGeom>
          <a:noFill/>
          <a:ln/>
        </p:spPr>
        <p:txBody>
          <a:bodyPr wrap="none" lIns="25400" tIns="25400" rIns="25400" bIns="25400" rtlCol="0" anchor="t">
            <a:normAutofit/>
          </a:bodyPr>
          <a:lstStyle/>
          <a:p>
            <a:pPr marL="0" indent="0" algn="l">
              <a:lnSpc>
                <a:spcPct val="142312"/>
              </a:lnSpc>
              <a:buNone/>
            </a:pPr>
            <a:r>
              <a:rPr lang="en-US" sz="1700" dirty="0">
                <a:solidFill>
                  <a:srgbClr val="F48771"/>
                </a:solidFill>
                <a:latin typeface="Consolas" pitchFamily="34" charset="0"/>
                <a:ea typeface="Consolas" pitchFamily="34" charset="-122"/>
                <a:cs typeface="Consolas" pitchFamily="34" charset="-120"/>
              </a:rPr>
              <a:t>=======</a:t>
            </a:r>
            <a:endParaRPr lang="en-US" sz="1700" dirty="0"/>
          </a:p>
        </p:txBody>
      </p:sp>
      <p:sp>
        <p:nvSpPr>
          <p:cNvPr id="24" name="Text 36"/>
          <p:cNvSpPr/>
          <p:nvPr/>
        </p:nvSpPr>
        <p:spPr>
          <a:xfrm>
            <a:off x="8248650" y="3611166"/>
            <a:ext cx="5140833" cy="399554"/>
          </a:xfrm>
          <a:prstGeom prst="rect">
            <a:avLst/>
          </a:prstGeom>
          <a:noFill/>
          <a:ln/>
        </p:spPr>
        <p:txBody>
          <a:bodyPr wrap="none" lIns="25400" tIns="25400" rIns="25400" bIns="25400" rtlCol="0" anchor="t">
            <a:normAutofit/>
          </a:bodyPr>
          <a:lstStyle/>
          <a:p>
            <a:pPr marL="0" indent="0" algn="l">
              <a:lnSpc>
                <a:spcPct val="142312"/>
              </a:lnSpc>
              <a:buNone/>
            </a:pPr>
            <a:r>
              <a:rPr lang="en-US" sz="1700" dirty="0">
                <a:solidFill>
                  <a:srgbClr val="D4D4D4"/>
                </a:solidFill>
                <a:latin typeface="Consolas" pitchFamily="34" charset="0"/>
                <a:ea typeface="Consolas" pitchFamily="34" charset="-122"/>
                <a:cs typeface="Consolas" pitchFamily="34" charset="-120"/>
              </a:rPr>
              <a:t>L = 2.5;     </a:t>
            </a:r>
            <a:r>
              <a:rPr lang="en-US" sz="1700" dirty="0">
                <a:solidFill>
                  <a:srgbClr val="6A9955"/>
                </a:solidFill>
                <a:latin typeface="Consolas" pitchFamily="34" charset="0"/>
                <a:ea typeface="Consolas" pitchFamily="34" charset="-122"/>
                <a:cs typeface="Consolas" pitchFamily="34" charset="-120"/>
              </a:rPr>
              <a:t>% m</a:t>
            </a:r>
            <a:endParaRPr lang="en-US" sz="1700" dirty="0"/>
          </a:p>
        </p:txBody>
      </p:sp>
      <p:sp>
        <p:nvSpPr>
          <p:cNvPr id="25" name="Text 37"/>
          <p:cNvSpPr/>
          <p:nvPr/>
        </p:nvSpPr>
        <p:spPr>
          <a:xfrm>
            <a:off x="8248650" y="3972620"/>
            <a:ext cx="5140833" cy="399554"/>
          </a:xfrm>
          <a:prstGeom prst="rect">
            <a:avLst/>
          </a:prstGeom>
          <a:noFill/>
          <a:ln/>
        </p:spPr>
        <p:txBody>
          <a:bodyPr wrap="none" lIns="25400" tIns="25400" rIns="25400" bIns="25400" rtlCol="0" anchor="t">
            <a:normAutofit/>
          </a:bodyPr>
          <a:lstStyle/>
          <a:p>
            <a:pPr marL="0" indent="0" algn="l">
              <a:lnSpc>
                <a:spcPct val="142312"/>
              </a:lnSpc>
              <a:buNone/>
            </a:pPr>
            <a:r>
              <a:rPr lang="en-US" sz="1700" dirty="0">
                <a:solidFill>
                  <a:srgbClr val="F48771"/>
                </a:solidFill>
                <a:latin typeface="Consolas" pitchFamily="34" charset="0"/>
                <a:ea typeface="Consolas" pitchFamily="34" charset="-122"/>
                <a:cs typeface="Consolas" pitchFamily="34" charset="-120"/>
              </a:rPr>
              <a:t>&gt;&gt;&gt;&gt;&gt;&gt;&gt; origin/main</a:t>
            </a:r>
            <a:endParaRPr lang="en-US" sz="1700" dirty="0"/>
          </a:p>
        </p:txBody>
      </p:sp>
      <p:sp>
        <p:nvSpPr>
          <p:cNvPr id="26" name="Text 38"/>
          <p:cNvSpPr/>
          <p:nvPr/>
        </p:nvSpPr>
        <p:spPr>
          <a:xfrm>
            <a:off x="8248650" y="4334074"/>
            <a:ext cx="5140833" cy="399554"/>
          </a:xfrm>
          <a:prstGeom prst="rect">
            <a:avLst/>
          </a:prstGeom>
          <a:noFill/>
          <a:ln/>
        </p:spPr>
        <p:txBody>
          <a:bodyPr wrap="none" lIns="25400" tIns="25400" rIns="25400" bIns="25400" rtlCol="0" anchor="t">
            <a:normAutofit/>
          </a:bodyPr>
          <a:lstStyle/>
          <a:p>
            <a:pPr marL="0" indent="0" algn="l">
              <a:lnSpc>
                <a:spcPct val="142312"/>
              </a:lnSpc>
              <a:buNone/>
            </a:pPr>
            <a:r>
              <a:rPr lang="en-US" sz="1700" dirty="0">
                <a:solidFill>
                  <a:srgbClr val="D4D4D4"/>
                </a:solidFill>
                <a:latin typeface="Consolas" pitchFamily="34" charset="0"/>
                <a:ea typeface="Consolas" pitchFamily="34" charset="-122"/>
                <a:cs typeface="Consolas" pitchFamily="34" charset="-120"/>
              </a:rPr>
              <a:t>P = 750.0;   </a:t>
            </a:r>
            <a:r>
              <a:rPr lang="en-US" sz="1700" dirty="0">
                <a:solidFill>
                  <a:srgbClr val="6A9955"/>
                </a:solidFill>
                <a:latin typeface="Consolas" pitchFamily="34" charset="0"/>
                <a:ea typeface="Consolas" pitchFamily="34" charset="-122"/>
                <a:cs typeface="Consolas" pitchFamily="34" charset="-120"/>
              </a:rPr>
              <a:t>% N</a:t>
            </a:r>
            <a:endParaRPr lang="en-US" sz="1700" dirty="0"/>
          </a:p>
        </p:txBody>
      </p:sp>
      <p:sp>
        <p:nvSpPr>
          <p:cNvPr id="27" name="Text 39"/>
          <p:cNvSpPr/>
          <p:nvPr/>
        </p:nvSpPr>
        <p:spPr>
          <a:xfrm>
            <a:off x="8001000" y="5076527"/>
            <a:ext cx="1620738" cy="346670"/>
          </a:xfrm>
          <a:prstGeom prst="rect">
            <a:avLst/>
          </a:prstGeom>
          <a:noFill/>
          <a:ln/>
        </p:spPr>
        <p:txBody>
          <a:bodyPr wrap="square" lIns="25400" tIns="25400" rIns="25400" bIns="25400" rtlCol="0" anchor="t">
            <a:normAutofit lnSpcReduction="10000"/>
          </a:bodyPr>
          <a:lstStyle/>
          <a:p>
            <a:pPr marL="0" indent="0" algn="l">
              <a:lnSpc>
                <a:spcPct val="118537"/>
              </a:lnSpc>
              <a:buNone/>
            </a:pPr>
            <a:r>
              <a:rPr lang="en-US" sz="1800" b="1" dirty="0">
                <a:solidFill>
                  <a:srgbClr val="000000"/>
                </a:solidFill>
                <a:latin typeface="Consolas" pitchFamily="34" charset="0"/>
                <a:ea typeface="Consolas" pitchFamily="34" charset="-122"/>
                <a:cs typeface="Consolas" pitchFamily="34" charset="-120"/>
              </a:rPr>
              <a:t>HEAD</a:t>
            </a:r>
            <a:endParaRPr lang="en-US" sz="1800" dirty="0"/>
          </a:p>
        </p:txBody>
      </p:sp>
      <p:sp>
        <p:nvSpPr>
          <p:cNvPr id="28" name="Text 40"/>
          <p:cNvSpPr/>
          <p:nvPr/>
        </p:nvSpPr>
        <p:spPr>
          <a:xfrm>
            <a:off x="9645848" y="5076527"/>
            <a:ext cx="3932992" cy="346670"/>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000000"/>
                </a:solidFill>
                <a:latin typeface="+mn-lt"/>
                <a:ea typeface="+mn-ea"/>
                <a:cs typeface="+mn-cs"/>
              </a:rPr>
              <a:t>your local version</a:t>
            </a:r>
            <a:endParaRPr lang="en-US" sz="1800" dirty="0"/>
          </a:p>
        </p:txBody>
      </p:sp>
      <p:sp>
        <p:nvSpPr>
          <p:cNvPr id="29" name="Text 41"/>
          <p:cNvSpPr/>
          <p:nvPr/>
        </p:nvSpPr>
        <p:spPr>
          <a:xfrm>
            <a:off x="8001000" y="5480348"/>
            <a:ext cx="1620738" cy="346670"/>
          </a:xfrm>
          <a:prstGeom prst="rect">
            <a:avLst/>
          </a:prstGeom>
          <a:noFill/>
          <a:ln/>
        </p:spPr>
        <p:txBody>
          <a:bodyPr wrap="square" lIns="25400" tIns="25400" rIns="25400" bIns="25400" rtlCol="0" anchor="t">
            <a:normAutofit lnSpcReduction="10000"/>
          </a:bodyPr>
          <a:lstStyle/>
          <a:p>
            <a:pPr marL="0" indent="0" algn="l">
              <a:lnSpc>
                <a:spcPct val="118537"/>
              </a:lnSpc>
              <a:buNone/>
            </a:pPr>
            <a:r>
              <a:rPr lang="en-US" sz="1800" b="1" dirty="0">
                <a:solidFill>
                  <a:srgbClr val="000000"/>
                </a:solidFill>
                <a:latin typeface="Consolas" pitchFamily="34" charset="0"/>
                <a:ea typeface="Consolas" pitchFamily="34" charset="-122"/>
                <a:cs typeface="Consolas" pitchFamily="34" charset="-120"/>
              </a:rPr>
              <a:t>origin/main</a:t>
            </a:r>
            <a:endParaRPr lang="en-US" sz="1800" dirty="0"/>
          </a:p>
        </p:txBody>
      </p:sp>
      <p:sp>
        <p:nvSpPr>
          <p:cNvPr id="30" name="Text 42"/>
          <p:cNvSpPr/>
          <p:nvPr/>
        </p:nvSpPr>
        <p:spPr>
          <a:xfrm>
            <a:off x="9645848" y="5480348"/>
            <a:ext cx="3932992" cy="346670"/>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000000"/>
                </a:solidFill>
                <a:latin typeface="+mn-lt"/>
                <a:ea typeface="+mn-ea"/>
                <a:cs typeface="+mn-cs"/>
              </a:rPr>
              <a:t>the version from GitHub</a:t>
            </a:r>
            <a:endParaRPr lang="en-US" sz="1800" dirty="0"/>
          </a:p>
        </p:txBody>
      </p:sp>
      <p:sp>
        <p:nvSpPr>
          <p:cNvPr id="31" name="Nav highlight"/>
          <p:cNvSpPr txBox="1"/>
          <p:nvPr userDrawn="1"/>
        </p:nvSpPr>
        <p:spPr>
          <a:xfrm>
            <a:off x="133350" y="5048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Conflicts</a:t>
            </a:r>
            <a:endParaRPr lang="en-US" sz="1800" b="1" dirty="0"/>
          </a:p>
        </p:txBody>
      </p:sp>
      <p:sp>
        <p:nvSpPr>
          <p:cNvPr id="32"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33" name="Slide Number"/>
          <p:cNvSpPr>
            <a:spLocks noGrp="1"/>
          </p:cNvSpPr>
          <p:nvPr>
            <p:ph type="sldNum" sz="quarter" idx="12"/>
          </p:nvPr>
        </p:nvSpPr>
        <p:spPr/>
        <p:txBody>
          <a:bodyPr/>
          <a:lstStyle/>
          <a:p>
            <a:fld id="{B6F15528-21DE-4FAA-801E-634DDDAF4B2B}" type="slidenum">
              <a:rPr lang="en-US"/>
              <a:t>15</a:t>
            </a:fld>
            <a:endParaRPr lang="en-US"/>
          </a:p>
        </p:txBody>
      </p:sp>
      <p:pic>
        <p:nvPicPr>
          <p:cNvPr id="34" name="Screenshot placeholder" descr="Screenshot to add: VS Code showing the beam.m conflict, with Accept Current Change / Accept Incoming Change above the markers"/>
          <p:cNvPicPr>
            <a:picLocks noChangeAspect="1"/>
          </p:cNvPicPr>
          <p:nvPr/>
        </p:nvPicPr>
        <p:blipFill>
          <a:blip r:embed="rId3"/>
          <a:stretch>
            <a:fillRect/>
          </a:stretch>
        </p:blipFill>
        <p:spPr>
          <a:xfrm>
            <a:off x="8001000" y="6035040"/>
            <a:ext cx="5486400" cy="33375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Exercise 8: History &amp; Undo</a:t>
            </a:r>
          </a:p>
        </p:txBody>
      </p:sp>
      <p:sp>
        <p:nvSpPr>
          <p:cNvPr id="3" name="Shape 15"/>
          <p:cNvSpPr/>
          <p:nvPr/>
        </p:nvSpPr>
        <p:spPr>
          <a:xfrm>
            <a:off x="1809750" y="1571625"/>
            <a:ext cx="2381250" cy="614363"/>
          </a:xfrm>
          <a:prstGeom prst="rect">
            <a:avLst/>
          </a:prstGeom>
          <a:solidFill>
            <a:srgbClr val="152A47"/>
          </a:solidFill>
          <a:ln/>
        </p:spPr>
        <p:txBody>
          <a:bodyPr/>
          <a:lstStyle/>
          <a:p>
            <a:endParaRPr lang="en-US"/>
          </a:p>
        </p:txBody>
      </p:sp>
      <p:sp>
        <p:nvSpPr>
          <p:cNvPr id="4" name="Text 16"/>
          <p:cNvSpPr/>
          <p:nvPr/>
        </p:nvSpPr>
        <p:spPr>
          <a:xfrm>
            <a:off x="1981200" y="1724025"/>
            <a:ext cx="21145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Situation</a:t>
            </a:r>
            <a:endParaRPr lang="en-US" sz="1900" dirty="0"/>
          </a:p>
        </p:txBody>
      </p:sp>
      <p:sp>
        <p:nvSpPr>
          <p:cNvPr id="5" name="Shape 17"/>
          <p:cNvSpPr/>
          <p:nvPr/>
        </p:nvSpPr>
        <p:spPr>
          <a:xfrm>
            <a:off x="4191000" y="1571625"/>
            <a:ext cx="5486400" cy="614363"/>
          </a:xfrm>
          <a:prstGeom prst="rect">
            <a:avLst/>
          </a:prstGeom>
          <a:solidFill>
            <a:srgbClr val="152A47"/>
          </a:solidFill>
          <a:ln/>
        </p:spPr>
        <p:txBody>
          <a:bodyPr/>
          <a:lstStyle/>
          <a:p>
            <a:endParaRPr lang="en-US"/>
          </a:p>
        </p:txBody>
      </p:sp>
      <p:sp>
        <p:nvSpPr>
          <p:cNvPr id="6" name="Text 18"/>
          <p:cNvSpPr/>
          <p:nvPr/>
        </p:nvSpPr>
        <p:spPr>
          <a:xfrm>
            <a:off x="4362450" y="1724025"/>
            <a:ext cx="5308092"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What to do</a:t>
            </a:r>
            <a:endParaRPr lang="en-US" sz="1900" dirty="0"/>
          </a:p>
        </p:txBody>
      </p:sp>
      <p:sp>
        <p:nvSpPr>
          <p:cNvPr id="7" name="Shape 19"/>
          <p:cNvSpPr/>
          <p:nvPr/>
        </p:nvSpPr>
        <p:spPr>
          <a:xfrm>
            <a:off x="9677400" y="1571625"/>
            <a:ext cx="3810000" cy="614363"/>
          </a:xfrm>
          <a:prstGeom prst="rect">
            <a:avLst/>
          </a:prstGeom>
          <a:solidFill>
            <a:srgbClr val="152A47"/>
          </a:solidFill>
          <a:ln/>
        </p:spPr>
        <p:txBody>
          <a:bodyPr/>
          <a:lstStyle/>
          <a:p>
            <a:endParaRPr lang="en-US"/>
          </a:p>
        </p:txBody>
      </p:sp>
      <p:sp>
        <p:nvSpPr>
          <p:cNvPr id="8" name="Text 20"/>
          <p:cNvSpPr/>
          <p:nvPr/>
        </p:nvSpPr>
        <p:spPr>
          <a:xfrm>
            <a:off x="9848850" y="1724025"/>
            <a:ext cx="358140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GitHub Desktop</a:t>
            </a:r>
            <a:endParaRPr lang="en-US" sz="1900" dirty="0"/>
          </a:p>
        </p:txBody>
      </p:sp>
      <p:sp>
        <p:nvSpPr>
          <p:cNvPr id="9" name="Shape 21"/>
          <p:cNvSpPr/>
          <p:nvPr/>
        </p:nvSpPr>
        <p:spPr>
          <a:xfrm>
            <a:off x="1809750" y="3109913"/>
            <a:ext cx="2381250" cy="19050"/>
          </a:xfrm>
          <a:prstGeom prst="rect">
            <a:avLst/>
          </a:prstGeom>
          <a:solidFill>
            <a:srgbClr val="BFBFBF"/>
          </a:solidFill>
          <a:ln/>
        </p:spPr>
        <p:txBody>
          <a:bodyPr/>
          <a:lstStyle/>
          <a:p>
            <a:endParaRPr lang="en-US"/>
          </a:p>
        </p:txBody>
      </p:sp>
      <p:sp>
        <p:nvSpPr>
          <p:cNvPr id="10" name="Text 22"/>
          <p:cNvSpPr/>
          <p:nvPr/>
        </p:nvSpPr>
        <p:spPr>
          <a:xfrm>
            <a:off x="1981200" y="2338388"/>
            <a:ext cx="211455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Not committed</a:t>
            </a:r>
            <a:endParaRPr lang="en-US" sz="1900" dirty="0"/>
          </a:p>
        </p:txBody>
      </p:sp>
      <p:sp>
        <p:nvSpPr>
          <p:cNvPr id="11" name="Shape 23"/>
          <p:cNvSpPr/>
          <p:nvPr/>
        </p:nvSpPr>
        <p:spPr>
          <a:xfrm>
            <a:off x="4191000" y="3109913"/>
            <a:ext cx="5486400" cy="19050"/>
          </a:xfrm>
          <a:prstGeom prst="rect">
            <a:avLst/>
          </a:prstGeom>
          <a:solidFill>
            <a:srgbClr val="BFBFBF"/>
          </a:solidFill>
          <a:ln/>
        </p:spPr>
        <p:txBody>
          <a:bodyPr/>
          <a:lstStyle/>
          <a:p>
            <a:endParaRPr lang="en-US"/>
          </a:p>
        </p:txBody>
      </p:sp>
      <p:sp>
        <p:nvSpPr>
          <p:cNvPr id="12" name="Text 24"/>
          <p:cNvSpPr/>
          <p:nvPr/>
        </p:nvSpPr>
        <p:spPr>
          <a:xfrm>
            <a:off x="4362450" y="2338388"/>
            <a:ext cx="5308092"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Throw away edits to a file</a:t>
            </a:r>
            <a:endParaRPr lang="en-US" sz="1900" dirty="0"/>
          </a:p>
        </p:txBody>
      </p:sp>
      <p:sp>
        <p:nvSpPr>
          <p:cNvPr id="13" name="Shape 25"/>
          <p:cNvSpPr/>
          <p:nvPr/>
        </p:nvSpPr>
        <p:spPr>
          <a:xfrm>
            <a:off x="9677400" y="3109913"/>
            <a:ext cx="3810000" cy="19050"/>
          </a:xfrm>
          <a:prstGeom prst="rect">
            <a:avLst/>
          </a:prstGeom>
          <a:solidFill>
            <a:srgbClr val="BFBFBF"/>
          </a:solidFill>
          <a:ln/>
        </p:spPr>
        <p:txBody>
          <a:bodyPr/>
          <a:lstStyle/>
          <a:p>
            <a:endParaRPr lang="en-US"/>
          </a:p>
        </p:txBody>
      </p:sp>
      <p:sp>
        <p:nvSpPr>
          <p:cNvPr id="14" name="Text 26"/>
          <p:cNvSpPr/>
          <p:nvPr/>
        </p:nvSpPr>
        <p:spPr>
          <a:xfrm>
            <a:off x="9848850" y="2338388"/>
            <a:ext cx="358140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Changes › right-click › Discard changes</a:t>
            </a:r>
            <a:endParaRPr lang="en-US" sz="1900" dirty="0"/>
          </a:p>
        </p:txBody>
      </p:sp>
      <p:sp>
        <p:nvSpPr>
          <p:cNvPr id="15" name="Shape 27"/>
          <p:cNvSpPr/>
          <p:nvPr/>
        </p:nvSpPr>
        <p:spPr>
          <a:xfrm>
            <a:off x="1809750" y="4052888"/>
            <a:ext cx="2381250" cy="19050"/>
          </a:xfrm>
          <a:prstGeom prst="rect">
            <a:avLst/>
          </a:prstGeom>
          <a:solidFill>
            <a:srgbClr val="BFBFBF"/>
          </a:solidFill>
          <a:ln/>
        </p:spPr>
        <p:txBody>
          <a:bodyPr/>
          <a:lstStyle/>
          <a:p>
            <a:endParaRPr lang="en-US"/>
          </a:p>
        </p:txBody>
      </p:sp>
      <p:sp>
        <p:nvSpPr>
          <p:cNvPr id="16" name="Text 28"/>
          <p:cNvSpPr/>
          <p:nvPr/>
        </p:nvSpPr>
        <p:spPr>
          <a:xfrm>
            <a:off x="1981200" y="3281363"/>
            <a:ext cx="211455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Committed, not pushed</a:t>
            </a:r>
            <a:endParaRPr lang="en-US" sz="1900" dirty="0"/>
          </a:p>
        </p:txBody>
      </p:sp>
      <p:sp>
        <p:nvSpPr>
          <p:cNvPr id="17" name="Shape 29"/>
          <p:cNvSpPr/>
          <p:nvPr/>
        </p:nvSpPr>
        <p:spPr>
          <a:xfrm>
            <a:off x="4191000" y="4052888"/>
            <a:ext cx="5486400" cy="19050"/>
          </a:xfrm>
          <a:prstGeom prst="rect">
            <a:avLst/>
          </a:prstGeom>
          <a:solidFill>
            <a:srgbClr val="BFBFBF"/>
          </a:solidFill>
          <a:ln/>
        </p:spPr>
        <p:txBody>
          <a:bodyPr/>
          <a:lstStyle/>
          <a:p>
            <a:endParaRPr lang="en-US"/>
          </a:p>
        </p:txBody>
      </p:sp>
      <p:sp>
        <p:nvSpPr>
          <p:cNvPr id="18" name="Text 30"/>
          <p:cNvSpPr/>
          <p:nvPr/>
        </p:nvSpPr>
        <p:spPr>
          <a:xfrm>
            <a:off x="4362450" y="3281363"/>
            <a:ext cx="5308092"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Take back the last commit; edits return to Changes</a:t>
            </a:r>
            <a:endParaRPr lang="en-US" sz="1900" dirty="0"/>
          </a:p>
        </p:txBody>
      </p:sp>
      <p:sp>
        <p:nvSpPr>
          <p:cNvPr id="19" name="Shape 31"/>
          <p:cNvSpPr/>
          <p:nvPr/>
        </p:nvSpPr>
        <p:spPr>
          <a:xfrm>
            <a:off x="9677400" y="4052888"/>
            <a:ext cx="3810000" cy="19050"/>
          </a:xfrm>
          <a:prstGeom prst="rect">
            <a:avLst/>
          </a:prstGeom>
          <a:solidFill>
            <a:srgbClr val="BFBFBF"/>
          </a:solidFill>
          <a:ln/>
        </p:spPr>
        <p:txBody>
          <a:bodyPr/>
          <a:lstStyle/>
          <a:p>
            <a:endParaRPr lang="en-US"/>
          </a:p>
        </p:txBody>
      </p:sp>
      <p:sp>
        <p:nvSpPr>
          <p:cNvPr id="20" name="Text 32"/>
          <p:cNvSpPr/>
          <p:nvPr/>
        </p:nvSpPr>
        <p:spPr>
          <a:xfrm>
            <a:off x="9848850" y="3281363"/>
            <a:ext cx="358140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Undo button (below commit box)</a:t>
            </a:r>
            <a:endParaRPr lang="en-US" sz="1900" dirty="0"/>
          </a:p>
        </p:txBody>
      </p:sp>
      <p:sp>
        <p:nvSpPr>
          <p:cNvPr id="21" name="Shape 33"/>
          <p:cNvSpPr/>
          <p:nvPr/>
        </p:nvSpPr>
        <p:spPr>
          <a:xfrm>
            <a:off x="1809750" y="4995863"/>
            <a:ext cx="2381250" cy="19050"/>
          </a:xfrm>
          <a:prstGeom prst="rect">
            <a:avLst/>
          </a:prstGeom>
          <a:solidFill>
            <a:srgbClr val="BFBFBF"/>
          </a:solidFill>
          <a:ln/>
        </p:spPr>
        <p:txBody>
          <a:bodyPr/>
          <a:lstStyle/>
          <a:p>
            <a:endParaRPr lang="en-US"/>
          </a:p>
        </p:txBody>
      </p:sp>
      <p:sp>
        <p:nvSpPr>
          <p:cNvPr id="22" name="Text 34"/>
          <p:cNvSpPr/>
          <p:nvPr/>
        </p:nvSpPr>
        <p:spPr>
          <a:xfrm>
            <a:off x="1981200" y="4224338"/>
            <a:ext cx="211455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Already pushed</a:t>
            </a:r>
            <a:endParaRPr lang="en-US" sz="1900" dirty="0"/>
          </a:p>
        </p:txBody>
      </p:sp>
      <p:sp>
        <p:nvSpPr>
          <p:cNvPr id="23" name="Shape 35"/>
          <p:cNvSpPr/>
          <p:nvPr/>
        </p:nvSpPr>
        <p:spPr>
          <a:xfrm>
            <a:off x="4191000" y="4995863"/>
            <a:ext cx="5486400" cy="19050"/>
          </a:xfrm>
          <a:prstGeom prst="rect">
            <a:avLst/>
          </a:prstGeom>
          <a:solidFill>
            <a:srgbClr val="BFBFBF"/>
          </a:solidFill>
          <a:ln/>
        </p:spPr>
        <p:txBody>
          <a:bodyPr/>
          <a:lstStyle/>
          <a:p>
            <a:endParaRPr lang="en-US"/>
          </a:p>
        </p:txBody>
      </p:sp>
      <p:sp>
        <p:nvSpPr>
          <p:cNvPr id="24" name="Text 36"/>
          <p:cNvSpPr/>
          <p:nvPr/>
        </p:nvSpPr>
        <p:spPr>
          <a:xfrm>
            <a:off x="4362450" y="4224338"/>
            <a:ext cx="5308092"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Add a new commit that reverses an old one</a:t>
            </a:r>
            <a:endParaRPr lang="en-US" sz="1900" dirty="0"/>
          </a:p>
        </p:txBody>
      </p:sp>
      <p:sp>
        <p:nvSpPr>
          <p:cNvPr id="25" name="Shape 37"/>
          <p:cNvSpPr/>
          <p:nvPr/>
        </p:nvSpPr>
        <p:spPr>
          <a:xfrm>
            <a:off x="9677400" y="4995863"/>
            <a:ext cx="3810000" cy="19050"/>
          </a:xfrm>
          <a:prstGeom prst="rect">
            <a:avLst/>
          </a:prstGeom>
          <a:solidFill>
            <a:srgbClr val="BFBFBF"/>
          </a:solidFill>
          <a:ln/>
        </p:spPr>
        <p:txBody>
          <a:bodyPr/>
          <a:lstStyle/>
          <a:p>
            <a:endParaRPr lang="en-US"/>
          </a:p>
        </p:txBody>
      </p:sp>
      <p:sp>
        <p:nvSpPr>
          <p:cNvPr id="26" name="Text 38"/>
          <p:cNvSpPr/>
          <p:nvPr/>
        </p:nvSpPr>
        <p:spPr>
          <a:xfrm>
            <a:off x="9848850" y="4224338"/>
            <a:ext cx="358140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History › right-click › Revert changes in commit</a:t>
            </a:r>
            <a:endParaRPr lang="en-US" sz="1900" dirty="0"/>
          </a:p>
        </p:txBody>
      </p:sp>
      <p:sp>
        <p:nvSpPr>
          <p:cNvPr id="27" name="Shape 39"/>
          <p:cNvSpPr/>
          <p:nvPr/>
        </p:nvSpPr>
        <p:spPr>
          <a:xfrm>
            <a:off x="1809750" y="5262563"/>
            <a:ext cx="1314450" cy="381000"/>
          </a:xfrm>
          <a:prstGeom prst="roundRect">
            <a:avLst>
              <a:gd name="adj" fmla="val 15000"/>
            </a:avLst>
          </a:prstGeom>
          <a:solidFill>
            <a:srgbClr val="595959"/>
          </a:solidFill>
          <a:ln/>
        </p:spPr>
        <p:txBody>
          <a:bodyPr/>
          <a:lstStyle/>
          <a:p>
            <a:endParaRPr lang="en-US"/>
          </a:p>
        </p:txBody>
      </p:sp>
      <p:sp>
        <p:nvSpPr>
          <p:cNvPr id="28" name="Text 40"/>
          <p:cNvSpPr/>
          <p:nvPr/>
        </p:nvSpPr>
        <p:spPr>
          <a:xfrm>
            <a:off x="1962150" y="5300663"/>
            <a:ext cx="108585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EXERCISE</a:t>
            </a:r>
            <a:endParaRPr lang="en-US" sz="1800" dirty="0"/>
          </a:p>
        </p:txBody>
      </p:sp>
      <p:sp>
        <p:nvSpPr>
          <p:cNvPr id="29" name="Text 41"/>
          <p:cNvSpPr/>
          <p:nvPr/>
        </p:nvSpPr>
        <p:spPr>
          <a:xfrm>
            <a:off x="1809750" y="5834063"/>
            <a:ext cx="609600" cy="706636"/>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30" name="Text 42"/>
          <p:cNvSpPr/>
          <p:nvPr/>
        </p:nvSpPr>
        <p:spPr>
          <a:xfrm>
            <a:off x="2343150" y="5834063"/>
            <a:ext cx="5337048" cy="706636"/>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Open the </a:t>
            </a:r>
            <a:r>
              <a:rPr lang="en-US" sz="1900" b="1" dirty="0">
                <a:solidFill>
                  <a:srgbClr val="000000"/>
                </a:solidFill>
                <a:latin typeface="+mn-lt"/>
                <a:ea typeface="+mn-ea"/>
                <a:cs typeface="+mn-cs"/>
              </a:rPr>
              <a:t>History </a:t>
            </a:r>
            <a:r>
              <a:rPr lang="en-US" sz="1900" dirty="0">
                <a:solidFill>
                  <a:srgbClr val="000000"/>
                </a:solidFill>
                <a:latin typeface="+mn-lt"/>
                <a:ea typeface="+mn-ea"/>
                <a:cs typeface="+mn-cs"/>
              </a:rPr>
              <a:t>tab. Click each commit to see its diff.</a:t>
            </a:r>
            <a:endParaRPr lang="en-US" sz="1900" dirty="0"/>
          </a:p>
        </p:txBody>
      </p:sp>
      <p:sp>
        <p:nvSpPr>
          <p:cNvPr id="31" name="Text 43"/>
          <p:cNvSpPr/>
          <p:nvPr/>
        </p:nvSpPr>
        <p:spPr>
          <a:xfrm>
            <a:off x="1809750" y="6674048"/>
            <a:ext cx="609600" cy="706636"/>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32" name="Text 44"/>
          <p:cNvSpPr/>
          <p:nvPr/>
        </p:nvSpPr>
        <p:spPr>
          <a:xfrm>
            <a:off x="2343150" y="6674048"/>
            <a:ext cx="5337048" cy="706636"/>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Right-click </a:t>
            </a:r>
            <a:r>
              <a:rPr lang="en-US" sz="1900" i="1" dirty="0">
                <a:solidFill>
                  <a:srgbClr val="000000"/>
                </a:solidFill>
                <a:latin typeface="+mn-lt"/>
                <a:ea typeface="+mn-ea"/>
                <a:cs typeface="+mn-cs"/>
              </a:rPr>
              <a:t>Increase tip load to 750 N </a:t>
            </a:r>
            <a:r>
              <a:rPr lang="en-US" sz="1900" dirty="0">
                <a:solidFill>
                  <a:srgbClr val="000000"/>
                </a:solidFill>
                <a:latin typeface="+mn-lt"/>
                <a:ea typeface="+mn-ea"/>
                <a:cs typeface="+mn-cs"/>
              </a:rPr>
              <a:t>› </a:t>
            </a:r>
            <a:r>
              <a:rPr lang="en-US" sz="1900" b="1" dirty="0">
                <a:solidFill>
                  <a:srgbClr val="000000"/>
                </a:solidFill>
                <a:latin typeface="+mn-lt"/>
                <a:ea typeface="+mn-ea"/>
                <a:cs typeface="+mn-cs"/>
              </a:rPr>
              <a:t>Revert changes in commit </a:t>
            </a:r>
            <a:r>
              <a:rPr lang="en-US" sz="1900" dirty="0">
                <a:solidFill>
                  <a:srgbClr val="000000"/>
                </a:solidFill>
                <a:latin typeface="+mn-lt"/>
                <a:ea typeface="+mn-ea"/>
                <a:cs typeface="+mn-cs"/>
              </a:rPr>
              <a:t>.</a:t>
            </a:r>
            <a:endParaRPr lang="en-US" sz="1900" dirty="0"/>
          </a:p>
        </p:txBody>
      </p:sp>
      <p:sp>
        <p:nvSpPr>
          <p:cNvPr id="33" name="Text 45"/>
          <p:cNvSpPr/>
          <p:nvPr/>
        </p:nvSpPr>
        <p:spPr>
          <a:xfrm>
            <a:off x="1809750" y="7514034"/>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34" name="Text 46"/>
          <p:cNvSpPr/>
          <p:nvPr/>
        </p:nvSpPr>
        <p:spPr>
          <a:xfrm>
            <a:off x="2343150" y="7514034"/>
            <a:ext cx="5699760" cy="423863"/>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Check beam.m: P is back to 500. Push origin.</a:t>
            </a:r>
            <a:endParaRPr lang="en-US" sz="1900" dirty="0"/>
          </a:p>
        </p:txBody>
      </p:sp>
      <p:sp>
        <p:nvSpPr>
          <p:cNvPr id="35" name="Nav highlight"/>
          <p:cNvSpPr txBox="1"/>
          <p:nvPr userDrawn="1"/>
        </p:nvSpPr>
        <p:spPr>
          <a:xfrm>
            <a:off x="133350" y="5429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History</a:t>
            </a:r>
            <a:endParaRPr lang="en-US" sz="1800" b="1" dirty="0"/>
          </a:p>
        </p:txBody>
      </p:sp>
      <p:sp>
        <p:nvSpPr>
          <p:cNvPr id="3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37" name="Slide Number"/>
          <p:cNvSpPr>
            <a:spLocks noGrp="1"/>
          </p:cNvSpPr>
          <p:nvPr>
            <p:ph type="sldNum" sz="quarter" idx="12"/>
          </p:nvPr>
        </p:nvSpPr>
        <p:spPr/>
        <p:txBody>
          <a:bodyPr/>
          <a:lstStyle/>
          <a:p>
            <a:fld id="{B6F15528-21DE-4FAA-801E-634DDDAF4B2B}" type="slidenum">
              <a:rPr lang="en-US"/>
              <a:t>16</a:t>
            </a:fld>
            <a:endParaRPr lang="en-US"/>
          </a:p>
        </p:txBody>
      </p:sp>
      <p:pic>
        <p:nvPicPr>
          <p:cNvPr id="38" name="Screenshot placeholder" descr="Screenshot to add: GitHub Desktop History tab: right-click a commit to show Revert changes in commit"/>
          <p:cNvPicPr>
            <a:picLocks noChangeAspect="1"/>
          </p:cNvPicPr>
          <p:nvPr/>
        </p:nvPicPr>
        <p:blipFill>
          <a:blip r:embed="rId3"/>
          <a:stretch>
            <a:fillRect/>
          </a:stretch>
        </p:blipFill>
        <p:spPr>
          <a:xfrm>
            <a:off x="8229600" y="5349240"/>
            <a:ext cx="5257800" cy="40233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README, .gitignore, AGENTS.md</a:t>
            </a:r>
          </a:p>
        </p:txBody>
      </p:sp>
      <p:sp>
        <p:nvSpPr>
          <p:cNvPr id="3" name="Text 15"/>
          <p:cNvSpPr/>
          <p:nvPr/>
        </p:nvSpPr>
        <p:spPr>
          <a:xfrm>
            <a:off x="1809750" y="1571625"/>
            <a:ext cx="4142105" cy="323850"/>
          </a:xfrm>
          <a:prstGeom prst="rect">
            <a:avLst/>
          </a:prstGeom>
          <a:noFill/>
          <a:ln/>
        </p:spPr>
        <p:txBody>
          <a:bodyPr wrap="square" lIns="25400" tIns="25400" rIns="25400" bIns="25400" rtlCol="0" anchor="t">
            <a:normAutofit lnSpcReduction="10000"/>
          </a:bodyPr>
          <a:lstStyle/>
          <a:p>
            <a:pPr marL="0" indent="0" algn="l">
              <a:buNone/>
            </a:pPr>
            <a:r>
              <a:rPr lang="en-US" sz="1900" b="1" dirty="0">
                <a:solidFill>
                  <a:srgbClr val="000000"/>
                </a:solidFill>
                <a:latin typeface="Consolas" pitchFamily="34" charset="0"/>
                <a:ea typeface="Consolas" pitchFamily="34" charset="-122"/>
                <a:cs typeface="Consolas" pitchFamily="34" charset="-120"/>
              </a:rPr>
              <a:t>README.md</a:t>
            </a:r>
            <a:endParaRPr lang="en-US" sz="1900" dirty="0"/>
          </a:p>
        </p:txBody>
      </p:sp>
      <p:sp>
        <p:nvSpPr>
          <p:cNvPr id="4" name="Text 16"/>
          <p:cNvSpPr/>
          <p:nvPr/>
        </p:nvSpPr>
        <p:spPr>
          <a:xfrm>
            <a:off x="1809750" y="1990725"/>
            <a:ext cx="3878517" cy="952500"/>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404040"/>
                </a:solidFill>
                <a:latin typeface="+mn-lt"/>
                <a:ea typeface="+mn-ea"/>
                <a:cs typeface="+mn-cs"/>
              </a:rPr>
              <a:t>What it is and how to run it. Shown on the repo’s GitHub page.</a:t>
            </a:r>
            <a:endParaRPr lang="en-US" sz="1800" dirty="0"/>
          </a:p>
        </p:txBody>
      </p:sp>
      <p:sp>
        <p:nvSpPr>
          <p:cNvPr id="5" name="Shape 17"/>
          <p:cNvSpPr/>
          <p:nvPr/>
        </p:nvSpPr>
        <p:spPr>
          <a:xfrm>
            <a:off x="1809750" y="3038475"/>
            <a:ext cx="3765550" cy="4953000"/>
          </a:xfrm>
          <a:prstGeom prst="roundRect">
            <a:avLst>
              <a:gd name="adj" fmla="val 3035"/>
            </a:avLst>
          </a:prstGeom>
          <a:solidFill>
            <a:srgbClr val="1E1E1E"/>
          </a:solidFill>
          <a:ln/>
        </p:spPr>
        <p:txBody>
          <a:bodyPr/>
          <a:lstStyle/>
          <a:p>
            <a:endParaRPr lang="en-US"/>
          </a:p>
        </p:txBody>
      </p:sp>
      <p:sp>
        <p:nvSpPr>
          <p:cNvPr id="6" name="Text 18"/>
          <p:cNvSpPr/>
          <p:nvPr/>
        </p:nvSpPr>
        <p:spPr>
          <a:xfrm>
            <a:off x="2019300" y="3228975"/>
            <a:ext cx="3459417" cy="4610100"/>
          </a:xfrm>
          <a:prstGeom prst="rect">
            <a:avLst/>
          </a:prstGeom>
          <a:noFill/>
          <a:ln/>
        </p:spPr>
        <p:txBody>
          <a:bodyPr wrap="none" lIns="25400" tIns="25400" rIns="25400" bIns="25400" rtlCol="0" anchor="t">
            <a:normAutofit/>
          </a:bodyPr>
          <a:lstStyle/>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beam-calc</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Cantilever tip deflection.</a:t>
            </a:r>
            <a:endParaRPr lang="en-US" sz="1600" dirty="0"/>
          </a:p>
          <a:p>
            <a:pPr marL="0" indent="0" algn="l">
              <a:lnSpc>
                <a:spcPct val="140000"/>
              </a:lnSpc>
              <a:buNone/>
            </a:pP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Run</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In MATLAB: beam</a:t>
            </a:r>
            <a:endParaRPr lang="en-US" sz="1600" dirty="0"/>
          </a:p>
          <a:p>
            <a:pPr marL="0" indent="0" algn="l">
              <a:lnSpc>
                <a:spcPct val="140000"/>
              </a:lnSpc>
              <a:buNone/>
            </a:pP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Test</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runtests('tests')</a:t>
            </a:r>
            <a:endParaRPr lang="en-US" sz="1600" dirty="0"/>
          </a:p>
          <a:p>
            <a:pPr marL="0" indent="0" algn="l">
              <a:lnSpc>
                <a:spcPct val="140000"/>
              </a:lnSpc>
              <a:buNone/>
            </a:pP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Units: SI throughout.</a:t>
            </a:r>
            <a:endParaRPr lang="en-US" sz="1600" dirty="0"/>
          </a:p>
        </p:txBody>
      </p:sp>
      <p:sp>
        <p:nvSpPr>
          <p:cNvPr id="7" name="Text 19"/>
          <p:cNvSpPr/>
          <p:nvPr/>
        </p:nvSpPr>
        <p:spPr>
          <a:xfrm>
            <a:off x="5765800" y="1571625"/>
            <a:ext cx="4142105" cy="323850"/>
          </a:xfrm>
          <a:prstGeom prst="rect">
            <a:avLst/>
          </a:prstGeom>
          <a:noFill/>
          <a:ln/>
        </p:spPr>
        <p:txBody>
          <a:bodyPr wrap="square" lIns="25400" tIns="25400" rIns="25400" bIns="25400" rtlCol="0" anchor="t">
            <a:normAutofit lnSpcReduction="10000"/>
          </a:bodyPr>
          <a:lstStyle/>
          <a:p>
            <a:pPr marL="0" indent="0" algn="l">
              <a:buNone/>
            </a:pPr>
            <a:r>
              <a:rPr lang="en-US" sz="1900" b="1" dirty="0">
                <a:solidFill>
                  <a:srgbClr val="000000"/>
                </a:solidFill>
                <a:latin typeface="Consolas" pitchFamily="34" charset="0"/>
                <a:ea typeface="Consolas" pitchFamily="34" charset="-122"/>
                <a:cs typeface="Consolas" pitchFamily="34" charset="-120"/>
              </a:rPr>
              <a:t>.gitignore</a:t>
            </a:r>
            <a:endParaRPr lang="en-US" sz="1900" dirty="0"/>
          </a:p>
        </p:txBody>
      </p:sp>
      <p:sp>
        <p:nvSpPr>
          <p:cNvPr id="8" name="Text 20"/>
          <p:cNvSpPr/>
          <p:nvPr/>
        </p:nvSpPr>
        <p:spPr>
          <a:xfrm>
            <a:off x="5765800" y="1990725"/>
            <a:ext cx="3878517" cy="952500"/>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404040"/>
                </a:solidFill>
                <a:latin typeface="+mn-lt"/>
                <a:ea typeface="+mn-ea"/>
                <a:cs typeface="+mn-cs"/>
              </a:rPr>
              <a:t>Files Git should never track: outputs, data, secrets.</a:t>
            </a:r>
            <a:endParaRPr lang="en-US" sz="1800" dirty="0"/>
          </a:p>
        </p:txBody>
      </p:sp>
      <p:sp>
        <p:nvSpPr>
          <p:cNvPr id="9" name="Shape 21"/>
          <p:cNvSpPr/>
          <p:nvPr/>
        </p:nvSpPr>
        <p:spPr>
          <a:xfrm>
            <a:off x="5765800" y="3038475"/>
            <a:ext cx="3765550" cy="4953000"/>
          </a:xfrm>
          <a:prstGeom prst="roundRect">
            <a:avLst>
              <a:gd name="adj" fmla="val 3035"/>
            </a:avLst>
          </a:prstGeom>
          <a:solidFill>
            <a:srgbClr val="1E1E1E"/>
          </a:solidFill>
          <a:ln/>
        </p:spPr>
        <p:txBody>
          <a:bodyPr/>
          <a:lstStyle/>
          <a:p>
            <a:endParaRPr lang="en-US"/>
          </a:p>
        </p:txBody>
      </p:sp>
      <p:sp>
        <p:nvSpPr>
          <p:cNvPr id="10" name="Text 22"/>
          <p:cNvSpPr/>
          <p:nvPr/>
        </p:nvSpPr>
        <p:spPr>
          <a:xfrm>
            <a:off x="5975350" y="3228975"/>
            <a:ext cx="3459417" cy="4610100"/>
          </a:xfrm>
          <a:prstGeom prst="rect">
            <a:avLst/>
          </a:prstGeom>
          <a:noFill/>
          <a:ln/>
        </p:spPr>
        <p:txBody>
          <a:bodyPr wrap="none" lIns="25400" tIns="25400" rIns="25400" bIns="25400" rtlCol="0" anchor="t">
            <a:normAutofit/>
          </a:bodyPr>
          <a:lstStyle/>
          <a:p>
            <a:pPr marL="0" indent="0" algn="l">
              <a:lnSpc>
                <a:spcPct val="140000"/>
              </a:lnSpc>
              <a:buNone/>
            </a:pPr>
            <a:r>
              <a:rPr lang="en-US" sz="1600" dirty="0">
                <a:solidFill>
                  <a:srgbClr val="6A9955"/>
                </a:solidFill>
                <a:latin typeface="Consolas" pitchFamily="34" charset="0"/>
                <a:ea typeface="Consolas" pitchFamily="34" charset="-122"/>
                <a:cs typeface="Consolas" pitchFamily="34" charset="-120"/>
              </a:rPr>
              <a:t># MATLAB</a:t>
            </a:r>
            <a:endParaRPr lang="en-US" sz="1600" dirty="0"/>
          </a:p>
          <a:p>
            <a:pPr marL="0" indent="0" algn="l">
              <a:lnSpc>
                <a:spcPct val="140000"/>
              </a:lnSpc>
              <a:buNone/>
            </a:pPr>
            <a:r>
              <a:rPr lang="en-US" sz="1600" dirty="0">
                <a:solidFill>
                  <a:srgbClr val="D4D4D4"/>
                </a:solidFill>
                <a:highlight>
                  <a:srgbClr val="1E1E1E"/>
                </a:highlight>
                <a:latin typeface="Consolas" pitchFamily="34" charset="0"/>
                <a:ea typeface="Consolas" pitchFamily="34" charset="-122"/>
                <a:cs typeface="Consolas" pitchFamily="34" charset="-120"/>
              </a:rPr>
              <a:t>*.asv</a:t>
            </a:r>
            <a:endParaRPr lang="en-US" sz="1600" dirty="0"/>
          </a:p>
          <a:p>
            <a:pPr marL="0" indent="0" algn="l">
              <a:lnSpc>
                <a:spcPct val="140000"/>
              </a:lnSpc>
              <a:buNone/>
            </a:pPr>
            <a:r>
              <a:rPr lang="en-US" sz="1600" dirty="0">
                <a:solidFill>
                  <a:srgbClr val="D4D4D4"/>
                </a:solidFill>
                <a:highlight>
                  <a:srgbClr val="1E1E1E"/>
                </a:highlight>
                <a:latin typeface="Consolas" pitchFamily="34" charset="0"/>
                <a:ea typeface="Consolas" pitchFamily="34" charset="-122"/>
                <a:cs typeface="Consolas" pitchFamily="34" charset="-120"/>
              </a:rPr>
              <a:t>*.mex*</a:t>
            </a:r>
            <a:endParaRPr lang="en-US" sz="1600" dirty="0"/>
          </a:p>
          <a:p>
            <a:pPr marL="0" indent="0" algn="l">
              <a:lnSpc>
                <a:spcPct val="140000"/>
              </a:lnSpc>
              <a:buNone/>
            </a:pPr>
            <a:r>
              <a:rPr lang="en-US" sz="1600" dirty="0">
                <a:solidFill>
                  <a:srgbClr val="D4D4D4"/>
                </a:solidFill>
                <a:highlight>
                  <a:srgbClr val="1E1E1E"/>
                </a:highlight>
                <a:latin typeface="Consolas" pitchFamily="34" charset="0"/>
                <a:ea typeface="Consolas" pitchFamily="34" charset="-122"/>
                <a:cs typeface="Consolas" pitchFamily="34" charset="-120"/>
              </a:rPr>
              <a:t>slprj/</a:t>
            </a:r>
            <a:endParaRPr lang="en-US" sz="1600" dirty="0"/>
          </a:p>
          <a:p>
            <a:pPr marL="0" indent="0" algn="l">
              <a:lnSpc>
                <a:spcPct val="140000"/>
              </a:lnSpc>
              <a:buNone/>
            </a:pPr>
            <a:r>
              <a:rPr lang="en-US" sz="1600" dirty="0">
                <a:solidFill>
                  <a:srgbClr val="D4D4D4"/>
                </a:solidFill>
                <a:highlight>
                  <a:srgbClr val="1E1E1E"/>
                </a:highlight>
                <a:latin typeface="Consolas" pitchFamily="34" charset="0"/>
                <a:ea typeface="Consolas" pitchFamily="34" charset="-122"/>
                <a:cs typeface="Consolas" pitchFamily="34" charset="-120"/>
              </a:rPr>
              <a:t>codegen/ </a:t>
            </a:r>
            <a:endParaRPr lang="en-US" sz="1600" dirty="0"/>
          </a:p>
          <a:p>
            <a:pPr marL="0" indent="0" algn="l">
              <a:lnSpc>
                <a:spcPct val="140000"/>
              </a:lnSpc>
              <a:buNone/>
            </a:pPr>
            <a:r>
              <a:rPr lang="en-US" sz="1600" dirty="0">
                <a:solidFill>
                  <a:srgbClr val="6A9955"/>
                </a:solidFill>
                <a:latin typeface="Consolas" pitchFamily="34" charset="0"/>
                <a:ea typeface="Consolas" pitchFamily="34" charset="-122"/>
                <a:cs typeface="Consolas" pitchFamily="34" charset="-120"/>
              </a:rPr>
              <a:t># Outputs and data</a:t>
            </a:r>
            <a:endParaRPr lang="en-US" sz="1600" dirty="0"/>
          </a:p>
          <a:p>
            <a:pPr marL="0" indent="0" algn="l">
              <a:lnSpc>
                <a:spcPct val="140000"/>
              </a:lnSpc>
              <a:buNone/>
            </a:pPr>
            <a:r>
              <a:rPr lang="en-US" sz="1600" dirty="0">
                <a:solidFill>
                  <a:srgbClr val="D4D4D4"/>
                </a:solidFill>
                <a:highlight>
                  <a:srgbClr val="1E1E1E"/>
                </a:highlight>
                <a:latin typeface="Consolas" pitchFamily="34" charset="0"/>
                <a:ea typeface="Consolas" pitchFamily="34" charset="-122"/>
                <a:cs typeface="Consolas" pitchFamily="34" charset="-120"/>
              </a:rPr>
              <a:t>results/</a:t>
            </a:r>
            <a:endParaRPr lang="en-US" sz="1600" dirty="0"/>
          </a:p>
          <a:p>
            <a:pPr marL="0" indent="0" algn="l">
              <a:lnSpc>
                <a:spcPct val="140000"/>
              </a:lnSpc>
              <a:buNone/>
            </a:pPr>
            <a:r>
              <a:rPr lang="en-US" sz="1600" dirty="0">
                <a:solidFill>
                  <a:srgbClr val="D4D4D4"/>
                </a:solidFill>
                <a:highlight>
                  <a:srgbClr val="1E1E1E"/>
                </a:highlight>
                <a:latin typeface="Consolas" pitchFamily="34" charset="0"/>
                <a:ea typeface="Consolas" pitchFamily="34" charset="-122"/>
                <a:cs typeface="Consolas" pitchFamily="34" charset="-120"/>
              </a:rPr>
              <a:t>data/raw/ </a:t>
            </a:r>
            <a:endParaRPr lang="en-US" sz="1600" dirty="0"/>
          </a:p>
          <a:p>
            <a:pPr marL="0" indent="0" algn="l">
              <a:lnSpc>
                <a:spcPct val="140000"/>
              </a:lnSpc>
              <a:buNone/>
            </a:pPr>
            <a:r>
              <a:rPr lang="en-US" sz="1600" dirty="0">
                <a:solidFill>
                  <a:srgbClr val="6A9955"/>
                </a:solidFill>
                <a:latin typeface="Consolas" pitchFamily="34" charset="0"/>
                <a:ea typeface="Consolas" pitchFamily="34" charset="-122"/>
                <a:cs typeface="Consolas" pitchFamily="34" charset="-120"/>
              </a:rPr>
              <a:t># Secrets</a:t>
            </a:r>
            <a:endParaRPr lang="en-US" sz="1600" dirty="0"/>
          </a:p>
          <a:p>
            <a:pPr marL="0" indent="0" algn="l">
              <a:lnSpc>
                <a:spcPct val="140000"/>
              </a:lnSpc>
              <a:buNone/>
            </a:pPr>
            <a:r>
              <a:rPr lang="en-US" sz="1600" dirty="0">
                <a:solidFill>
                  <a:srgbClr val="D4D4D4"/>
                </a:solidFill>
                <a:highlight>
                  <a:srgbClr val="1E1E1E"/>
                </a:highlight>
                <a:latin typeface="Consolas" pitchFamily="34" charset="0"/>
                <a:ea typeface="Consolas" pitchFamily="34" charset="-122"/>
                <a:cs typeface="Consolas" pitchFamily="34" charset="-120"/>
              </a:rPr>
              <a:t>.env</a:t>
            </a:r>
            <a:endParaRPr lang="en-US" sz="1600" dirty="0"/>
          </a:p>
        </p:txBody>
      </p:sp>
      <p:sp>
        <p:nvSpPr>
          <p:cNvPr id="11" name="Text 23"/>
          <p:cNvSpPr/>
          <p:nvPr/>
        </p:nvSpPr>
        <p:spPr>
          <a:xfrm>
            <a:off x="9721850" y="1571625"/>
            <a:ext cx="3856990" cy="323850"/>
          </a:xfrm>
          <a:prstGeom prst="rect">
            <a:avLst/>
          </a:prstGeom>
          <a:noFill/>
          <a:ln/>
        </p:spPr>
        <p:txBody>
          <a:bodyPr wrap="square" lIns="25400" tIns="25400" rIns="25400" bIns="25400" rtlCol="0" anchor="t">
            <a:normAutofit lnSpcReduction="10000"/>
          </a:bodyPr>
          <a:lstStyle/>
          <a:p>
            <a:pPr marL="0" indent="0" algn="l">
              <a:buNone/>
            </a:pPr>
            <a:r>
              <a:rPr lang="en-US" sz="1900" b="1" dirty="0">
                <a:solidFill>
                  <a:srgbClr val="000000"/>
                </a:solidFill>
                <a:latin typeface="Consolas" pitchFamily="34" charset="0"/>
                <a:ea typeface="Consolas" pitchFamily="34" charset="-122"/>
                <a:cs typeface="Consolas" pitchFamily="34" charset="-120"/>
              </a:rPr>
              <a:t>AGENTS.md</a:t>
            </a:r>
            <a:endParaRPr lang="en-US" sz="1900" dirty="0"/>
          </a:p>
        </p:txBody>
      </p:sp>
      <p:sp>
        <p:nvSpPr>
          <p:cNvPr id="12" name="Text 24"/>
          <p:cNvSpPr/>
          <p:nvPr/>
        </p:nvSpPr>
        <p:spPr>
          <a:xfrm>
            <a:off x="9721850" y="1990725"/>
            <a:ext cx="3856990" cy="963811"/>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404040"/>
                </a:solidFill>
                <a:latin typeface="+mn-lt"/>
                <a:ea typeface="+mn-ea"/>
                <a:cs typeface="+mn-cs"/>
              </a:rPr>
              <a:t>Standing instructions Codex reads before every task. Covered in Lesson 2.</a:t>
            </a:r>
            <a:endParaRPr lang="en-US" sz="1800" dirty="0"/>
          </a:p>
        </p:txBody>
      </p:sp>
      <p:sp>
        <p:nvSpPr>
          <p:cNvPr id="13" name="Shape 25"/>
          <p:cNvSpPr/>
          <p:nvPr/>
        </p:nvSpPr>
        <p:spPr>
          <a:xfrm>
            <a:off x="9721850" y="3049786"/>
            <a:ext cx="3765550" cy="4953000"/>
          </a:xfrm>
          <a:prstGeom prst="roundRect">
            <a:avLst>
              <a:gd name="adj" fmla="val 3035"/>
            </a:avLst>
          </a:prstGeom>
          <a:solidFill>
            <a:srgbClr val="1E1E1E"/>
          </a:solidFill>
          <a:ln/>
        </p:spPr>
        <p:txBody>
          <a:bodyPr/>
          <a:lstStyle/>
          <a:p>
            <a:endParaRPr lang="en-US"/>
          </a:p>
        </p:txBody>
      </p:sp>
      <p:sp>
        <p:nvSpPr>
          <p:cNvPr id="14" name="Text 26"/>
          <p:cNvSpPr/>
          <p:nvPr/>
        </p:nvSpPr>
        <p:spPr>
          <a:xfrm>
            <a:off x="9931400" y="3240286"/>
            <a:ext cx="3459417" cy="4610100"/>
          </a:xfrm>
          <a:prstGeom prst="rect">
            <a:avLst/>
          </a:prstGeom>
          <a:noFill/>
          <a:ln/>
        </p:spPr>
        <p:txBody>
          <a:bodyPr wrap="none" lIns="25400" tIns="25400" rIns="25400" bIns="25400" rtlCol="0" anchor="t">
            <a:normAutofit/>
          </a:bodyPr>
          <a:lstStyle/>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AGENTS.md</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Project</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MATLAB R2024b,</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no extra toolboxes.</a:t>
            </a:r>
            <a:endParaRPr lang="en-US" sz="1600" dirty="0"/>
          </a:p>
          <a:p>
            <a:pPr marL="0" indent="0" algn="l">
              <a:lnSpc>
                <a:spcPct val="140000"/>
              </a:lnSpc>
              <a:buNone/>
            </a:pP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Conventions</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SI units; comment</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units on every constant.</a:t>
            </a:r>
            <a:endParaRPr lang="en-US" sz="1600" dirty="0"/>
          </a:p>
          <a:p>
            <a:pPr marL="0" indent="0" algn="l">
              <a:lnSpc>
                <a:spcPct val="140000"/>
              </a:lnSpc>
              <a:buNone/>
            </a:pP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Before committing</a:t>
            </a:r>
            <a:endParaRPr lang="en-US" sz="1600" dirty="0"/>
          </a:p>
          <a:p>
            <a:pPr marL="0" indent="0" algn="l">
              <a:lnSpc>
                <a:spcPct val="140000"/>
              </a:lnSpc>
              <a:buNone/>
            </a:pPr>
            <a:r>
              <a:rPr lang="en-US" sz="1600" dirty="0">
                <a:solidFill>
                  <a:srgbClr val="D4D4D4"/>
                </a:solidFill>
                <a:latin typeface="Consolas" pitchFamily="34" charset="0"/>
                <a:ea typeface="Consolas" pitchFamily="34" charset="-122"/>
                <a:cs typeface="Consolas" pitchFamily="34" charset="-120"/>
              </a:rPr>
              <a:t>- Run runtests('tests')</a:t>
            </a:r>
            <a:endParaRPr lang="en-US" sz="1600" dirty="0"/>
          </a:p>
        </p:txBody>
      </p:sp>
      <p:sp>
        <p:nvSpPr>
          <p:cNvPr id="15" name="Nav highlight"/>
          <p:cNvSpPr txBox="1"/>
          <p:nvPr userDrawn="1"/>
        </p:nvSpPr>
        <p:spPr>
          <a:xfrm>
            <a:off x="133350" y="5810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Agent-Ready</a:t>
            </a:r>
            <a:endParaRPr lang="en-US" sz="1800" b="1" dirty="0"/>
          </a:p>
        </p:txBody>
      </p:sp>
      <p:sp>
        <p:nvSpPr>
          <p:cNvPr id="1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17" name="Slide Number"/>
          <p:cNvSpPr>
            <a:spLocks noGrp="1"/>
          </p:cNvSpPr>
          <p:nvPr>
            <p:ph type="sldNum" sz="quarter" idx="12"/>
          </p:nvPr>
        </p:nvSpPr>
        <p:spPr/>
        <p:txBody>
          <a:bodyPr/>
          <a:lstStyle/>
          <a:p>
            <a:fld id="{B6F15528-21DE-4FAA-801E-634DDDAF4B2B}"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Public vs. Private &amp; Data</a:t>
            </a:r>
          </a:p>
        </p:txBody>
      </p:sp>
      <p:sp>
        <p:nvSpPr>
          <p:cNvPr id="3" name="Shape 15"/>
          <p:cNvSpPr/>
          <p:nvPr/>
        </p:nvSpPr>
        <p:spPr>
          <a:xfrm>
            <a:off x="1809750" y="1619250"/>
            <a:ext cx="5743575" cy="1241425"/>
          </a:xfrm>
          <a:prstGeom prst="rect">
            <a:avLst/>
          </a:prstGeom>
          <a:solidFill>
            <a:srgbClr val="F2F2F2"/>
          </a:solidFill>
          <a:ln/>
        </p:spPr>
        <p:txBody>
          <a:bodyPr/>
          <a:lstStyle/>
          <a:p>
            <a:endParaRPr lang="en-US"/>
          </a:p>
        </p:txBody>
      </p:sp>
      <p:sp>
        <p:nvSpPr>
          <p:cNvPr id="4" name="Text 16"/>
          <p:cNvSpPr/>
          <p:nvPr/>
        </p:nvSpPr>
        <p:spPr>
          <a:xfrm>
            <a:off x="2038350" y="1847850"/>
            <a:ext cx="5815013"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mn-lt"/>
                <a:ea typeface="+mn-ea"/>
                <a:cs typeface="+mn-cs"/>
              </a:rPr>
              <a:t>Public</a:t>
            </a:r>
            <a:endParaRPr lang="en-US" sz="2100" dirty="0"/>
          </a:p>
        </p:txBody>
      </p:sp>
      <p:sp>
        <p:nvSpPr>
          <p:cNvPr id="5" name="Text 17"/>
          <p:cNvSpPr/>
          <p:nvPr/>
        </p:nvSpPr>
        <p:spPr>
          <a:xfrm>
            <a:off x="2038350" y="2298700"/>
            <a:ext cx="5815013" cy="371475"/>
          </a:xfrm>
          <a:prstGeom prst="rect">
            <a:avLst/>
          </a:prstGeom>
          <a:noFill/>
          <a:ln/>
        </p:spPr>
        <p:txBody>
          <a:bodyPr wrap="square" lIns="25400" tIns="25400" rIns="25400" bIns="25400" rtlCol="0" anchor="t">
            <a:normAutofit/>
          </a:bodyPr>
          <a:lstStyle/>
          <a:p>
            <a:pPr marL="0" indent="0" algn="l">
              <a:lnSpc>
                <a:spcPct val="107143"/>
              </a:lnSpc>
              <a:buNone/>
            </a:pPr>
            <a:r>
              <a:rPr lang="en-US" sz="1900" dirty="0">
                <a:solidFill>
                  <a:srgbClr val="000000"/>
                </a:solidFill>
                <a:latin typeface="+mn-lt"/>
                <a:ea typeface="+mn-ea"/>
                <a:cs typeface="+mn-cs"/>
              </a:rPr>
              <a:t>Anyone on the internet can view and copy it.</a:t>
            </a:r>
            <a:endParaRPr lang="en-US" sz="1900" dirty="0"/>
          </a:p>
        </p:txBody>
      </p:sp>
      <p:sp>
        <p:nvSpPr>
          <p:cNvPr id="6" name="Shape 18"/>
          <p:cNvSpPr/>
          <p:nvPr/>
        </p:nvSpPr>
        <p:spPr>
          <a:xfrm>
            <a:off x="7743825" y="1619250"/>
            <a:ext cx="5743575" cy="1241425"/>
          </a:xfrm>
          <a:prstGeom prst="rect">
            <a:avLst/>
          </a:prstGeom>
          <a:solidFill>
            <a:srgbClr val="152A47"/>
          </a:solidFill>
          <a:ln/>
        </p:spPr>
        <p:txBody>
          <a:bodyPr/>
          <a:lstStyle/>
          <a:p>
            <a:endParaRPr lang="en-US"/>
          </a:p>
        </p:txBody>
      </p:sp>
      <p:sp>
        <p:nvSpPr>
          <p:cNvPr id="7" name="Text 19"/>
          <p:cNvSpPr/>
          <p:nvPr/>
        </p:nvSpPr>
        <p:spPr>
          <a:xfrm>
            <a:off x="7972425" y="1847850"/>
            <a:ext cx="5606415"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mn-lt"/>
                <a:ea typeface="+mn-ea"/>
                <a:cs typeface="+mn-cs"/>
              </a:rPr>
              <a:t>Private (default for this course)</a:t>
            </a:r>
            <a:endParaRPr lang="en-US" sz="2100" dirty="0"/>
          </a:p>
        </p:txBody>
      </p:sp>
      <p:sp>
        <p:nvSpPr>
          <p:cNvPr id="8" name="Text 20"/>
          <p:cNvSpPr/>
          <p:nvPr/>
        </p:nvSpPr>
        <p:spPr>
          <a:xfrm>
            <a:off x="7972425" y="2298700"/>
            <a:ext cx="5606415" cy="371475"/>
          </a:xfrm>
          <a:prstGeom prst="rect">
            <a:avLst/>
          </a:prstGeom>
          <a:noFill/>
          <a:ln/>
        </p:spPr>
        <p:txBody>
          <a:bodyPr wrap="square" lIns="25400" tIns="25400" rIns="25400" bIns="25400" rtlCol="0" anchor="t">
            <a:normAutofit/>
          </a:bodyPr>
          <a:lstStyle/>
          <a:p>
            <a:pPr marL="0" indent="0" algn="l">
              <a:lnSpc>
                <a:spcPct val="107143"/>
              </a:lnSpc>
              <a:buNone/>
            </a:pPr>
            <a:r>
              <a:rPr lang="en-US" sz="1900" dirty="0">
                <a:solidFill>
                  <a:srgbClr val="FFFFFF"/>
                </a:solidFill>
                <a:latin typeface="+mn-lt"/>
                <a:ea typeface="+mn-ea"/>
                <a:cs typeface="+mn-cs"/>
              </a:rPr>
              <a:t>Only you and people you invite.</a:t>
            </a:r>
            <a:endParaRPr lang="en-US" sz="1900" dirty="0"/>
          </a:p>
        </p:txBody>
      </p:sp>
      <p:sp>
        <p:nvSpPr>
          <p:cNvPr id="9" name="Text 21"/>
          <p:cNvSpPr/>
          <p:nvPr/>
        </p:nvSpPr>
        <p:spPr>
          <a:xfrm>
            <a:off x="1809750" y="3146425"/>
            <a:ext cx="6213158"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mn-lt"/>
                <a:ea typeface="+mn-ea"/>
                <a:cs typeface="+mn-cs"/>
              </a:rPr>
              <a:t>Never commit</a:t>
            </a:r>
            <a:endParaRPr lang="en-US" sz="2100" dirty="0"/>
          </a:p>
        </p:txBody>
      </p:sp>
      <p:sp>
        <p:nvSpPr>
          <p:cNvPr id="10" name="Shape 22"/>
          <p:cNvSpPr/>
          <p:nvPr/>
        </p:nvSpPr>
        <p:spPr>
          <a:xfrm>
            <a:off x="1809750" y="3749675"/>
            <a:ext cx="114300" cy="114300"/>
          </a:xfrm>
          <a:prstGeom prst="rect">
            <a:avLst/>
          </a:prstGeom>
          <a:solidFill>
            <a:srgbClr val="1F6FB2"/>
          </a:solidFill>
          <a:ln/>
        </p:spPr>
        <p:txBody>
          <a:bodyPr/>
          <a:lstStyle/>
          <a:p>
            <a:endParaRPr lang="en-US"/>
          </a:p>
        </p:txBody>
      </p:sp>
      <p:sp>
        <p:nvSpPr>
          <p:cNvPr id="11" name="Text 23"/>
          <p:cNvSpPr/>
          <p:nvPr/>
        </p:nvSpPr>
        <p:spPr>
          <a:xfrm>
            <a:off x="2057400" y="3635375"/>
            <a:ext cx="3307834"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Passwords, API keys, tokens</a:t>
            </a:r>
            <a:endParaRPr lang="en-US" sz="1900" dirty="0"/>
          </a:p>
        </p:txBody>
      </p:sp>
      <p:sp>
        <p:nvSpPr>
          <p:cNvPr id="12" name="Shape 24"/>
          <p:cNvSpPr/>
          <p:nvPr/>
        </p:nvSpPr>
        <p:spPr>
          <a:xfrm>
            <a:off x="1809750" y="4198243"/>
            <a:ext cx="114300" cy="114300"/>
          </a:xfrm>
          <a:prstGeom prst="rect">
            <a:avLst/>
          </a:prstGeom>
          <a:solidFill>
            <a:srgbClr val="1F6FB2"/>
          </a:solidFill>
          <a:ln/>
        </p:spPr>
        <p:txBody>
          <a:bodyPr/>
          <a:lstStyle/>
          <a:p>
            <a:endParaRPr lang="en-US"/>
          </a:p>
        </p:txBody>
      </p:sp>
      <p:sp>
        <p:nvSpPr>
          <p:cNvPr id="13" name="Text 25"/>
          <p:cNvSpPr/>
          <p:nvPr/>
        </p:nvSpPr>
        <p:spPr>
          <a:xfrm>
            <a:off x="2057400" y="4083943"/>
            <a:ext cx="3276838"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Student records, grades, PII</a:t>
            </a:r>
            <a:endParaRPr lang="en-US" sz="1900" dirty="0"/>
          </a:p>
        </p:txBody>
      </p:sp>
      <p:sp>
        <p:nvSpPr>
          <p:cNvPr id="14" name="Shape 26"/>
          <p:cNvSpPr/>
          <p:nvPr/>
        </p:nvSpPr>
        <p:spPr>
          <a:xfrm>
            <a:off x="1809750" y="4646811"/>
            <a:ext cx="114300" cy="114300"/>
          </a:xfrm>
          <a:prstGeom prst="rect">
            <a:avLst/>
          </a:prstGeom>
          <a:solidFill>
            <a:srgbClr val="1F6FB2"/>
          </a:solidFill>
          <a:ln/>
        </p:spPr>
        <p:txBody>
          <a:bodyPr/>
          <a:lstStyle/>
          <a:p>
            <a:endParaRPr lang="en-US"/>
          </a:p>
        </p:txBody>
      </p:sp>
      <p:sp>
        <p:nvSpPr>
          <p:cNvPr id="15" name="Text 27"/>
          <p:cNvSpPr/>
          <p:nvPr/>
        </p:nvSpPr>
        <p:spPr>
          <a:xfrm>
            <a:off x="2057400" y="4532511"/>
            <a:ext cx="3540740"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CUI or export-controlled data</a:t>
            </a:r>
            <a:endParaRPr lang="en-US" sz="1900" dirty="0"/>
          </a:p>
        </p:txBody>
      </p:sp>
      <p:sp>
        <p:nvSpPr>
          <p:cNvPr id="16" name="Shape 28"/>
          <p:cNvSpPr/>
          <p:nvPr/>
        </p:nvSpPr>
        <p:spPr>
          <a:xfrm>
            <a:off x="1809750" y="5095379"/>
            <a:ext cx="114300" cy="114300"/>
          </a:xfrm>
          <a:prstGeom prst="rect">
            <a:avLst/>
          </a:prstGeom>
          <a:solidFill>
            <a:srgbClr val="1F6FB2"/>
          </a:solidFill>
          <a:ln/>
        </p:spPr>
        <p:txBody>
          <a:bodyPr/>
          <a:lstStyle/>
          <a:p>
            <a:endParaRPr lang="en-US"/>
          </a:p>
        </p:txBody>
      </p:sp>
      <p:sp>
        <p:nvSpPr>
          <p:cNvPr id="17" name="Text 29"/>
          <p:cNvSpPr/>
          <p:nvPr/>
        </p:nvSpPr>
        <p:spPr>
          <a:xfrm>
            <a:off x="2057400" y="4981079"/>
            <a:ext cx="3845679"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Anything not cleared for release</a:t>
            </a:r>
            <a:endParaRPr lang="en-US" sz="1900" dirty="0"/>
          </a:p>
        </p:txBody>
      </p:sp>
      <p:sp>
        <p:nvSpPr>
          <p:cNvPr id="18" name="Text 30"/>
          <p:cNvSpPr/>
          <p:nvPr/>
        </p:nvSpPr>
        <p:spPr>
          <a:xfrm>
            <a:off x="7839075" y="3146425"/>
            <a:ext cx="5739765"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mn-lt"/>
                <a:ea typeface="+mn-ea"/>
                <a:cs typeface="+mn-cs"/>
              </a:rPr>
              <a:t>Remember</a:t>
            </a:r>
            <a:endParaRPr lang="en-US" sz="2100" dirty="0"/>
          </a:p>
        </p:txBody>
      </p:sp>
      <p:sp>
        <p:nvSpPr>
          <p:cNvPr id="19" name="Shape 31"/>
          <p:cNvSpPr/>
          <p:nvPr/>
        </p:nvSpPr>
        <p:spPr>
          <a:xfrm>
            <a:off x="7839075" y="3749675"/>
            <a:ext cx="114300" cy="114300"/>
          </a:xfrm>
          <a:prstGeom prst="rect">
            <a:avLst/>
          </a:prstGeom>
          <a:solidFill>
            <a:srgbClr val="1F6FB2"/>
          </a:solidFill>
          <a:ln/>
        </p:spPr>
        <p:txBody>
          <a:bodyPr/>
          <a:lstStyle/>
          <a:p>
            <a:endParaRPr lang="en-US"/>
          </a:p>
        </p:txBody>
      </p:sp>
      <p:sp>
        <p:nvSpPr>
          <p:cNvPr id="20" name="Text 32"/>
          <p:cNvSpPr/>
          <p:nvPr/>
        </p:nvSpPr>
        <p:spPr>
          <a:xfrm>
            <a:off x="8086725" y="3635375"/>
            <a:ext cx="5492115" cy="706636"/>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History is permanent. Deleting a file later doesn’t remove it from past commits.</a:t>
            </a:r>
            <a:endParaRPr lang="en-US" sz="1900" dirty="0"/>
          </a:p>
        </p:txBody>
      </p:sp>
      <p:sp>
        <p:nvSpPr>
          <p:cNvPr id="21" name="Shape 33"/>
          <p:cNvSpPr/>
          <p:nvPr/>
        </p:nvSpPr>
        <p:spPr>
          <a:xfrm>
            <a:off x="7839075" y="4532511"/>
            <a:ext cx="114300" cy="114300"/>
          </a:xfrm>
          <a:prstGeom prst="rect">
            <a:avLst/>
          </a:prstGeom>
          <a:solidFill>
            <a:srgbClr val="1F6FB2"/>
          </a:solidFill>
          <a:ln/>
        </p:spPr>
        <p:txBody>
          <a:bodyPr/>
          <a:lstStyle/>
          <a:p>
            <a:endParaRPr lang="en-US"/>
          </a:p>
        </p:txBody>
      </p:sp>
      <p:sp>
        <p:nvSpPr>
          <p:cNvPr id="22" name="Text 34"/>
          <p:cNvSpPr/>
          <p:nvPr/>
        </p:nvSpPr>
        <p:spPr>
          <a:xfrm>
            <a:off x="8086725" y="4418211"/>
            <a:ext cx="4699486" cy="372368"/>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Pushed a secret? Rotate it immediately.</a:t>
            </a:r>
            <a:endParaRPr lang="en-US" sz="1900" dirty="0"/>
          </a:p>
        </p:txBody>
      </p:sp>
      <p:sp>
        <p:nvSpPr>
          <p:cNvPr id="23" name="Shape 35"/>
          <p:cNvSpPr/>
          <p:nvPr/>
        </p:nvSpPr>
        <p:spPr>
          <a:xfrm>
            <a:off x="7839075" y="4981079"/>
            <a:ext cx="114300" cy="114300"/>
          </a:xfrm>
          <a:prstGeom prst="rect">
            <a:avLst/>
          </a:prstGeom>
          <a:solidFill>
            <a:srgbClr val="1F6FB2"/>
          </a:solidFill>
          <a:ln/>
        </p:spPr>
        <p:txBody>
          <a:bodyPr/>
          <a:lstStyle/>
          <a:p>
            <a:endParaRPr lang="en-US"/>
          </a:p>
        </p:txBody>
      </p:sp>
      <p:sp>
        <p:nvSpPr>
          <p:cNvPr id="24" name="Text 36"/>
          <p:cNvSpPr/>
          <p:nvPr/>
        </p:nvSpPr>
        <p:spPr>
          <a:xfrm>
            <a:off x="8086725" y="4866779"/>
            <a:ext cx="5492115" cy="706636"/>
          </a:xfrm>
          <a:prstGeom prst="rect">
            <a:avLst/>
          </a:prstGeom>
          <a:noFill/>
          <a:ln/>
        </p:spPr>
        <p:txBody>
          <a:bodyPr wrap="square" lIns="25400" tIns="25400" rIns="25400" bIns="25400" rtlCol="0" anchor="t">
            <a:normAutofit/>
          </a:bodyPr>
          <a:lstStyle/>
          <a:p>
            <a:pPr marL="0" indent="0" algn="l">
              <a:lnSpc>
                <a:spcPct val="101250"/>
              </a:lnSpc>
              <a:buNone/>
            </a:pPr>
            <a:r>
              <a:rPr lang="en-US" sz="1900" dirty="0">
                <a:solidFill>
                  <a:srgbClr val="000000"/>
                </a:solidFill>
                <a:latin typeface="+mn-lt"/>
                <a:ea typeface="+mn-ea"/>
                <a:cs typeface="+mn-cs"/>
              </a:rPr>
              <a:t>Connecting a repo to an agent sends its contents to that service.</a:t>
            </a:r>
            <a:endParaRPr lang="en-US" sz="1900" dirty="0"/>
          </a:p>
        </p:txBody>
      </p:sp>
      <p:sp>
        <p:nvSpPr>
          <p:cNvPr id="25" name="Shape 37"/>
          <p:cNvSpPr/>
          <p:nvPr/>
        </p:nvSpPr>
        <p:spPr>
          <a:xfrm>
            <a:off x="1809750" y="5821065"/>
            <a:ext cx="11677650" cy="19050"/>
          </a:xfrm>
          <a:prstGeom prst="rect">
            <a:avLst/>
          </a:prstGeom>
          <a:solidFill>
            <a:srgbClr val="BFBFBF"/>
          </a:solidFill>
          <a:ln/>
        </p:spPr>
        <p:txBody>
          <a:bodyPr/>
          <a:lstStyle/>
          <a:p>
            <a:endParaRPr lang="en-US"/>
          </a:p>
        </p:txBody>
      </p:sp>
      <p:sp>
        <p:nvSpPr>
          <p:cNvPr id="26" name="Text 38"/>
          <p:cNvSpPr/>
          <p:nvPr/>
        </p:nvSpPr>
        <p:spPr>
          <a:xfrm>
            <a:off x="1809750" y="6049665"/>
            <a:ext cx="11769090" cy="384770"/>
          </a:xfrm>
          <a:prstGeom prst="rect">
            <a:avLst/>
          </a:prstGeom>
          <a:noFill/>
          <a:ln/>
        </p:spPr>
        <p:txBody>
          <a:bodyPr wrap="square" lIns="25400" tIns="25400" rIns="25400" bIns="25400" rtlCol="0" anchor="t">
            <a:normAutofit/>
          </a:bodyPr>
          <a:lstStyle/>
          <a:p>
            <a:pPr marL="0" indent="0" algn="l">
              <a:lnSpc>
                <a:spcPct val="105000"/>
              </a:lnSpc>
              <a:buNone/>
            </a:pPr>
            <a:r>
              <a:rPr lang="en-US" sz="1900" dirty="0">
                <a:solidFill>
                  <a:srgbClr val="000000"/>
                </a:solidFill>
                <a:latin typeface="+mn-lt"/>
                <a:ea typeface="+mn-ea"/>
                <a:cs typeface="+mn-cs"/>
              </a:rPr>
              <a:t>Follow current USAFA guidance on GenAI tools and data handling. Private is not the same as approved.</a:t>
            </a:r>
            <a:endParaRPr lang="en-US" sz="1900" dirty="0"/>
          </a:p>
        </p:txBody>
      </p:sp>
      <p:sp>
        <p:nvSpPr>
          <p:cNvPr id="27" name="Nav highlight"/>
          <p:cNvSpPr txBox="1"/>
          <p:nvPr userDrawn="1"/>
        </p:nvSpPr>
        <p:spPr>
          <a:xfrm>
            <a:off x="133350" y="5810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Agent-Ready</a:t>
            </a:r>
            <a:endParaRPr lang="en-US" sz="1800" b="1" dirty="0"/>
          </a:p>
        </p:txBody>
      </p:sp>
      <p:sp>
        <p:nvSpPr>
          <p:cNvPr id="28"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9" name="Slide Number"/>
          <p:cNvSpPr>
            <a:spLocks noGrp="1"/>
          </p:cNvSpPr>
          <p:nvPr>
            <p:ph type="sldNum" sz="quarter" idx="12"/>
          </p:nvPr>
        </p:nvSpPr>
        <p:spPr/>
        <p:txBody>
          <a:bodyPr/>
          <a:lstStyle/>
          <a:p>
            <a:fld id="{B6F15528-21DE-4FAA-801E-634DDDAF4B2B}"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After Class: Your Own Repo</a:t>
            </a:r>
          </a:p>
        </p:txBody>
      </p:sp>
      <p:sp>
        <p:nvSpPr>
          <p:cNvPr id="3" name="Shape 15"/>
          <p:cNvSpPr/>
          <p:nvPr/>
        </p:nvSpPr>
        <p:spPr>
          <a:xfrm>
            <a:off x="1809750" y="1524000"/>
            <a:ext cx="4062909" cy="381000"/>
          </a:xfrm>
          <a:prstGeom prst="roundRect">
            <a:avLst>
              <a:gd name="adj" fmla="val 15000"/>
            </a:avLst>
          </a:prstGeom>
          <a:solidFill>
            <a:srgbClr val="595959"/>
          </a:solidFill>
          <a:ln/>
        </p:spPr>
        <p:txBody>
          <a:bodyPr/>
          <a:lstStyle/>
          <a:p>
            <a:endParaRPr/>
          </a:p>
        </p:txBody>
      </p:sp>
      <p:sp>
        <p:nvSpPr>
          <p:cNvPr id="4" name="Text 16"/>
          <p:cNvSpPr/>
          <p:nvPr/>
        </p:nvSpPr>
        <p:spPr>
          <a:xfrm>
            <a:off x="1962150" y="1562100"/>
            <a:ext cx="3879996"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mn-lt"/>
                <a:ea typeface="+mn-ea"/>
                <a:cs typeface="+mn-cs"/>
              </a:rPr>
              <a:t>AFTER CLASS · BEFORE LESSON 2</a:t>
            </a:r>
            <a:endParaRPr lang="en-US" sz="1800" dirty="0"/>
          </a:p>
        </p:txBody>
      </p:sp>
      <p:sp>
        <p:nvSpPr>
          <p:cNvPr id="5" name="Text 17"/>
          <p:cNvSpPr/>
          <p:nvPr/>
        </p:nvSpPr>
        <p:spPr>
          <a:xfrm>
            <a:off x="1809750" y="2133600"/>
            <a:ext cx="11769090" cy="411460"/>
          </a:xfrm>
          <a:prstGeom prst="rect">
            <a:avLst/>
          </a:prstGeom>
          <a:noFill/>
          <a:ln/>
        </p:spPr>
        <p:txBody>
          <a:bodyPr wrap="square" lIns="25400" tIns="25400" rIns="25400" bIns="25400" rtlCol="0" anchor="t">
            <a:normAutofit/>
          </a:bodyPr>
          <a:lstStyle/>
          <a:p>
            <a:pPr marL="0" indent="0" algn="l">
              <a:lnSpc>
                <a:spcPct val="105000"/>
              </a:lnSpc>
              <a:buNone/>
            </a:pPr>
            <a:r>
              <a:rPr lang="en-US" sz="2100" dirty="0">
                <a:solidFill>
                  <a:srgbClr val="000000"/>
                </a:solidFill>
                <a:latin typeface="+mn-lt"/>
                <a:ea typeface="+mn-ea"/>
                <a:cs typeface="+mn-cs"/>
              </a:rPr>
              <a:t>Not a beam-calc exercise. After class, put one of your own projects on GitHub:</a:t>
            </a:r>
            <a:endParaRPr lang="en-US" sz="2100" dirty="0"/>
          </a:p>
        </p:txBody>
      </p:sp>
      <p:sp>
        <p:nvSpPr>
          <p:cNvPr id="6" name="Text 18"/>
          <p:cNvSpPr/>
          <p:nvPr/>
        </p:nvSpPr>
        <p:spPr>
          <a:xfrm>
            <a:off x="1809750" y="2735560"/>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1</a:t>
            </a:r>
            <a:endParaRPr lang="en-US" sz="2200" dirty="0"/>
          </a:p>
        </p:txBody>
      </p:sp>
      <p:sp>
        <p:nvSpPr>
          <p:cNvPr id="7" name="Text 19"/>
          <p:cNvSpPr/>
          <p:nvPr/>
        </p:nvSpPr>
        <p:spPr>
          <a:xfrm>
            <a:off x="2343150" y="2735560"/>
            <a:ext cx="11235690"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File › </a:t>
            </a:r>
            <a:r>
              <a:rPr lang="en-US" sz="2000" b="1" dirty="0">
                <a:solidFill>
                  <a:srgbClr val="000000"/>
                </a:solidFill>
                <a:latin typeface="+mn-lt"/>
                <a:ea typeface="+mn-ea"/>
                <a:cs typeface="+mn-cs"/>
              </a:rPr>
              <a:t>Add local repository </a:t>
            </a:r>
            <a:r>
              <a:rPr lang="en-US" sz="2000" dirty="0">
                <a:solidFill>
                  <a:srgbClr val="000000"/>
                </a:solidFill>
                <a:latin typeface="+mn-lt"/>
                <a:ea typeface="+mn-ea"/>
                <a:cs typeface="+mn-cs"/>
              </a:rPr>
              <a:t>› select the folder. Desktop says it isn’t a repo yet; click </a:t>
            </a:r>
            <a:r>
              <a:rPr lang="en-US" sz="2000" b="1" dirty="0">
                <a:solidFill>
                  <a:srgbClr val="000000"/>
                </a:solidFill>
                <a:latin typeface="+mn-lt"/>
                <a:ea typeface="+mn-ea"/>
                <a:cs typeface="+mn-cs"/>
              </a:rPr>
              <a:t>create a repository </a:t>
            </a:r>
            <a:r>
              <a:rPr lang="en-US" sz="2000" dirty="0">
                <a:solidFill>
                  <a:srgbClr val="000000"/>
                </a:solidFill>
                <a:latin typeface="+mn-lt"/>
                <a:ea typeface="+mn-ea"/>
                <a:cs typeface="+mn-cs"/>
              </a:rPr>
              <a:t>.</a:t>
            </a:r>
            <a:endParaRPr lang="en-US" sz="2000" dirty="0"/>
          </a:p>
        </p:txBody>
      </p:sp>
      <p:sp>
        <p:nvSpPr>
          <p:cNvPr id="8" name="Text 20"/>
          <p:cNvSpPr/>
          <p:nvPr/>
        </p:nvSpPr>
        <p:spPr>
          <a:xfrm>
            <a:off x="1809750" y="3497915"/>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2</a:t>
            </a:r>
            <a:endParaRPr lang="en-US" sz="2200" dirty="0"/>
          </a:p>
        </p:txBody>
      </p:sp>
      <p:sp>
        <p:nvSpPr>
          <p:cNvPr id="9" name="Text 21"/>
          <p:cNvSpPr/>
          <p:nvPr/>
        </p:nvSpPr>
        <p:spPr>
          <a:xfrm>
            <a:off x="2343150" y="3497915"/>
            <a:ext cx="11235690" cy="777240"/>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Set </a:t>
            </a:r>
            <a:r>
              <a:rPr lang="en-US" sz="2000" b="1" dirty="0">
                <a:solidFill>
                  <a:srgbClr val="000000"/>
                </a:solidFill>
                <a:latin typeface="+mn-lt"/>
                <a:ea typeface="+mn-ea"/>
                <a:cs typeface="+mn-cs"/>
              </a:rPr>
              <a:t>Git ignore </a:t>
            </a:r>
            <a:r>
              <a:rPr lang="en-US" sz="2000" dirty="0">
                <a:solidFill>
                  <a:srgbClr val="000000"/>
                </a:solidFill>
                <a:latin typeface="+mn-lt"/>
                <a:ea typeface="+mn-ea"/>
                <a:cs typeface="+mn-cs"/>
              </a:rPr>
              <a:t>to your language (e.g. MATLAB). This adds a .gitignore that keeps files MATLAB generates (autosaves, build output) out of every commit. Leave the rest as default. Click </a:t>
            </a:r>
            <a:r>
              <a:rPr lang="en-US" sz="2000" b="1" dirty="0">
                <a:solidFill>
                  <a:srgbClr val="000000"/>
                </a:solidFill>
                <a:latin typeface="+mn-lt"/>
                <a:ea typeface="+mn-ea"/>
                <a:cs typeface="+mn-cs"/>
              </a:rPr>
              <a:t>Create repository</a:t>
            </a:r>
            <a:r>
              <a:rPr lang="en-US" sz="2000" dirty="0">
                <a:solidFill>
                  <a:srgbClr val="000000"/>
                </a:solidFill>
                <a:latin typeface="+mn-lt"/>
                <a:ea typeface="+mn-ea"/>
                <a:cs typeface="+mn-cs"/>
              </a:rPr>
              <a:t>.</a:t>
            </a:r>
            <a:endParaRPr lang="en-US" sz="2000" dirty="0"/>
          </a:p>
        </p:txBody>
      </p:sp>
      <p:sp>
        <p:nvSpPr>
          <p:cNvPr id="10" name="Text 22"/>
          <p:cNvSpPr/>
          <p:nvPr/>
        </p:nvSpPr>
        <p:spPr>
          <a:xfrm>
            <a:off x="1809750" y="4523757"/>
            <a:ext cx="609600" cy="73243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3</a:t>
            </a:r>
            <a:endParaRPr lang="en-US" sz="2200" dirty="0"/>
          </a:p>
        </p:txBody>
      </p:sp>
      <p:sp>
        <p:nvSpPr>
          <p:cNvPr id="11" name="Text 23"/>
          <p:cNvSpPr/>
          <p:nvPr/>
        </p:nvSpPr>
        <p:spPr>
          <a:xfrm>
            <a:off x="2343150" y="4523757"/>
            <a:ext cx="11235690" cy="73243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Desktop makes the first commit. Check the Changes tab for files that shouldn’t be there (data, outputs, passwords).</a:t>
            </a:r>
            <a:endParaRPr lang="en-US" sz="2000" dirty="0"/>
          </a:p>
        </p:txBody>
      </p:sp>
      <p:sp>
        <p:nvSpPr>
          <p:cNvPr id="12" name="Text 24"/>
          <p:cNvSpPr/>
          <p:nvPr/>
        </p:nvSpPr>
        <p:spPr>
          <a:xfrm>
            <a:off x="1809750" y="5446691"/>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4</a:t>
            </a:r>
            <a:endParaRPr lang="en-US" sz="2200" dirty="0"/>
          </a:p>
        </p:txBody>
      </p:sp>
      <p:sp>
        <p:nvSpPr>
          <p:cNvPr id="13" name="Text 25"/>
          <p:cNvSpPr/>
          <p:nvPr/>
        </p:nvSpPr>
        <p:spPr>
          <a:xfrm>
            <a:off x="2343150" y="5446691"/>
            <a:ext cx="1123569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b="1" dirty="0">
                <a:solidFill>
                  <a:srgbClr val="000000"/>
                </a:solidFill>
                <a:latin typeface="+mn-lt"/>
                <a:ea typeface="+mn-ea"/>
                <a:cs typeface="+mn-cs"/>
              </a:rPr>
              <a:t>Publish repository</a:t>
            </a:r>
            <a:r>
              <a:rPr lang="en-US" sz="2000" dirty="0">
                <a:solidFill>
                  <a:srgbClr val="000000"/>
                </a:solidFill>
                <a:latin typeface="+mn-lt"/>
                <a:ea typeface="+mn-ea"/>
                <a:cs typeface="+mn-cs"/>
              </a:rPr>
              <a:t>. Leave </a:t>
            </a:r>
            <a:r>
              <a:rPr lang="en-US" sz="2000" b="1" dirty="0">
                <a:solidFill>
                  <a:srgbClr val="000000"/>
                </a:solidFill>
                <a:latin typeface="+mn-lt"/>
                <a:ea typeface="+mn-ea"/>
                <a:cs typeface="+mn-cs"/>
              </a:rPr>
              <a:t>Keep this code private </a:t>
            </a:r>
            <a:r>
              <a:rPr lang="en-US" sz="2000" dirty="0">
                <a:solidFill>
                  <a:srgbClr val="000000"/>
                </a:solidFill>
                <a:latin typeface="+mn-lt"/>
                <a:ea typeface="+mn-ea"/>
                <a:cs typeface="+mn-cs"/>
              </a:rPr>
              <a:t>checked.</a:t>
            </a:r>
            <a:endParaRPr lang="en-US" sz="2000" dirty="0"/>
          </a:p>
        </p:txBody>
      </p:sp>
      <p:sp>
        <p:nvSpPr>
          <p:cNvPr id="14" name="Text 26"/>
          <p:cNvSpPr/>
          <p:nvPr/>
        </p:nvSpPr>
        <p:spPr>
          <a:xfrm>
            <a:off x="1809750" y="6061053"/>
            <a:ext cx="609600" cy="423863"/>
          </a:xfrm>
          <a:prstGeom prst="rect">
            <a:avLst/>
          </a:prstGeom>
          <a:noFill/>
          <a:ln/>
        </p:spPr>
        <p:txBody>
          <a:bodyPr wrap="square" lIns="25400" tIns="25400" rIns="25400" bIns="25400" rtlCol="0" anchor="t">
            <a:normAutofit/>
          </a:bodyPr>
          <a:lstStyle/>
          <a:p>
            <a:pPr marL="0" indent="0" algn="l">
              <a:lnSpc>
                <a:spcPct val="101250"/>
              </a:lnSpc>
              <a:buNone/>
            </a:pPr>
            <a:r>
              <a:rPr lang="en-US" sz="2200" b="1" dirty="0">
                <a:solidFill>
                  <a:srgbClr val="1F6FB2"/>
                </a:solidFill>
                <a:latin typeface="+mn-lt"/>
                <a:ea typeface="+mn-ea"/>
                <a:cs typeface="+mn-cs"/>
              </a:rPr>
              <a:t>5</a:t>
            </a:r>
            <a:endParaRPr lang="en-US" sz="2200" dirty="0"/>
          </a:p>
        </p:txBody>
      </p:sp>
      <p:sp>
        <p:nvSpPr>
          <p:cNvPr id="15" name="Text 27"/>
          <p:cNvSpPr/>
          <p:nvPr/>
        </p:nvSpPr>
        <p:spPr>
          <a:xfrm>
            <a:off x="2343150" y="6061053"/>
            <a:ext cx="11235690" cy="423863"/>
          </a:xfrm>
          <a:prstGeom prst="rect">
            <a:avLst/>
          </a:prstGeom>
          <a:noFill/>
          <a:ln/>
        </p:spPr>
        <p:txBody>
          <a:bodyPr wrap="square" lIns="25400" tIns="25400" rIns="25400" bIns="25400" rtlCol="0" anchor="t">
            <a:normAutofit/>
          </a:bodyPr>
          <a:lstStyle/>
          <a:p>
            <a:pPr marL="0" indent="0" algn="l">
              <a:lnSpc>
                <a:spcPct val="101250"/>
              </a:lnSpc>
              <a:buNone/>
            </a:pPr>
            <a:r>
              <a:rPr lang="en-US" sz="2000" dirty="0">
                <a:solidFill>
                  <a:srgbClr val="000000"/>
                </a:solidFill>
                <a:latin typeface="+mn-lt"/>
                <a:ea typeface="+mn-ea"/>
                <a:cs typeface="+mn-cs"/>
              </a:rPr>
              <a:t>Repository › </a:t>
            </a:r>
            <a:r>
              <a:rPr lang="en-US" sz="2000" b="1" dirty="0">
                <a:solidFill>
                  <a:srgbClr val="000000"/>
                </a:solidFill>
                <a:latin typeface="+mn-lt"/>
                <a:ea typeface="+mn-ea"/>
                <a:cs typeface="+mn-cs"/>
              </a:rPr>
              <a:t>View on GitHub </a:t>
            </a:r>
            <a:r>
              <a:rPr lang="en-US" sz="2000" dirty="0">
                <a:solidFill>
                  <a:srgbClr val="000000"/>
                </a:solidFill>
                <a:latin typeface="+mn-lt"/>
                <a:ea typeface="+mn-ea"/>
                <a:cs typeface="+mn-cs"/>
              </a:rPr>
              <a:t>to confirm it’s there.</a:t>
            </a:r>
            <a:endParaRPr lang="en-US" sz="2000" dirty="0"/>
          </a:p>
        </p:txBody>
      </p:sp>
      <p:sp>
        <p:nvSpPr>
          <p:cNvPr id="16" name="Shape 28"/>
          <p:cNvSpPr/>
          <p:nvPr/>
        </p:nvSpPr>
        <p:spPr>
          <a:xfrm>
            <a:off x="1809750" y="6675416"/>
            <a:ext cx="11677650" cy="19050"/>
          </a:xfrm>
          <a:prstGeom prst="rect">
            <a:avLst/>
          </a:prstGeom>
          <a:solidFill>
            <a:srgbClr val="BFBFBF"/>
          </a:solidFill>
          <a:ln/>
        </p:spPr>
        <p:txBody>
          <a:bodyPr/>
          <a:lstStyle/>
          <a:p>
            <a:endParaRPr/>
          </a:p>
        </p:txBody>
      </p:sp>
      <p:sp>
        <p:nvSpPr>
          <p:cNvPr id="17" name="Text 29"/>
          <p:cNvSpPr/>
          <p:nvPr/>
        </p:nvSpPr>
        <p:spPr>
          <a:xfrm>
            <a:off x="1809750" y="6904016"/>
            <a:ext cx="11769090" cy="384770"/>
          </a:xfrm>
          <a:prstGeom prst="rect">
            <a:avLst/>
          </a:prstGeom>
          <a:noFill/>
          <a:ln/>
        </p:spPr>
        <p:txBody>
          <a:bodyPr wrap="square" lIns="25400" tIns="25400" rIns="25400" bIns="25400" rtlCol="0" anchor="t">
            <a:normAutofit/>
          </a:bodyPr>
          <a:lstStyle/>
          <a:p>
            <a:pPr marL="0" indent="0" algn="l">
              <a:lnSpc>
                <a:spcPct val="105000"/>
              </a:lnSpc>
              <a:buNone/>
            </a:pPr>
            <a:r>
              <a:rPr lang="en-US" sz="1900" dirty="0">
                <a:solidFill>
                  <a:srgbClr val="404040"/>
                </a:solidFill>
                <a:latin typeface="+mn-lt"/>
                <a:ea typeface="+mn-ea"/>
                <a:cs typeface="+mn-cs"/>
              </a:rPr>
              <a:t>Starting from nothing? File › </a:t>
            </a:r>
            <a:r>
              <a:rPr lang="en-US" sz="1900" b="1" dirty="0">
                <a:solidFill>
                  <a:srgbClr val="000000"/>
                </a:solidFill>
                <a:latin typeface="+mn-lt"/>
                <a:ea typeface="+mn-ea"/>
                <a:cs typeface="+mn-cs"/>
              </a:rPr>
              <a:t>New repository </a:t>
            </a:r>
            <a:r>
              <a:rPr lang="en-US" sz="1900" dirty="0">
                <a:solidFill>
                  <a:srgbClr val="404040"/>
                </a:solidFill>
                <a:latin typeface="+mn-lt"/>
                <a:ea typeface="+mn-ea"/>
                <a:cs typeface="+mn-cs"/>
              </a:rPr>
              <a:t>does steps 1–2 with an empty folder.</a:t>
            </a:r>
            <a:endParaRPr lang="en-US" sz="1900" dirty="0"/>
          </a:p>
        </p:txBody>
      </p:sp>
      <p:sp>
        <p:nvSpPr>
          <p:cNvPr id="18" name="Nav highlight"/>
          <p:cNvSpPr txBox="1"/>
          <p:nvPr userDrawn="1"/>
        </p:nvSpPr>
        <p:spPr>
          <a:xfrm>
            <a:off x="133350" y="5810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Agent-Ready</a:t>
            </a:r>
            <a:endParaRPr lang="en-US" sz="1800" b="1" dirty="0"/>
          </a:p>
        </p:txBody>
      </p:sp>
      <p:sp>
        <p:nvSpPr>
          <p:cNvPr id="19"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20" name="Slide Number"/>
          <p:cNvSpPr>
            <a:spLocks noGrp="1"/>
          </p:cNvSpPr>
          <p:nvPr>
            <p:ph type="sldNum" sz="quarter" idx="12"/>
          </p:nvPr>
        </p:nvSpPr>
        <p:spPr/>
        <p:txBody>
          <a:bodyPr/>
          <a:lstStyle/>
          <a:p>
            <a:fld id="{B6F15528-21DE-4FAA-801E-634DDDAF4B2B}" type="slidenum">
              <a:rPr lang="en-US"/>
              <a:t>19</a:t>
            </a:fld>
            <a:endParaRPr lang="en-US"/>
          </a:p>
        </p:txBody>
      </p:sp>
      <p:pic>
        <p:nvPicPr>
          <p:cNvPr id="21" name="Screenshot placeholder" descr="Screenshot to add: GitHub Desktop Publish repository dialog with Keep this code private checked"/>
          <p:cNvPicPr>
            <a:picLocks noChangeAspect="1"/>
          </p:cNvPicPr>
          <p:nvPr/>
        </p:nvPicPr>
        <p:blipFill>
          <a:blip r:embed="rId3"/>
          <a:stretch>
            <a:fillRect/>
          </a:stretch>
        </p:blipFill>
        <p:spPr>
          <a:xfrm>
            <a:off x="1810512" y="7498079"/>
            <a:ext cx="4937760" cy="21031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Agent-Ready Checklist</a:t>
            </a:r>
          </a:p>
        </p:txBody>
      </p:sp>
      <p:sp>
        <p:nvSpPr>
          <p:cNvPr id="3" name="Text 15"/>
          <p:cNvSpPr/>
          <p:nvPr/>
        </p:nvSpPr>
        <p:spPr>
          <a:xfrm>
            <a:off x="1809750" y="1619250"/>
            <a:ext cx="11769090" cy="393700"/>
          </a:xfrm>
          <a:prstGeom prst="rect">
            <a:avLst/>
          </a:prstGeom>
          <a:noFill/>
          <a:ln/>
        </p:spPr>
        <p:txBody>
          <a:bodyPr wrap="square" lIns="25400" tIns="25400" rIns="25400" bIns="25400" rtlCol="0" anchor="t">
            <a:normAutofit/>
          </a:bodyPr>
          <a:lstStyle/>
          <a:p>
            <a:pPr marL="0" indent="0" algn="l">
              <a:buNone/>
            </a:pPr>
            <a:r>
              <a:rPr lang="en-US" sz="2100" dirty="0">
                <a:solidFill>
                  <a:srgbClr val="000000"/>
                </a:solidFill>
                <a:latin typeface="+mn-lt"/>
                <a:ea typeface="+mn-ea"/>
                <a:cs typeface="+mn-cs"/>
              </a:rPr>
              <a:t>Before Lesson 2, bring one of your own projects to this state:</a:t>
            </a:r>
            <a:endParaRPr lang="en-US" sz="2100" dirty="0"/>
          </a:p>
        </p:txBody>
      </p:sp>
      <p:sp>
        <p:nvSpPr>
          <p:cNvPr id="4" name="Shape 16"/>
          <p:cNvSpPr/>
          <p:nvPr/>
        </p:nvSpPr>
        <p:spPr>
          <a:xfrm>
            <a:off x="1809750" y="2222500"/>
            <a:ext cx="11677650" cy="19050"/>
          </a:xfrm>
          <a:prstGeom prst="rect">
            <a:avLst/>
          </a:prstGeom>
          <a:solidFill>
            <a:srgbClr val="BFBFBF"/>
          </a:solidFill>
          <a:ln/>
        </p:spPr>
        <p:txBody>
          <a:bodyPr/>
          <a:lstStyle/>
          <a:p>
            <a:endParaRPr/>
          </a:p>
        </p:txBody>
      </p:sp>
      <p:sp>
        <p:nvSpPr>
          <p:cNvPr id="5" name="Shape 17"/>
          <p:cNvSpPr/>
          <p:nvPr/>
        </p:nvSpPr>
        <p:spPr>
          <a:xfrm>
            <a:off x="1809750" y="2908300"/>
            <a:ext cx="11677650" cy="19050"/>
          </a:xfrm>
          <a:prstGeom prst="rect">
            <a:avLst/>
          </a:prstGeom>
          <a:solidFill>
            <a:srgbClr val="BFBFBF"/>
          </a:solidFill>
          <a:ln/>
        </p:spPr>
        <p:txBody>
          <a:bodyPr/>
          <a:lstStyle/>
          <a:p>
            <a:endParaRPr/>
          </a:p>
        </p:txBody>
      </p:sp>
      <p:sp>
        <p:nvSpPr>
          <p:cNvPr id="6" name="Shape 18"/>
          <p:cNvSpPr/>
          <p:nvPr/>
        </p:nvSpPr>
        <p:spPr>
          <a:xfrm>
            <a:off x="1809750" y="2406650"/>
            <a:ext cx="336550" cy="336550"/>
          </a:xfrm>
          <a:prstGeom prst="rect">
            <a:avLst/>
          </a:prstGeom>
          <a:ln w="25400">
            <a:solidFill>
              <a:srgbClr val="152A47"/>
            </a:solidFill>
            <a:prstDash val="solid"/>
          </a:ln>
        </p:spPr>
        <p:txBody>
          <a:bodyPr/>
          <a:lstStyle/>
          <a:p>
            <a:endParaRPr/>
          </a:p>
        </p:txBody>
      </p:sp>
      <p:sp>
        <p:nvSpPr>
          <p:cNvPr id="7" name="Text 19"/>
          <p:cNvSpPr/>
          <p:nvPr/>
        </p:nvSpPr>
        <p:spPr>
          <a:xfrm>
            <a:off x="2355850" y="2403475"/>
            <a:ext cx="9000000" cy="381000"/>
          </a:xfrm>
          <a:prstGeom prst="rect">
            <a:avLst/>
          </a:prstGeom>
          <a:noFill/>
          <a:ln/>
        </p:spPr>
        <p:txBody>
          <a:bodyPr wrap="square" lIns="25400" tIns="25400" rIns="25400" bIns="25400" rtlCol="0" anchor="t">
            <a:normAutofit/>
          </a:bodyPr>
          <a:lstStyle/>
          <a:p>
            <a:pPr marL="0" indent="0" algn="l">
              <a:buNone/>
            </a:pPr>
            <a:r>
              <a:rPr lang="en-US" sz="2000" dirty="0">
                <a:solidFill>
                  <a:srgbClr val="000000"/>
                </a:solidFill>
                <a:latin typeface="+mn-lt"/>
                <a:ea typeface="+mn-ea"/>
                <a:cs typeface="+mn-cs"/>
              </a:rPr>
              <a:t>Repo is on GitHub and </a:t>
            </a:r>
            <a:r>
              <a:rPr lang="en-US" sz="2000" b="1" dirty="0">
                <a:solidFill>
                  <a:srgbClr val="000000"/>
                </a:solidFill>
                <a:latin typeface="+mn-lt"/>
                <a:ea typeface="+mn-ea"/>
                <a:cs typeface="+mn-cs"/>
              </a:rPr>
              <a:t>private</a:t>
            </a:r>
            <a:r>
              <a:rPr lang="en-US" sz="2000" dirty="0">
                <a:solidFill>
                  <a:srgbClr val="000000"/>
                </a:solidFill>
                <a:latin typeface="+mn-lt"/>
                <a:ea typeface="+mn-ea"/>
                <a:cs typeface="+mn-cs"/>
              </a:rPr>
              <a:t> (steps on the previous slide)</a:t>
            </a:r>
            <a:endParaRPr lang="en-US" sz="2000" dirty="0"/>
          </a:p>
        </p:txBody>
      </p:sp>
      <p:sp>
        <p:nvSpPr>
          <p:cNvPr id="8" name="Shape 20"/>
          <p:cNvSpPr/>
          <p:nvPr/>
        </p:nvSpPr>
        <p:spPr>
          <a:xfrm>
            <a:off x="1809750" y="3594100"/>
            <a:ext cx="11677650" cy="19050"/>
          </a:xfrm>
          <a:prstGeom prst="rect">
            <a:avLst/>
          </a:prstGeom>
          <a:solidFill>
            <a:srgbClr val="BFBFBF"/>
          </a:solidFill>
          <a:ln/>
        </p:spPr>
        <p:txBody>
          <a:bodyPr/>
          <a:lstStyle/>
          <a:p>
            <a:endParaRPr/>
          </a:p>
        </p:txBody>
      </p:sp>
      <p:sp>
        <p:nvSpPr>
          <p:cNvPr id="9" name="Shape 21"/>
          <p:cNvSpPr/>
          <p:nvPr/>
        </p:nvSpPr>
        <p:spPr>
          <a:xfrm>
            <a:off x="1809750" y="3092450"/>
            <a:ext cx="336550" cy="336550"/>
          </a:xfrm>
          <a:prstGeom prst="rect">
            <a:avLst/>
          </a:prstGeom>
          <a:ln w="25400">
            <a:solidFill>
              <a:srgbClr val="152A47"/>
            </a:solidFill>
            <a:prstDash val="solid"/>
          </a:ln>
        </p:spPr>
        <p:txBody>
          <a:bodyPr/>
          <a:lstStyle/>
          <a:p>
            <a:endParaRPr/>
          </a:p>
        </p:txBody>
      </p:sp>
      <p:sp>
        <p:nvSpPr>
          <p:cNvPr id="10" name="Text 22"/>
          <p:cNvSpPr/>
          <p:nvPr/>
        </p:nvSpPr>
        <p:spPr>
          <a:xfrm>
            <a:off x="2355850" y="3089275"/>
            <a:ext cx="4028271" cy="381000"/>
          </a:xfrm>
          <a:prstGeom prst="rect">
            <a:avLst/>
          </a:prstGeom>
          <a:noFill/>
          <a:ln/>
        </p:spPr>
        <p:txBody>
          <a:bodyPr wrap="square" lIns="25400" tIns="25400" rIns="25400" bIns="25400" rtlCol="0" anchor="t">
            <a:normAutofit/>
          </a:bodyPr>
          <a:lstStyle/>
          <a:p>
            <a:pPr marL="0" indent="0" algn="l">
              <a:buNone/>
            </a:pPr>
            <a:r>
              <a:rPr lang="en-US" sz="2000" dirty="0">
                <a:solidFill>
                  <a:srgbClr val="000000"/>
                </a:solidFill>
                <a:latin typeface="+mn-lt"/>
                <a:ea typeface="+mn-ea"/>
                <a:cs typeface="+mn-cs"/>
              </a:rPr>
              <a:t>main runs as-is (you’ve tested it)</a:t>
            </a:r>
            <a:endParaRPr lang="en-US" sz="2000" dirty="0"/>
          </a:p>
        </p:txBody>
      </p:sp>
      <p:sp>
        <p:nvSpPr>
          <p:cNvPr id="11" name="Shape 23"/>
          <p:cNvSpPr/>
          <p:nvPr/>
        </p:nvSpPr>
        <p:spPr>
          <a:xfrm>
            <a:off x="1809750" y="4279900"/>
            <a:ext cx="11677650" cy="19050"/>
          </a:xfrm>
          <a:prstGeom prst="rect">
            <a:avLst/>
          </a:prstGeom>
          <a:solidFill>
            <a:srgbClr val="BFBFBF"/>
          </a:solidFill>
          <a:ln/>
        </p:spPr>
        <p:txBody>
          <a:bodyPr/>
          <a:lstStyle/>
          <a:p>
            <a:endParaRPr/>
          </a:p>
        </p:txBody>
      </p:sp>
      <p:sp>
        <p:nvSpPr>
          <p:cNvPr id="12" name="Shape 24"/>
          <p:cNvSpPr/>
          <p:nvPr/>
        </p:nvSpPr>
        <p:spPr>
          <a:xfrm>
            <a:off x="1809750" y="3778250"/>
            <a:ext cx="336550" cy="336550"/>
          </a:xfrm>
          <a:prstGeom prst="rect">
            <a:avLst/>
          </a:prstGeom>
          <a:ln w="25400">
            <a:solidFill>
              <a:srgbClr val="152A47"/>
            </a:solidFill>
            <a:prstDash val="solid"/>
          </a:ln>
        </p:spPr>
        <p:txBody>
          <a:bodyPr/>
          <a:lstStyle/>
          <a:p>
            <a:endParaRPr/>
          </a:p>
        </p:txBody>
      </p:sp>
      <p:sp>
        <p:nvSpPr>
          <p:cNvPr id="13" name="Text 25"/>
          <p:cNvSpPr/>
          <p:nvPr/>
        </p:nvSpPr>
        <p:spPr>
          <a:xfrm>
            <a:off x="2355850" y="3775075"/>
            <a:ext cx="3857794" cy="381000"/>
          </a:xfrm>
          <a:prstGeom prst="rect">
            <a:avLst/>
          </a:prstGeom>
          <a:noFill/>
          <a:ln/>
        </p:spPr>
        <p:txBody>
          <a:bodyPr wrap="square" lIns="25400" tIns="25400" rIns="25400" bIns="25400" rtlCol="0" anchor="t">
            <a:normAutofit/>
          </a:bodyPr>
          <a:lstStyle/>
          <a:p>
            <a:pPr marL="0" indent="0" algn="l">
              <a:buNone/>
            </a:pPr>
            <a:r>
              <a:rPr lang="en-US" sz="2000" dirty="0">
                <a:solidFill>
                  <a:srgbClr val="000000"/>
                </a:solidFill>
                <a:latin typeface="+mn-lt"/>
                <a:ea typeface="+mn-ea"/>
                <a:cs typeface="+mn-cs"/>
              </a:rPr>
              <a:t>README explains how to run it</a:t>
            </a:r>
            <a:endParaRPr lang="en-US" sz="2000" dirty="0"/>
          </a:p>
        </p:txBody>
      </p:sp>
      <p:sp>
        <p:nvSpPr>
          <p:cNvPr id="14" name="Shape 26"/>
          <p:cNvSpPr/>
          <p:nvPr/>
        </p:nvSpPr>
        <p:spPr>
          <a:xfrm>
            <a:off x="1809750" y="4965700"/>
            <a:ext cx="11677650" cy="19050"/>
          </a:xfrm>
          <a:prstGeom prst="rect">
            <a:avLst/>
          </a:prstGeom>
          <a:solidFill>
            <a:srgbClr val="BFBFBF"/>
          </a:solidFill>
          <a:ln/>
        </p:spPr>
        <p:txBody>
          <a:bodyPr/>
          <a:lstStyle/>
          <a:p>
            <a:endParaRPr/>
          </a:p>
        </p:txBody>
      </p:sp>
      <p:sp>
        <p:nvSpPr>
          <p:cNvPr id="15" name="Shape 27"/>
          <p:cNvSpPr/>
          <p:nvPr/>
        </p:nvSpPr>
        <p:spPr>
          <a:xfrm>
            <a:off x="1809750" y="4464050"/>
            <a:ext cx="336550" cy="336550"/>
          </a:xfrm>
          <a:prstGeom prst="rect">
            <a:avLst/>
          </a:prstGeom>
          <a:ln w="25400">
            <a:solidFill>
              <a:srgbClr val="152A47"/>
            </a:solidFill>
            <a:prstDash val="solid"/>
          </a:ln>
        </p:spPr>
        <p:txBody>
          <a:bodyPr/>
          <a:lstStyle/>
          <a:p>
            <a:endParaRPr/>
          </a:p>
        </p:txBody>
      </p:sp>
      <p:sp>
        <p:nvSpPr>
          <p:cNvPr id="16" name="Text 28"/>
          <p:cNvSpPr/>
          <p:nvPr/>
        </p:nvSpPr>
        <p:spPr>
          <a:xfrm>
            <a:off x="2355850" y="4460875"/>
            <a:ext cx="5627072" cy="381000"/>
          </a:xfrm>
          <a:prstGeom prst="rect">
            <a:avLst/>
          </a:prstGeom>
          <a:noFill/>
          <a:ln/>
        </p:spPr>
        <p:txBody>
          <a:bodyPr wrap="square" lIns="25400" tIns="25400" rIns="25400" bIns="25400" rtlCol="0" anchor="t">
            <a:normAutofit/>
          </a:bodyPr>
          <a:lstStyle/>
          <a:p>
            <a:pPr marL="0" indent="0" algn="l">
              <a:buNone/>
            </a:pPr>
            <a:r>
              <a:rPr lang="en-US" sz="2000" dirty="0">
                <a:solidFill>
                  <a:srgbClr val="000000"/>
                </a:solidFill>
                <a:latin typeface="+mn-lt"/>
                <a:ea typeface="+mn-ea"/>
                <a:cs typeface="+mn-cs"/>
              </a:rPr>
              <a:t>.gitignore excludes outputs, data, and secrets</a:t>
            </a:r>
            <a:endParaRPr lang="en-US" sz="2000" dirty="0"/>
          </a:p>
        </p:txBody>
      </p:sp>
      <p:sp>
        <p:nvSpPr>
          <p:cNvPr id="17" name="Shape 29"/>
          <p:cNvSpPr/>
          <p:nvPr/>
        </p:nvSpPr>
        <p:spPr>
          <a:xfrm>
            <a:off x="1809750" y="5651500"/>
            <a:ext cx="11677650" cy="19050"/>
          </a:xfrm>
          <a:prstGeom prst="rect">
            <a:avLst/>
          </a:prstGeom>
          <a:solidFill>
            <a:srgbClr val="BFBFBF"/>
          </a:solidFill>
          <a:ln/>
        </p:spPr>
        <p:txBody>
          <a:bodyPr/>
          <a:lstStyle/>
          <a:p>
            <a:endParaRPr/>
          </a:p>
        </p:txBody>
      </p:sp>
      <p:sp>
        <p:nvSpPr>
          <p:cNvPr id="18" name="Shape 30"/>
          <p:cNvSpPr/>
          <p:nvPr/>
        </p:nvSpPr>
        <p:spPr>
          <a:xfrm>
            <a:off x="1809750" y="5149850"/>
            <a:ext cx="336550" cy="336550"/>
          </a:xfrm>
          <a:prstGeom prst="rect">
            <a:avLst/>
          </a:prstGeom>
          <a:ln w="25400">
            <a:solidFill>
              <a:srgbClr val="152A47"/>
            </a:solidFill>
            <a:prstDash val="solid"/>
          </a:ln>
        </p:spPr>
        <p:txBody>
          <a:bodyPr/>
          <a:lstStyle/>
          <a:p>
            <a:endParaRPr/>
          </a:p>
        </p:txBody>
      </p:sp>
      <p:sp>
        <p:nvSpPr>
          <p:cNvPr id="19" name="Text 31"/>
          <p:cNvSpPr/>
          <p:nvPr/>
        </p:nvSpPr>
        <p:spPr>
          <a:xfrm>
            <a:off x="2355850" y="5146675"/>
            <a:ext cx="4653429" cy="381000"/>
          </a:xfrm>
          <a:prstGeom prst="rect">
            <a:avLst/>
          </a:prstGeom>
          <a:noFill/>
          <a:ln/>
        </p:spPr>
        <p:txBody>
          <a:bodyPr wrap="square" lIns="25400" tIns="25400" rIns="25400" bIns="25400" rtlCol="0" anchor="t">
            <a:normAutofit/>
          </a:bodyPr>
          <a:lstStyle/>
          <a:p>
            <a:pPr marL="0" indent="0" algn="l">
              <a:buNone/>
            </a:pPr>
            <a:r>
              <a:rPr lang="en-US" sz="2000" dirty="0">
                <a:solidFill>
                  <a:srgbClr val="000000"/>
                </a:solidFill>
                <a:latin typeface="+mn-lt"/>
                <a:ea typeface="+mn-ea"/>
                <a:cs typeface="+mn-cs"/>
              </a:rPr>
              <a:t>No sensitive data anywhere in history</a:t>
            </a:r>
            <a:endParaRPr lang="en-US" sz="2000" dirty="0"/>
          </a:p>
        </p:txBody>
      </p:sp>
      <p:sp>
        <p:nvSpPr>
          <p:cNvPr id="20" name="Shape 32"/>
          <p:cNvSpPr/>
          <p:nvPr/>
        </p:nvSpPr>
        <p:spPr>
          <a:xfrm>
            <a:off x="1809750" y="6337300"/>
            <a:ext cx="11677650" cy="19050"/>
          </a:xfrm>
          <a:prstGeom prst="rect">
            <a:avLst/>
          </a:prstGeom>
          <a:solidFill>
            <a:srgbClr val="BFBFBF"/>
          </a:solidFill>
          <a:ln/>
        </p:spPr>
        <p:txBody>
          <a:bodyPr/>
          <a:lstStyle/>
          <a:p>
            <a:endParaRPr/>
          </a:p>
        </p:txBody>
      </p:sp>
      <p:sp>
        <p:nvSpPr>
          <p:cNvPr id="21" name="Shape 33"/>
          <p:cNvSpPr/>
          <p:nvPr/>
        </p:nvSpPr>
        <p:spPr>
          <a:xfrm>
            <a:off x="1809750" y="5835650"/>
            <a:ext cx="336550" cy="336550"/>
          </a:xfrm>
          <a:prstGeom prst="rect">
            <a:avLst/>
          </a:prstGeom>
          <a:ln w="25400">
            <a:solidFill>
              <a:srgbClr val="152A47"/>
            </a:solidFill>
            <a:prstDash val="solid"/>
          </a:ln>
        </p:spPr>
        <p:txBody>
          <a:bodyPr/>
          <a:lstStyle/>
          <a:p>
            <a:endParaRPr/>
          </a:p>
        </p:txBody>
      </p:sp>
      <p:sp>
        <p:nvSpPr>
          <p:cNvPr id="22" name="Text 34"/>
          <p:cNvSpPr/>
          <p:nvPr/>
        </p:nvSpPr>
        <p:spPr>
          <a:xfrm>
            <a:off x="2355850" y="5832475"/>
            <a:ext cx="5405626" cy="381000"/>
          </a:xfrm>
          <a:prstGeom prst="rect">
            <a:avLst/>
          </a:prstGeom>
          <a:noFill/>
          <a:ln/>
        </p:spPr>
        <p:txBody>
          <a:bodyPr wrap="square" lIns="25400" tIns="25400" rIns="25400" bIns="25400" rtlCol="0" anchor="t">
            <a:normAutofit/>
          </a:bodyPr>
          <a:lstStyle/>
          <a:p>
            <a:pPr marL="0" indent="0" algn="l">
              <a:buNone/>
            </a:pPr>
            <a:r>
              <a:rPr lang="en-US" sz="2000" dirty="0">
                <a:solidFill>
                  <a:srgbClr val="000000"/>
                </a:solidFill>
                <a:latin typeface="+mn-lt"/>
                <a:ea typeface="+mn-ea"/>
                <a:cs typeface="+mn-cs"/>
              </a:rPr>
              <a:t>You can branch, open a PR, merge, and pull</a:t>
            </a:r>
            <a:endParaRPr lang="en-US" sz="2000" dirty="0"/>
          </a:p>
        </p:txBody>
      </p:sp>
      <p:sp>
        <p:nvSpPr>
          <p:cNvPr id="23" name="Shape 35"/>
          <p:cNvSpPr/>
          <p:nvPr/>
        </p:nvSpPr>
        <p:spPr>
          <a:xfrm>
            <a:off x="1809750" y="7023100"/>
            <a:ext cx="11677650" cy="19050"/>
          </a:xfrm>
          <a:prstGeom prst="rect">
            <a:avLst/>
          </a:prstGeom>
          <a:solidFill>
            <a:srgbClr val="BFBFBF"/>
          </a:solidFill>
          <a:ln/>
        </p:spPr>
        <p:txBody>
          <a:bodyPr/>
          <a:lstStyle/>
          <a:p>
            <a:endParaRPr/>
          </a:p>
        </p:txBody>
      </p:sp>
      <p:sp>
        <p:nvSpPr>
          <p:cNvPr id="24" name="Shape 36"/>
          <p:cNvSpPr/>
          <p:nvPr/>
        </p:nvSpPr>
        <p:spPr>
          <a:xfrm>
            <a:off x="1809750" y="6521450"/>
            <a:ext cx="336550" cy="336550"/>
          </a:xfrm>
          <a:prstGeom prst="rect">
            <a:avLst/>
          </a:prstGeom>
          <a:ln w="25400">
            <a:solidFill>
              <a:srgbClr val="152A47"/>
            </a:solidFill>
            <a:prstDash val="solid"/>
          </a:ln>
        </p:spPr>
        <p:txBody>
          <a:bodyPr/>
          <a:lstStyle/>
          <a:p>
            <a:endParaRPr/>
          </a:p>
        </p:txBody>
      </p:sp>
      <p:sp>
        <p:nvSpPr>
          <p:cNvPr id="25" name="Text 37"/>
          <p:cNvSpPr/>
          <p:nvPr/>
        </p:nvSpPr>
        <p:spPr>
          <a:xfrm>
            <a:off x="2355850" y="6518275"/>
            <a:ext cx="4188053" cy="381000"/>
          </a:xfrm>
          <a:prstGeom prst="rect">
            <a:avLst/>
          </a:prstGeom>
          <a:noFill/>
          <a:ln/>
        </p:spPr>
        <p:txBody>
          <a:bodyPr wrap="square" lIns="25400" tIns="25400" rIns="25400" bIns="25400" rtlCol="0" anchor="t">
            <a:normAutofit/>
          </a:bodyPr>
          <a:lstStyle/>
          <a:p>
            <a:pPr marL="0" indent="0" algn="l">
              <a:buNone/>
            </a:pPr>
            <a:r>
              <a:rPr lang="en-US" sz="2000" dirty="0">
                <a:solidFill>
                  <a:srgbClr val="000000"/>
                </a:solidFill>
                <a:latin typeface="+mn-lt"/>
                <a:ea typeface="+mn-ea"/>
                <a:cs typeface="+mn-cs"/>
              </a:rPr>
              <a:t>Optional: a first-draft AGENTS.md</a:t>
            </a:r>
            <a:endParaRPr lang="en-US" sz="2000" dirty="0"/>
          </a:p>
        </p:txBody>
      </p:sp>
      <p:sp>
        <p:nvSpPr>
          <p:cNvPr id="26" name="Shape 38"/>
          <p:cNvSpPr/>
          <p:nvPr/>
        </p:nvSpPr>
        <p:spPr>
          <a:xfrm>
            <a:off x="1809750" y="7289800"/>
            <a:ext cx="11677650" cy="1139031"/>
          </a:xfrm>
          <a:prstGeom prst="rect">
            <a:avLst/>
          </a:prstGeom>
          <a:solidFill>
            <a:srgbClr val="152A47"/>
          </a:solidFill>
          <a:ln/>
        </p:spPr>
        <p:txBody>
          <a:bodyPr/>
          <a:lstStyle/>
          <a:p>
            <a:endParaRPr/>
          </a:p>
        </p:txBody>
      </p:sp>
      <p:sp>
        <p:nvSpPr>
          <p:cNvPr id="27" name="Text 39"/>
          <p:cNvSpPr/>
          <p:nvPr/>
        </p:nvSpPr>
        <p:spPr>
          <a:xfrm>
            <a:off x="2057400" y="7499350"/>
            <a:ext cx="11532680" cy="758031"/>
          </a:xfrm>
          <a:prstGeom prst="rect">
            <a:avLst/>
          </a:prstGeom>
          <a:noFill/>
          <a:ln/>
        </p:spPr>
        <p:txBody>
          <a:bodyPr wrap="square" lIns="25400" tIns="25400" rIns="25400" bIns="25400" rtlCol="0" anchor="t">
            <a:normAutofit/>
          </a:bodyPr>
          <a:lstStyle/>
          <a:p>
            <a:pPr marL="0" indent="0" algn="l">
              <a:lnSpc>
                <a:spcPct val="105000"/>
              </a:lnSpc>
              <a:buNone/>
            </a:pPr>
            <a:r>
              <a:rPr lang="en-US" sz="2000" b="1" dirty="0">
                <a:solidFill>
                  <a:srgbClr val="FFFFFF"/>
                </a:solidFill>
                <a:latin typeface="+mn-lt"/>
                <a:ea typeface="+mn-ea"/>
                <a:cs typeface="+mn-cs"/>
              </a:rPr>
              <a:t>Next: Lesson 2 </a:t>
            </a:r>
            <a:r>
              <a:rPr lang="en-US" sz="2000" dirty="0">
                <a:solidFill>
                  <a:srgbClr val="FFFFFF"/>
                </a:solidFill>
                <a:highlight>
                  <a:srgbClr val="152A47"/>
                </a:highlight>
                <a:latin typeface="+mn-lt"/>
                <a:ea typeface="+mn-ea"/>
                <a:cs typeface="+mn-cs"/>
              </a:rPr>
              <a:t>· Agentic AI workflow: connect this repo to a coding agent and review its first pull request.</a:t>
            </a:r>
            <a:endParaRPr lang="en-US" sz="2000" dirty="0"/>
          </a:p>
        </p:txBody>
      </p:sp>
      <p:sp>
        <p:nvSpPr>
          <p:cNvPr id="28" name="Nav highlight"/>
          <p:cNvSpPr txBox="1"/>
          <p:nvPr userDrawn="1"/>
        </p:nvSpPr>
        <p:spPr>
          <a:xfrm>
            <a:off x="133350" y="5810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Agent-Ready</a:t>
            </a:r>
            <a:endParaRPr lang="en-US" sz="1800" b="1" dirty="0"/>
          </a:p>
        </p:txBody>
      </p:sp>
      <p:sp>
        <p:nvSpPr>
          <p:cNvPr id="29"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30" name="Slide Number"/>
          <p:cNvSpPr>
            <a:spLocks noGrp="1"/>
          </p:cNvSpPr>
          <p:nvPr>
            <p:ph type="sldNum" sz="quarter" idx="12"/>
          </p:nvPr>
        </p:nvSpPr>
        <p:spPr/>
        <p:txBody>
          <a:bodyPr/>
          <a:lstStyle/>
          <a:p>
            <a:fld id="{B6F15528-21DE-4FAA-801E-634DDDAF4B2B}" type="slidenum">
              <a:rPr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Troubleshooting</a:t>
            </a:r>
          </a:p>
        </p:txBody>
      </p:sp>
      <p:sp>
        <p:nvSpPr>
          <p:cNvPr id="3" name="Shape 15"/>
          <p:cNvSpPr/>
          <p:nvPr/>
        </p:nvSpPr>
        <p:spPr>
          <a:xfrm>
            <a:off x="1809750" y="1571625"/>
            <a:ext cx="4572000" cy="614363"/>
          </a:xfrm>
          <a:prstGeom prst="rect">
            <a:avLst/>
          </a:prstGeom>
          <a:solidFill>
            <a:srgbClr val="152A47"/>
          </a:solidFill>
          <a:ln/>
        </p:spPr>
        <p:txBody>
          <a:bodyPr/>
          <a:lstStyle/>
          <a:p>
            <a:endParaRPr lang="en-US"/>
          </a:p>
        </p:txBody>
      </p:sp>
      <p:sp>
        <p:nvSpPr>
          <p:cNvPr id="4" name="Text 16"/>
          <p:cNvSpPr/>
          <p:nvPr/>
        </p:nvSpPr>
        <p:spPr>
          <a:xfrm>
            <a:off x="1981200" y="1724025"/>
            <a:ext cx="436626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Symptom</a:t>
            </a:r>
            <a:endParaRPr lang="en-US" sz="1900" dirty="0"/>
          </a:p>
        </p:txBody>
      </p:sp>
      <p:sp>
        <p:nvSpPr>
          <p:cNvPr id="5" name="Shape 17"/>
          <p:cNvSpPr/>
          <p:nvPr/>
        </p:nvSpPr>
        <p:spPr>
          <a:xfrm>
            <a:off x="6381750" y="1571625"/>
            <a:ext cx="7105650" cy="614363"/>
          </a:xfrm>
          <a:prstGeom prst="rect">
            <a:avLst/>
          </a:prstGeom>
          <a:solidFill>
            <a:srgbClr val="152A47"/>
          </a:solidFill>
          <a:ln/>
        </p:spPr>
        <p:txBody>
          <a:bodyPr/>
          <a:lstStyle/>
          <a:p>
            <a:endParaRPr lang="en-US"/>
          </a:p>
        </p:txBody>
      </p:sp>
      <p:sp>
        <p:nvSpPr>
          <p:cNvPr id="6" name="Text 18"/>
          <p:cNvSpPr/>
          <p:nvPr/>
        </p:nvSpPr>
        <p:spPr>
          <a:xfrm>
            <a:off x="6553200" y="1724025"/>
            <a:ext cx="697592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Fix</a:t>
            </a:r>
            <a:endParaRPr lang="en-US" sz="1900" dirty="0"/>
          </a:p>
        </p:txBody>
      </p:sp>
      <p:sp>
        <p:nvSpPr>
          <p:cNvPr id="7" name="Shape 19"/>
          <p:cNvSpPr/>
          <p:nvPr/>
        </p:nvSpPr>
        <p:spPr>
          <a:xfrm>
            <a:off x="1809750" y="3090863"/>
            <a:ext cx="4572000" cy="19050"/>
          </a:xfrm>
          <a:prstGeom prst="rect">
            <a:avLst/>
          </a:prstGeom>
          <a:solidFill>
            <a:srgbClr val="BFBFBF"/>
          </a:solidFill>
          <a:ln/>
        </p:spPr>
        <p:txBody>
          <a:bodyPr/>
          <a:lstStyle/>
          <a:p>
            <a:endParaRPr lang="en-US"/>
          </a:p>
        </p:txBody>
      </p:sp>
      <p:sp>
        <p:nvSpPr>
          <p:cNvPr id="8" name="Text 20"/>
          <p:cNvSpPr/>
          <p:nvPr/>
        </p:nvSpPr>
        <p:spPr>
          <a:xfrm>
            <a:off x="1981200" y="2328863"/>
            <a:ext cx="436626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Push rejected; Desktop shows Pull origin</a:t>
            </a:r>
            <a:endParaRPr lang="en-US" sz="1900" dirty="0"/>
          </a:p>
        </p:txBody>
      </p:sp>
      <p:sp>
        <p:nvSpPr>
          <p:cNvPr id="9" name="Shape 21"/>
          <p:cNvSpPr/>
          <p:nvPr/>
        </p:nvSpPr>
        <p:spPr>
          <a:xfrm>
            <a:off x="6381750" y="3090863"/>
            <a:ext cx="7105650" cy="19050"/>
          </a:xfrm>
          <a:prstGeom prst="rect">
            <a:avLst/>
          </a:prstGeom>
          <a:solidFill>
            <a:srgbClr val="BFBFBF"/>
          </a:solidFill>
          <a:ln/>
        </p:spPr>
        <p:txBody>
          <a:bodyPr/>
          <a:lstStyle/>
          <a:p>
            <a:endParaRPr lang="en-US"/>
          </a:p>
        </p:txBody>
      </p:sp>
      <p:sp>
        <p:nvSpPr>
          <p:cNvPr id="10" name="Text 22"/>
          <p:cNvSpPr/>
          <p:nvPr/>
        </p:nvSpPr>
        <p:spPr>
          <a:xfrm>
            <a:off x="6553200" y="2328863"/>
            <a:ext cx="697592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GitHub has newer commits. Pull, resolve any conflict, then push.</a:t>
            </a:r>
            <a:endParaRPr lang="en-US" sz="1900" dirty="0"/>
          </a:p>
        </p:txBody>
      </p:sp>
      <p:sp>
        <p:nvSpPr>
          <p:cNvPr id="11" name="Shape 23"/>
          <p:cNvSpPr/>
          <p:nvPr/>
        </p:nvSpPr>
        <p:spPr>
          <a:xfrm>
            <a:off x="1809750" y="4014788"/>
            <a:ext cx="4572000" cy="19050"/>
          </a:xfrm>
          <a:prstGeom prst="rect">
            <a:avLst/>
          </a:prstGeom>
          <a:solidFill>
            <a:srgbClr val="BFBFBF"/>
          </a:solidFill>
          <a:ln/>
        </p:spPr>
        <p:txBody>
          <a:bodyPr/>
          <a:lstStyle/>
          <a:p>
            <a:endParaRPr lang="en-US"/>
          </a:p>
        </p:txBody>
      </p:sp>
      <p:sp>
        <p:nvSpPr>
          <p:cNvPr id="12" name="Text 24"/>
          <p:cNvSpPr/>
          <p:nvPr/>
        </p:nvSpPr>
        <p:spPr>
          <a:xfrm>
            <a:off x="1981200" y="3252788"/>
            <a:ext cx="436626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Repo missing from Clone list</a:t>
            </a:r>
            <a:endParaRPr lang="en-US" sz="1900" dirty="0"/>
          </a:p>
        </p:txBody>
      </p:sp>
      <p:sp>
        <p:nvSpPr>
          <p:cNvPr id="13" name="Shape 25"/>
          <p:cNvSpPr/>
          <p:nvPr/>
        </p:nvSpPr>
        <p:spPr>
          <a:xfrm>
            <a:off x="6381750" y="4014788"/>
            <a:ext cx="7105650" cy="19050"/>
          </a:xfrm>
          <a:prstGeom prst="rect">
            <a:avLst/>
          </a:prstGeom>
          <a:solidFill>
            <a:srgbClr val="BFBFBF"/>
          </a:solidFill>
          <a:ln/>
        </p:spPr>
        <p:txBody>
          <a:bodyPr/>
          <a:lstStyle/>
          <a:p>
            <a:endParaRPr lang="en-US"/>
          </a:p>
        </p:txBody>
      </p:sp>
      <p:sp>
        <p:nvSpPr>
          <p:cNvPr id="14" name="Text 26"/>
          <p:cNvSpPr/>
          <p:nvPr/>
        </p:nvSpPr>
        <p:spPr>
          <a:xfrm>
            <a:off x="6553200" y="3252788"/>
            <a:ext cx="697592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Check the signed-in account (Options › Accounts) or paste the URL in the URL tab.</a:t>
            </a:r>
            <a:endParaRPr lang="en-US" sz="1900" dirty="0"/>
          </a:p>
        </p:txBody>
      </p:sp>
      <p:sp>
        <p:nvSpPr>
          <p:cNvPr id="15" name="Shape 27"/>
          <p:cNvSpPr/>
          <p:nvPr/>
        </p:nvSpPr>
        <p:spPr>
          <a:xfrm>
            <a:off x="1809750" y="4629150"/>
            <a:ext cx="4572000" cy="19050"/>
          </a:xfrm>
          <a:prstGeom prst="rect">
            <a:avLst/>
          </a:prstGeom>
          <a:solidFill>
            <a:srgbClr val="BFBFBF"/>
          </a:solidFill>
          <a:ln/>
        </p:spPr>
        <p:txBody>
          <a:bodyPr/>
          <a:lstStyle/>
          <a:p>
            <a:endParaRPr lang="en-US"/>
          </a:p>
        </p:txBody>
      </p:sp>
      <p:sp>
        <p:nvSpPr>
          <p:cNvPr id="16" name="Text 28"/>
          <p:cNvSpPr/>
          <p:nvPr/>
        </p:nvSpPr>
        <p:spPr>
          <a:xfrm>
            <a:off x="1981200" y="4176712"/>
            <a:ext cx="436626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Authentication failed</a:t>
            </a:r>
            <a:endParaRPr lang="en-US" sz="1900" dirty="0"/>
          </a:p>
        </p:txBody>
      </p:sp>
      <p:sp>
        <p:nvSpPr>
          <p:cNvPr id="17" name="Shape 29"/>
          <p:cNvSpPr/>
          <p:nvPr/>
        </p:nvSpPr>
        <p:spPr>
          <a:xfrm>
            <a:off x="6381750" y="4629150"/>
            <a:ext cx="7105650" cy="19050"/>
          </a:xfrm>
          <a:prstGeom prst="rect">
            <a:avLst/>
          </a:prstGeom>
          <a:solidFill>
            <a:srgbClr val="BFBFBF"/>
          </a:solidFill>
          <a:ln/>
        </p:spPr>
        <p:txBody>
          <a:bodyPr/>
          <a:lstStyle/>
          <a:p>
            <a:endParaRPr lang="en-US"/>
          </a:p>
        </p:txBody>
      </p:sp>
      <p:sp>
        <p:nvSpPr>
          <p:cNvPr id="18" name="Text 30"/>
          <p:cNvSpPr/>
          <p:nvPr/>
        </p:nvSpPr>
        <p:spPr>
          <a:xfrm>
            <a:off x="6553200" y="4176712"/>
            <a:ext cx="697592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Sign out and back in under Options › Accounts.</a:t>
            </a:r>
            <a:endParaRPr lang="en-US" sz="1900" dirty="0"/>
          </a:p>
        </p:txBody>
      </p:sp>
      <p:sp>
        <p:nvSpPr>
          <p:cNvPr id="19" name="Shape 31"/>
          <p:cNvSpPr/>
          <p:nvPr/>
        </p:nvSpPr>
        <p:spPr>
          <a:xfrm>
            <a:off x="1809750" y="5553075"/>
            <a:ext cx="4572000" cy="19050"/>
          </a:xfrm>
          <a:prstGeom prst="rect">
            <a:avLst/>
          </a:prstGeom>
          <a:solidFill>
            <a:srgbClr val="BFBFBF"/>
          </a:solidFill>
          <a:ln/>
        </p:spPr>
        <p:txBody>
          <a:bodyPr/>
          <a:lstStyle/>
          <a:p>
            <a:endParaRPr lang="en-US"/>
          </a:p>
        </p:txBody>
      </p:sp>
      <p:sp>
        <p:nvSpPr>
          <p:cNvPr id="20" name="Text 32"/>
          <p:cNvSpPr/>
          <p:nvPr/>
        </p:nvSpPr>
        <p:spPr>
          <a:xfrm>
            <a:off x="1981200" y="4791075"/>
            <a:ext cx="436626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Can’t switch branch or pull: uncommitted changes</a:t>
            </a:r>
            <a:endParaRPr lang="en-US" sz="1900" dirty="0"/>
          </a:p>
        </p:txBody>
      </p:sp>
      <p:sp>
        <p:nvSpPr>
          <p:cNvPr id="21" name="Shape 33"/>
          <p:cNvSpPr/>
          <p:nvPr/>
        </p:nvSpPr>
        <p:spPr>
          <a:xfrm>
            <a:off x="6381750" y="5553075"/>
            <a:ext cx="7105650" cy="19050"/>
          </a:xfrm>
          <a:prstGeom prst="rect">
            <a:avLst/>
          </a:prstGeom>
          <a:solidFill>
            <a:srgbClr val="BFBFBF"/>
          </a:solidFill>
          <a:ln/>
        </p:spPr>
        <p:txBody>
          <a:bodyPr/>
          <a:lstStyle/>
          <a:p>
            <a:endParaRPr lang="en-US"/>
          </a:p>
        </p:txBody>
      </p:sp>
      <p:sp>
        <p:nvSpPr>
          <p:cNvPr id="22" name="Text 34"/>
          <p:cNvSpPr/>
          <p:nvPr/>
        </p:nvSpPr>
        <p:spPr>
          <a:xfrm>
            <a:off x="6553200" y="4791075"/>
            <a:ext cx="6975920" cy="657225"/>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Commit them, or choose to stash them when Desktop asks.</a:t>
            </a:r>
            <a:endParaRPr lang="en-US" sz="1900" dirty="0"/>
          </a:p>
        </p:txBody>
      </p:sp>
      <p:sp>
        <p:nvSpPr>
          <p:cNvPr id="23" name="Shape 35"/>
          <p:cNvSpPr/>
          <p:nvPr/>
        </p:nvSpPr>
        <p:spPr>
          <a:xfrm>
            <a:off x="1809750" y="6167438"/>
            <a:ext cx="4572000" cy="19050"/>
          </a:xfrm>
          <a:prstGeom prst="rect">
            <a:avLst/>
          </a:prstGeom>
          <a:solidFill>
            <a:srgbClr val="BFBFBF"/>
          </a:solidFill>
          <a:ln/>
        </p:spPr>
        <p:txBody>
          <a:bodyPr/>
          <a:lstStyle/>
          <a:p>
            <a:endParaRPr lang="en-US"/>
          </a:p>
        </p:txBody>
      </p:sp>
      <p:sp>
        <p:nvSpPr>
          <p:cNvPr id="24" name="Text 36"/>
          <p:cNvSpPr/>
          <p:nvPr/>
        </p:nvSpPr>
        <p:spPr>
          <a:xfrm>
            <a:off x="1981200" y="5715000"/>
            <a:ext cx="436626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Committed to the wrong branch</a:t>
            </a:r>
            <a:endParaRPr lang="en-US" sz="1900" dirty="0"/>
          </a:p>
        </p:txBody>
      </p:sp>
      <p:sp>
        <p:nvSpPr>
          <p:cNvPr id="25" name="Shape 37"/>
          <p:cNvSpPr/>
          <p:nvPr/>
        </p:nvSpPr>
        <p:spPr>
          <a:xfrm>
            <a:off x="6381750" y="6167438"/>
            <a:ext cx="7105650" cy="19050"/>
          </a:xfrm>
          <a:prstGeom prst="rect">
            <a:avLst/>
          </a:prstGeom>
          <a:solidFill>
            <a:srgbClr val="BFBFBF"/>
          </a:solidFill>
          <a:ln/>
        </p:spPr>
        <p:txBody>
          <a:bodyPr/>
          <a:lstStyle/>
          <a:p>
            <a:endParaRPr lang="en-US"/>
          </a:p>
        </p:txBody>
      </p:sp>
      <p:sp>
        <p:nvSpPr>
          <p:cNvPr id="26" name="Text 38"/>
          <p:cNvSpPr/>
          <p:nvPr/>
        </p:nvSpPr>
        <p:spPr>
          <a:xfrm>
            <a:off x="6553200" y="5715000"/>
            <a:ext cx="697592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Not pushed: Undo, switch branch, commit again.</a:t>
            </a:r>
            <a:endParaRPr lang="en-US" sz="1900" dirty="0"/>
          </a:p>
        </p:txBody>
      </p:sp>
      <p:sp>
        <p:nvSpPr>
          <p:cNvPr id="27" name="Shape 39"/>
          <p:cNvSpPr/>
          <p:nvPr/>
        </p:nvSpPr>
        <p:spPr>
          <a:xfrm>
            <a:off x="1809750" y="6781800"/>
            <a:ext cx="4572000" cy="19050"/>
          </a:xfrm>
          <a:prstGeom prst="rect">
            <a:avLst/>
          </a:prstGeom>
          <a:solidFill>
            <a:srgbClr val="BFBFBF"/>
          </a:solidFill>
          <a:ln/>
        </p:spPr>
        <p:txBody>
          <a:bodyPr/>
          <a:lstStyle/>
          <a:p>
            <a:endParaRPr lang="en-US"/>
          </a:p>
        </p:txBody>
      </p:sp>
      <p:sp>
        <p:nvSpPr>
          <p:cNvPr id="28" name="Text 40"/>
          <p:cNvSpPr/>
          <p:nvPr/>
        </p:nvSpPr>
        <p:spPr>
          <a:xfrm>
            <a:off x="1981200" y="6329363"/>
            <a:ext cx="436626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Unwanted files in Changes</a:t>
            </a:r>
            <a:endParaRPr lang="en-US" sz="1900" dirty="0"/>
          </a:p>
        </p:txBody>
      </p:sp>
      <p:sp>
        <p:nvSpPr>
          <p:cNvPr id="29" name="Shape 41"/>
          <p:cNvSpPr/>
          <p:nvPr/>
        </p:nvSpPr>
        <p:spPr>
          <a:xfrm>
            <a:off x="6381750" y="6781800"/>
            <a:ext cx="7105650" cy="19050"/>
          </a:xfrm>
          <a:prstGeom prst="rect">
            <a:avLst/>
          </a:prstGeom>
          <a:solidFill>
            <a:srgbClr val="BFBFBF"/>
          </a:solidFill>
          <a:ln/>
        </p:spPr>
        <p:txBody>
          <a:bodyPr/>
          <a:lstStyle/>
          <a:p>
            <a:endParaRPr lang="en-US"/>
          </a:p>
        </p:txBody>
      </p:sp>
      <p:sp>
        <p:nvSpPr>
          <p:cNvPr id="30" name="Text 42"/>
          <p:cNvSpPr/>
          <p:nvPr/>
        </p:nvSpPr>
        <p:spPr>
          <a:xfrm>
            <a:off x="6553200" y="6329363"/>
            <a:ext cx="697592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Right-click › Ignore file (adds it to .gitignore).</a:t>
            </a:r>
            <a:endParaRPr lang="en-US" sz="1900" dirty="0"/>
          </a:p>
        </p:txBody>
      </p:sp>
      <p:sp>
        <p:nvSpPr>
          <p:cNvPr id="31" name="Shape 43"/>
          <p:cNvSpPr/>
          <p:nvPr/>
        </p:nvSpPr>
        <p:spPr>
          <a:xfrm>
            <a:off x="1809750" y="7396162"/>
            <a:ext cx="4572000" cy="19050"/>
          </a:xfrm>
          <a:prstGeom prst="rect">
            <a:avLst/>
          </a:prstGeom>
          <a:solidFill>
            <a:srgbClr val="BFBFBF"/>
          </a:solidFill>
          <a:ln/>
        </p:spPr>
        <p:txBody>
          <a:bodyPr/>
          <a:lstStyle/>
          <a:p>
            <a:endParaRPr lang="en-US"/>
          </a:p>
        </p:txBody>
      </p:sp>
      <p:sp>
        <p:nvSpPr>
          <p:cNvPr id="32" name="Text 44"/>
          <p:cNvSpPr/>
          <p:nvPr/>
        </p:nvSpPr>
        <p:spPr>
          <a:xfrm>
            <a:off x="1981200" y="6943725"/>
            <a:ext cx="436626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Files flicker or duplicate</a:t>
            </a:r>
            <a:endParaRPr lang="en-US" sz="1900" dirty="0"/>
          </a:p>
        </p:txBody>
      </p:sp>
      <p:sp>
        <p:nvSpPr>
          <p:cNvPr id="33" name="Shape 45"/>
          <p:cNvSpPr/>
          <p:nvPr/>
        </p:nvSpPr>
        <p:spPr>
          <a:xfrm>
            <a:off x="6381750" y="7396162"/>
            <a:ext cx="7105650" cy="19050"/>
          </a:xfrm>
          <a:prstGeom prst="rect">
            <a:avLst/>
          </a:prstGeom>
          <a:solidFill>
            <a:srgbClr val="BFBFBF"/>
          </a:solidFill>
          <a:ln/>
        </p:spPr>
        <p:txBody>
          <a:bodyPr/>
          <a:lstStyle/>
          <a:p>
            <a:endParaRPr lang="en-US"/>
          </a:p>
        </p:txBody>
      </p:sp>
      <p:sp>
        <p:nvSpPr>
          <p:cNvPr id="34" name="Text 46"/>
          <p:cNvSpPr/>
          <p:nvPr/>
        </p:nvSpPr>
        <p:spPr>
          <a:xfrm>
            <a:off x="6553200" y="6943725"/>
            <a:ext cx="697592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Repo is in a OneDrive-synced folder. Re-clone to a local path.</a:t>
            </a:r>
            <a:endParaRPr lang="en-US" sz="1900" dirty="0"/>
          </a:p>
        </p:txBody>
      </p:sp>
      <p:sp>
        <p:nvSpPr>
          <p:cNvPr id="35" name="Shape 47"/>
          <p:cNvSpPr/>
          <p:nvPr/>
        </p:nvSpPr>
        <p:spPr>
          <a:xfrm>
            <a:off x="1809750" y="8010525"/>
            <a:ext cx="4572000" cy="19050"/>
          </a:xfrm>
          <a:prstGeom prst="rect">
            <a:avLst/>
          </a:prstGeom>
          <a:solidFill>
            <a:srgbClr val="BFBFBF"/>
          </a:solidFill>
          <a:ln/>
        </p:spPr>
        <p:txBody>
          <a:bodyPr/>
          <a:lstStyle/>
          <a:p>
            <a:endParaRPr lang="en-US"/>
          </a:p>
        </p:txBody>
      </p:sp>
      <p:sp>
        <p:nvSpPr>
          <p:cNvPr id="36" name="Text 48"/>
          <p:cNvSpPr/>
          <p:nvPr/>
        </p:nvSpPr>
        <p:spPr>
          <a:xfrm>
            <a:off x="1981200" y="7558088"/>
            <a:ext cx="436626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Pushed a password or key</a:t>
            </a:r>
            <a:endParaRPr lang="en-US" sz="1900" dirty="0"/>
          </a:p>
        </p:txBody>
      </p:sp>
      <p:sp>
        <p:nvSpPr>
          <p:cNvPr id="37" name="Shape 49"/>
          <p:cNvSpPr/>
          <p:nvPr/>
        </p:nvSpPr>
        <p:spPr>
          <a:xfrm>
            <a:off x="6381750" y="8010525"/>
            <a:ext cx="7105650" cy="19050"/>
          </a:xfrm>
          <a:prstGeom prst="rect">
            <a:avLst/>
          </a:prstGeom>
          <a:solidFill>
            <a:srgbClr val="BFBFBF"/>
          </a:solidFill>
          <a:ln/>
        </p:spPr>
        <p:txBody>
          <a:bodyPr/>
          <a:lstStyle/>
          <a:p>
            <a:endParaRPr lang="en-US"/>
          </a:p>
        </p:txBody>
      </p:sp>
      <p:sp>
        <p:nvSpPr>
          <p:cNvPr id="38" name="Text 50"/>
          <p:cNvSpPr/>
          <p:nvPr/>
        </p:nvSpPr>
        <p:spPr>
          <a:xfrm>
            <a:off x="6553200" y="7558088"/>
            <a:ext cx="697592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Rotate it now. Deleting the file doesn’t remove it from history.</a:t>
            </a:r>
            <a:endParaRPr lang="en-US" sz="1900" dirty="0"/>
          </a:p>
        </p:txBody>
      </p:sp>
      <p:sp>
        <p:nvSpPr>
          <p:cNvPr id="39" name="Nav highlight"/>
          <p:cNvSpPr txBox="1"/>
          <p:nvPr userDrawn="1"/>
        </p:nvSpPr>
        <p:spPr>
          <a:xfrm>
            <a:off x="133350" y="619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Review</a:t>
            </a:r>
            <a:endParaRPr lang="en-US" sz="1800" b="1" dirty="0"/>
          </a:p>
        </p:txBody>
      </p:sp>
      <p:sp>
        <p:nvSpPr>
          <p:cNvPr id="40"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41" name="Slide Number"/>
          <p:cNvSpPr>
            <a:spLocks noGrp="1"/>
          </p:cNvSpPr>
          <p:nvPr>
            <p:ph type="sldNum" sz="quarter" idx="12"/>
          </p:nvPr>
        </p:nvSpPr>
        <p:spPr/>
        <p:txBody>
          <a:bodyPr/>
          <a:lstStyle/>
          <a:p>
            <a:fld id="{B6F15528-21DE-4FAA-801E-634DDDAF4B2B}" type="slidenum">
              <a:rPr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Quick Reference</a:t>
            </a:r>
          </a:p>
        </p:txBody>
      </p:sp>
      <p:sp>
        <p:nvSpPr>
          <p:cNvPr id="3" name="Shape 15"/>
          <p:cNvSpPr/>
          <p:nvPr/>
        </p:nvSpPr>
        <p:spPr>
          <a:xfrm>
            <a:off x="1809750" y="1571625"/>
            <a:ext cx="4191000" cy="614363"/>
          </a:xfrm>
          <a:prstGeom prst="rect">
            <a:avLst/>
          </a:prstGeom>
          <a:solidFill>
            <a:srgbClr val="152A47"/>
          </a:solidFill>
          <a:ln/>
        </p:spPr>
        <p:txBody>
          <a:bodyPr/>
          <a:lstStyle/>
          <a:p>
            <a:endParaRPr lang="en-US"/>
          </a:p>
        </p:txBody>
      </p:sp>
      <p:sp>
        <p:nvSpPr>
          <p:cNvPr id="4" name="Text 16"/>
          <p:cNvSpPr/>
          <p:nvPr/>
        </p:nvSpPr>
        <p:spPr>
          <a:xfrm>
            <a:off x="1981200" y="1724025"/>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To…</a:t>
            </a:r>
            <a:endParaRPr lang="en-US" sz="1900" dirty="0"/>
          </a:p>
        </p:txBody>
      </p:sp>
      <p:sp>
        <p:nvSpPr>
          <p:cNvPr id="5" name="Shape 17"/>
          <p:cNvSpPr/>
          <p:nvPr/>
        </p:nvSpPr>
        <p:spPr>
          <a:xfrm>
            <a:off x="6000750" y="1571625"/>
            <a:ext cx="7486650" cy="614363"/>
          </a:xfrm>
          <a:prstGeom prst="rect">
            <a:avLst/>
          </a:prstGeom>
          <a:solidFill>
            <a:srgbClr val="152A47"/>
          </a:solidFill>
          <a:ln/>
        </p:spPr>
        <p:txBody>
          <a:bodyPr/>
          <a:lstStyle/>
          <a:p>
            <a:endParaRPr lang="en-US"/>
          </a:p>
        </p:txBody>
      </p:sp>
      <p:sp>
        <p:nvSpPr>
          <p:cNvPr id="6" name="Text 18"/>
          <p:cNvSpPr/>
          <p:nvPr/>
        </p:nvSpPr>
        <p:spPr>
          <a:xfrm>
            <a:off x="6172200" y="1724025"/>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FFFFFF"/>
                </a:solidFill>
                <a:latin typeface="+mn-lt"/>
                <a:ea typeface="+mn-ea"/>
                <a:cs typeface="+mn-cs"/>
              </a:rPr>
              <a:t>In GitHub Desktop</a:t>
            </a:r>
            <a:endParaRPr lang="en-US" sz="1900" dirty="0"/>
          </a:p>
        </p:txBody>
      </p:sp>
      <p:sp>
        <p:nvSpPr>
          <p:cNvPr id="7" name="Shape 19"/>
          <p:cNvSpPr/>
          <p:nvPr/>
        </p:nvSpPr>
        <p:spPr>
          <a:xfrm>
            <a:off x="1809750" y="2743200"/>
            <a:ext cx="4191000" cy="19050"/>
          </a:xfrm>
          <a:prstGeom prst="rect">
            <a:avLst/>
          </a:prstGeom>
          <a:solidFill>
            <a:srgbClr val="BFBFBF"/>
          </a:solidFill>
          <a:ln/>
        </p:spPr>
        <p:txBody>
          <a:bodyPr/>
          <a:lstStyle/>
          <a:p>
            <a:endParaRPr lang="en-US"/>
          </a:p>
        </p:txBody>
      </p:sp>
      <p:sp>
        <p:nvSpPr>
          <p:cNvPr id="8" name="Text 20"/>
          <p:cNvSpPr/>
          <p:nvPr/>
        </p:nvSpPr>
        <p:spPr>
          <a:xfrm>
            <a:off x="1981200" y="2309813"/>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Get a repo from GitHub</a:t>
            </a:r>
            <a:endParaRPr lang="en-US" sz="1900" dirty="0"/>
          </a:p>
        </p:txBody>
      </p:sp>
      <p:sp>
        <p:nvSpPr>
          <p:cNvPr id="9" name="Shape 21"/>
          <p:cNvSpPr/>
          <p:nvPr/>
        </p:nvSpPr>
        <p:spPr>
          <a:xfrm>
            <a:off x="6000750" y="2743200"/>
            <a:ext cx="7486650" cy="19050"/>
          </a:xfrm>
          <a:prstGeom prst="rect">
            <a:avLst/>
          </a:prstGeom>
          <a:solidFill>
            <a:srgbClr val="BFBFBF"/>
          </a:solidFill>
          <a:ln/>
        </p:spPr>
        <p:txBody>
          <a:bodyPr/>
          <a:lstStyle/>
          <a:p>
            <a:endParaRPr lang="en-US"/>
          </a:p>
        </p:txBody>
      </p:sp>
      <p:sp>
        <p:nvSpPr>
          <p:cNvPr id="10" name="Text 22"/>
          <p:cNvSpPr/>
          <p:nvPr/>
        </p:nvSpPr>
        <p:spPr>
          <a:xfrm>
            <a:off x="6172200" y="2309813"/>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File › Clone repository</a:t>
            </a:r>
            <a:endParaRPr lang="en-US" sz="1900" dirty="0"/>
          </a:p>
        </p:txBody>
      </p:sp>
      <p:sp>
        <p:nvSpPr>
          <p:cNvPr id="11" name="Shape 23"/>
          <p:cNvSpPr/>
          <p:nvPr/>
        </p:nvSpPr>
        <p:spPr>
          <a:xfrm>
            <a:off x="1809750" y="3319463"/>
            <a:ext cx="4191000" cy="19050"/>
          </a:xfrm>
          <a:prstGeom prst="rect">
            <a:avLst/>
          </a:prstGeom>
          <a:solidFill>
            <a:srgbClr val="BFBFBF"/>
          </a:solidFill>
          <a:ln/>
        </p:spPr>
        <p:txBody>
          <a:bodyPr/>
          <a:lstStyle/>
          <a:p>
            <a:endParaRPr lang="en-US"/>
          </a:p>
        </p:txBody>
      </p:sp>
      <p:sp>
        <p:nvSpPr>
          <p:cNvPr id="12" name="Text 24"/>
          <p:cNvSpPr/>
          <p:nvPr/>
        </p:nvSpPr>
        <p:spPr>
          <a:xfrm>
            <a:off x="1981200" y="2886075"/>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Track an existing folder</a:t>
            </a:r>
            <a:endParaRPr lang="en-US" sz="1900" dirty="0"/>
          </a:p>
        </p:txBody>
      </p:sp>
      <p:sp>
        <p:nvSpPr>
          <p:cNvPr id="13" name="Shape 25"/>
          <p:cNvSpPr/>
          <p:nvPr/>
        </p:nvSpPr>
        <p:spPr>
          <a:xfrm>
            <a:off x="6000750" y="3319463"/>
            <a:ext cx="7486650" cy="19050"/>
          </a:xfrm>
          <a:prstGeom prst="rect">
            <a:avLst/>
          </a:prstGeom>
          <a:solidFill>
            <a:srgbClr val="BFBFBF"/>
          </a:solidFill>
          <a:ln/>
        </p:spPr>
        <p:txBody>
          <a:bodyPr/>
          <a:lstStyle/>
          <a:p>
            <a:endParaRPr lang="en-US"/>
          </a:p>
        </p:txBody>
      </p:sp>
      <p:sp>
        <p:nvSpPr>
          <p:cNvPr id="14" name="Text 26"/>
          <p:cNvSpPr/>
          <p:nvPr/>
        </p:nvSpPr>
        <p:spPr>
          <a:xfrm>
            <a:off x="6172200" y="2886075"/>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File › Add local repository › create a repository</a:t>
            </a:r>
            <a:endParaRPr lang="en-US" sz="1900" dirty="0"/>
          </a:p>
        </p:txBody>
      </p:sp>
      <p:sp>
        <p:nvSpPr>
          <p:cNvPr id="15" name="Shape 27"/>
          <p:cNvSpPr/>
          <p:nvPr/>
        </p:nvSpPr>
        <p:spPr>
          <a:xfrm>
            <a:off x="1809750" y="3895725"/>
            <a:ext cx="4191000" cy="19050"/>
          </a:xfrm>
          <a:prstGeom prst="rect">
            <a:avLst/>
          </a:prstGeom>
          <a:solidFill>
            <a:srgbClr val="BFBFBF"/>
          </a:solidFill>
          <a:ln/>
        </p:spPr>
        <p:txBody>
          <a:bodyPr/>
          <a:lstStyle/>
          <a:p>
            <a:endParaRPr lang="en-US"/>
          </a:p>
        </p:txBody>
      </p:sp>
      <p:sp>
        <p:nvSpPr>
          <p:cNvPr id="16" name="Text 28"/>
          <p:cNvSpPr/>
          <p:nvPr/>
        </p:nvSpPr>
        <p:spPr>
          <a:xfrm>
            <a:off x="1981200" y="3462337"/>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Put it on GitHub</a:t>
            </a:r>
            <a:endParaRPr lang="en-US" sz="1900" dirty="0"/>
          </a:p>
        </p:txBody>
      </p:sp>
      <p:sp>
        <p:nvSpPr>
          <p:cNvPr id="17" name="Shape 29"/>
          <p:cNvSpPr/>
          <p:nvPr/>
        </p:nvSpPr>
        <p:spPr>
          <a:xfrm>
            <a:off x="6000750" y="3895725"/>
            <a:ext cx="7486650" cy="19050"/>
          </a:xfrm>
          <a:prstGeom prst="rect">
            <a:avLst/>
          </a:prstGeom>
          <a:solidFill>
            <a:srgbClr val="BFBFBF"/>
          </a:solidFill>
          <a:ln/>
        </p:spPr>
        <p:txBody>
          <a:bodyPr/>
          <a:lstStyle/>
          <a:p>
            <a:endParaRPr lang="en-US"/>
          </a:p>
        </p:txBody>
      </p:sp>
      <p:sp>
        <p:nvSpPr>
          <p:cNvPr id="18" name="Text 30"/>
          <p:cNvSpPr/>
          <p:nvPr/>
        </p:nvSpPr>
        <p:spPr>
          <a:xfrm>
            <a:off x="6172200" y="3462337"/>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Publish repository (keep private)</a:t>
            </a:r>
            <a:endParaRPr lang="en-US" sz="1900" dirty="0"/>
          </a:p>
        </p:txBody>
      </p:sp>
      <p:sp>
        <p:nvSpPr>
          <p:cNvPr id="19" name="Shape 31"/>
          <p:cNvSpPr/>
          <p:nvPr/>
        </p:nvSpPr>
        <p:spPr>
          <a:xfrm>
            <a:off x="1809750" y="4471988"/>
            <a:ext cx="4191000" cy="19050"/>
          </a:xfrm>
          <a:prstGeom prst="rect">
            <a:avLst/>
          </a:prstGeom>
          <a:solidFill>
            <a:srgbClr val="BFBFBF"/>
          </a:solidFill>
          <a:ln/>
        </p:spPr>
        <p:txBody>
          <a:bodyPr/>
          <a:lstStyle/>
          <a:p>
            <a:endParaRPr lang="en-US"/>
          </a:p>
        </p:txBody>
      </p:sp>
      <p:sp>
        <p:nvSpPr>
          <p:cNvPr id="20" name="Text 32"/>
          <p:cNvSpPr/>
          <p:nvPr/>
        </p:nvSpPr>
        <p:spPr>
          <a:xfrm>
            <a:off x="1981200" y="4038600"/>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Save a snapshot</a:t>
            </a:r>
            <a:endParaRPr lang="en-US" sz="1900" dirty="0"/>
          </a:p>
        </p:txBody>
      </p:sp>
      <p:sp>
        <p:nvSpPr>
          <p:cNvPr id="21" name="Shape 33"/>
          <p:cNvSpPr/>
          <p:nvPr/>
        </p:nvSpPr>
        <p:spPr>
          <a:xfrm>
            <a:off x="6000750" y="4471988"/>
            <a:ext cx="7486650" cy="19050"/>
          </a:xfrm>
          <a:prstGeom prst="rect">
            <a:avLst/>
          </a:prstGeom>
          <a:solidFill>
            <a:srgbClr val="BFBFBF"/>
          </a:solidFill>
          <a:ln/>
        </p:spPr>
        <p:txBody>
          <a:bodyPr/>
          <a:lstStyle/>
          <a:p>
            <a:endParaRPr lang="en-US"/>
          </a:p>
        </p:txBody>
      </p:sp>
      <p:sp>
        <p:nvSpPr>
          <p:cNvPr id="22" name="Text 34"/>
          <p:cNvSpPr/>
          <p:nvPr/>
        </p:nvSpPr>
        <p:spPr>
          <a:xfrm>
            <a:off x="6172200" y="4038600"/>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Changes tab › Summary › Commit to &lt;branch&gt;</a:t>
            </a:r>
            <a:endParaRPr lang="en-US" sz="1900" dirty="0"/>
          </a:p>
        </p:txBody>
      </p:sp>
      <p:sp>
        <p:nvSpPr>
          <p:cNvPr id="23" name="Shape 35"/>
          <p:cNvSpPr/>
          <p:nvPr/>
        </p:nvSpPr>
        <p:spPr>
          <a:xfrm>
            <a:off x="1809750" y="5048250"/>
            <a:ext cx="4191000" cy="19050"/>
          </a:xfrm>
          <a:prstGeom prst="rect">
            <a:avLst/>
          </a:prstGeom>
          <a:solidFill>
            <a:srgbClr val="BFBFBF"/>
          </a:solidFill>
          <a:ln/>
        </p:spPr>
        <p:txBody>
          <a:bodyPr/>
          <a:lstStyle/>
          <a:p>
            <a:endParaRPr lang="en-US"/>
          </a:p>
        </p:txBody>
      </p:sp>
      <p:sp>
        <p:nvSpPr>
          <p:cNvPr id="24" name="Text 36"/>
          <p:cNvSpPr/>
          <p:nvPr/>
        </p:nvSpPr>
        <p:spPr>
          <a:xfrm>
            <a:off x="1981200" y="4614863"/>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Send commits</a:t>
            </a:r>
            <a:endParaRPr lang="en-US" sz="1900" dirty="0"/>
          </a:p>
        </p:txBody>
      </p:sp>
      <p:sp>
        <p:nvSpPr>
          <p:cNvPr id="25" name="Shape 37"/>
          <p:cNvSpPr/>
          <p:nvPr/>
        </p:nvSpPr>
        <p:spPr>
          <a:xfrm>
            <a:off x="6000750" y="5048250"/>
            <a:ext cx="7486650" cy="19050"/>
          </a:xfrm>
          <a:prstGeom prst="rect">
            <a:avLst/>
          </a:prstGeom>
          <a:solidFill>
            <a:srgbClr val="BFBFBF"/>
          </a:solidFill>
          <a:ln/>
        </p:spPr>
        <p:txBody>
          <a:bodyPr/>
          <a:lstStyle/>
          <a:p>
            <a:endParaRPr lang="en-US"/>
          </a:p>
        </p:txBody>
      </p:sp>
      <p:sp>
        <p:nvSpPr>
          <p:cNvPr id="26" name="Text 38"/>
          <p:cNvSpPr/>
          <p:nvPr/>
        </p:nvSpPr>
        <p:spPr>
          <a:xfrm>
            <a:off x="6172200" y="4614863"/>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Push origin</a:t>
            </a:r>
            <a:endParaRPr lang="en-US" sz="1900" dirty="0"/>
          </a:p>
        </p:txBody>
      </p:sp>
      <p:sp>
        <p:nvSpPr>
          <p:cNvPr id="27" name="Shape 39"/>
          <p:cNvSpPr/>
          <p:nvPr/>
        </p:nvSpPr>
        <p:spPr>
          <a:xfrm>
            <a:off x="1809750" y="5624513"/>
            <a:ext cx="4191000" cy="19050"/>
          </a:xfrm>
          <a:prstGeom prst="rect">
            <a:avLst/>
          </a:prstGeom>
          <a:solidFill>
            <a:srgbClr val="BFBFBF"/>
          </a:solidFill>
          <a:ln/>
        </p:spPr>
        <p:txBody>
          <a:bodyPr/>
          <a:lstStyle/>
          <a:p>
            <a:endParaRPr lang="en-US"/>
          </a:p>
        </p:txBody>
      </p:sp>
      <p:sp>
        <p:nvSpPr>
          <p:cNvPr id="28" name="Text 40"/>
          <p:cNvSpPr/>
          <p:nvPr/>
        </p:nvSpPr>
        <p:spPr>
          <a:xfrm>
            <a:off x="1981200" y="5191125"/>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Get the latest</a:t>
            </a:r>
            <a:endParaRPr lang="en-US" sz="1900" dirty="0"/>
          </a:p>
        </p:txBody>
      </p:sp>
      <p:sp>
        <p:nvSpPr>
          <p:cNvPr id="29" name="Shape 41"/>
          <p:cNvSpPr/>
          <p:nvPr/>
        </p:nvSpPr>
        <p:spPr>
          <a:xfrm>
            <a:off x="6000750" y="5624513"/>
            <a:ext cx="7486650" cy="19050"/>
          </a:xfrm>
          <a:prstGeom prst="rect">
            <a:avLst/>
          </a:prstGeom>
          <a:solidFill>
            <a:srgbClr val="BFBFBF"/>
          </a:solidFill>
          <a:ln/>
        </p:spPr>
        <p:txBody>
          <a:bodyPr/>
          <a:lstStyle/>
          <a:p>
            <a:endParaRPr lang="en-US"/>
          </a:p>
        </p:txBody>
      </p:sp>
      <p:sp>
        <p:nvSpPr>
          <p:cNvPr id="30" name="Text 42"/>
          <p:cNvSpPr/>
          <p:nvPr/>
        </p:nvSpPr>
        <p:spPr>
          <a:xfrm>
            <a:off x="6172200" y="5191125"/>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Fetch origin › Pull origin</a:t>
            </a:r>
            <a:endParaRPr lang="en-US" sz="1900" dirty="0"/>
          </a:p>
        </p:txBody>
      </p:sp>
      <p:sp>
        <p:nvSpPr>
          <p:cNvPr id="31" name="Shape 43"/>
          <p:cNvSpPr/>
          <p:nvPr/>
        </p:nvSpPr>
        <p:spPr>
          <a:xfrm>
            <a:off x="1809750" y="6200775"/>
            <a:ext cx="4191000" cy="19050"/>
          </a:xfrm>
          <a:prstGeom prst="rect">
            <a:avLst/>
          </a:prstGeom>
          <a:solidFill>
            <a:srgbClr val="BFBFBF"/>
          </a:solidFill>
          <a:ln/>
        </p:spPr>
        <p:txBody>
          <a:bodyPr/>
          <a:lstStyle/>
          <a:p>
            <a:endParaRPr lang="en-US"/>
          </a:p>
        </p:txBody>
      </p:sp>
      <p:sp>
        <p:nvSpPr>
          <p:cNvPr id="32" name="Text 44"/>
          <p:cNvSpPr/>
          <p:nvPr/>
        </p:nvSpPr>
        <p:spPr>
          <a:xfrm>
            <a:off x="1981200" y="5767388"/>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Start a branch</a:t>
            </a:r>
            <a:endParaRPr lang="en-US" sz="1900" dirty="0"/>
          </a:p>
        </p:txBody>
      </p:sp>
      <p:sp>
        <p:nvSpPr>
          <p:cNvPr id="33" name="Shape 45"/>
          <p:cNvSpPr/>
          <p:nvPr/>
        </p:nvSpPr>
        <p:spPr>
          <a:xfrm>
            <a:off x="6000750" y="6200775"/>
            <a:ext cx="7486650" cy="19050"/>
          </a:xfrm>
          <a:prstGeom prst="rect">
            <a:avLst/>
          </a:prstGeom>
          <a:solidFill>
            <a:srgbClr val="BFBFBF"/>
          </a:solidFill>
          <a:ln/>
        </p:spPr>
        <p:txBody>
          <a:bodyPr/>
          <a:lstStyle/>
          <a:p>
            <a:endParaRPr lang="en-US"/>
          </a:p>
        </p:txBody>
      </p:sp>
      <p:sp>
        <p:nvSpPr>
          <p:cNvPr id="34" name="Text 46"/>
          <p:cNvSpPr/>
          <p:nvPr/>
        </p:nvSpPr>
        <p:spPr>
          <a:xfrm>
            <a:off x="6172200" y="5767388"/>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Current branch › New branch › Publish branch</a:t>
            </a:r>
            <a:endParaRPr lang="en-US" sz="1900" dirty="0"/>
          </a:p>
        </p:txBody>
      </p:sp>
      <p:sp>
        <p:nvSpPr>
          <p:cNvPr id="35" name="Shape 47"/>
          <p:cNvSpPr/>
          <p:nvPr/>
        </p:nvSpPr>
        <p:spPr>
          <a:xfrm>
            <a:off x="1809750" y="6777038"/>
            <a:ext cx="4191000" cy="19050"/>
          </a:xfrm>
          <a:prstGeom prst="rect">
            <a:avLst/>
          </a:prstGeom>
          <a:solidFill>
            <a:srgbClr val="BFBFBF"/>
          </a:solidFill>
          <a:ln/>
        </p:spPr>
        <p:txBody>
          <a:bodyPr/>
          <a:lstStyle/>
          <a:p>
            <a:endParaRPr lang="en-US"/>
          </a:p>
        </p:txBody>
      </p:sp>
      <p:sp>
        <p:nvSpPr>
          <p:cNvPr id="36" name="Text 48"/>
          <p:cNvSpPr/>
          <p:nvPr/>
        </p:nvSpPr>
        <p:spPr>
          <a:xfrm>
            <a:off x="1981200" y="6343650"/>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Use someone’s branch</a:t>
            </a:r>
            <a:endParaRPr lang="en-US" sz="1900" dirty="0"/>
          </a:p>
        </p:txBody>
      </p:sp>
      <p:sp>
        <p:nvSpPr>
          <p:cNvPr id="37" name="Shape 49"/>
          <p:cNvSpPr/>
          <p:nvPr/>
        </p:nvSpPr>
        <p:spPr>
          <a:xfrm>
            <a:off x="6000750" y="6777038"/>
            <a:ext cx="7486650" cy="19050"/>
          </a:xfrm>
          <a:prstGeom prst="rect">
            <a:avLst/>
          </a:prstGeom>
          <a:solidFill>
            <a:srgbClr val="BFBFBF"/>
          </a:solidFill>
          <a:ln/>
        </p:spPr>
        <p:txBody>
          <a:bodyPr/>
          <a:lstStyle/>
          <a:p>
            <a:endParaRPr lang="en-US"/>
          </a:p>
        </p:txBody>
      </p:sp>
      <p:sp>
        <p:nvSpPr>
          <p:cNvPr id="38" name="Text 50"/>
          <p:cNvSpPr/>
          <p:nvPr/>
        </p:nvSpPr>
        <p:spPr>
          <a:xfrm>
            <a:off x="6172200" y="6343650"/>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Fetch origin › Current branch › pick it</a:t>
            </a:r>
            <a:endParaRPr lang="en-US" sz="1900" dirty="0"/>
          </a:p>
        </p:txBody>
      </p:sp>
      <p:sp>
        <p:nvSpPr>
          <p:cNvPr id="39" name="Shape 51"/>
          <p:cNvSpPr/>
          <p:nvPr/>
        </p:nvSpPr>
        <p:spPr>
          <a:xfrm>
            <a:off x="1809750" y="7353300"/>
            <a:ext cx="4191000" cy="19050"/>
          </a:xfrm>
          <a:prstGeom prst="rect">
            <a:avLst/>
          </a:prstGeom>
          <a:solidFill>
            <a:srgbClr val="BFBFBF"/>
          </a:solidFill>
          <a:ln/>
        </p:spPr>
        <p:txBody>
          <a:bodyPr/>
          <a:lstStyle/>
          <a:p>
            <a:endParaRPr lang="en-US"/>
          </a:p>
        </p:txBody>
      </p:sp>
      <p:sp>
        <p:nvSpPr>
          <p:cNvPr id="40" name="Text 52"/>
          <p:cNvSpPr/>
          <p:nvPr/>
        </p:nvSpPr>
        <p:spPr>
          <a:xfrm>
            <a:off x="1981200" y="6919913"/>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Propose a merge</a:t>
            </a:r>
            <a:endParaRPr lang="en-US" sz="1900" dirty="0"/>
          </a:p>
        </p:txBody>
      </p:sp>
      <p:sp>
        <p:nvSpPr>
          <p:cNvPr id="41" name="Shape 53"/>
          <p:cNvSpPr/>
          <p:nvPr/>
        </p:nvSpPr>
        <p:spPr>
          <a:xfrm>
            <a:off x="6000750" y="7353300"/>
            <a:ext cx="7486650" cy="19050"/>
          </a:xfrm>
          <a:prstGeom prst="rect">
            <a:avLst/>
          </a:prstGeom>
          <a:solidFill>
            <a:srgbClr val="BFBFBF"/>
          </a:solidFill>
          <a:ln/>
        </p:spPr>
        <p:txBody>
          <a:bodyPr/>
          <a:lstStyle/>
          <a:p>
            <a:endParaRPr lang="en-US"/>
          </a:p>
        </p:txBody>
      </p:sp>
      <p:sp>
        <p:nvSpPr>
          <p:cNvPr id="42" name="Text 54"/>
          <p:cNvSpPr/>
          <p:nvPr/>
        </p:nvSpPr>
        <p:spPr>
          <a:xfrm>
            <a:off x="6172200" y="6919913"/>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Branch › Create pull request</a:t>
            </a:r>
            <a:endParaRPr lang="en-US" sz="1900" dirty="0"/>
          </a:p>
        </p:txBody>
      </p:sp>
      <p:sp>
        <p:nvSpPr>
          <p:cNvPr id="43" name="Shape 55"/>
          <p:cNvSpPr/>
          <p:nvPr/>
        </p:nvSpPr>
        <p:spPr>
          <a:xfrm>
            <a:off x="1809750" y="7929563"/>
            <a:ext cx="4191000" cy="19050"/>
          </a:xfrm>
          <a:prstGeom prst="rect">
            <a:avLst/>
          </a:prstGeom>
          <a:solidFill>
            <a:srgbClr val="BFBFBF"/>
          </a:solidFill>
          <a:ln/>
        </p:spPr>
        <p:txBody>
          <a:bodyPr/>
          <a:lstStyle/>
          <a:p>
            <a:endParaRPr lang="en-US"/>
          </a:p>
        </p:txBody>
      </p:sp>
      <p:sp>
        <p:nvSpPr>
          <p:cNvPr id="44" name="Text 56"/>
          <p:cNvSpPr/>
          <p:nvPr/>
        </p:nvSpPr>
        <p:spPr>
          <a:xfrm>
            <a:off x="1981200" y="7496175"/>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Undo a pushed commit</a:t>
            </a:r>
            <a:endParaRPr lang="en-US" sz="1900" dirty="0"/>
          </a:p>
        </p:txBody>
      </p:sp>
      <p:sp>
        <p:nvSpPr>
          <p:cNvPr id="45" name="Shape 57"/>
          <p:cNvSpPr/>
          <p:nvPr/>
        </p:nvSpPr>
        <p:spPr>
          <a:xfrm>
            <a:off x="6000750" y="7929563"/>
            <a:ext cx="7486650" cy="19050"/>
          </a:xfrm>
          <a:prstGeom prst="rect">
            <a:avLst/>
          </a:prstGeom>
          <a:solidFill>
            <a:srgbClr val="BFBFBF"/>
          </a:solidFill>
          <a:ln/>
        </p:spPr>
        <p:txBody>
          <a:bodyPr/>
          <a:lstStyle/>
          <a:p>
            <a:endParaRPr lang="en-US"/>
          </a:p>
        </p:txBody>
      </p:sp>
      <p:sp>
        <p:nvSpPr>
          <p:cNvPr id="46" name="Text 58"/>
          <p:cNvSpPr/>
          <p:nvPr/>
        </p:nvSpPr>
        <p:spPr>
          <a:xfrm>
            <a:off x="6172200" y="7496175"/>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History › right-click › Revert changes in commit</a:t>
            </a:r>
            <a:endParaRPr lang="en-US" sz="1900" dirty="0"/>
          </a:p>
        </p:txBody>
      </p:sp>
      <p:sp>
        <p:nvSpPr>
          <p:cNvPr id="47" name="Shape 59"/>
          <p:cNvSpPr/>
          <p:nvPr/>
        </p:nvSpPr>
        <p:spPr>
          <a:xfrm>
            <a:off x="1809750" y="8505825"/>
            <a:ext cx="4191000" cy="19050"/>
          </a:xfrm>
          <a:prstGeom prst="rect">
            <a:avLst/>
          </a:prstGeom>
          <a:solidFill>
            <a:srgbClr val="BFBFBF"/>
          </a:solidFill>
          <a:ln/>
        </p:spPr>
        <p:txBody>
          <a:bodyPr/>
          <a:lstStyle/>
          <a:p>
            <a:endParaRPr lang="en-US"/>
          </a:p>
        </p:txBody>
      </p:sp>
      <p:sp>
        <p:nvSpPr>
          <p:cNvPr id="48" name="Text 60"/>
          <p:cNvSpPr/>
          <p:nvPr/>
        </p:nvSpPr>
        <p:spPr>
          <a:xfrm>
            <a:off x="1981200" y="8072438"/>
            <a:ext cx="397383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b="1" dirty="0">
                <a:solidFill>
                  <a:srgbClr val="000000"/>
                </a:solidFill>
                <a:latin typeface="+mn-lt"/>
                <a:ea typeface="+mn-ea"/>
                <a:cs typeface="+mn-cs"/>
              </a:rPr>
              <a:t>Edit the code</a:t>
            </a:r>
            <a:endParaRPr lang="en-US" sz="1900" dirty="0"/>
          </a:p>
        </p:txBody>
      </p:sp>
      <p:sp>
        <p:nvSpPr>
          <p:cNvPr id="49" name="Shape 61"/>
          <p:cNvSpPr/>
          <p:nvPr/>
        </p:nvSpPr>
        <p:spPr>
          <a:xfrm>
            <a:off x="6000750" y="8505825"/>
            <a:ext cx="7486650" cy="19050"/>
          </a:xfrm>
          <a:prstGeom prst="rect">
            <a:avLst/>
          </a:prstGeom>
          <a:solidFill>
            <a:srgbClr val="BFBFBF"/>
          </a:solidFill>
          <a:ln/>
        </p:spPr>
        <p:txBody>
          <a:bodyPr/>
          <a:lstStyle/>
          <a:p>
            <a:endParaRPr lang="en-US"/>
          </a:p>
        </p:txBody>
      </p:sp>
      <p:sp>
        <p:nvSpPr>
          <p:cNvPr id="50" name="Text 62"/>
          <p:cNvSpPr/>
          <p:nvPr/>
        </p:nvSpPr>
        <p:spPr>
          <a:xfrm>
            <a:off x="6172200" y="8072438"/>
            <a:ext cx="7368350" cy="347663"/>
          </a:xfrm>
          <a:prstGeom prst="rect">
            <a:avLst/>
          </a:prstGeom>
          <a:noFill/>
          <a:ln/>
        </p:spPr>
        <p:txBody>
          <a:bodyPr wrap="square" lIns="25400" tIns="25400" rIns="25400" bIns="25400" rtlCol="0" anchor="t">
            <a:normAutofit/>
          </a:bodyPr>
          <a:lstStyle/>
          <a:p>
            <a:pPr marL="0" indent="0" algn="l">
              <a:lnSpc>
                <a:spcPct val="99490"/>
              </a:lnSpc>
              <a:buNone/>
            </a:pPr>
            <a:r>
              <a:rPr lang="en-US" sz="1900" dirty="0">
                <a:solidFill>
                  <a:srgbClr val="000000"/>
                </a:solidFill>
                <a:latin typeface="+mn-lt"/>
                <a:ea typeface="+mn-ea"/>
                <a:cs typeface="+mn-cs"/>
              </a:rPr>
              <a:t>Repository › Open in Visual Studio Code</a:t>
            </a:r>
            <a:endParaRPr lang="en-US" sz="1900" dirty="0"/>
          </a:p>
        </p:txBody>
      </p:sp>
      <p:sp>
        <p:nvSpPr>
          <p:cNvPr id="51" name="Nav highlight"/>
          <p:cNvSpPr txBox="1"/>
          <p:nvPr userDrawn="1"/>
        </p:nvSpPr>
        <p:spPr>
          <a:xfrm>
            <a:off x="133350" y="619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Review</a:t>
            </a:r>
            <a:endParaRPr lang="en-US" sz="1800" b="1" dirty="0"/>
          </a:p>
        </p:txBody>
      </p:sp>
      <p:sp>
        <p:nvSpPr>
          <p:cNvPr id="52"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53" name="Slide Number"/>
          <p:cNvSpPr>
            <a:spLocks noGrp="1"/>
          </p:cNvSpPr>
          <p:nvPr>
            <p:ph type="sldNum" sz="quarter" idx="12"/>
          </p:nvPr>
        </p:nvSpPr>
        <p:spPr/>
        <p:txBody>
          <a:bodyPr/>
          <a:lstStyle/>
          <a:p>
            <a:fld id="{B6F15528-21DE-4FAA-801E-634DDDAF4B2B}" type="slidenum">
              <a:rPr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Knowledge Check</a:t>
            </a:r>
          </a:p>
        </p:txBody>
      </p:sp>
      <p:sp>
        <p:nvSpPr>
          <p:cNvPr id="3" name="Text 15"/>
          <p:cNvSpPr/>
          <p:nvPr/>
        </p:nvSpPr>
        <p:spPr>
          <a:xfrm>
            <a:off x="1809750" y="1714500"/>
            <a:ext cx="609600" cy="464741"/>
          </a:xfrm>
          <a:prstGeom prst="rect">
            <a:avLst/>
          </a:prstGeom>
          <a:noFill/>
          <a:ln/>
        </p:spPr>
        <p:txBody>
          <a:bodyPr wrap="square" lIns="25400" tIns="25400" rIns="25400" bIns="25400" rtlCol="0" anchor="t">
            <a:normAutofit/>
          </a:bodyPr>
          <a:lstStyle/>
          <a:p>
            <a:pPr marL="0" indent="0" algn="l">
              <a:lnSpc>
                <a:spcPct val="105000"/>
              </a:lnSpc>
              <a:buNone/>
            </a:pPr>
            <a:r>
              <a:rPr lang="en-US" sz="2400" b="1" dirty="0">
                <a:solidFill>
                  <a:srgbClr val="1F6FB2"/>
                </a:solidFill>
                <a:latin typeface="+mn-lt"/>
                <a:ea typeface="+mn-ea"/>
                <a:cs typeface="+mn-cs"/>
              </a:rPr>
              <a:t>1</a:t>
            </a:r>
            <a:endParaRPr lang="en-US" sz="2400" dirty="0"/>
          </a:p>
        </p:txBody>
      </p:sp>
      <p:sp>
        <p:nvSpPr>
          <p:cNvPr id="4" name="Text 16"/>
          <p:cNvSpPr/>
          <p:nvPr/>
        </p:nvSpPr>
        <p:spPr>
          <a:xfrm>
            <a:off x="2343150" y="1714500"/>
            <a:ext cx="11235690" cy="464741"/>
          </a:xfrm>
          <a:prstGeom prst="rect">
            <a:avLst/>
          </a:prstGeom>
          <a:noFill/>
          <a:ln/>
        </p:spPr>
        <p:txBody>
          <a:bodyPr wrap="square" lIns="25400" tIns="25400" rIns="25400" bIns="25400" rtlCol="0" anchor="t">
            <a:normAutofit/>
          </a:bodyPr>
          <a:lstStyle/>
          <a:p>
            <a:pPr marL="0" indent="0" algn="l">
              <a:lnSpc>
                <a:spcPct val="105000"/>
              </a:lnSpc>
              <a:buNone/>
            </a:pPr>
            <a:r>
              <a:rPr lang="en-US" sz="2200" dirty="0">
                <a:solidFill>
                  <a:srgbClr val="000000"/>
                </a:solidFill>
                <a:latin typeface="+mn-lt"/>
                <a:ea typeface="+mn-ea"/>
                <a:cs typeface="+mn-cs"/>
              </a:rPr>
              <a:t>You edited beam.m, but the change doesn’t appear on GitHub. What did you skip?</a:t>
            </a:r>
            <a:endParaRPr lang="en-US" sz="2200" dirty="0"/>
          </a:p>
        </p:txBody>
      </p:sp>
      <p:sp>
        <p:nvSpPr>
          <p:cNvPr id="5" name="Text 17"/>
          <p:cNvSpPr/>
          <p:nvPr/>
        </p:nvSpPr>
        <p:spPr>
          <a:xfrm>
            <a:off x="1809750" y="2522141"/>
            <a:ext cx="609600" cy="464741"/>
          </a:xfrm>
          <a:prstGeom prst="rect">
            <a:avLst/>
          </a:prstGeom>
          <a:noFill/>
          <a:ln/>
        </p:spPr>
        <p:txBody>
          <a:bodyPr wrap="square" lIns="25400" tIns="25400" rIns="25400" bIns="25400" rtlCol="0" anchor="t">
            <a:normAutofit/>
          </a:bodyPr>
          <a:lstStyle/>
          <a:p>
            <a:pPr marL="0" indent="0" algn="l">
              <a:lnSpc>
                <a:spcPct val="105000"/>
              </a:lnSpc>
              <a:buNone/>
            </a:pPr>
            <a:r>
              <a:rPr lang="en-US" sz="2400" b="1" dirty="0">
                <a:solidFill>
                  <a:srgbClr val="1F6FB2"/>
                </a:solidFill>
                <a:latin typeface="+mn-lt"/>
                <a:ea typeface="+mn-ea"/>
                <a:cs typeface="+mn-cs"/>
              </a:rPr>
              <a:t>2</a:t>
            </a:r>
            <a:endParaRPr lang="en-US" sz="2400" dirty="0"/>
          </a:p>
        </p:txBody>
      </p:sp>
      <p:sp>
        <p:nvSpPr>
          <p:cNvPr id="6" name="Text 18"/>
          <p:cNvSpPr/>
          <p:nvPr/>
        </p:nvSpPr>
        <p:spPr>
          <a:xfrm>
            <a:off x="2343150" y="2522141"/>
            <a:ext cx="11235690" cy="464741"/>
          </a:xfrm>
          <a:prstGeom prst="rect">
            <a:avLst/>
          </a:prstGeom>
          <a:noFill/>
          <a:ln/>
        </p:spPr>
        <p:txBody>
          <a:bodyPr wrap="square" lIns="25400" tIns="25400" rIns="25400" bIns="25400" rtlCol="0" anchor="t">
            <a:normAutofit/>
          </a:bodyPr>
          <a:lstStyle/>
          <a:p>
            <a:pPr marL="0" indent="0" algn="l">
              <a:lnSpc>
                <a:spcPct val="105000"/>
              </a:lnSpc>
              <a:buNone/>
            </a:pPr>
            <a:r>
              <a:rPr lang="en-US" sz="2200" dirty="0">
                <a:solidFill>
                  <a:srgbClr val="000000"/>
                </a:solidFill>
                <a:latin typeface="+mn-lt"/>
                <a:ea typeface="+mn-ea"/>
                <a:cs typeface="+mn-cs"/>
              </a:rPr>
              <a:t>What is the difference between </a:t>
            </a:r>
            <a:r>
              <a:rPr lang="en-US" sz="2200" b="1" dirty="0">
                <a:solidFill>
                  <a:srgbClr val="000000"/>
                </a:solidFill>
                <a:latin typeface="+mn-lt"/>
                <a:ea typeface="+mn-ea"/>
                <a:cs typeface="+mn-cs"/>
              </a:rPr>
              <a:t>Fetch </a:t>
            </a:r>
            <a:r>
              <a:rPr lang="en-US" sz="2200" dirty="0">
                <a:solidFill>
                  <a:srgbClr val="000000"/>
                </a:solidFill>
                <a:latin typeface="+mn-lt"/>
                <a:ea typeface="+mn-ea"/>
                <a:cs typeface="+mn-cs"/>
              </a:rPr>
              <a:t>and </a:t>
            </a:r>
            <a:r>
              <a:rPr lang="en-US" sz="2200" b="1" dirty="0">
                <a:solidFill>
                  <a:srgbClr val="000000"/>
                </a:solidFill>
                <a:latin typeface="+mn-lt"/>
                <a:ea typeface="+mn-ea"/>
                <a:cs typeface="+mn-cs"/>
              </a:rPr>
              <a:t>Pull</a:t>
            </a:r>
            <a:r>
              <a:rPr lang="en-US" sz="2200" dirty="0">
                <a:solidFill>
                  <a:srgbClr val="000000"/>
                </a:solidFill>
                <a:latin typeface="+mn-lt"/>
                <a:ea typeface="+mn-ea"/>
                <a:cs typeface="+mn-cs"/>
              </a:rPr>
              <a:t>?</a:t>
            </a:r>
            <a:endParaRPr lang="en-US" sz="2200" dirty="0"/>
          </a:p>
        </p:txBody>
      </p:sp>
      <p:sp>
        <p:nvSpPr>
          <p:cNvPr id="7" name="Text 19"/>
          <p:cNvSpPr/>
          <p:nvPr/>
        </p:nvSpPr>
        <p:spPr>
          <a:xfrm>
            <a:off x="1809750" y="3329781"/>
            <a:ext cx="609600" cy="464741"/>
          </a:xfrm>
          <a:prstGeom prst="rect">
            <a:avLst/>
          </a:prstGeom>
          <a:noFill/>
          <a:ln/>
        </p:spPr>
        <p:txBody>
          <a:bodyPr wrap="square" lIns="25400" tIns="25400" rIns="25400" bIns="25400" rtlCol="0" anchor="t">
            <a:normAutofit/>
          </a:bodyPr>
          <a:lstStyle/>
          <a:p>
            <a:pPr marL="0" indent="0" algn="l">
              <a:lnSpc>
                <a:spcPct val="105000"/>
              </a:lnSpc>
              <a:buNone/>
            </a:pPr>
            <a:r>
              <a:rPr lang="en-US" sz="2400" b="1" dirty="0">
                <a:solidFill>
                  <a:srgbClr val="1F6FB2"/>
                </a:solidFill>
                <a:latin typeface="+mn-lt"/>
                <a:ea typeface="+mn-ea"/>
                <a:cs typeface="+mn-cs"/>
              </a:rPr>
              <a:t>3</a:t>
            </a:r>
            <a:endParaRPr lang="en-US" sz="2400" dirty="0"/>
          </a:p>
        </p:txBody>
      </p:sp>
      <p:sp>
        <p:nvSpPr>
          <p:cNvPr id="8" name="Text 20"/>
          <p:cNvSpPr/>
          <p:nvPr/>
        </p:nvSpPr>
        <p:spPr>
          <a:xfrm>
            <a:off x="2343150" y="3329781"/>
            <a:ext cx="11235690" cy="464741"/>
          </a:xfrm>
          <a:prstGeom prst="rect">
            <a:avLst/>
          </a:prstGeom>
          <a:noFill/>
          <a:ln/>
        </p:spPr>
        <p:txBody>
          <a:bodyPr wrap="square" lIns="25400" tIns="25400" rIns="25400" bIns="25400" rtlCol="0" anchor="t">
            <a:normAutofit/>
          </a:bodyPr>
          <a:lstStyle/>
          <a:p>
            <a:pPr marL="0" indent="0" algn="l">
              <a:lnSpc>
                <a:spcPct val="105000"/>
              </a:lnSpc>
              <a:buNone/>
            </a:pPr>
            <a:r>
              <a:rPr lang="en-US" sz="2200" dirty="0">
                <a:solidFill>
                  <a:srgbClr val="000000"/>
                </a:solidFill>
                <a:latin typeface="+mn-lt"/>
                <a:ea typeface="+mn-ea"/>
                <a:cs typeface="+mn-cs"/>
              </a:rPr>
              <a:t>Why should a coding agent work on a branch instead of main?</a:t>
            </a:r>
            <a:endParaRPr lang="en-US" sz="2200" dirty="0"/>
          </a:p>
        </p:txBody>
      </p:sp>
      <p:sp>
        <p:nvSpPr>
          <p:cNvPr id="9" name="Text 21"/>
          <p:cNvSpPr/>
          <p:nvPr/>
        </p:nvSpPr>
        <p:spPr>
          <a:xfrm>
            <a:off x="1809750" y="4137422"/>
            <a:ext cx="609600" cy="464741"/>
          </a:xfrm>
          <a:prstGeom prst="rect">
            <a:avLst/>
          </a:prstGeom>
          <a:noFill/>
          <a:ln/>
        </p:spPr>
        <p:txBody>
          <a:bodyPr wrap="square" lIns="25400" tIns="25400" rIns="25400" bIns="25400" rtlCol="0" anchor="t">
            <a:normAutofit/>
          </a:bodyPr>
          <a:lstStyle/>
          <a:p>
            <a:pPr marL="0" indent="0" algn="l">
              <a:lnSpc>
                <a:spcPct val="105000"/>
              </a:lnSpc>
              <a:buNone/>
            </a:pPr>
            <a:r>
              <a:rPr lang="en-US" sz="2400" b="1" dirty="0">
                <a:solidFill>
                  <a:srgbClr val="1F6FB2"/>
                </a:solidFill>
                <a:latin typeface="+mn-lt"/>
                <a:ea typeface="+mn-ea"/>
                <a:cs typeface="+mn-cs"/>
              </a:rPr>
              <a:t>4</a:t>
            </a:r>
            <a:endParaRPr lang="en-US" sz="2400" dirty="0"/>
          </a:p>
        </p:txBody>
      </p:sp>
      <p:sp>
        <p:nvSpPr>
          <p:cNvPr id="10" name="Text 22"/>
          <p:cNvSpPr/>
          <p:nvPr/>
        </p:nvSpPr>
        <p:spPr>
          <a:xfrm>
            <a:off x="2343150" y="4137422"/>
            <a:ext cx="11235690" cy="464741"/>
          </a:xfrm>
          <a:prstGeom prst="rect">
            <a:avLst/>
          </a:prstGeom>
          <a:noFill/>
          <a:ln/>
        </p:spPr>
        <p:txBody>
          <a:bodyPr wrap="square" lIns="25400" tIns="25400" rIns="25400" bIns="25400" rtlCol="0" anchor="t">
            <a:normAutofit/>
          </a:bodyPr>
          <a:lstStyle/>
          <a:p>
            <a:pPr marL="0" indent="0" algn="l">
              <a:lnSpc>
                <a:spcPct val="105000"/>
              </a:lnSpc>
              <a:buNone/>
            </a:pPr>
            <a:r>
              <a:rPr lang="en-US" sz="2200" dirty="0">
                <a:solidFill>
                  <a:srgbClr val="000000"/>
                </a:solidFill>
                <a:latin typeface="+mn-lt"/>
                <a:ea typeface="+mn-ea"/>
                <a:cs typeface="+mn-cs"/>
              </a:rPr>
              <a:t>Push origin is rejected. What do you do?</a:t>
            </a:r>
            <a:endParaRPr lang="en-US" sz="2200" dirty="0"/>
          </a:p>
        </p:txBody>
      </p:sp>
      <p:sp>
        <p:nvSpPr>
          <p:cNvPr id="11" name="Text 23"/>
          <p:cNvSpPr/>
          <p:nvPr/>
        </p:nvSpPr>
        <p:spPr>
          <a:xfrm>
            <a:off x="1809750" y="4945063"/>
            <a:ext cx="609600" cy="464741"/>
          </a:xfrm>
          <a:prstGeom prst="rect">
            <a:avLst/>
          </a:prstGeom>
          <a:noFill/>
          <a:ln/>
        </p:spPr>
        <p:txBody>
          <a:bodyPr wrap="square" lIns="25400" tIns="25400" rIns="25400" bIns="25400" rtlCol="0" anchor="t">
            <a:normAutofit/>
          </a:bodyPr>
          <a:lstStyle/>
          <a:p>
            <a:pPr marL="0" indent="0" algn="l">
              <a:lnSpc>
                <a:spcPct val="105000"/>
              </a:lnSpc>
              <a:buNone/>
            </a:pPr>
            <a:r>
              <a:rPr lang="en-US" sz="2400" b="1" dirty="0">
                <a:solidFill>
                  <a:srgbClr val="1F6FB2"/>
                </a:solidFill>
                <a:latin typeface="+mn-lt"/>
                <a:ea typeface="+mn-ea"/>
                <a:cs typeface="+mn-cs"/>
              </a:rPr>
              <a:t>5</a:t>
            </a:r>
            <a:endParaRPr lang="en-US" sz="2400" dirty="0"/>
          </a:p>
        </p:txBody>
      </p:sp>
      <p:sp>
        <p:nvSpPr>
          <p:cNvPr id="12" name="Text 24"/>
          <p:cNvSpPr/>
          <p:nvPr/>
        </p:nvSpPr>
        <p:spPr>
          <a:xfrm>
            <a:off x="2343150" y="4945063"/>
            <a:ext cx="11235690" cy="464741"/>
          </a:xfrm>
          <a:prstGeom prst="rect">
            <a:avLst/>
          </a:prstGeom>
          <a:noFill/>
          <a:ln/>
        </p:spPr>
        <p:txBody>
          <a:bodyPr wrap="square" lIns="25400" tIns="25400" rIns="25400" bIns="25400" rtlCol="0" anchor="t">
            <a:normAutofit/>
          </a:bodyPr>
          <a:lstStyle/>
          <a:p>
            <a:pPr marL="0" indent="0" algn="l">
              <a:lnSpc>
                <a:spcPct val="105000"/>
              </a:lnSpc>
              <a:buNone/>
            </a:pPr>
            <a:r>
              <a:rPr lang="en-US" sz="2200" dirty="0">
                <a:solidFill>
                  <a:srgbClr val="000000"/>
                </a:solidFill>
                <a:latin typeface="+mn-lt"/>
                <a:ea typeface="+mn-ea"/>
                <a:cs typeface="+mn-cs"/>
              </a:rPr>
              <a:t>You pushed a file containing an API key, then deleted it in the next commit. Is the key safe?</a:t>
            </a:r>
            <a:endParaRPr lang="en-US" sz="2200" dirty="0"/>
          </a:p>
        </p:txBody>
      </p:sp>
      <p:sp>
        <p:nvSpPr>
          <p:cNvPr id="13" name="Nav highlight"/>
          <p:cNvSpPr txBox="1"/>
          <p:nvPr userDrawn="1"/>
        </p:nvSpPr>
        <p:spPr>
          <a:xfrm>
            <a:off x="133350" y="619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Review</a:t>
            </a:r>
            <a:endParaRPr lang="en-US" sz="1800" b="1" dirty="0"/>
          </a:p>
        </p:txBody>
      </p:sp>
      <p:sp>
        <p:nvSpPr>
          <p:cNvPr id="14"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1</a:t>
            </a:r>
            <a:endParaRPr lang="en-US" sz="1800" dirty="0"/>
          </a:p>
        </p:txBody>
      </p:sp>
      <p:sp>
        <p:nvSpPr>
          <p:cNvPr id="15" name="Slide Number"/>
          <p:cNvSpPr>
            <a:spLocks noGrp="1"/>
          </p:cNvSpPr>
          <p:nvPr>
            <p:ph type="sldNum" sz="quarter" idx="12"/>
          </p:nvPr>
        </p:nvSpPr>
        <p:spPr/>
        <p:txBody>
          <a:bodyPr/>
          <a:lstStyle/>
          <a:p>
            <a:fld id="{B6F15528-21DE-4FAA-801E-634DDDAF4B2B}" type="slidenum">
              <a:rPr lang="en-US"/>
              <a:t>23</a:t>
            </a:fld>
            <a:endParaRPr lang="en-US"/>
          </a:p>
        </p:txBody>
      </p:sp>
      <p:sp>
        <p:nvSpPr>
          <p:cNvPr id="19" name="Text 24">
            <a:extLst>
              <a:ext uri="{FF2B5EF4-FFF2-40B4-BE49-F238E27FC236}">
                <a16:creationId xmlns:a16="http://schemas.microsoft.com/office/drawing/2014/main" id="{0929A77A-E6A8-0DB9-7A0D-D55275A677B7}"/>
              </a:ext>
            </a:extLst>
          </p:cNvPr>
          <p:cNvSpPr/>
          <p:nvPr/>
        </p:nvSpPr>
        <p:spPr>
          <a:xfrm>
            <a:off x="2364922" y="6154879"/>
            <a:ext cx="11213918" cy="464741"/>
          </a:xfrm>
          <a:prstGeom prst="rect">
            <a:avLst/>
          </a:prstGeom>
          <a:noFill/>
          <a:ln/>
        </p:spPr>
        <p:txBody>
          <a:bodyPr wrap="square" lIns="25400" tIns="25400" rIns="25400" bIns="25400" rtlCol="0" anchor="t">
            <a:normAutofit/>
          </a:bodyPr>
          <a:lstStyle/>
          <a:p>
            <a:pPr marL="0" indent="0" algn="l">
              <a:lnSpc>
                <a:spcPct val="105000"/>
              </a:lnSpc>
              <a:buNone/>
            </a:pPr>
            <a:r>
              <a:rPr lang="en-US" sz="2200" dirty="0">
                <a:solidFill>
                  <a:srgbClr val="000000"/>
                </a:solidFill>
                <a:latin typeface="+mn-lt"/>
                <a:ea typeface="+mn-ea"/>
                <a:cs typeface="+mn-cs"/>
              </a:rPr>
              <a:t>Answers in slide notes. </a:t>
            </a:r>
            <a:endParaRPr lang="en-US" sz="2200" dirty="0"/>
          </a:p>
        </p:txBody>
      </p:sp>
    </p:spTree>
  </p:cSld>
  <p:clrMapOvr>
    <a:masterClrMapping/>
  </p:clrMapOvr>
</p:sld>
</file>

<file path=ppt/theme/theme1.xml><?xml version="1.0" encoding="utf-8"?>
<a:theme xmlns:a="http://schemas.openxmlformats.org/drawingml/2006/main" name="Agentic AI for Engineering">
  <a:themeElements>
    <a:clrScheme name="Agentic AI for Engineering">
      <a:dk1>
        <a:srgbClr val="000000"/>
      </a:dk1>
      <a:lt1>
        <a:srgbClr val="FFFFFF"/>
      </a:lt1>
      <a:dk2>
        <a:srgbClr val="152A47"/>
      </a:dk2>
      <a:lt2>
        <a:srgbClr val="F2F2F2"/>
      </a:lt2>
      <a:accent1>
        <a:srgbClr val="1F6FB2"/>
      </a:accent1>
      <a:accent2>
        <a:srgbClr val="00B0F0"/>
      </a:accent2>
      <a:accent3>
        <a:srgbClr val="595959"/>
      </a:accent3>
      <a:accent4>
        <a:srgbClr val="1E1E1E"/>
      </a:accent4>
      <a:accent5>
        <a:srgbClr val="BFBFBF"/>
      </a:accent5>
      <a:accent6>
        <a:srgbClr val="404040"/>
      </a:accent6>
      <a:hlink>
        <a:srgbClr val="1F6FB2"/>
      </a:hlink>
      <a:folHlink>
        <a:srgbClr val="595959"/>
      </a:folHlink>
    </a:clrScheme>
    <a:fontScheme name="Agentic AI for Engineering">
      <a:majorFont>
        <a:latin typeface="Calibri" panose="020F05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gentic AI for Engineering">
  <a:themeElements>
    <a:clrScheme name="Agentic AI for Engineering">
      <a:dk1>
        <a:srgbClr val="000000"/>
      </a:dk1>
      <a:lt1>
        <a:srgbClr val="FFFFFF"/>
      </a:lt1>
      <a:dk2>
        <a:srgbClr val="152A47"/>
      </a:dk2>
      <a:lt2>
        <a:srgbClr val="F2F2F2"/>
      </a:lt2>
      <a:accent1>
        <a:srgbClr val="1F6FB2"/>
      </a:accent1>
      <a:accent2>
        <a:srgbClr val="00B0F0"/>
      </a:accent2>
      <a:accent3>
        <a:srgbClr val="595959"/>
      </a:accent3>
      <a:accent4>
        <a:srgbClr val="1E1E1E"/>
      </a:accent4>
      <a:accent5>
        <a:srgbClr val="BFBFBF"/>
      </a:accent5>
      <a:accent6>
        <a:srgbClr val="404040"/>
      </a:accent6>
      <a:hlink>
        <a:srgbClr val="1F6FB2"/>
      </a:hlink>
      <a:folHlink>
        <a:srgbClr val="595959"/>
      </a:folHlink>
    </a:clrScheme>
    <a:fontScheme name="Agentic AI for Engineering">
      <a:majorFont>
        <a:latin typeface="Calibri" panose="020F05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3980</Words>
  <Application>Microsoft Office PowerPoint</Application>
  <PresentationFormat>Custom</PresentationFormat>
  <Paragraphs>505</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 Math</vt:lpstr>
      <vt:lpstr>Consolas</vt:lpstr>
      <vt:lpstr>Agentic AI for Engineering</vt:lpstr>
      <vt:lpstr>Agentic AI for Engineering</vt:lpstr>
      <vt:lpstr>Lesson Objectives</vt:lpstr>
      <vt:lpstr>Prerequisites</vt:lpstr>
      <vt:lpstr>Why Version Control?</vt:lpstr>
      <vt:lpstr>Git vs. GitHub</vt:lpstr>
      <vt:lpstr>Key Terms</vt:lpstr>
      <vt:lpstr>Why This Matters for Agents</vt:lpstr>
      <vt:lpstr>Exercise 1: Sign In &amp; Configure</vt:lpstr>
      <vt:lpstr>The Practice Project</vt:lpstr>
      <vt:lpstr>Exercise 2: Copy &amp; Clone</vt:lpstr>
      <vt:lpstr>Exercise 3: Edit, Review, Commit</vt:lpstr>
      <vt:lpstr>Exercise 4: Push, Fetch, Pull</vt:lpstr>
      <vt:lpstr>Exercise 5: Work on a Branch</vt:lpstr>
      <vt:lpstr>Exercise 6: Pull Request &amp; Merge</vt:lpstr>
      <vt:lpstr>Exercise 7: Resolve a Conflict</vt:lpstr>
      <vt:lpstr>Exercise 8: History &amp; Undo</vt:lpstr>
      <vt:lpstr>README, .gitignore, AGENTS.md</vt:lpstr>
      <vt:lpstr>Public vs. Private &amp; Data</vt:lpstr>
      <vt:lpstr>After Class: Your Own Repo</vt:lpstr>
      <vt:lpstr>Agent-Ready Checklist</vt:lpstr>
      <vt:lpstr>Troubleshooting</vt:lpstr>
      <vt:lpstr>Quick Reference</vt:lpstr>
      <vt:lpstr>Knowledge Check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Engineering · Lesson 1</dc:title>
  <dc:creator>Agentic AI for Engineering</dc:creator>
  <cp:lastModifiedBy>Wyatt Harris</cp:lastModifiedBy>
  <cp:revision>3</cp:revision>
  <dcterms:modified xsi:type="dcterms:W3CDTF">2026-10-27T04:34:06Z</dcterms:modified>
</cp:coreProperties>
</file>