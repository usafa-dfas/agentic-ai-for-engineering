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Default Extension="jpg" ContentType="image/jpe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M"/>
  </p:sldMasterIdLst>
  <p:notesMasterIdLst>
    <p:notesMasterId r:id="rIdN"/>
  </p:notes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Lst>
  <p:sldSz cx="13716000" cy="10287000"/>
  <p:notesSz cx="102870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M" Type="http://schemas.openxmlformats.org/officeDocument/2006/relationships/slideMaster" Target="slideMasters/slideMaster1.xml"/><Relationship Id="rIdN" Type="http://schemas.openxmlformats.org/officeDocument/2006/relationships/notesMaster" Target="notesMasters/notesMaster1.xml"/><Relationship Id="rIdT" Type="http://schemas.openxmlformats.org/officeDocument/2006/relationships/theme" Target="theme/theme1.xml"/><Relationship Id="rIdP" Type="http://schemas.openxmlformats.org/officeDocument/2006/relationships/presProps" Target="presProps.xml"/><Relationship Id="rIdV" Type="http://schemas.openxmlformats.org/officeDocument/2006/relationships/viewProps" Target="viewProps.xml"/><Relationship Id="rIdTS"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Lesson 1 covers the version control skills everyone needs before we hand a repository to a coding agent in Lesson 2. No prior Git experience is assumed. We'll spend about 15 minutes on concepts, 30 minutes of guided exercises with GitHub Desktop, and 5 minutes on review.</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The goal is practical fluency, not Git mastery. Everything we do today maps directly onto how a coding agent like Codex delivers work: it commits to a branch and opens a pull request, and you review and merge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participants complete this before class. Government or managed laptops may block installs, so coordinate with IT ahead of time. Use whatever account type your organization directs; the lesson works the same either way.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engineers already do version control by hand with file names and email. Git does the same job with a complete, searchable record. This matters more with agents: an agent may change many files at once, and you need to see exactly what changed and be able to back it out.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is the version control engine. It runs on your computer and keeps history in a hidden .git folder inside your project. GitHub is a website that hosts a copy of the repository so others, including coding agents, can reach it. GitHub Desktop is a point-and-click app that runs Git for you and talks to GitHub.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vocabulary for the rest of the course. Lesson 2 opens with this same table as a review. Point out that the right column is the button or menu you'll click in GitHub Desktop.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to Lesson 2. Cloud coding agents such as ChatGPT Codex work from a GitHub repository. The agent never touches your laptop. It delivers changes as commits on a branch, usually with a pull request. Every skill in today's exercises is a step in that loop.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Exercises start here. Walk the room and confirm everyone is signed in. The name and email under Options › Git are stamped on every commit, so use your real name. On a Mac, Options is under GitHub Desktop › Settings.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practice project is deliberately tiny: one script that computes the tip deflection of a cantilever beam. The engineering is trivial so attention stays on Git. Point out README, .gitignore, and AGENTS.md; we'll come back to them at the end.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the template gives each participant their own copy with full write access, which a plain clone of the instructor repo would not. Recommend keeping repos out of OneDrive-synced folders; OneDrive and Git can fight over the same files.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participants don't do this in class. This is how they'll put their own existing course code on GitHub before Lesson 2. Emphasize the private checkbox on Publish.</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loop: edit, review the diff, commit, push. Make them read the diff before committing; that is the same habit they'll need when reviewing agent output. A commit only saves locally; nothing reaches GitHub until Push. If you commit by mistake, Desktop shows an Undo button right after the commit.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on github.com simulates a collaborator or an agent pushing a commit. Fetch only checks; it never changes your files. Pull brings the commits down. Habit: pull before you start working, push when you finish.</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switch back to main after committing on the branch and look at beam.m: it says steel again. Then switch to the branch: aluminum. Same folder, two versions. This is how an agent's work stays out of main until you approve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Files changed tab is where review happens. In Lesson 2 the agent opens this pull request for you; your job is everything from step 3 on. After merging, the local copy of main is behind GitHub until you pull.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Conflicts are normal and not an error. Git refuses to guess when two commits changed the same lines. In VS Code, the Accept Current / Accept Incoming buttons above the markers make this a click. The file must have no markers left before Desktop lets you continue the merge.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of undo. Discard is for changes you haven't committed. Undo removes the last commit but only if it hasn't been pushed. Revert is the safe choice for anything already on GitHub: it adds a new commit that reverses the old one, so history stays intact. This is how you back out a bad agent commit.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small files make a repo usable by people and agents. README tells anyone how to run it. .gitignore keeps generated files, data, and secrets out of commits. AGENTS.md is the instruction file Codex reads at the start of every task; Claude Code uses CLAUDE.md for the same purpose. We'll write a real one in Lesson 2.</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points to stress. First, Git history is permanent: deleting a file in a later commit leaves it in every earlier commit. If a secret is pushed, assume it's compromised and rotate it. Second, connecting a repo to a coding agent sends its contents to that service. Follow current USAFA and DAF guidance on GenAI tools and data. A private repo is not an approval to store controlled data.</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before Lesson 2: pick one of your own projects and bring it to this state. Lesson 2 starts from a repo that meets this checklist.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row is the one everyone hits. Desktop is telling you GitHub has commits you don't. Pull first, then push.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open exercise time. Participants can print it or keep it as a reference for Lesson 2.</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The change was saved but not committed and pushed; check the Changes tab, commit, then Push origin. 2: Fetch checks GitHub for new commits without changing your files; Pull downloads them and updates your files. 3: A branch keeps main working while the change is reviewed; nothing reaches main until the pull request is merged. 4: Pull origin, resolve any conflicts, then push. 5: No. The key is still in history and must be treated as compromised; revoke and replace it.</a:t>
            </a:r>
          </a:p>
        </p:txBody>
      </p:sp>
    </p:spTree>
  </p:cSld>
  <p:clrMapOvr>
    <a:masterClrMapping/>
  </p:clrMapOvr>
</p:notes>
</file>

<file path=ppt/slideLayouts/_rels/slideLayout1.xml.rels><?xml version="1.0" encoding="UTF-8" standalone="yes"?>
<Relationships xmlns="http://schemas.openxmlformats.org/package/2006/relationships"><Relationship Id="rIdMaster" Type="http://schemas.openxmlformats.org/officeDocument/2006/relationships/slideMaster" Target="../slideMasters/slideMaster1.xml"/><Relationship Id="rIdLogo"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Course title"/>
          <p:cNvSpPr>
            <a:spLocks noGrp="1"/>
          </p:cNvSpPr>
          <p:nvPr>
            <p:ph type="title"/>
          </p:nvPr>
        </p:nvSpPr>
        <p:spPr>
          <a:xfrm>
            <a:off x="1673225" y="155575"/>
            <a:ext cx="11523663" cy="1106488"/>
          </a:xfrm>
        </p:spPr>
        <p:txBody>
          <a:bodyPr wrap="square" lIns="25400" tIns="25400" rIns="25400" bIns="25400" anchor="ctr">
            <a:normAutofit/>
          </a:bodyPr>
          <a:lstStyle>
            <a:lvl1pPr>
              <a:defRPr sz="5400"/>
            </a:lvl1pPr>
          </a:lstStyle>
          <a:p>
            <a:r>
              <a:rPr lang="en-US" dirty="0"/>
              <a:t>Agentic AI for Engineering</a:t>
            </a:r>
            <a:endParaRPr lang="en-US" dirty="0"/>
          </a:p>
        </p:txBody>
      </p:sp>
      <p:sp>
        <p:nvSpPr>
          <p:cNvPr id="6" name="Lesson number"/>
          <p:cNvSpPr>
            <a:spLocks noGrp="1"/>
          </p:cNvSpPr>
          <p:nvPr>
            <p:ph type="body" idx="1"/>
          </p:nvPr>
        </p:nvSpPr>
        <p:spPr>
          <a:xfrm>
            <a:off x="1657350" y="2286000"/>
            <a:ext cx="11925300" cy="1371600"/>
          </a:xfrm>
        </p:spPr>
        <p:txBody>
          <a:bodyPr wrap="square" lIns="25400" tIns="25400" rIns="25400" bIns="25400">
            <a:noAutofit/>
          </a:bodyPr>
          <a:lstStyle>
            <a:lvl1pPr marL="0" indent="0" algn="ctr">
              <a:spcAft>
                <a:spcPts val="0"/>
              </a:spcAft>
              <a:buNone/>
              <a:defRPr sz="9000" b="1">
                <a:solidFill>
                  <a:schemeClr val="tx1"/>
                </a:solidFill>
              </a:defRPr>
            </a:lvl1pPr>
          </a:lstStyle>
          <a:p>
            <a:r>
              <a:rPr lang="en-US" dirty="0"/>
              <a:t>Lesson N</a:t>
            </a:r>
            <a:endParaRPr lang="en-US" dirty="0"/>
          </a:p>
        </p:txBody>
      </p:sp>
      <p:sp>
        <p:nvSpPr>
          <p:cNvPr id="7" name="Lesson title"/>
          <p:cNvSpPr>
            <a:spLocks noGrp="1"/>
          </p:cNvSpPr>
          <p:nvPr>
            <p:ph type="body" idx="2"/>
          </p:nvPr>
        </p:nvSpPr>
        <p:spPr>
          <a:xfrm>
            <a:off x="1657350" y="3771900"/>
            <a:ext cx="11925300" cy="990600"/>
          </a:xfrm>
        </p:spPr>
        <p:txBody>
          <a:bodyPr wrap="square" lIns="25400" tIns="25400" rIns="25400" bIns="25400">
            <a:noAutofit/>
          </a:bodyPr>
          <a:lstStyle>
            <a:lvl1pPr marL="0" indent="0" algn="ctr">
              <a:spcAft>
                <a:spcPts val="0"/>
              </a:spcAft>
              <a:buNone/>
              <a:defRPr sz="4400" b="1">
                <a:solidFill>
                  <a:schemeClr val="tx1"/>
                </a:solidFill>
              </a:defRPr>
            </a:lvl1pPr>
          </a:lstStyle>
          <a:p>
            <a:r>
              <a:rPr lang="en-US" dirty="0"/>
              <a:t>Lesson title</a:t>
            </a:r>
            <a:endParaRPr lang="en-US" dirty="0"/>
          </a:p>
        </p:txBody>
      </p:sp>
      <p:sp>
        <p:nvSpPr>
          <p:cNvPr id="8" name="Subtitle"/>
          <p:cNvSpPr>
            <a:spLocks noGrp="1"/>
          </p:cNvSpPr>
          <p:nvPr>
            <p:ph type="body" idx="3"/>
          </p:nvPr>
        </p:nvSpPr>
        <p:spPr>
          <a:xfrm>
            <a:off x="1657350" y="4838700"/>
            <a:ext cx="11925300" cy="685800"/>
          </a:xfrm>
        </p:spPr>
        <p:txBody>
          <a:bodyPr wrap="square" lIns="25400" tIns="25400" rIns="25400" bIns="25400">
            <a:noAutofit/>
          </a:bodyPr>
          <a:lstStyle>
            <a:lvl1pPr marL="0" indent="0" algn="ctr">
              <a:spcAft>
                <a:spcPts val="0"/>
              </a:spcAft>
              <a:buNone/>
              <a:defRPr sz="3200" b="1">
                <a:solidFill>
                  <a:schemeClr val="tx1"/>
                </a:solidFill>
              </a:defRPr>
            </a:lvl1pPr>
          </a:lstStyle>
          <a:p>
            <a:r>
              <a:rPr lang="en-US" dirty="0"/>
              <a:t>Subtitle</a:t>
            </a:r>
            <a:endParaRPr lang="en-US" dirty="0"/>
          </a:p>
        </p:txBody>
      </p:sp>
      <p:sp>
        <p:nvSpPr>
          <p:cNvPr id="9" name="Tagline"/>
          <p:cNvSpPr>
            <a:spLocks noGrp="1"/>
          </p:cNvSpPr>
          <p:nvPr>
            <p:ph type="body" idx="4"/>
          </p:nvPr>
        </p:nvSpPr>
        <p:spPr>
          <a:xfrm>
            <a:off x="1657350" y="5600700"/>
            <a:ext cx="11925300" cy="609600"/>
          </a:xfrm>
        </p:spPr>
        <p:txBody>
          <a:bodyPr wrap="square" lIns="25400" tIns="25400" rIns="25400" bIns="25400">
            <a:noAutofit/>
          </a:bodyPr>
          <a:lstStyle>
            <a:lvl1pPr marL="0" indent="0" algn="ctr">
              <a:spcAft>
                <a:spcPts val="0"/>
              </a:spcAft>
              <a:buNone/>
              <a:defRPr sz="2700">
                <a:solidFill>
                  <a:schemeClr val="accent6"/>
                </a:solidFill>
              </a:defRPr>
            </a:lvl1pPr>
          </a:lstStyle>
          <a:p>
            <a:r>
              <a:rPr lang="en-US" dirty="0"/>
              <a:t>One-line description</a:t>
            </a:r>
            <a:endParaRPr lang="en-US" dirty="0"/>
          </a:p>
        </p:txBody>
      </p:sp>
      <p:sp>
        <p:nvSpPr>
          <p:cNvPr id="10" name="Course line"/>
          <p:cNvSpPr>
            <a:spLocks noGrp="1"/>
          </p:cNvSpPr>
          <p:nvPr>
            <p:ph type="body" idx="5"/>
          </p:nvPr>
        </p:nvSpPr>
        <p:spPr>
          <a:xfrm>
            <a:off x="1657350" y="9334500"/>
            <a:ext cx="11925300" cy="609600"/>
          </a:xfrm>
        </p:spPr>
        <p:txBody>
          <a:bodyPr wrap="square" lIns="25400" tIns="25400" rIns="25400" bIns="25400">
            <a:noAutofit/>
          </a:bodyPr>
          <a:lstStyle>
            <a:lvl1pPr marL="0" indent="0" algn="ctr">
              <a:spcAft>
                <a:spcPts val="0"/>
              </a:spcAft>
              <a:buNone/>
              <a:defRPr sz="3000" b="1">
                <a:solidFill>
                  <a:schemeClr val="tx1"/>
                </a:solidFill>
              </a:defRPr>
            </a:lvl1pPr>
          </a:lstStyle>
          <a:p>
            <a:r>
              <a:rPr lang="en-US" dirty="0"/>
              <a:t>USAFA Instructor Short Course</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ontent"/>
          <p:cNvSpPr>
            <a:spLocks noGrp="1"/>
          </p:cNvSpPr>
          <p:nvPr>
            <p:ph type="body" idx="1"/>
          </p:nvPr>
        </p:nvSpPr>
        <p:spPr/>
        <p:txBody>
          <a:bodyPr wrap="square" lIns="25400" tIns="25400" rIns="25400" bIns="25400">
            <a:noAutofit/>
          </a:bodyPr>
          <a:lstStyle/>
          <a:p>
            <a:endParaRPr lang="en-US" dirty="0"/>
          </a:p>
        </p:txBody>
      </p:sp>
      <p:sp>
        <p:nvSpPr>
          <p:cNvPr id="4" name="Footer"/>
          <p:cNvSpPr>
            <a:spLocks noGrp="1"/>
          </p:cNvSpPr>
          <p:nvPr>
            <p:ph type="ftr" sz="quarter" idx="11"/>
          </p:nvPr>
        </p:nvSpPr>
        <p:spPr/>
        <p:txBody>
          <a:bodyPr/>
          <a:lstStyle/>
          <a:p>
            <a:endParaRPr lang="en-US" dirty="0"/>
          </a:p>
        </p:txBody>
      </p:sp>
      <p:sp>
        <p:nvSpPr>
          <p:cNvPr id="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Left content"/>
          <p:cNvSpPr>
            <a:spLocks noGrp="1"/>
          </p:cNvSpPr>
          <p:nvPr>
            <p:ph type="body" idx="1"/>
          </p:nvPr>
        </p:nvSpPr>
        <p:spPr>
          <a:xfrm>
            <a:off x="1809750" y="1600200"/>
            <a:ext cx="5715000" cy="7962900"/>
          </a:xfrm>
        </p:spPr>
        <p:txBody>
          <a:bodyPr wrap="square" lIns="25400" tIns="25400" rIns="25400" bIns="25400">
            <a:noAutofit/>
          </a:bodyPr>
          <a:lstStyle/>
          <a:p>
            <a:endParaRPr lang="en-US" dirty="0"/>
          </a:p>
        </p:txBody>
      </p:sp>
      <p:sp>
        <p:nvSpPr>
          <p:cNvPr id="4" name="Right content"/>
          <p:cNvSpPr>
            <a:spLocks noGrp="1"/>
          </p:cNvSpPr>
          <p:nvPr>
            <p:ph type="body" idx="2"/>
          </p:nvPr>
        </p:nvSpPr>
        <p:spPr>
          <a:xfrm>
            <a:off x="7867650" y="1600200"/>
            <a:ext cx="5715000" cy="7962900"/>
          </a:xfrm>
        </p:spPr>
        <p:txBody>
          <a:bodyPr wrap="square" lIns="25400" tIns="25400" rIns="25400" bIns="25400">
            <a:noAutofit/>
          </a:bodyPr>
          <a:lstStyle/>
          <a:p>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p:cSld name="Chip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117729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p:cSld name="Chip, Steps, and Code">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60960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endParaRPr lang="en-US" dirty="0"/>
          </a:p>
        </p:txBody>
      </p:sp>
      <p:sp>
        <p:nvSpPr>
          <p:cNvPr id="5" name="Code"/>
          <p:cNvSpPr>
            <a:spLocks noGrp="1"/>
          </p:cNvSpPr>
          <p:nvPr>
            <p:ph type="body" idx="14"/>
          </p:nvPr>
        </p:nvSpPr>
        <p:spPr>
          <a:xfrm>
            <a:off x="8153400" y="1524000"/>
            <a:ext cx="5429250" cy="8039100"/>
          </a:xfrm>
          <a:prstGeom prst="roundRect">
            <a:avLst>
              <a:gd name="adj" fmla="val 3000"/>
            </a:avLst>
          </a:prstGeom>
          <a:solidFill>
            <a:srgbClr val="1E1E1E"/>
          </a:solidFill>
          <a:ln>
            <a:noFill/>
          </a:ln>
        </p:spPr>
        <p:txBody>
          <a:bodyPr wrap="square" lIns="228600" tIns="228600" rIns="228600" bIns="228600">
            <a:noAutofit/>
          </a:bodyPr>
          <a:lstStyle>
            <a:lvl1pPr marL="0" indent="0">
              <a:lnSpc>
                <a:spcPct val="115000"/>
              </a:lnSpc>
              <a:spcAft>
                <a:spcPts val="0"/>
              </a:spcAft>
              <a:buNone/>
              <a:defRPr sz="1650">
                <a:solidFill>
                  <a:srgbClr val="D4D4D4"/>
                </a:solidFill>
                <a:latin typeface="Consolas"/>
                <a:ea typeface="Consolas"/>
                <a:cs typeface="Consolas"/>
              </a:defRPr>
            </a:lvl1pPr>
          </a:lstStyle>
          <a:p>
            <a:r>
              <a:rPr lang="en-US" dirty="0"/>
              <a:t>% code or file contents</a:t>
            </a:r>
            <a:endParaRPr lang="en-US" dirty="0"/>
          </a:p>
        </p:txBody>
      </p:sp>
      <p:sp>
        <p:nvSpPr>
          <p:cNvPr id="6" name="Footer"/>
          <p:cNvSpPr>
            <a:spLocks noGrp="1"/>
          </p:cNvSpPr>
          <p:nvPr>
            <p:ph type="ftr" sz="quarter" idx="11"/>
          </p:nvPr>
        </p:nvSpPr>
        <p:spPr/>
        <p:txBody>
          <a:bodyPr/>
          <a:lstStyle/>
          <a:p>
            <a:endParaRPr lang="en-US" dirty="0"/>
          </a:p>
        </p:txBody>
      </p:sp>
      <p:sp>
        <p:nvSpPr>
          <p:cNvPr id="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Footer"/>
          <p:cNvSpPr>
            <a:spLocks noGrp="1"/>
          </p:cNvSpPr>
          <p:nvPr>
            <p:ph type="ftr" sz="quarter" idx="11"/>
          </p:nvPr>
        </p:nvSpPr>
        <p:spPr/>
        <p:txBody>
          <a:bodyPr/>
          <a:lstStyle/>
          <a:p>
            <a:endParaRPr lang="en-US" dirty="0"/>
          </a:p>
        </p:txBody>
      </p:sp>
      <p:sp>
        <p:nvSpPr>
          <p:cNvPr id="4"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Theme" Type="http://schemas.openxmlformats.org/officeDocument/2006/relationships/theme" Target="../theme/theme1.xml"/><Relationship Id="rIdLogo"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Title Placeholder"/>
          <p:cNvSpPr>
            <a:spLocks noGrp="1"/>
          </p:cNvSpPr>
          <p:nvPr>
            <p:ph type="title"/>
          </p:nvPr>
        </p:nvSpPr>
        <p:spPr>
          <a:xfrm>
            <a:off x="1657350" y="200025"/>
            <a:ext cx="10858500" cy="1057275"/>
          </a:xfrm>
        </p:spPr>
        <p:txBody>
          <a:bodyPr vert="horz" wrap="square" lIns="25400" tIns="25400" rIns="25400" bIns="25400" anchor="ctr">
            <a:normAutofit/>
          </a:bodyPr>
          <a:lstStyle/>
          <a:p>
            <a:r>
              <a:rPr lang="en-US" dirty="0"/>
              <a:t>Click to edit title</a:t>
            </a:r>
            <a:endParaRPr lang="en-US" dirty="0"/>
          </a:p>
        </p:txBody>
      </p:sp>
      <p:sp>
        <p:nvSpPr>
          <p:cNvPr id="6" name="Text Placeholder"/>
          <p:cNvSpPr>
            <a:spLocks noGrp="1"/>
          </p:cNvSpPr>
          <p:nvPr>
            <p:ph type="body" idx="1"/>
          </p:nvPr>
        </p:nvSpPr>
        <p:spPr>
          <a:xfrm>
            <a:off x="1809750" y="1600200"/>
            <a:ext cx="11772900" cy="7962900"/>
          </a:xfrm>
        </p:spPr>
        <p:txBody>
          <a:bodyPr vert="horz" wrap="square" lIns="25400" tIns="25400" rIns="25400" bIns="25400">
            <a:noAutofit/>
          </a:bodyPr>
          <a:lstStyle/>
          <a:p>
            <a:r>
              <a:rPr lang="en-US" dirty="0"/>
              <a:t>Body text: plain paragraphs</a:t>
            </a:r>
            <a:endParaRPr lang="en-US" dirty="0"/>
          </a:p>
          <a:p>
            <a:pPr lvl="1"/>
            <a:r>
              <a:rPr lang="en-US"/>
              <a:t>Second level: bullets</a:t>
            </a:r>
          </a:p>
        </p:txBody>
      </p:sp>
      <p:sp>
        <p:nvSpPr>
          <p:cNvPr id="7" name="Footer Placeholder"/>
          <p:cNvSpPr>
            <a:spLocks noGrp="1"/>
          </p:cNvSpPr>
          <p:nvPr>
            <p:ph type="ftr" sz="quarter" idx="11"/>
          </p:nvPr>
        </p:nvSpPr>
        <p:spPr>
          <a:xfrm>
            <a:off x="1054418" y="9810750"/>
            <a:ext cx="13264515" cy="342900"/>
          </a:xfrm>
        </p:spPr>
        <p:txBody>
          <a:bodyPr wrap="square" lIns="25400" tIns="25400" rIns="25400" bIns="25400" anchor="t"/>
          <a:lstStyle>
            <a:lvl1pPr algn="ctr">
              <a:defRPr sz="1800">
                <a:solidFill>
                  <a:srgbClr val="2E2E2E"/>
                </a:solidFill>
                <a:latin typeface="+mn-lt"/>
                <a:ea typeface="+mn-ea"/>
                <a:cs typeface="+mn-cs"/>
              </a:defRPr>
            </a:lvl1pPr>
          </a:lstStyle>
          <a:p>
            <a:endParaRPr lang="en-US" dirty="0"/>
          </a:p>
        </p:txBody>
      </p:sp>
      <p:sp>
        <p:nvSpPr>
          <p:cNvPr id="8" name="Slide Number Placeholder"/>
          <p:cNvSpPr>
            <a:spLocks noGrp="1"/>
          </p:cNvSpPr>
          <p:nvPr>
            <p:ph type="sldNum" sz="quarter" idx="12"/>
          </p:nvPr>
        </p:nvSpPr>
        <p:spPr>
          <a:xfrm>
            <a:off x="12900000" y="9810750"/>
            <a:ext cx="758850" cy="342900"/>
          </a:xfrm>
        </p:spPr>
        <p:txBody>
          <a:bodyPr wrap="square" lIns="25400" tIns="25400" rIns="25400" bIns="25400" anchor="t"/>
          <a:lstStyle>
            <a:lvl1pPr algn="r">
              <a:defRPr sz="1800">
                <a:solidFill>
                  <a:srgbClr val="2E2E2E"/>
                </a:solidFill>
                <a:latin typeface="+mn-lt"/>
                <a:ea typeface="+mn-ea"/>
                <a:cs typeface="+mn-cs"/>
              </a:defRPr>
            </a:lvl1pPr>
          </a:lstStyle>
          <a:p>
            <a:fld id="{B6F15528-21DE-4FAA-801E-634DDDAF4B2B}" type="slidenum">
              <a:rPr lang="en-US"/>
              <a:t>‹#›</a:t>
            </a:fld>
            <a:endParaRPr lang="en-US"/>
          </a:p>
        </p:txBody>
      </p:sp>
      <p:sp>
        <p:nvSpPr>
          <p:cNvPr id="9" name="Lesson tag"/>
          <p:cNvSpPr txBox="1"/>
          <p:nvPr userDrawn="1"/>
        </p:nvSpPr>
        <p:spPr>
          <a:xfrm>
            <a:off x="11658600" y="133350"/>
            <a:ext cx="2000250" cy="393700"/>
          </a:xfrm>
          <a:prstGeom prst="rect">
            <a:avLst/>
          </a:prstGeom>
          <a:noFill/>
        </p:spPr>
        <p:txBody>
          <a:bodyPr wrap="square" lIns="25400" tIns="25400" rIns="25400" bIns="25400" rtlCol="0" anchor="t">
            <a:noAutofit/>
          </a:bodyPr>
          <a:lstStyle/>
          <a:p>
            <a:pPr algn="r"/>
            <a:r>
              <a:rPr lang="en-US" sz="2100" b="1" dirty="0"/>
              <a:t>Lesson 1</a:t>
            </a:r>
            <a:endParaRPr lang="en-US" sz="2100" b="1" dirty="0"/>
          </a:p>
        </p:txBody>
      </p:sp>
      <p:sp>
        <p:nvSpPr>
          <p:cNvPr id="10" name="Section list"/>
          <p:cNvSpPr txBox="1"/>
          <p:nvPr userDrawn="1"/>
        </p:nvSpPr>
        <p:spPr>
          <a:xfrm>
            <a:off x="133350" y="2381250"/>
            <a:ext cx="1442184" cy="4191000"/>
          </a:xfrm>
          <a:prstGeom prst="rect">
            <a:avLst/>
          </a:prstGeom>
          <a:noFill/>
        </p:spPr>
        <p:txBody>
          <a:bodyPr wrap="square" lIns="25400" tIns="0" rIns="0" bIns="0" rtlCol="0" anchor="t">
            <a:noAutofit/>
          </a:bodyPr>
          <a:lstStyle/>
          <a:p>
            <a:pPr>
              <a:lnSpc>
                <a:spcPts val="3000"/>
              </a:lnSpc>
            </a:pPr>
            <a:r>
              <a:rPr lang="en-US" sz="1800" dirty="0"/>
              <a:t>Overview</a:t>
            </a:r>
            <a:endParaRPr lang="en-US" sz="1800" dirty="0"/>
          </a:p>
          <a:p>
            <a:pPr>
              <a:lnSpc>
                <a:spcPts val="3000"/>
              </a:lnSpc>
            </a:pPr>
            <a:r>
              <a:rPr lang="en-US" sz="1800" dirty="0"/>
              <a:t>Concepts</a:t>
            </a:r>
            <a:endParaRPr lang="en-US" sz="1800" dirty="0"/>
          </a:p>
          <a:p>
            <a:pPr>
              <a:lnSpc>
                <a:spcPts val="3000"/>
              </a:lnSpc>
            </a:pPr>
            <a:r>
              <a:rPr lang="en-US" sz="1800" dirty="0"/>
              <a:t>Setup</a:t>
            </a:r>
            <a:endParaRPr lang="en-US" sz="1800" dirty="0"/>
          </a:p>
          <a:p>
            <a:pPr>
              <a:lnSpc>
                <a:spcPts val="3000"/>
              </a:lnSpc>
            </a:pPr>
            <a:r>
              <a:rPr lang="en-US" sz="1800" dirty="0"/>
              <a:t>Clone</a:t>
            </a:r>
            <a:endParaRPr lang="en-US" sz="1800" dirty="0"/>
          </a:p>
          <a:p>
            <a:pPr>
              <a:lnSpc>
                <a:spcPts val="3000"/>
              </a:lnSpc>
            </a:pPr>
            <a:r>
              <a:rPr lang="en-US" sz="1800" dirty="0"/>
              <a:t>Commit</a:t>
            </a:r>
            <a:endParaRPr lang="en-US" sz="1800" dirty="0"/>
          </a:p>
          <a:p>
            <a:pPr>
              <a:lnSpc>
                <a:spcPts val="3000"/>
              </a:lnSpc>
            </a:pPr>
            <a:r>
              <a:rPr lang="en-US" sz="1800" dirty="0"/>
              <a:t>Sync</a:t>
            </a:r>
            <a:endParaRPr lang="en-US" sz="1800" dirty="0"/>
          </a:p>
          <a:p>
            <a:pPr>
              <a:lnSpc>
                <a:spcPts val="3000"/>
              </a:lnSpc>
            </a:pPr>
            <a:r>
              <a:rPr lang="en-US" sz="1800" dirty="0"/>
              <a:t>Branches</a:t>
            </a:r>
            <a:endParaRPr lang="en-US" sz="1800" dirty="0"/>
          </a:p>
          <a:p>
            <a:pPr>
              <a:lnSpc>
                <a:spcPts val="3000"/>
              </a:lnSpc>
            </a:pPr>
            <a:r>
              <a:rPr lang="en-US" sz="1800" dirty="0"/>
              <a:t>Conflicts</a:t>
            </a:r>
            <a:endParaRPr lang="en-US" sz="1800" dirty="0"/>
          </a:p>
          <a:p>
            <a:pPr>
              <a:lnSpc>
                <a:spcPts val="3000"/>
              </a:lnSpc>
            </a:pPr>
            <a:r>
              <a:rPr lang="en-US" sz="1800" dirty="0"/>
              <a:t>History</a:t>
            </a:r>
            <a:endParaRPr lang="en-US" sz="1800" dirty="0"/>
          </a:p>
          <a:p>
            <a:pPr>
              <a:lnSpc>
                <a:spcPts val="3000"/>
              </a:lnSpc>
            </a:pPr>
            <a:r>
              <a:rPr lang="en-US" sz="1800" dirty="0"/>
              <a:t>Agent-Ready</a:t>
            </a:r>
            <a:endParaRPr lang="en-US" sz="1800" dirty="0"/>
          </a:p>
          <a:p>
            <a:pPr>
              <a:lnSpc>
                <a:spcPts val="3000"/>
              </a:lnSpc>
            </a:pPr>
            <a:r>
              <a:rPr lang="en-US" sz="1800" dirty="0"/>
              <a:t>Review</a:t>
            </a:r>
            <a:endParaRPr lang="en-US" sz="18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hdr="0" dt="0"/>
  <p:txStyles>
    <p:title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p:titleStyle>
    <p:bodyStyle>
      <a:lvl1pPr marL="0" indent="0" algn="l" defTabSz="914400" rtl="0" eaLnBrk="1" latinLnBrk="0" hangingPunct="1">
        <a:spcBef>
          <a:spcPts val="0"/>
        </a:spcBef>
        <a:spcAft>
          <a:spcPts val="600"/>
        </a:spcAft>
        <a:buNone/>
        <a:defRPr sz="2100" kern="1200">
          <a:solidFill>
            <a:schemeClr val="tx1"/>
          </a:solidFill>
          <a:latin typeface="+mn-lt"/>
          <a:ea typeface="+mn-ea"/>
          <a:cs typeface="+mn-cs"/>
        </a:defRPr>
      </a:lvl1pPr>
      <a:lvl2pPr marL="342900" indent="-342900" algn="l" defTabSz="914400" rtl="0" eaLnBrk="1" latinLnBrk="0" hangingPunct="1">
        <a:spcBef>
          <a:spcPts val="0"/>
        </a:spcBef>
        <a:spcAft>
          <a:spcPts val="600"/>
        </a:spcAft>
        <a:buClr>
          <a:schemeClr val="tx2"/>
        </a:buClr>
        <a:buFont typeface="Arial"/>
        <a:buChar char="•"/>
        <a:defRPr sz="1950" kern="1200">
          <a:solidFill>
            <a:schemeClr val="tx1"/>
          </a:solidFill>
          <a:latin typeface="+mn-lt"/>
          <a:ea typeface="+mn-ea"/>
          <a:cs typeface="+mn-cs"/>
        </a:defRPr>
      </a:lvl2pPr>
      <a:lvl3pPr marL="6858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3pPr>
      <a:lvl4pPr marL="10287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4pPr>
      <a:lvl5pPr marL="13716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5pPr>
      <a:lvl6pPr marL="17145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6pPr>
      <a:lvl7pPr marL="20574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7pPr>
      <a:lvl8pPr marL="24003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8pPr>
      <a:lvl9pPr marL="27432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4.xml"/><Relationship Id="rId2" Type="http://schemas.openxmlformats.org/officeDocument/2006/relationships/image" Target="../media/image2.png"/><Relationship Id="rId3" Type="http://schemas.openxmlformats.org/officeDocument/2006/relationships/image" Target="../media/image3.svg"/></Relationships>
</file>

<file path=ppt/slides/_rels/slide1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urse title"/>
          <p:cNvSpPr>
            <a:spLocks noGrp="1"/>
          </p:cNvSpPr>
          <p:nvPr>
            <p:ph type="title"/>
          </p:nvPr>
        </p:nvSpPr>
        <p:spPr/>
        <p:txBody>
          <a:bodyPr/>
          <a:lstStyle/>
          <a:p>
            <a:r>
              <a:rPr lang="en-US" dirty="0"/>
              <a:t>Agentic AI for Engineering</a:t>
            </a:r>
            <a:endParaRPr lang="en-US" dirty="0"/>
          </a:p>
        </p:txBody>
      </p:sp>
      <p:sp>
        <p:nvSpPr>
          <p:cNvPr id="3" name="Text 1"/>
          <p:cNvSpPr>
            <a:spLocks noGrp="1"/>
          </p:cNvSpPr>
          <p:nvPr>
            <p:ph type="body" idx="1"/>
          </p:nvPr>
        </p:nvSpPr>
        <p:spPr/>
        <p:txBody>
          <a:bodyPr/>
          <a:lstStyle/>
          <a:p>
            <a:r>
              <a:rPr lang="en-US" dirty="0"/>
              <a:t>Lesson 1</a:t>
            </a:r>
            <a:endParaRPr lang="en-US" dirty="0"/>
          </a:p>
        </p:txBody>
      </p:sp>
      <p:sp>
        <p:nvSpPr>
          <p:cNvPr id="4" name="Text 2"/>
          <p:cNvSpPr>
            <a:spLocks noGrp="1"/>
          </p:cNvSpPr>
          <p:nvPr>
            <p:ph type="body" idx="2"/>
          </p:nvPr>
        </p:nvSpPr>
        <p:spPr/>
        <p:txBody>
          <a:bodyPr/>
          <a:lstStyle/>
          <a:p>
            <a:r>
              <a:rPr lang="en-US" dirty="0"/>
              <a:t>Introduction to Git and GitHub</a:t>
            </a:r>
            <a:endParaRPr lang="en-US" dirty="0"/>
          </a:p>
        </p:txBody>
      </p:sp>
      <p:sp>
        <p:nvSpPr>
          <p:cNvPr id="5" name="Text 3"/>
          <p:cNvSpPr>
            <a:spLocks noGrp="1"/>
          </p:cNvSpPr>
          <p:nvPr>
            <p:ph type="body" idx="3"/>
          </p:nvPr>
        </p:nvSpPr>
        <p:spPr/>
        <p:txBody>
          <a:bodyPr/>
          <a:lstStyle/>
          <a:p>
            <a:r>
              <a:rPr lang="en-US" dirty="0"/>
              <a:t>Hands-on with GitHub Desktop</a:t>
            </a:r>
            <a:endParaRPr lang="en-US" dirty="0"/>
          </a:p>
        </p:txBody>
      </p:sp>
      <p:sp>
        <p:nvSpPr>
          <p:cNvPr id="6" name="Text 4"/>
          <p:cNvSpPr>
            <a:spLocks noGrp="1"/>
          </p:cNvSpPr>
          <p:nvPr>
            <p:ph type="body" idx="4"/>
          </p:nvPr>
        </p:nvSpPr>
        <p:spPr/>
        <p:txBody>
          <a:bodyPr/>
          <a:lstStyle/>
          <a:p>
            <a:r>
              <a:rPr lang="en-US" dirty="0"/>
              <a:t>Version control skills for working with coding agents</a:t>
            </a:r>
            <a:endParaRPr lang="en-US" dirty="0"/>
          </a:p>
        </p:txBody>
      </p:sp>
      <p:sp>
        <p:nvSpPr>
          <p:cNvPr id="7" name="Text 5"/>
          <p:cNvSpPr>
            <a:spLocks noGrp="1"/>
          </p:cNvSpPr>
          <p:nvPr>
            <p:ph type="body" idx="5"/>
          </p:nvPr>
        </p:nvSpPr>
        <p:spPr/>
        <p:txBody>
          <a:bodyPr/>
          <a:lstStyle/>
          <a:p>
            <a:r>
              <a:rPr lang="en-US" dirty="0"/>
              <a:t>USAFA Instructor Short Course</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Lesson Objectives</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mn-lt"/>
                <a:ea typeface="+mn-ea"/>
                <a:cs typeface="+mn-cs"/>
              </a:rPr>
              <a:t>By the end of this lesson you can:</a:t>
            </a:r>
            <a:endParaRPr lang="en-US" sz="2100" dirty="0"/>
          </a:p>
        </p:txBody>
      </p:sp>
      <p:sp xmlns:p="http://schemas.openxmlformats.org/presentationml/2006/main" xmlns:a="http://schemas.openxmlformats.org/drawingml/2006/main" xmlns:r="http://schemas.openxmlformats.org/officeDocument/2006/relationships">
        <p:nvSpPr>
          <p:cNvPr id="4" name="Text 16"/>
          <p:cNvSpPr/>
          <p:nvPr/>
        </p:nvSpPr>
        <p:spPr>
          <a:xfrm>
            <a:off x="1809750" y="2184400"/>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5" name="Text 17"/>
          <p:cNvSpPr/>
          <p:nvPr/>
        </p:nvSpPr>
        <p:spPr>
          <a:xfrm>
            <a:off x="2343150" y="2209800"/>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Explain what Git and GitHub each do, and how they differ</a:t>
            </a:r>
            <a:endParaRPr lang="en-US" sz="21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727920"/>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753320"/>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Clone, commit, push, and pull with GitHub Desktop</a:t>
            </a:r>
            <a:endParaRPr lang="en-US" sz="2100"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27144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29684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Use branches and pull requests to review a change before it reaches main</a:t>
            </a:r>
            <a:endParaRPr lang="en-US" sz="2100"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381496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1" name="Text 23"/>
          <p:cNvSpPr/>
          <p:nvPr/>
        </p:nvSpPr>
        <p:spPr>
          <a:xfrm>
            <a:off x="2343150" y="384036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Resolve a simple merge conflict and undo a change</a:t>
            </a:r>
            <a:endParaRPr lang="en-US" sz="2100" dirty="0"/>
          </a:p>
        </p:txBody>
      </p:sp>
      <p:sp xmlns:p="http://schemas.openxmlformats.org/presentationml/2006/main" xmlns:a="http://schemas.openxmlformats.org/drawingml/2006/main" xmlns:r="http://schemas.openxmlformats.org/officeDocument/2006/relationships">
        <p:nvSpPr>
          <p:cNvPr id="12" name="Text 24"/>
          <p:cNvSpPr/>
          <p:nvPr/>
        </p:nvSpPr>
        <p:spPr>
          <a:xfrm>
            <a:off x="1809750" y="435848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3" name="Text 25"/>
          <p:cNvSpPr/>
          <p:nvPr/>
        </p:nvSpPr>
        <p:spPr>
          <a:xfrm>
            <a:off x="2343150" y="438388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mn-lt"/>
                <a:ea typeface="+mn-ea"/>
                <a:cs typeface="+mn-cs"/>
              </a:rPr>
              <a:t>Prepare a repository that a coding agent can work in</a:t>
            </a:r>
            <a:endParaRPr lang="en-US" sz="2100"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5149652"/>
            <a:ext cx="12845415"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Agenda (50 min)</a:t>
            </a:r>
            <a:endParaRPr lang="en-US" sz="2100"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5714802"/>
            <a:ext cx="3457575" cy="99060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6" name="Text 28"/>
          <p:cNvSpPr/>
          <p:nvPr/>
        </p:nvSpPr>
        <p:spPr>
          <a:xfrm>
            <a:off x="2000250" y="5886252"/>
            <a:ext cx="3384233"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0–15 min</a:t>
            </a:r>
            <a:endParaRPr lang="en-US" sz="1800" dirty="0"/>
          </a:p>
        </p:txBody>
      </p:sp>
      <p:sp xmlns:p="http://schemas.openxmlformats.org/presentationml/2006/main" xmlns:a="http://schemas.openxmlformats.org/drawingml/2006/main" xmlns:r="http://schemas.openxmlformats.org/officeDocument/2006/relationships">
        <p:nvSpPr>
          <p:cNvPr id="17" name="Text 29"/>
          <p:cNvSpPr/>
          <p:nvPr/>
        </p:nvSpPr>
        <p:spPr>
          <a:xfrm>
            <a:off x="2000250" y="6229152"/>
            <a:ext cx="3384233"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mn-lt"/>
                <a:ea typeface="+mn-ea"/>
                <a:cs typeface="+mn-cs"/>
              </a:rPr>
              <a:t>Concepts</a:t>
            </a:r>
            <a:endParaRPr lang="en-US" sz="1800" dirty="0"/>
          </a:p>
        </p:txBody>
      </p:sp>
      <p:sp xmlns:p="http://schemas.openxmlformats.org/presentationml/2006/main" xmlns:a="http://schemas.openxmlformats.org/drawingml/2006/main" xmlns:r="http://schemas.openxmlformats.org/officeDocument/2006/relationships">
        <p:nvSpPr>
          <p:cNvPr id="18" name="Shape 30"/>
          <p:cNvSpPr/>
          <p:nvPr/>
        </p:nvSpPr>
        <p:spPr>
          <a:xfrm>
            <a:off x="5343525" y="5714802"/>
            <a:ext cx="6915150" cy="9906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9" name="Text 31"/>
          <p:cNvSpPr/>
          <p:nvPr/>
        </p:nvSpPr>
        <p:spPr>
          <a:xfrm>
            <a:off x="5534025" y="5886252"/>
            <a:ext cx="7187565"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15–45 min</a:t>
            </a:r>
            <a:endParaRPr lang="en-US" sz="1800" dirty="0"/>
          </a:p>
        </p:txBody>
      </p:sp>
      <p:sp xmlns:p="http://schemas.openxmlformats.org/presentationml/2006/main" xmlns:a="http://schemas.openxmlformats.org/drawingml/2006/main" xmlns:r="http://schemas.openxmlformats.org/officeDocument/2006/relationships">
        <p:nvSpPr>
          <p:cNvPr id="20" name="Text 32"/>
          <p:cNvSpPr/>
          <p:nvPr/>
        </p:nvSpPr>
        <p:spPr>
          <a:xfrm>
            <a:off x="5534025" y="6229152"/>
            <a:ext cx="718756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mn-lt"/>
                <a:ea typeface="+mn-ea"/>
                <a:cs typeface="+mn-cs"/>
              </a:rPr>
              <a:t>Guided exercises in GitHub Desktop</a:t>
            </a:r>
            <a:endParaRPr lang="en-US" sz="1800" dirty="0"/>
          </a:p>
        </p:txBody>
      </p:sp>
      <p:sp xmlns:p="http://schemas.openxmlformats.org/presentationml/2006/main" xmlns:a="http://schemas.openxmlformats.org/drawingml/2006/main" xmlns:r="http://schemas.openxmlformats.org/officeDocument/2006/relationships">
        <p:nvSpPr>
          <p:cNvPr id="21" name="Shape 33"/>
          <p:cNvSpPr/>
          <p:nvPr/>
        </p:nvSpPr>
        <p:spPr>
          <a:xfrm>
            <a:off x="12334875" y="5714802"/>
            <a:ext cx="1152525" cy="990600"/>
          </a:xfrm>
          <a:prstGeom prst="rect">
            <a:avLst/>
          </a:prstGeom>
          <a:solidFill>
            <a:srgbClr val="595959"/>
          </a:solidFill>
          <a:ln/>
        </p:spPr>
      </p:sp>
      <p:sp xmlns:p="http://schemas.openxmlformats.org/presentationml/2006/main" xmlns:a="http://schemas.openxmlformats.org/drawingml/2006/main" xmlns:r="http://schemas.openxmlformats.org/officeDocument/2006/relationships">
        <p:nvSpPr>
          <p:cNvPr id="22" name="Text 34"/>
          <p:cNvSpPr/>
          <p:nvPr/>
        </p:nvSpPr>
        <p:spPr>
          <a:xfrm>
            <a:off x="12449175" y="5886252"/>
            <a:ext cx="1000125"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45–50</a:t>
            </a:r>
            <a:endParaRPr lang="en-US" sz="1800" dirty="0"/>
          </a:p>
        </p:txBody>
      </p:sp>
      <p:sp xmlns:p="http://schemas.openxmlformats.org/presentationml/2006/main" xmlns:a="http://schemas.openxmlformats.org/drawingml/2006/main" xmlns:r="http://schemas.openxmlformats.org/officeDocument/2006/relationships">
        <p:nvSpPr>
          <p:cNvPr id="23" name="Text 35"/>
          <p:cNvSpPr/>
          <p:nvPr/>
        </p:nvSpPr>
        <p:spPr>
          <a:xfrm>
            <a:off x="12449175" y="6229152"/>
            <a:ext cx="100012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mn-lt"/>
                <a:ea typeface="+mn-ea"/>
                <a:cs typeface="+mn-cs"/>
              </a:rPr>
              <a:t>Review</a:t>
            </a:r>
            <a:endParaRPr lang="en-US" sz="1800" dirty="0"/>
          </a:p>
        </p:txBody>
      </p:sp>
      <p:sp xmlns:p="http://schemas.openxmlformats.org/presentationml/2006/main" xmlns:a="http://schemas.openxmlformats.org/drawingml/2006/main" xmlns:r="http://schemas.openxmlformats.org/officeDocument/2006/relationships">
        <p:nvSpPr>
          <p:cNvPr id="24"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Prerequisites</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mn-lt"/>
                <a:ea typeface="+mn-ea"/>
                <a:cs typeface="+mn-cs"/>
              </a:rPr>
              <a:t>Complete before class:</a:t>
            </a:r>
            <a:endParaRPr lang="en-US" sz="210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16535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 name="Shape 17"/>
          <p:cNvSpPr/>
          <p:nvPr/>
        </p:nvSpPr>
        <p:spPr>
          <a:xfrm>
            <a:off x="1809750" y="3195836"/>
            <a:ext cx="3143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 name="Text 18"/>
          <p:cNvSpPr/>
          <p:nvPr/>
        </p:nvSpPr>
        <p:spPr>
          <a:xfrm>
            <a:off x="1981200" y="2355850"/>
            <a:ext cx="28946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GitHub account</a:t>
            </a:r>
            <a:endParaRPr lang="en-US" sz="1950" dirty="0"/>
          </a:p>
        </p:txBody>
      </p:sp>
      <p:sp xmlns:p="http://schemas.openxmlformats.org/presentationml/2006/main" xmlns:a="http://schemas.openxmlformats.org/drawingml/2006/main" xmlns:r="http://schemas.openxmlformats.org/officeDocument/2006/relationships">
        <p:nvSpPr>
          <p:cNvPr id="7" name="Shape 19"/>
          <p:cNvSpPr/>
          <p:nvPr/>
        </p:nvSpPr>
        <p:spPr>
          <a:xfrm>
            <a:off x="4953000" y="3195836"/>
            <a:ext cx="8534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8" name="Text 20"/>
          <p:cNvSpPr/>
          <p:nvPr/>
        </p:nvSpPr>
        <p:spPr>
          <a:xfrm>
            <a:off x="5124450" y="2355850"/>
            <a:ext cx="8447532"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Sign up at github.com. Use the account type your organization directs (personal or institutional). Turn on two-factor authentication.</a:t>
            </a:r>
            <a:endParaRPr lang="en-US" sz="1950" dirty="0"/>
          </a:p>
        </p:txBody>
      </p:sp>
      <p:sp xmlns:p="http://schemas.openxmlformats.org/presentationml/2006/main" xmlns:a="http://schemas.openxmlformats.org/drawingml/2006/main" xmlns:r="http://schemas.openxmlformats.org/officeDocument/2006/relationships">
        <p:nvSpPr>
          <p:cNvPr id="9" name="Shape 21"/>
          <p:cNvSpPr/>
          <p:nvPr/>
        </p:nvSpPr>
        <p:spPr>
          <a:xfrm>
            <a:off x="1809750" y="3892054"/>
            <a:ext cx="3143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1981200" y="3386336"/>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GitHub Desktop</a:t>
            </a:r>
            <a:endParaRPr lang="en-US" sz="1950" dirty="0"/>
          </a:p>
        </p:txBody>
      </p:sp>
      <p:sp xmlns:p="http://schemas.openxmlformats.org/presentationml/2006/main" xmlns:a="http://schemas.openxmlformats.org/drawingml/2006/main" xmlns:r="http://schemas.openxmlformats.org/officeDocument/2006/relationships">
        <p:nvSpPr>
          <p:cNvPr id="11" name="Shape 23"/>
          <p:cNvSpPr/>
          <p:nvPr/>
        </p:nvSpPr>
        <p:spPr>
          <a:xfrm>
            <a:off x="4953000" y="3892054"/>
            <a:ext cx="8534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5124450" y="3386336"/>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Install from desktop.github.com. On a managed laptop, check with IT first.</a:t>
            </a:r>
            <a:endParaRPr lang="en-US" sz="1950" dirty="0"/>
          </a:p>
        </p:txBody>
      </p:sp>
      <p:sp xmlns:p="http://schemas.openxmlformats.org/presentationml/2006/main" xmlns:a="http://schemas.openxmlformats.org/drawingml/2006/main" xmlns:r="http://schemas.openxmlformats.org/officeDocument/2006/relationships">
        <p:nvSpPr>
          <p:cNvPr id="13" name="Shape 25"/>
          <p:cNvSpPr/>
          <p:nvPr/>
        </p:nvSpPr>
        <p:spPr>
          <a:xfrm>
            <a:off x="1809750" y="4588272"/>
            <a:ext cx="3143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1981200" y="4082554"/>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Text editor</a:t>
            </a:r>
            <a:endParaRPr lang="en-US" sz="1950" dirty="0"/>
          </a:p>
        </p:txBody>
      </p:sp>
      <p:sp xmlns:p="http://schemas.openxmlformats.org/presentationml/2006/main" xmlns:a="http://schemas.openxmlformats.org/drawingml/2006/main" xmlns:r="http://schemas.openxmlformats.org/officeDocument/2006/relationships">
        <p:nvSpPr>
          <p:cNvPr id="15" name="Shape 27"/>
          <p:cNvSpPr/>
          <p:nvPr/>
        </p:nvSpPr>
        <p:spPr>
          <a:xfrm>
            <a:off x="4953000" y="4588272"/>
            <a:ext cx="8534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5124450" y="4082554"/>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VS Code recommended. GitHub Desktop can open repos in it directly.</a:t>
            </a:r>
            <a:endParaRPr lang="en-US" sz="1950" dirty="0"/>
          </a:p>
        </p:txBody>
      </p:sp>
      <p:sp xmlns:p="http://schemas.openxmlformats.org/presentationml/2006/main" xmlns:a="http://schemas.openxmlformats.org/drawingml/2006/main" xmlns:r="http://schemas.openxmlformats.org/officeDocument/2006/relationships">
        <p:nvSpPr>
          <p:cNvPr id="17" name="Shape 29"/>
          <p:cNvSpPr/>
          <p:nvPr/>
        </p:nvSpPr>
        <p:spPr>
          <a:xfrm>
            <a:off x="1809750" y="5284490"/>
            <a:ext cx="3143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1981200" y="4778772"/>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MATLAB (optional)</a:t>
            </a:r>
            <a:endParaRPr lang="en-US" sz="1950" dirty="0"/>
          </a:p>
        </p:txBody>
      </p:sp>
      <p:sp xmlns:p="http://schemas.openxmlformats.org/presentationml/2006/main" xmlns:a="http://schemas.openxmlformats.org/drawingml/2006/main" xmlns:r="http://schemas.openxmlformats.org/officeDocument/2006/relationships">
        <p:nvSpPr>
          <p:cNvPr id="19" name="Shape 31"/>
          <p:cNvSpPr/>
          <p:nvPr/>
        </p:nvSpPr>
        <p:spPr>
          <a:xfrm>
            <a:off x="4953000" y="5284490"/>
            <a:ext cx="8534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5124450" y="4778772"/>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Lets you run the practice project. Not required to learn Git.</a:t>
            </a:r>
            <a:endParaRPr lang="en-US" sz="1950" dirty="0"/>
          </a:p>
        </p:txBody>
      </p:sp>
      <p:sp xmlns:p="http://schemas.openxmlformats.org/presentationml/2006/main" xmlns:a="http://schemas.openxmlformats.org/drawingml/2006/main" xmlns:r="http://schemas.openxmlformats.org/officeDocument/2006/relationships">
        <p:nvSpPr>
          <p:cNvPr id="21" name="Shape 33"/>
          <p:cNvSpPr/>
          <p:nvPr/>
        </p:nvSpPr>
        <p:spPr>
          <a:xfrm>
            <a:off x="1809750" y="5993111"/>
            <a:ext cx="3143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1981200" y="5474990"/>
            <a:ext cx="2894648" cy="384770"/>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Practice repo link</a:t>
            </a:r>
            <a:endParaRPr lang="en-US" sz="1950" dirty="0"/>
          </a:p>
        </p:txBody>
      </p:sp>
      <p:sp xmlns:p="http://schemas.openxmlformats.org/presentationml/2006/main" xmlns:a="http://schemas.openxmlformats.org/drawingml/2006/main" xmlns:r="http://schemas.openxmlformats.org/officeDocument/2006/relationships">
        <p:nvSpPr>
          <p:cNvPr id="23" name="Shape 35"/>
          <p:cNvSpPr/>
          <p:nvPr/>
        </p:nvSpPr>
        <p:spPr>
          <a:xfrm>
            <a:off x="4953000" y="5993111"/>
            <a:ext cx="8534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5124450" y="5474990"/>
            <a:ext cx="8447532" cy="38477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Provided by the instructor: the </a:t>
            </a:r>
            <a:r>
              <a:rPr lang="en-US" sz="1800" dirty="0">
                <a:solidFill>
                  <a:srgbClr val="000000"/>
                </a:solidFill>
                <a:latin typeface="Consolas" pitchFamily="34" charset="0"/>
                <a:ea typeface="Consolas" pitchFamily="34" charset="-122"/>
                <a:cs typeface="Consolas" pitchFamily="34" charset="-120"/>
              </a:rPr>
              <a:t>beam-calc </a:t>
            </a:r>
            <a:r>
              <a:rPr lang="en-US" sz="1950" dirty="0">
                <a:solidFill>
                  <a:srgbClr val="000000"/>
                </a:solidFill>
                <a:latin typeface="+mn-lt"/>
                <a:ea typeface="+mn-ea"/>
                <a:cs typeface="+mn-cs"/>
              </a:rPr>
              <a:t>template repository.</a:t>
            </a:r>
            <a:endParaRPr lang="en-US" sz="1950" dirty="0"/>
          </a:p>
        </p:txBody>
      </p:sp>
      <p:sp xmlns:p="http://schemas.openxmlformats.org/presentationml/2006/main" xmlns:a="http://schemas.openxmlformats.org/drawingml/2006/main" xmlns:r="http://schemas.openxmlformats.org/officeDocument/2006/relationships">
        <p:nvSpPr>
          <p:cNvPr id="25" name="Text 37"/>
          <p:cNvSpPr/>
          <p:nvPr/>
        </p:nvSpPr>
        <p:spPr>
          <a:xfrm>
            <a:off x="1809750" y="6259810"/>
            <a:ext cx="12845415" cy="368300"/>
          </a:xfrm>
          <a:prstGeom prst="rect">
            <a:avLst/>
          </a:prstGeom>
          <a:noFill/>
          <a:ln/>
        </p:spPr>
        <p:txBody>
          <a:bodyPr wrap="square" lIns="25400" tIns="25400" rIns="25400" bIns="25400" rtlCol="0" anchor="t">
            <a:normAutofit/>
          </a:bodyPr>
          <a:lstStyle/>
          <a:p>
            <a:pPr algn="l" indent="0" marL="0">
              <a:buNone/>
            </a:pPr>
            <a:r>
              <a:rPr lang="en-US" sz="1950" dirty="0">
                <a:solidFill>
                  <a:srgbClr val="404040"/>
                </a:solidFill>
                <a:latin typeface="+mn-lt"/>
                <a:ea typeface="+mn-ea"/>
                <a:cs typeface="+mn-cs"/>
              </a:rPr>
              <a:t>You do not need the Git command line for this course. GitHub Desktop includes Git.</a:t>
            </a:r>
            <a:endParaRPr lang="en-US" sz="1950" dirty="0"/>
          </a:p>
        </p:txBody>
      </p:sp>
      <p:sp xmlns:p="http://schemas.openxmlformats.org/presentationml/2006/main" xmlns:a="http://schemas.openxmlformats.org/drawingml/2006/main" xmlns:r="http://schemas.openxmlformats.org/officeDocument/2006/relationships">
        <p:nvSpPr>
          <p:cNvPr id="26"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7"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8"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Why Version Control?</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6234113"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Without it</a:t>
            </a:r>
            <a:endParaRPr lang="en-US" sz="225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171700"/>
            <a:ext cx="5667375" cy="2323902"/>
          </a:xfrm>
          <a:prstGeom prst="roundRect">
            <a:avLst>
              <a:gd name="adj" fmla="val 4918"/>
            </a:avLst>
          </a:prstGeom>
          <a:solidFill>
            <a:srgbClr val="1E1E1E"/>
          </a:solidFill>
          <a:ln/>
        </p:spPr>
      </p:sp>
      <p:sp xmlns:p="http://schemas.openxmlformats.org/presentationml/2006/main" xmlns:a="http://schemas.openxmlformats.org/drawingml/2006/main" xmlns:r="http://schemas.openxmlformats.org/officeDocument/2006/relationships">
        <p:nvSpPr>
          <p:cNvPr id="5" name="Text 17"/>
          <p:cNvSpPr/>
          <p:nvPr/>
        </p:nvSpPr>
        <p:spPr>
          <a:xfrm>
            <a:off x="2076450" y="2419350"/>
            <a:ext cx="5303996" cy="1866702"/>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beam.m</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beam_v2.py</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beam_v2_final.py</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beam_v2_final_FIXED.py</a:t>
            </a:r>
            <a:endParaRPr lang="en-US" sz="1800" dirty="0"/>
          </a:p>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beam_v3_from_email.py</a:t>
            </a:r>
            <a:endParaRPr lang="en-US" sz="18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4667052"/>
            <a:ext cx="5837396"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mn-lt"/>
                <a:ea typeface="+mn-ea"/>
                <a:cs typeface="+mn-cs"/>
              </a:rPr>
              <a:t>Which one is current? What changed between them, and why?</a:t>
            </a:r>
            <a:endParaRPr lang="en-US" sz="1950" dirty="0"/>
          </a:p>
        </p:txBody>
      </p:sp>
      <p:sp xmlns:p="http://schemas.openxmlformats.org/presentationml/2006/main" xmlns:a="http://schemas.openxmlformats.org/drawingml/2006/main" xmlns:r="http://schemas.openxmlformats.org/officeDocument/2006/relationships">
        <p:nvSpPr>
          <p:cNvPr id="7" name="Text 19"/>
          <p:cNvSpPr/>
          <p:nvPr/>
        </p:nvSpPr>
        <p:spPr>
          <a:xfrm>
            <a:off x="7820025" y="1619250"/>
            <a:ext cx="6234113"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With Git</a:t>
            </a:r>
            <a:endParaRPr lang="en-US" sz="2250" dirty="0"/>
          </a:p>
        </p:txBody>
      </p:sp>
      <p:sp xmlns:p="http://schemas.openxmlformats.org/presentationml/2006/main" xmlns:a="http://schemas.openxmlformats.org/drawingml/2006/main" xmlns:r="http://schemas.openxmlformats.org/officeDocument/2006/relationships">
        <p:nvSpPr>
          <p:cNvPr id="8" name="Shape 20"/>
          <p:cNvSpPr/>
          <p:nvPr/>
        </p:nvSpPr>
        <p:spPr>
          <a:xfrm>
            <a:off x="7820025" y="2171700"/>
            <a:ext cx="5667375" cy="1958181"/>
          </a:xfrm>
          <a:prstGeom prst="roundRect">
            <a:avLst>
              <a:gd name="adj" fmla="val 5837"/>
            </a:avLst>
          </a:prstGeom>
          <a:solidFill>
            <a:srgbClr val="1E1E1E"/>
          </a:solidFill>
          <a:ln/>
        </p:spPr>
      </p:sp>
      <p:sp xmlns:p="http://schemas.openxmlformats.org/presentationml/2006/main" xmlns:a="http://schemas.openxmlformats.org/drawingml/2006/main" xmlns:r="http://schemas.openxmlformats.org/officeDocument/2006/relationships">
        <p:nvSpPr>
          <p:cNvPr id="9" name="Text 21"/>
          <p:cNvSpPr/>
          <p:nvPr/>
        </p:nvSpPr>
        <p:spPr>
          <a:xfrm>
            <a:off x="8086725" y="2419350"/>
            <a:ext cx="5303996" cy="1500981"/>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beam.m</a:t>
            </a:r>
            <a:endParaRPr lang="en-US" sz="1800" dirty="0"/>
          </a:p>
          <a:p>
            <a:pPr algn="l" indent="0" marL="0">
              <a:lnSpc>
                <a:spcPct val="140488"/>
              </a:lnSpc>
              <a:buNone/>
            </a:pPr>
            <a:r>
              <a:rPr lang="en-US" sz="1800" dirty="0">
                <a:solidFill>
                  <a:srgbClr val="8C8C8C"/>
                </a:solidFill>
                <a:latin typeface="Consolas" pitchFamily="34" charset="0"/>
                <a:ea typeface="Consolas" pitchFamily="34" charset="-122"/>
                <a:cs typeface="Consolas" pitchFamily="34" charset="-120"/>
              </a:rPr>
              <a:t>e4f5a6b Switch to aluminum</a:t>
            </a:r>
            <a:endParaRPr lang="en-US" sz="1800" dirty="0"/>
          </a:p>
          <a:p>
            <a:pPr algn="l" indent="0" marL="0">
              <a:lnSpc>
                <a:spcPct val="140488"/>
              </a:lnSpc>
              <a:buNone/>
            </a:pPr>
            <a:r>
              <a:rPr lang="en-US" sz="1800" dirty="0">
                <a:solidFill>
                  <a:srgbClr val="8C8C8C"/>
                </a:solidFill>
                <a:latin typeface="Consolas" pitchFamily="34" charset="0"/>
                <a:ea typeface="Consolas" pitchFamily="34" charset="-122"/>
                <a:cs typeface="Consolas" pitchFamily="34" charset="-120"/>
              </a:rPr>
              <a:t>a1b2c3d Fix units on load P</a:t>
            </a:r>
            <a:endParaRPr lang="en-US" sz="1800" dirty="0"/>
          </a:p>
          <a:p>
            <a:pPr algn="l" indent="0" marL="0">
              <a:lnSpc>
                <a:spcPct val="140488"/>
              </a:lnSpc>
              <a:buNone/>
            </a:pPr>
            <a:r>
              <a:rPr lang="en-US" sz="1800" dirty="0">
                <a:solidFill>
                  <a:srgbClr val="8C8C8C"/>
                </a:solidFill>
                <a:latin typeface="Consolas" pitchFamily="34" charset="0"/>
                <a:ea typeface="Consolas" pitchFamily="34" charset="-122"/>
                <a:cs typeface="Consolas" pitchFamily="34" charset="-120"/>
              </a:rPr>
              <a:t>9c8d7e6 Initial version</a:t>
            </a:r>
            <a:endParaRPr lang="en-US" sz="1800" dirty="0"/>
          </a:p>
        </p:txBody>
      </p:sp>
      <p:sp xmlns:p="http://schemas.openxmlformats.org/presentationml/2006/main" xmlns:a="http://schemas.openxmlformats.org/drawingml/2006/main" xmlns:r="http://schemas.openxmlformats.org/officeDocument/2006/relationships">
        <p:nvSpPr>
          <p:cNvPr id="10" name="Text 22"/>
          <p:cNvSpPr/>
          <p:nvPr/>
        </p:nvSpPr>
        <p:spPr>
          <a:xfrm>
            <a:off x="7820025" y="4301331"/>
            <a:ext cx="5837396"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mn-lt"/>
                <a:ea typeface="+mn-ea"/>
                <a:cs typeface="+mn-cs"/>
              </a:rPr>
              <a:t>One file. Every saved version, with who, when, and why.</a:t>
            </a:r>
            <a:endParaRPr lang="en-US" sz="1950"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2" name="Text 24"/>
          <p:cNvSpPr/>
          <p:nvPr/>
        </p:nvSpPr>
        <p:spPr>
          <a:xfrm>
            <a:off x="2019300"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History</a:t>
            </a:r>
            <a:endParaRPr lang="en-US" sz="1950" dirty="0"/>
          </a:p>
        </p:txBody>
      </p:sp>
      <p:sp xmlns:p="http://schemas.openxmlformats.org/presentationml/2006/main" xmlns:a="http://schemas.openxmlformats.org/drawingml/2006/main" xmlns:r="http://schemas.openxmlformats.org/officeDocument/2006/relationships">
        <p:nvSpPr>
          <p:cNvPr id="13" name="Text 25"/>
          <p:cNvSpPr/>
          <p:nvPr/>
        </p:nvSpPr>
        <p:spPr>
          <a:xfrm>
            <a:off x="2019300" y="6509742"/>
            <a:ext cx="2624614"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See any past version</a:t>
            </a:r>
            <a:endParaRPr lang="en-US" sz="1800" dirty="0"/>
          </a:p>
        </p:txBody>
      </p:sp>
      <p:sp xmlns:p="http://schemas.openxmlformats.org/presentationml/2006/main" xmlns:a="http://schemas.openxmlformats.org/drawingml/2006/main" xmlns:r="http://schemas.openxmlformats.org/officeDocument/2006/relationships">
        <p:nvSpPr>
          <p:cNvPr id="14" name="Shape 26"/>
          <p:cNvSpPr/>
          <p:nvPr/>
        </p:nvSpPr>
        <p:spPr>
          <a:xfrm>
            <a:off x="4767263"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5" name="Text 27"/>
          <p:cNvSpPr/>
          <p:nvPr/>
        </p:nvSpPr>
        <p:spPr>
          <a:xfrm>
            <a:off x="4976813"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Undo</a:t>
            </a:r>
            <a:endParaRPr lang="en-US" sz="1950" dirty="0"/>
          </a:p>
        </p:txBody>
      </p:sp>
      <p:sp xmlns:p="http://schemas.openxmlformats.org/presentationml/2006/main" xmlns:a="http://schemas.openxmlformats.org/drawingml/2006/main" xmlns:r="http://schemas.openxmlformats.org/officeDocument/2006/relationships">
        <p:nvSpPr>
          <p:cNvPr id="16" name="Text 28"/>
          <p:cNvSpPr/>
          <p:nvPr/>
        </p:nvSpPr>
        <p:spPr>
          <a:xfrm>
            <a:off x="4976813"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Roll back one change safely</a:t>
            </a:r>
            <a:endParaRPr lang="en-US" sz="1800" dirty="0"/>
          </a:p>
        </p:txBody>
      </p:sp>
      <p:sp xmlns:p="http://schemas.openxmlformats.org/presentationml/2006/main" xmlns:a="http://schemas.openxmlformats.org/drawingml/2006/main" xmlns:r="http://schemas.openxmlformats.org/officeDocument/2006/relationships">
        <p:nvSpPr>
          <p:cNvPr id="17" name="Shape 29"/>
          <p:cNvSpPr/>
          <p:nvPr/>
        </p:nvSpPr>
        <p:spPr>
          <a:xfrm>
            <a:off x="7724775"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8" name="Text 30"/>
          <p:cNvSpPr/>
          <p:nvPr/>
        </p:nvSpPr>
        <p:spPr>
          <a:xfrm>
            <a:off x="7934325"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Parallel work</a:t>
            </a:r>
            <a:endParaRPr lang="en-US" sz="1950" dirty="0"/>
          </a:p>
        </p:txBody>
      </p:sp>
      <p:sp xmlns:p="http://schemas.openxmlformats.org/presentationml/2006/main" xmlns:a="http://schemas.openxmlformats.org/drawingml/2006/main" xmlns:r="http://schemas.openxmlformats.org/officeDocument/2006/relationships">
        <p:nvSpPr>
          <p:cNvPr id="19" name="Text 31"/>
          <p:cNvSpPr/>
          <p:nvPr/>
        </p:nvSpPr>
        <p:spPr>
          <a:xfrm>
            <a:off x="7934325"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Try ideas without breaking main</a:t>
            </a:r>
            <a:endParaRPr lang="en-US" sz="1800" dirty="0"/>
          </a:p>
        </p:txBody>
      </p:sp>
      <p:sp xmlns:p="http://schemas.openxmlformats.org/presentationml/2006/main" xmlns:a="http://schemas.openxmlformats.org/drawingml/2006/main" xmlns:r="http://schemas.openxmlformats.org/officeDocument/2006/relationships">
        <p:nvSpPr>
          <p:cNvPr id="20" name="Shape 32"/>
          <p:cNvSpPr/>
          <p:nvPr/>
        </p:nvSpPr>
        <p:spPr>
          <a:xfrm>
            <a:off x="10682288" y="5893793"/>
            <a:ext cx="2805113" cy="14426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21" name="Text 33"/>
          <p:cNvSpPr/>
          <p:nvPr/>
        </p:nvSpPr>
        <p:spPr>
          <a:xfrm>
            <a:off x="10891838"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Review</a:t>
            </a:r>
            <a:endParaRPr lang="en-US" sz="1950" dirty="0"/>
          </a:p>
        </p:txBody>
      </p:sp>
      <p:sp xmlns:p="http://schemas.openxmlformats.org/presentationml/2006/main" xmlns:a="http://schemas.openxmlformats.org/drawingml/2006/main" xmlns:r="http://schemas.openxmlformats.org/officeDocument/2006/relationships">
        <p:nvSpPr>
          <p:cNvPr id="22" name="Text 34"/>
          <p:cNvSpPr/>
          <p:nvPr/>
        </p:nvSpPr>
        <p:spPr>
          <a:xfrm>
            <a:off x="10891838"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Read every line an agent changed</a:t>
            </a:r>
            <a:endParaRPr lang="en-US" sz="1800" dirty="0"/>
          </a:p>
        </p:txBody>
      </p:sp>
      <p:sp xmlns:p="http://schemas.openxmlformats.org/presentationml/2006/main" xmlns:a="http://schemas.openxmlformats.org/drawingml/2006/main" xmlns:r="http://schemas.openxmlformats.org/officeDocument/2006/relationships">
        <p:nvSpPr>
          <p:cNvPr id="23"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2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Git vs. GitHub</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619250"/>
            <a:ext cx="3810000" cy="1212850"/>
          </a:xfrm>
          <a:prstGeom prst="roundRect">
            <a:avLst>
              <a:gd name="adj" fmla="val 10995"/>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4" name="Text 16"/>
          <p:cNvSpPr/>
          <p:nvPr/>
        </p:nvSpPr>
        <p:spPr>
          <a:xfrm>
            <a:off x="1877695" y="1854200"/>
            <a:ext cx="3674110" cy="419100"/>
          </a:xfrm>
          <a:prstGeom prst="rect">
            <a:avLst/>
          </a:prstGeom>
          <a:noFill/>
          <a:ln/>
        </p:spPr>
        <p:txBody>
          <a:bodyPr wrap="square" lIns="25400" tIns="25400" rIns="25400" bIns="25400" rtlCol="0" anchor="t">
            <a:normAutofit/>
          </a:bodyPr>
          <a:lstStyle/>
          <a:p>
            <a:pPr algn="ctr" indent="0" marL="0">
              <a:buNone/>
            </a:pPr>
            <a:r>
              <a:rPr lang="en-US" sz="2250" b="1" dirty="0">
                <a:solidFill>
                  <a:srgbClr val="000000"/>
                </a:solidFill>
                <a:latin typeface="+mn-lt"/>
                <a:ea typeface="+mn-ea"/>
                <a:cs typeface="+mn-cs"/>
              </a:rPr>
              <a:t>Local repo</a:t>
            </a:r>
            <a:endParaRPr lang="en-US" sz="2250" dirty="0"/>
          </a:p>
        </p:txBody>
      </p:sp>
      <p:sp xmlns:p="http://schemas.openxmlformats.org/presentationml/2006/main" xmlns:a="http://schemas.openxmlformats.org/drawingml/2006/main" xmlns:r="http://schemas.openxmlformats.org/officeDocument/2006/relationships">
        <p:nvSpPr>
          <p:cNvPr id="5" name="Text 17"/>
          <p:cNvSpPr/>
          <p:nvPr/>
        </p:nvSpPr>
        <p:spPr>
          <a:xfrm>
            <a:off x="1877695" y="2292350"/>
            <a:ext cx="367411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mn-lt"/>
                <a:ea typeface="+mn-ea"/>
                <a:cs typeface="+mn-cs"/>
              </a:rPr>
              <a:t>your laptop (Git)</a:t>
            </a:r>
            <a:endParaRPr lang="en-US" sz="1800" dirty="0"/>
          </a:p>
        </p:txBody>
      </p:sp>
      <p:sp xmlns:p="http://schemas.openxmlformats.org/presentationml/2006/main" xmlns:a="http://schemas.openxmlformats.org/drawingml/2006/main" xmlns:r="http://schemas.openxmlformats.org/officeDocument/2006/relationships">
        <p:nvSpPr>
          <p:cNvPr id="6" name="Text 18"/>
          <p:cNvSpPr/>
          <p:nvPr/>
        </p:nvSpPr>
        <p:spPr>
          <a:xfrm>
            <a:off x="5605463" y="1698625"/>
            <a:ext cx="4086225" cy="29845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Consolas" pitchFamily="34" charset="0"/>
                <a:ea typeface="Consolas" pitchFamily="34" charset="-122"/>
                <a:cs typeface="Consolas" pitchFamily="34" charset="-120"/>
              </a:rPr>
              <a:t>push</a:t>
            </a:r>
            <a:endParaRPr lang="en-US" sz="1800" dirty="0"/>
          </a:p>
        </p:txBody>
      </p:sp>
      <p:sp xmlns:p="http://schemas.openxmlformats.org/presentationml/2006/main" xmlns:a="http://schemas.openxmlformats.org/drawingml/2006/main" xmlns:r="http://schemas.openxmlformats.org/officeDocument/2006/relationships">
        <p:nvSpPr>
          <p:cNvPr id="7" name="Shape 19"/>
          <p:cNvSpPr/>
          <p:nvPr/>
        </p:nvSpPr>
        <p:spPr>
          <a:xfrm>
            <a:off x="5791200" y="2073275"/>
            <a:ext cx="3714750" cy="28575"/>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8" name="Shape 20"/>
          <p:cNvSpPr/>
          <p:nvPr/>
        </p:nvSpPr>
        <p:spPr>
          <a:xfrm>
            <a:off x="9372600" y="1997075"/>
            <a:ext cx="152400" cy="165100"/>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9" name="Shape 21"/>
          <p:cNvSpPr/>
          <p:nvPr/>
        </p:nvSpPr>
        <p:spPr>
          <a:xfrm>
            <a:off x="5791200" y="2349500"/>
            <a:ext cx="3714750" cy="28575"/>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10" name="Shape 22"/>
          <p:cNvSpPr/>
          <p:nvPr/>
        </p:nvSpPr>
        <p:spPr>
          <a:xfrm>
            <a:off x="5772150" y="2273300"/>
            <a:ext cx="152400" cy="165100"/>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11" name="Text 23"/>
          <p:cNvSpPr/>
          <p:nvPr/>
        </p:nvSpPr>
        <p:spPr>
          <a:xfrm>
            <a:off x="5605463" y="2492375"/>
            <a:ext cx="4086225" cy="29845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Consolas" pitchFamily="34" charset="0"/>
                <a:ea typeface="Consolas" pitchFamily="34" charset="-122"/>
                <a:cs typeface="Consolas" pitchFamily="34" charset="-120"/>
              </a:rPr>
              <a:t>fetch / pull</a:t>
            </a:r>
            <a:endParaRPr lang="en-US" sz="1800" dirty="0"/>
          </a:p>
        </p:txBody>
      </p:sp>
      <p:sp xmlns:p="http://schemas.openxmlformats.org/presentationml/2006/main" xmlns:a="http://schemas.openxmlformats.org/drawingml/2006/main" xmlns:r="http://schemas.openxmlformats.org/officeDocument/2006/relationships">
        <p:nvSpPr>
          <p:cNvPr id="12" name="Shape 24"/>
          <p:cNvSpPr/>
          <p:nvPr/>
        </p:nvSpPr>
        <p:spPr>
          <a:xfrm>
            <a:off x="9677400" y="1619250"/>
            <a:ext cx="3810000" cy="1212850"/>
          </a:xfrm>
          <a:prstGeom prst="roundRect">
            <a:avLst>
              <a:gd name="adj" fmla="val 10995"/>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3" name="Text 25"/>
          <p:cNvSpPr/>
          <p:nvPr/>
        </p:nvSpPr>
        <p:spPr>
          <a:xfrm>
            <a:off x="9745346" y="1854200"/>
            <a:ext cx="3674110" cy="419100"/>
          </a:xfrm>
          <a:prstGeom prst="rect">
            <a:avLst/>
          </a:prstGeom>
          <a:noFill/>
          <a:ln/>
        </p:spPr>
        <p:txBody>
          <a:bodyPr wrap="square" lIns="25400" tIns="25400" rIns="25400" bIns="25400" rtlCol="0" anchor="t">
            <a:normAutofit/>
          </a:bodyPr>
          <a:lstStyle/>
          <a:p>
            <a:pPr algn="ctr" indent="0" marL="0">
              <a:buNone/>
            </a:pPr>
            <a:r>
              <a:rPr lang="en-US" sz="2250" b="1" dirty="0">
                <a:solidFill>
                  <a:srgbClr val="000000"/>
                </a:solidFill>
                <a:latin typeface="+mn-lt"/>
                <a:ea typeface="+mn-ea"/>
                <a:cs typeface="+mn-cs"/>
              </a:rPr>
              <a:t>Remote repo</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9745346" y="2292350"/>
            <a:ext cx="367411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mn-lt"/>
                <a:ea typeface="+mn-ea"/>
                <a:cs typeface="+mn-cs"/>
              </a:rPr>
              <a:t>GitHub (origin)</a:t>
            </a:r>
            <a:endParaRPr lang="en-US" sz="1800"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3175000"/>
            <a:ext cx="3740150" cy="571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6" name="Text 28"/>
          <p:cNvSpPr/>
          <p:nvPr/>
        </p:nvSpPr>
        <p:spPr>
          <a:xfrm>
            <a:off x="180975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Git</a:t>
            </a:r>
            <a:endParaRPr lang="en-US" sz="2250" dirty="0"/>
          </a:p>
        </p:txBody>
      </p:sp>
      <p:sp xmlns:p="http://schemas.openxmlformats.org/presentationml/2006/main" xmlns:a="http://schemas.openxmlformats.org/drawingml/2006/main" xmlns:r="http://schemas.openxmlformats.org/officeDocument/2006/relationships">
        <p:nvSpPr>
          <p:cNvPr id="17" name="Text 29"/>
          <p:cNvSpPr/>
          <p:nvPr/>
        </p:nvSpPr>
        <p:spPr>
          <a:xfrm>
            <a:off x="1809750" y="3898900"/>
            <a:ext cx="3852355" cy="1082576"/>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Version control software. Runs on your computer. Stores history in a hidden </a:t>
            </a:r>
            <a:r>
              <a:rPr lang="en-US" sz="1725" dirty="0">
                <a:solidFill>
                  <a:srgbClr val="000000"/>
                </a:solidFill>
                <a:latin typeface="Consolas" pitchFamily="34" charset="0"/>
                <a:ea typeface="Consolas" pitchFamily="34" charset="-122"/>
                <a:cs typeface="Consolas" pitchFamily="34" charset="-120"/>
              </a:rPr>
              <a:t>.git </a:t>
            </a:r>
            <a:r>
              <a:rPr lang="en-US" sz="1950" dirty="0">
                <a:solidFill>
                  <a:srgbClr val="000000"/>
                </a:solidFill>
                <a:latin typeface="+mn-lt"/>
                <a:ea typeface="+mn-ea"/>
                <a:cs typeface="+mn-cs"/>
              </a:rPr>
              <a:t>folder in the project.</a:t>
            </a:r>
            <a:endParaRPr lang="en-US" sz="1950" dirty="0"/>
          </a:p>
        </p:txBody>
      </p:sp>
      <p:sp xmlns:p="http://schemas.openxmlformats.org/presentationml/2006/main" xmlns:a="http://schemas.openxmlformats.org/drawingml/2006/main" xmlns:r="http://schemas.openxmlformats.org/officeDocument/2006/relationships">
        <p:nvSpPr>
          <p:cNvPr id="18" name="Shape 30"/>
          <p:cNvSpPr/>
          <p:nvPr/>
        </p:nvSpPr>
        <p:spPr>
          <a:xfrm>
            <a:off x="5778500" y="3175000"/>
            <a:ext cx="3740150" cy="5715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9" name="Text 31"/>
          <p:cNvSpPr/>
          <p:nvPr/>
        </p:nvSpPr>
        <p:spPr>
          <a:xfrm>
            <a:off x="577850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GitHub</a:t>
            </a:r>
            <a:endParaRPr lang="en-US" sz="2250" dirty="0"/>
          </a:p>
        </p:txBody>
      </p:sp>
      <p:sp xmlns:p="http://schemas.openxmlformats.org/presentationml/2006/main" xmlns:a="http://schemas.openxmlformats.org/drawingml/2006/main" xmlns:r="http://schemas.openxmlformats.org/officeDocument/2006/relationships">
        <p:nvSpPr>
          <p:cNvPr id="20" name="Text 32"/>
          <p:cNvSpPr/>
          <p:nvPr/>
        </p:nvSpPr>
        <p:spPr>
          <a:xfrm>
            <a:off x="5778500" y="3898900"/>
            <a:ext cx="3852355" cy="142478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A website that hosts repos. Adds sharing, pull requests, and access control. Coding agents connect here.</a:t>
            </a:r>
            <a:endParaRPr lang="en-US" sz="1950" dirty="0"/>
          </a:p>
        </p:txBody>
      </p:sp>
      <p:sp xmlns:p="http://schemas.openxmlformats.org/presentationml/2006/main" xmlns:a="http://schemas.openxmlformats.org/drawingml/2006/main" xmlns:r="http://schemas.openxmlformats.org/officeDocument/2006/relationships">
        <p:nvSpPr>
          <p:cNvPr id="21" name="Shape 33"/>
          <p:cNvSpPr/>
          <p:nvPr/>
        </p:nvSpPr>
        <p:spPr>
          <a:xfrm>
            <a:off x="9747250" y="3175000"/>
            <a:ext cx="3740150" cy="57150"/>
          </a:xfrm>
          <a:prstGeom prst="rect">
            <a:avLst/>
          </a:prstGeom>
          <a:solidFill>
            <a:srgbClr val="00B0F0"/>
          </a:solidFill>
          <a:ln/>
        </p:spPr>
      </p:sp>
      <p:sp xmlns:p="http://schemas.openxmlformats.org/presentationml/2006/main" xmlns:a="http://schemas.openxmlformats.org/drawingml/2006/main" xmlns:r="http://schemas.openxmlformats.org/officeDocument/2006/relationships">
        <p:nvSpPr>
          <p:cNvPr id="22" name="Text 34"/>
          <p:cNvSpPr/>
          <p:nvPr/>
        </p:nvSpPr>
        <p:spPr>
          <a:xfrm>
            <a:off x="974725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mn-lt"/>
                <a:ea typeface="+mn-ea"/>
                <a:cs typeface="+mn-cs"/>
              </a:rPr>
              <a:t>GitHub Desktop</a:t>
            </a:r>
            <a:endParaRPr lang="en-US" sz="2250" dirty="0"/>
          </a:p>
        </p:txBody>
      </p:sp>
      <p:sp xmlns:p="http://schemas.openxmlformats.org/presentationml/2006/main" xmlns:a="http://schemas.openxmlformats.org/drawingml/2006/main" xmlns:r="http://schemas.openxmlformats.org/officeDocument/2006/relationships">
        <p:nvSpPr>
          <p:cNvPr id="23" name="Text 35"/>
          <p:cNvSpPr/>
          <p:nvPr/>
        </p:nvSpPr>
        <p:spPr>
          <a:xfrm>
            <a:off x="9747250" y="3898900"/>
            <a:ext cx="3852355" cy="107811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A free app with buttons for Git commands. Links your local repo to GitHub.</a:t>
            </a:r>
            <a:endParaRPr lang="en-US" sz="1950" dirty="0"/>
          </a:p>
        </p:txBody>
      </p:sp>
      <p:sp xmlns:p="http://schemas.openxmlformats.org/presentationml/2006/main" xmlns:a="http://schemas.openxmlformats.org/drawingml/2006/main" xmlns:r="http://schemas.openxmlformats.org/officeDocument/2006/relationships">
        <p:nvSpPr>
          <p:cNvPr id="24" name="Text 36"/>
          <p:cNvSpPr/>
          <p:nvPr/>
        </p:nvSpPr>
        <p:spPr>
          <a:xfrm>
            <a:off x="1809750" y="5628481"/>
            <a:ext cx="12845415" cy="368300"/>
          </a:xfrm>
          <a:prstGeom prst="rect">
            <a:avLst/>
          </a:prstGeom>
          <a:noFill/>
          <a:ln/>
        </p:spPr>
        <p:txBody>
          <a:bodyPr wrap="square" lIns="25400" tIns="25400" rIns="25400" bIns="25400" rtlCol="0" anchor="t">
            <a:normAutofit/>
          </a:bodyPr>
          <a:lstStyle/>
          <a:p>
            <a:pPr algn="l" indent="0" marL="0">
              <a:buNone/>
            </a:pPr>
            <a:r>
              <a:rPr lang="en-US" sz="1950" dirty="0">
                <a:solidFill>
                  <a:srgbClr val="404040"/>
                </a:solidFill>
                <a:latin typeface="+mn-lt"/>
                <a:ea typeface="+mn-ea"/>
                <a:cs typeface="+mn-cs"/>
              </a:rPr>
              <a:t>Git works offline. GitHub is only needed to share or back up your work.</a:t>
            </a:r>
            <a:endParaRPr lang="en-US" sz="195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Key Terms</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25717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Term</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4381500" y="1571625"/>
            <a:ext cx="53911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4552950" y="172402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Meaning</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9772650" y="1571625"/>
            <a:ext cx="37147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8" name="Text 20"/>
          <p:cNvSpPr/>
          <p:nvPr/>
        </p:nvSpPr>
        <p:spPr>
          <a:xfrm>
            <a:off x="9944100" y="172402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GitHub Desktop</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1809750" y="2743200"/>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1981200" y="2309813"/>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Repository</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4381500" y="2743200"/>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4552950" y="2309813"/>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project folder whose full history Git tracks</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9772650" y="2743200"/>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9944100" y="2309813"/>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New / Add / Clone repository</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3319463"/>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288607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Clone</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4381500" y="3319463"/>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4552950" y="288607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Download a repo from GitHub, with its history</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9772650" y="3319463"/>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9944100" y="288607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File › Clone repository</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1809750" y="3895725"/>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1981200" y="3462337"/>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Commit</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4381500" y="3895725"/>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4552950" y="3462337"/>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saved snapshot of changes, with a message</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9772650" y="3895725"/>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9944100" y="3462337"/>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Commit to &lt;branch&gt;</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4471988"/>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81200" y="4038600"/>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Push</a:t>
            </a:r>
            <a:endParaRPr lang="en-US" sz="1875" dirty="0"/>
          </a:p>
        </p:txBody>
      </p:sp>
      <p:sp xmlns:p="http://schemas.openxmlformats.org/presentationml/2006/main" xmlns:a="http://schemas.openxmlformats.org/drawingml/2006/main" xmlns:r="http://schemas.openxmlformats.org/officeDocument/2006/relationships">
        <p:nvSpPr>
          <p:cNvPr id="29" name="Shape 41"/>
          <p:cNvSpPr/>
          <p:nvPr/>
        </p:nvSpPr>
        <p:spPr>
          <a:xfrm>
            <a:off x="4381500" y="4471988"/>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0" name="Text 42"/>
          <p:cNvSpPr/>
          <p:nvPr/>
        </p:nvSpPr>
        <p:spPr>
          <a:xfrm>
            <a:off x="4552950" y="4038600"/>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Send your commits to GitHub</a:t>
            </a:r>
            <a:endParaRPr lang="en-US" sz="1875" dirty="0"/>
          </a:p>
        </p:txBody>
      </p:sp>
      <p:sp xmlns:p="http://schemas.openxmlformats.org/presentationml/2006/main" xmlns:a="http://schemas.openxmlformats.org/drawingml/2006/main" xmlns:r="http://schemas.openxmlformats.org/officeDocument/2006/relationships">
        <p:nvSpPr>
          <p:cNvPr id="31" name="Shape 43"/>
          <p:cNvSpPr/>
          <p:nvPr/>
        </p:nvSpPr>
        <p:spPr>
          <a:xfrm>
            <a:off x="9772650" y="4471988"/>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2" name="Text 44"/>
          <p:cNvSpPr/>
          <p:nvPr/>
        </p:nvSpPr>
        <p:spPr>
          <a:xfrm>
            <a:off x="9944100" y="4038600"/>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Push origin</a:t>
            </a:r>
            <a:endParaRPr lang="en-US" sz="1875" dirty="0"/>
          </a:p>
        </p:txBody>
      </p:sp>
      <p:sp xmlns:p="http://schemas.openxmlformats.org/presentationml/2006/main" xmlns:a="http://schemas.openxmlformats.org/drawingml/2006/main" xmlns:r="http://schemas.openxmlformats.org/officeDocument/2006/relationships">
        <p:nvSpPr>
          <p:cNvPr id="33" name="Shape 45"/>
          <p:cNvSpPr/>
          <p:nvPr/>
        </p:nvSpPr>
        <p:spPr>
          <a:xfrm>
            <a:off x="1809750" y="5048250"/>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4" name="Text 46"/>
          <p:cNvSpPr/>
          <p:nvPr/>
        </p:nvSpPr>
        <p:spPr>
          <a:xfrm>
            <a:off x="1981200" y="4614863"/>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Fetch / Pull</a:t>
            </a:r>
            <a:endParaRPr lang="en-US" sz="1875" dirty="0"/>
          </a:p>
        </p:txBody>
      </p:sp>
      <p:sp xmlns:p="http://schemas.openxmlformats.org/presentationml/2006/main" xmlns:a="http://schemas.openxmlformats.org/drawingml/2006/main" xmlns:r="http://schemas.openxmlformats.org/officeDocument/2006/relationships">
        <p:nvSpPr>
          <p:cNvPr id="35" name="Shape 47"/>
          <p:cNvSpPr/>
          <p:nvPr/>
        </p:nvSpPr>
        <p:spPr>
          <a:xfrm>
            <a:off x="4381500" y="5048250"/>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6" name="Text 48"/>
          <p:cNvSpPr/>
          <p:nvPr/>
        </p:nvSpPr>
        <p:spPr>
          <a:xfrm>
            <a:off x="4552950" y="4614863"/>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Check for / download commits from GitHub</a:t>
            </a:r>
            <a:endParaRPr lang="en-US" sz="1875" dirty="0"/>
          </a:p>
        </p:txBody>
      </p:sp>
      <p:sp xmlns:p="http://schemas.openxmlformats.org/presentationml/2006/main" xmlns:a="http://schemas.openxmlformats.org/drawingml/2006/main" xmlns:r="http://schemas.openxmlformats.org/officeDocument/2006/relationships">
        <p:nvSpPr>
          <p:cNvPr id="37" name="Shape 49"/>
          <p:cNvSpPr/>
          <p:nvPr/>
        </p:nvSpPr>
        <p:spPr>
          <a:xfrm>
            <a:off x="9772650" y="5048250"/>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8" name="Text 50"/>
          <p:cNvSpPr/>
          <p:nvPr/>
        </p:nvSpPr>
        <p:spPr>
          <a:xfrm>
            <a:off x="9944100" y="4614863"/>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Fetch origin / Pull origin</a:t>
            </a:r>
            <a:endParaRPr lang="en-US" sz="1875" dirty="0"/>
          </a:p>
        </p:txBody>
      </p:sp>
      <p:sp xmlns:p="http://schemas.openxmlformats.org/presentationml/2006/main" xmlns:a="http://schemas.openxmlformats.org/drawingml/2006/main" xmlns:r="http://schemas.openxmlformats.org/officeDocument/2006/relationships">
        <p:nvSpPr>
          <p:cNvPr id="39" name="Shape 51"/>
          <p:cNvSpPr/>
          <p:nvPr/>
        </p:nvSpPr>
        <p:spPr>
          <a:xfrm>
            <a:off x="1809750" y="5624513"/>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0" name="Text 52"/>
          <p:cNvSpPr/>
          <p:nvPr/>
        </p:nvSpPr>
        <p:spPr>
          <a:xfrm>
            <a:off x="1981200" y="519112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Branch</a:t>
            </a:r>
            <a:endParaRPr lang="en-US" sz="1875" dirty="0"/>
          </a:p>
        </p:txBody>
      </p:sp>
      <p:sp xmlns:p="http://schemas.openxmlformats.org/presentationml/2006/main" xmlns:a="http://schemas.openxmlformats.org/drawingml/2006/main" xmlns:r="http://schemas.openxmlformats.org/officeDocument/2006/relationships">
        <p:nvSpPr>
          <p:cNvPr id="41" name="Shape 53"/>
          <p:cNvSpPr/>
          <p:nvPr/>
        </p:nvSpPr>
        <p:spPr>
          <a:xfrm>
            <a:off x="4381500" y="5624513"/>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2" name="Text 54"/>
          <p:cNvSpPr/>
          <p:nvPr/>
        </p:nvSpPr>
        <p:spPr>
          <a:xfrm>
            <a:off x="4552950" y="519112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separate line of commits; main is the default</a:t>
            </a:r>
            <a:endParaRPr lang="en-US" sz="1875" dirty="0"/>
          </a:p>
        </p:txBody>
      </p:sp>
      <p:sp xmlns:p="http://schemas.openxmlformats.org/presentationml/2006/main" xmlns:a="http://schemas.openxmlformats.org/drawingml/2006/main" xmlns:r="http://schemas.openxmlformats.org/officeDocument/2006/relationships">
        <p:nvSpPr>
          <p:cNvPr id="43" name="Shape 55"/>
          <p:cNvSpPr/>
          <p:nvPr/>
        </p:nvSpPr>
        <p:spPr>
          <a:xfrm>
            <a:off x="9772650" y="5624513"/>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4" name="Text 56"/>
          <p:cNvSpPr/>
          <p:nvPr/>
        </p:nvSpPr>
        <p:spPr>
          <a:xfrm>
            <a:off x="9944100" y="519112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Current branch menu</a:t>
            </a:r>
            <a:endParaRPr lang="en-US" sz="1875" dirty="0"/>
          </a:p>
        </p:txBody>
      </p:sp>
      <p:sp xmlns:p="http://schemas.openxmlformats.org/presentationml/2006/main" xmlns:a="http://schemas.openxmlformats.org/drawingml/2006/main" xmlns:r="http://schemas.openxmlformats.org/officeDocument/2006/relationships">
        <p:nvSpPr>
          <p:cNvPr id="45" name="Shape 57"/>
          <p:cNvSpPr/>
          <p:nvPr/>
        </p:nvSpPr>
        <p:spPr>
          <a:xfrm>
            <a:off x="1809750" y="6200775"/>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6" name="Text 58"/>
          <p:cNvSpPr/>
          <p:nvPr/>
        </p:nvSpPr>
        <p:spPr>
          <a:xfrm>
            <a:off x="1981200" y="5767388"/>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Diff</a:t>
            </a:r>
            <a:endParaRPr lang="en-US" sz="1875" dirty="0"/>
          </a:p>
        </p:txBody>
      </p:sp>
      <p:sp xmlns:p="http://schemas.openxmlformats.org/presentationml/2006/main" xmlns:a="http://schemas.openxmlformats.org/drawingml/2006/main" xmlns:r="http://schemas.openxmlformats.org/officeDocument/2006/relationships">
        <p:nvSpPr>
          <p:cNvPr id="47" name="Shape 59"/>
          <p:cNvSpPr/>
          <p:nvPr/>
        </p:nvSpPr>
        <p:spPr>
          <a:xfrm>
            <a:off x="4381500" y="6200775"/>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8" name="Text 60"/>
          <p:cNvSpPr/>
          <p:nvPr/>
        </p:nvSpPr>
        <p:spPr>
          <a:xfrm>
            <a:off x="4552950" y="5767388"/>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Line-by-line changes: + added, − removed</a:t>
            </a:r>
            <a:endParaRPr lang="en-US" sz="1875" dirty="0"/>
          </a:p>
        </p:txBody>
      </p:sp>
      <p:sp xmlns:p="http://schemas.openxmlformats.org/presentationml/2006/main" xmlns:a="http://schemas.openxmlformats.org/drawingml/2006/main" xmlns:r="http://schemas.openxmlformats.org/officeDocument/2006/relationships">
        <p:nvSpPr>
          <p:cNvPr id="49" name="Shape 61"/>
          <p:cNvSpPr/>
          <p:nvPr/>
        </p:nvSpPr>
        <p:spPr>
          <a:xfrm>
            <a:off x="9772650" y="6200775"/>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0" name="Text 62"/>
          <p:cNvSpPr/>
          <p:nvPr/>
        </p:nvSpPr>
        <p:spPr>
          <a:xfrm>
            <a:off x="9944100" y="5767388"/>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Changes tab / History tab</a:t>
            </a:r>
            <a:endParaRPr lang="en-US" sz="1875" dirty="0"/>
          </a:p>
        </p:txBody>
      </p:sp>
      <p:sp xmlns:p="http://schemas.openxmlformats.org/presentationml/2006/main" xmlns:a="http://schemas.openxmlformats.org/drawingml/2006/main" xmlns:r="http://schemas.openxmlformats.org/officeDocument/2006/relationships">
        <p:nvSpPr>
          <p:cNvPr id="51" name="Shape 63"/>
          <p:cNvSpPr/>
          <p:nvPr/>
        </p:nvSpPr>
        <p:spPr>
          <a:xfrm>
            <a:off x="1809750" y="7086600"/>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2" name="Text 64"/>
          <p:cNvSpPr/>
          <p:nvPr/>
        </p:nvSpPr>
        <p:spPr>
          <a:xfrm>
            <a:off x="1981200" y="6343650"/>
            <a:ext cx="230600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Pull request</a:t>
            </a:r>
            <a:endParaRPr lang="en-US" sz="1875" dirty="0"/>
          </a:p>
        </p:txBody>
      </p:sp>
      <p:sp xmlns:p="http://schemas.openxmlformats.org/presentationml/2006/main" xmlns:a="http://schemas.openxmlformats.org/drawingml/2006/main" xmlns:r="http://schemas.openxmlformats.org/officeDocument/2006/relationships">
        <p:nvSpPr>
          <p:cNvPr id="53" name="Shape 65"/>
          <p:cNvSpPr/>
          <p:nvPr/>
        </p:nvSpPr>
        <p:spPr>
          <a:xfrm>
            <a:off x="4381500" y="7086600"/>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4" name="Text 66"/>
          <p:cNvSpPr/>
          <p:nvPr/>
        </p:nvSpPr>
        <p:spPr>
          <a:xfrm>
            <a:off x="4552950" y="6343650"/>
            <a:ext cx="5209985"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 request on GitHub to review and merge one branch into another</a:t>
            </a:r>
            <a:endParaRPr lang="en-US" sz="1875" dirty="0"/>
          </a:p>
        </p:txBody>
      </p:sp>
      <p:sp xmlns:p="http://schemas.openxmlformats.org/presentationml/2006/main" xmlns:a="http://schemas.openxmlformats.org/drawingml/2006/main" xmlns:r="http://schemas.openxmlformats.org/officeDocument/2006/relationships">
        <p:nvSpPr>
          <p:cNvPr id="55" name="Shape 67"/>
          <p:cNvSpPr/>
          <p:nvPr/>
        </p:nvSpPr>
        <p:spPr>
          <a:xfrm>
            <a:off x="9772650" y="7086600"/>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6" name="Text 68"/>
          <p:cNvSpPr/>
          <p:nvPr/>
        </p:nvSpPr>
        <p:spPr>
          <a:xfrm>
            <a:off x="9944100" y="6343650"/>
            <a:ext cx="348329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Create Pull Request</a:t>
            </a:r>
            <a:endParaRPr lang="en-US" sz="1875" dirty="0"/>
          </a:p>
        </p:txBody>
      </p:sp>
      <p:sp xmlns:p="http://schemas.openxmlformats.org/presentationml/2006/main" xmlns:a="http://schemas.openxmlformats.org/drawingml/2006/main" xmlns:r="http://schemas.openxmlformats.org/officeDocument/2006/relationships">
        <p:nvSpPr>
          <p:cNvPr id="57" name="Shape 69"/>
          <p:cNvSpPr/>
          <p:nvPr/>
        </p:nvSpPr>
        <p:spPr>
          <a:xfrm>
            <a:off x="1809750" y="7972425"/>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8" name="Text 70"/>
          <p:cNvSpPr/>
          <p:nvPr/>
        </p:nvSpPr>
        <p:spPr>
          <a:xfrm>
            <a:off x="1981200" y="7229475"/>
            <a:ext cx="230600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Merge conflict</a:t>
            </a:r>
            <a:endParaRPr lang="en-US" sz="1875" dirty="0"/>
          </a:p>
        </p:txBody>
      </p:sp>
      <p:sp xmlns:p="http://schemas.openxmlformats.org/presentationml/2006/main" xmlns:a="http://schemas.openxmlformats.org/drawingml/2006/main" xmlns:r="http://schemas.openxmlformats.org/officeDocument/2006/relationships">
        <p:nvSpPr>
          <p:cNvPr id="59" name="Shape 71"/>
          <p:cNvSpPr/>
          <p:nvPr/>
        </p:nvSpPr>
        <p:spPr>
          <a:xfrm>
            <a:off x="4381500" y="7972425"/>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0" name="Text 72"/>
          <p:cNvSpPr/>
          <p:nvPr/>
        </p:nvSpPr>
        <p:spPr>
          <a:xfrm>
            <a:off x="4552950" y="7229475"/>
            <a:ext cx="5209985"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Two commits changed the same lines; you choose the result</a:t>
            </a:r>
            <a:endParaRPr lang="en-US" sz="1875" dirty="0"/>
          </a:p>
        </p:txBody>
      </p:sp>
      <p:sp xmlns:p="http://schemas.openxmlformats.org/presentationml/2006/main" xmlns:a="http://schemas.openxmlformats.org/drawingml/2006/main" xmlns:r="http://schemas.openxmlformats.org/officeDocument/2006/relationships">
        <p:nvSpPr>
          <p:cNvPr id="61" name="Shape 73"/>
          <p:cNvSpPr/>
          <p:nvPr/>
        </p:nvSpPr>
        <p:spPr>
          <a:xfrm>
            <a:off x="9772650" y="7972425"/>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2" name="Text 74"/>
          <p:cNvSpPr/>
          <p:nvPr/>
        </p:nvSpPr>
        <p:spPr>
          <a:xfrm>
            <a:off x="9944100" y="7229475"/>
            <a:ext cx="348329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Resolve conflicts dialog</a:t>
            </a:r>
            <a:endParaRPr lang="en-US" sz="1875" dirty="0"/>
          </a:p>
        </p:txBody>
      </p:sp>
      <p:sp xmlns:p="http://schemas.openxmlformats.org/presentationml/2006/main" xmlns:a="http://schemas.openxmlformats.org/drawingml/2006/main" xmlns:r="http://schemas.openxmlformats.org/officeDocument/2006/relationships">
        <p:nvSpPr>
          <p:cNvPr id="63" name="Shape 75"/>
          <p:cNvSpPr/>
          <p:nvPr/>
        </p:nvSpPr>
        <p:spPr>
          <a:xfrm>
            <a:off x="1809750" y="8548688"/>
            <a:ext cx="2571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4" name="Text 76"/>
          <p:cNvSpPr/>
          <p:nvPr/>
        </p:nvSpPr>
        <p:spPr>
          <a:xfrm>
            <a:off x="1981200" y="8115300"/>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Origin</a:t>
            </a:r>
            <a:endParaRPr lang="en-US" sz="1875" dirty="0"/>
          </a:p>
        </p:txBody>
      </p:sp>
      <p:sp xmlns:p="http://schemas.openxmlformats.org/presentationml/2006/main" xmlns:a="http://schemas.openxmlformats.org/drawingml/2006/main" xmlns:r="http://schemas.openxmlformats.org/officeDocument/2006/relationships">
        <p:nvSpPr>
          <p:cNvPr id="65" name="Shape 77"/>
          <p:cNvSpPr/>
          <p:nvPr/>
        </p:nvSpPr>
        <p:spPr>
          <a:xfrm>
            <a:off x="4381500" y="8548688"/>
            <a:ext cx="53911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6" name="Text 78"/>
          <p:cNvSpPr/>
          <p:nvPr/>
        </p:nvSpPr>
        <p:spPr>
          <a:xfrm>
            <a:off x="4552950" y="8115300"/>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The name for the GitHub copy of your repo</a:t>
            </a:r>
            <a:endParaRPr lang="en-US" sz="1875" dirty="0"/>
          </a:p>
        </p:txBody>
      </p:sp>
      <p:sp xmlns:p="http://schemas.openxmlformats.org/presentationml/2006/main" xmlns:a="http://schemas.openxmlformats.org/drawingml/2006/main" xmlns:r="http://schemas.openxmlformats.org/officeDocument/2006/relationships">
        <p:nvSpPr>
          <p:cNvPr id="67" name="Shape 79"/>
          <p:cNvSpPr/>
          <p:nvPr/>
        </p:nvSpPr>
        <p:spPr>
          <a:xfrm>
            <a:off x="9772650" y="8548688"/>
            <a:ext cx="37147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8" name="Text 80"/>
          <p:cNvSpPr/>
          <p:nvPr/>
        </p:nvSpPr>
        <p:spPr>
          <a:xfrm>
            <a:off x="9944100" y="8115300"/>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Shown on the sync button</a:t>
            </a:r>
            <a:endParaRPr lang="en-US" sz="1875" dirty="0"/>
          </a:p>
        </p:txBody>
      </p:sp>
      <p:sp xmlns:p="http://schemas.openxmlformats.org/presentationml/2006/main" xmlns:a="http://schemas.openxmlformats.org/drawingml/2006/main" xmlns:r="http://schemas.openxmlformats.org/officeDocument/2006/relationships">
        <p:nvSpPr>
          <p:cNvPr id="69"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7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7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Why This Matters for Agents</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027980" cy="784820"/>
          </a:xfrm>
          <a:prstGeom prst="rect">
            <a:avLst/>
          </a:prstGeom>
          <a:noFill/>
          <a:ln/>
        </p:spPr>
        <p:txBody>
          <a:bodyPr wrap="square" lIns="25400" tIns="25400" rIns="25400" bIns="25400" rtlCol="0" anchor="t">
            <a:normAutofit/>
          </a:bodyPr>
          <a:lstStyle/>
          <a:p>
            <a:pPr algn="l" indent="0" marL="0">
              <a:lnSpc>
                <a:spcPct val="105000"/>
              </a:lnSpc>
              <a:buNone/>
            </a:pPr>
            <a:r>
              <a:rPr lang="en-US" sz="2100" dirty="0">
                <a:solidFill>
                  <a:srgbClr val="000000"/>
                </a:solidFill>
                <a:latin typeface="+mn-lt"/>
                <a:ea typeface="+mn-ea"/>
                <a:cs typeface="+mn-cs"/>
              </a:rPr>
              <a:t>A cloud coding agent such as ChatGPT Codex works from your GitHub repo, not your laptop. The loop looks like this:</a:t>
            </a:r>
            <a:endParaRPr lang="en-US" sz="210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651720"/>
            <a:ext cx="2244030" cy="26098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5" name="Text 17"/>
          <p:cNvSpPr/>
          <p:nvPr/>
        </p:nvSpPr>
        <p:spPr>
          <a:xfrm>
            <a:off x="1981200"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mn-lt"/>
                <a:ea typeface="+mn-ea"/>
                <a:cs typeface="+mn-cs"/>
              </a:rPr>
              <a:t>1</a:t>
            </a:r>
            <a:endParaRPr lang="en-US" sz="2550" dirty="0"/>
          </a:p>
        </p:txBody>
      </p:sp>
      <p:sp xmlns:p="http://schemas.openxmlformats.org/presentationml/2006/main" xmlns:a="http://schemas.openxmlformats.org/drawingml/2006/main" xmlns:r="http://schemas.openxmlformats.org/officeDocument/2006/relationships">
        <p:nvSpPr>
          <p:cNvPr id="6" name="Text 18"/>
          <p:cNvSpPr/>
          <p:nvPr/>
        </p:nvSpPr>
        <p:spPr>
          <a:xfrm>
            <a:off x="1981200" y="3388321"/>
            <a:ext cx="1977330"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mn-lt"/>
                <a:ea typeface="+mn-ea"/>
                <a:cs typeface="+mn-cs"/>
              </a:rPr>
              <a:t>You push the repo to GitHub</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4168080" y="2651720"/>
            <a:ext cx="2244130" cy="260985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8" name="Text 20"/>
          <p:cNvSpPr/>
          <p:nvPr/>
        </p:nvSpPr>
        <p:spPr>
          <a:xfrm>
            <a:off x="4339530" y="2861270"/>
            <a:ext cx="2091353"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1F6FB2"/>
                </a:solidFill>
                <a:latin typeface="+mn-lt"/>
                <a:ea typeface="+mn-ea"/>
                <a:cs typeface="+mn-cs"/>
              </a:rPr>
              <a:t>2</a:t>
            </a:r>
            <a:endParaRPr lang="en-US" sz="2550" dirty="0"/>
          </a:p>
        </p:txBody>
      </p:sp>
      <p:sp xmlns:p="http://schemas.openxmlformats.org/presentationml/2006/main" xmlns:a="http://schemas.openxmlformats.org/drawingml/2006/main" xmlns:r="http://schemas.openxmlformats.org/officeDocument/2006/relationships">
        <p:nvSpPr>
          <p:cNvPr id="9" name="Text 21"/>
          <p:cNvSpPr/>
          <p:nvPr/>
        </p:nvSpPr>
        <p:spPr>
          <a:xfrm>
            <a:off x="4339530" y="3388321"/>
            <a:ext cx="19774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Agent reads the repo in its sandbox</a:t>
            </a:r>
            <a:endParaRPr lang="en-US" sz="1875" dirty="0"/>
          </a:p>
        </p:txBody>
      </p:sp>
      <p:sp xmlns:p="http://schemas.openxmlformats.org/presentationml/2006/main" xmlns:a="http://schemas.openxmlformats.org/drawingml/2006/main" xmlns:r="http://schemas.openxmlformats.org/officeDocument/2006/relationships">
        <p:nvSpPr>
          <p:cNvPr id="10" name="Shape 22"/>
          <p:cNvSpPr/>
          <p:nvPr/>
        </p:nvSpPr>
        <p:spPr>
          <a:xfrm>
            <a:off x="6526510" y="2651720"/>
            <a:ext cx="2244030" cy="260985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1" name="Text 23"/>
          <p:cNvSpPr/>
          <p:nvPr/>
        </p:nvSpPr>
        <p:spPr>
          <a:xfrm>
            <a:off x="6697960"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1F6FB2"/>
                </a:solidFill>
                <a:latin typeface="+mn-lt"/>
                <a:ea typeface="+mn-ea"/>
                <a:cs typeface="+mn-cs"/>
              </a:rPr>
              <a:t>3</a:t>
            </a:r>
            <a:endParaRPr lang="en-US" sz="2550" dirty="0"/>
          </a:p>
        </p:txBody>
      </p:sp>
      <p:sp xmlns:p="http://schemas.openxmlformats.org/presentationml/2006/main" xmlns:a="http://schemas.openxmlformats.org/drawingml/2006/main" xmlns:r="http://schemas.openxmlformats.org/officeDocument/2006/relationships">
        <p:nvSpPr>
          <p:cNvPr id="12" name="Text 24"/>
          <p:cNvSpPr/>
          <p:nvPr/>
        </p:nvSpPr>
        <p:spPr>
          <a:xfrm>
            <a:off x="6697960" y="3388321"/>
            <a:ext cx="19773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Agent commits to a branch and opens a PR</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8884841" y="2651720"/>
            <a:ext cx="2244130" cy="26098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4" name="Text 26"/>
          <p:cNvSpPr/>
          <p:nvPr/>
        </p:nvSpPr>
        <p:spPr>
          <a:xfrm>
            <a:off x="9056291" y="2861270"/>
            <a:ext cx="2091353"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mn-lt"/>
                <a:ea typeface="+mn-ea"/>
                <a:cs typeface="+mn-cs"/>
              </a:rPr>
              <a:t>4</a:t>
            </a:r>
            <a:endParaRPr lang="en-US" sz="2550" dirty="0"/>
          </a:p>
        </p:txBody>
      </p:sp>
      <p:sp xmlns:p="http://schemas.openxmlformats.org/presentationml/2006/main" xmlns:a="http://schemas.openxmlformats.org/drawingml/2006/main" xmlns:r="http://schemas.openxmlformats.org/officeDocument/2006/relationships">
        <p:nvSpPr>
          <p:cNvPr id="15" name="Text 27"/>
          <p:cNvSpPr/>
          <p:nvPr/>
        </p:nvSpPr>
        <p:spPr>
          <a:xfrm>
            <a:off x="9056291" y="3388321"/>
            <a:ext cx="19774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mn-lt"/>
                <a:ea typeface="+mn-ea"/>
                <a:cs typeface="+mn-cs"/>
              </a:rPr>
              <a:t>You review the diff, test, and merge</a:t>
            </a:r>
            <a:endParaRPr lang="en-US" sz="1875" dirty="0"/>
          </a:p>
        </p:txBody>
      </p:sp>
      <p:sp xmlns:p="http://schemas.openxmlformats.org/presentationml/2006/main" xmlns:a="http://schemas.openxmlformats.org/drawingml/2006/main" xmlns:r="http://schemas.openxmlformats.org/officeDocument/2006/relationships">
        <p:nvSpPr>
          <p:cNvPr id="16" name="Shape 28"/>
          <p:cNvSpPr/>
          <p:nvPr/>
        </p:nvSpPr>
        <p:spPr>
          <a:xfrm>
            <a:off x="11243271" y="2651720"/>
            <a:ext cx="2244030" cy="26098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7" name="Text 29"/>
          <p:cNvSpPr/>
          <p:nvPr/>
        </p:nvSpPr>
        <p:spPr>
          <a:xfrm>
            <a:off x="11414721"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mn-lt"/>
                <a:ea typeface="+mn-ea"/>
                <a:cs typeface="+mn-cs"/>
              </a:rPr>
              <a:t>5</a:t>
            </a:r>
            <a:endParaRPr lang="en-US" sz="2550" dirty="0"/>
          </a:p>
        </p:txBody>
      </p:sp>
      <p:sp xmlns:p="http://schemas.openxmlformats.org/presentationml/2006/main" xmlns:a="http://schemas.openxmlformats.org/drawingml/2006/main" xmlns:r="http://schemas.openxmlformats.org/officeDocument/2006/relationships">
        <p:nvSpPr>
          <p:cNvPr id="18" name="Text 30"/>
          <p:cNvSpPr/>
          <p:nvPr/>
        </p:nvSpPr>
        <p:spPr>
          <a:xfrm>
            <a:off x="11414721" y="3388321"/>
            <a:ext cx="1977330"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mn-lt"/>
                <a:ea typeface="+mn-ea"/>
                <a:cs typeface="+mn-cs"/>
              </a:rPr>
              <a:t>You pull the result to your laptop</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1809750" y="5594946"/>
            <a:ext cx="209550" cy="20955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20" name="Text 32"/>
          <p:cNvSpPr/>
          <p:nvPr/>
        </p:nvSpPr>
        <p:spPr>
          <a:xfrm>
            <a:off x="2114550" y="5547321"/>
            <a:ext cx="3008426" cy="342900"/>
          </a:xfrm>
          <a:prstGeom prst="rect">
            <a:avLst/>
          </a:prstGeom>
          <a:noFill/>
          <a:ln/>
        </p:spPr>
        <p:txBody>
          <a:bodyPr wrap="square" lIns="0" tIns="0" rIns="0" bIns="0" rtlCol="0" anchor="t">
            <a:normAutofit/>
          </a:bodyPr>
          <a:lstStyle/>
          <a:p>
            <a:pPr algn="l" indent="0" marL="0">
              <a:buNone/>
            </a:pPr>
            <a:r>
              <a:rPr lang="en-US" sz="1800" dirty="0">
                <a:solidFill>
                  <a:srgbClr val="404040"/>
                </a:solidFill>
                <a:latin typeface="+mn-lt"/>
                <a:ea typeface="+mn-ea"/>
                <a:cs typeface="+mn-cs"/>
              </a:rPr>
              <a:t>Your steps (today's exercises)</a:t>
            </a:r>
            <a:endParaRPr lang="en-US" sz="1800" dirty="0"/>
          </a:p>
        </p:txBody>
      </p:sp>
      <p:sp xmlns:p="http://schemas.openxmlformats.org/presentationml/2006/main" xmlns:a="http://schemas.openxmlformats.org/drawingml/2006/main" xmlns:r="http://schemas.openxmlformats.org/officeDocument/2006/relationships">
        <p:nvSpPr>
          <p:cNvPr id="21" name="Shape 33"/>
          <p:cNvSpPr/>
          <p:nvPr/>
        </p:nvSpPr>
        <p:spPr>
          <a:xfrm>
            <a:off x="5302052" y="5588596"/>
            <a:ext cx="222250" cy="222250"/>
          </a:xfrm>
          <a:prstGeom prst="rect">
            <a:avLst/>
          </a:prstGeom>
          <a:solidFill>
            <a:srgbClr val="F2F2F2"/>
          </a:solidFill>
          <a:ln w="6350">
            <a:solidFill>
              <a:srgbClr val="BFBFBF"/>
            </a:solidFill>
            <a:prstDash val="solid"/>
          </a:ln>
        </p:spPr>
      </p:sp>
      <p:sp xmlns:p="http://schemas.openxmlformats.org/presentationml/2006/main" xmlns:a="http://schemas.openxmlformats.org/drawingml/2006/main" xmlns:r="http://schemas.openxmlformats.org/officeDocument/2006/relationships">
        <p:nvSpPr>
          <p:cNvPr id="22" name="Text 34"/>
          <p:cNvSpPr/>
          <p:nvPr/>
        </p:nvSpPr>
        <p:spPr>
          <a:xfrm>
            <a:off x="5619552" y="5547321"/>
            <a:ext cx="2343646" cy="342900"/>
          </a:xfrm>
          <a:prstGeom prst="rect">
            <a:avLst/>
          </a:prstGeom>
          <a:noFill/>
          <a:ln/>
        </p:spPr>
        <p:txBody>
          <a:bodyPr wrap="square" lIns="0" tIns="0" rIns="0" bIns="0" rtlCol="0" anchor="t">
            <a:normAutofit/>
          </a:bodyPr>
          <a:lstStyle/>
          <a:p>
            <a:pPr algn="l" indent="0" marL="0">
              <a:buNone/>
            </a:pPr>
            <a:r>
              <a:rPr lang="en-US" sz="1800" dirty="0">
                <a:solidFill>
                  <a:srgbClr val="404040"/>
                </a:solidFill>
                <a:latin typeface="+mn-lt"/>
                <a:ea typeface="+mn-ea"/>
                <a:cs typeface="+mn-cs"/>
              </a:rPr>
              <a:t>Agent steps (Lesson 2)</a:t>
            </a:r>
            <a:endParaRPr lang="en-US" sz="1800"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6137871"/>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809750" y="6404571"/>
            <a:ext cx="12027980" cy="438150"/>
          </a:xfrm>
          <a:prstGeom prst="rect">
            <a:avLst/>
          </a:prstGeom>
          <a:noFill/>
          <a:ln/>
        </p:spPr>
        <p:txBody>
          <a:bodyPr wrap="square" lIns="25400" tIns="25400" rIns="25400" bIns="25400" rtlCol="0" anchor="t">
            <a:normAutofit/>
          </a:bodyPr>
          <a:lstStyle/>
          <a:p>
            <a:pPr algn="l" indent="0" marL="0">
              <a:lnSpc>
                <a:spcPct val="105000"/>
              </a:lnSpc>
              <a:buNone/>
            </a:pPr>
            <a:r>
              <a:rPr lang="en-US" sz="2250" b="1" dirty="0">
                <a:solidFill>
                  <a:srgbClr val="000000"/>
                </a:solidFill>
                <a:latin typeface="+mn-lt"/>
                <a:ea typeface="+mn-ea"/>
                <a:cs typeface="+mn-cs"/>
              </a:rPr>
              <a:t>Every agent change arrives as a commit you can read, test, and revert.</a:t>
            </a:r>
            <a:endParaRPr lang="en-US" sz="225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1: Sign In &amp; Configure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5265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15265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Open GitHub Desktop.</a:t>
            </a:r>
            <a:endParaRPr lang="en-US" sz="202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278606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278606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File › Options › Accounts › </a:t>
            </a:r>
            <a:r>
              <a:rPr lang="en-US" sz="2025" b="1" dirty="0">
                <a:solidFill>
                  <a:srgbClr val="000000"/>
                </a:solidFill>
                <a:latin typeface="+mn-lt"/>
                <a:ea typeface="+mn-ea"/>
                <a:cs typeface="+mn-cs"/>
              </a:rPr>
              <a:t>Sign in </a:t>
            </a:r>
            <a:r>
              <a:rPr lang="en-US" sz="2025" dirty="0">
                <a:solidFill>
                  <a:srgbClr val="000000"/>
                </a:solidFill>
                <a:latin typeface="+mn-lt"/>
                <a:ea typeface="+mn-ea"/>
                <a:cs typeface="+mn-cs"/>
              </a:rPr>
              <a:t>to GitHub.com. Finish in the browser.</a:t>
            </a:r>
            <a:endParaRPr lang="en-US" sz="202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728045"/>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3728045"/>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Options › Git: confirm your </a:t>
            </a:r>
            <a:r>
              <a:rPr lang="en-US" sz="2025" b="1" dirty="0">
                <a:solidFill>
                  <a:srgbClr val="000000"/>
                </a:solidFill>
                <a:latin typeface="+mn-lt"/>
                <a:ea typeface="+mn-ea"/>
                <a:cs typeface="+mn-cs"/>
              </a:rPr>
              <a:t>name </a:t>
            </a:r>
            <a:r>
              <a:rPr lang="en-US" sz="2025" dirty="0">
                <a:solidFill>
                  <a:srgbClr val="000000"/>
                </a:solidFill>
                <a:latin typeface="+mn-lt"/>
                <a:ea typeface="+mn-ea"/>
                <a:cs typeface="+mn-cs"/>
              </a:rPr>
              <a:t>and </a:t>
            </a:r>
            <a:r>
              <a:rPr lang="en-US" sz="2025" b="1" dirty="0">
                <a:solidFill>
                  <a:srgbClr val="000000"/>
                </a:solidFill>
                <a:latin typeface="+mn-lt"/>
                <a:ea typeface="+mn-ea"/>
                <a:cs typeface="+mn-cs"/>
              </a:rPr>
              <a:t>email </a:t>
            </a:r>
            <a:r>
              <a:rPr lang="en-US" sz="2025" dirty="0">
                <a:solidFill>
                  <a:srgbClr val="000000"/>
                </a:solidFill>
                <a:latin typeface="+mn-lt"/>
                <a:ea typeface="+mn-ea"/>
                <a:cs typeface="+mn-cs"/>
              </a:rPr>
              <a:t>. These label every commit you make.</a:t>
            </a:r>
            <a:endParaRPr lang="en-US" sz="202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67002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67002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Options › Integrations: set External editor to </a:t>
            </a:r>
            <a:r>
              <a:rPr lang="en-US" sz="2025" b="1" dirty="0">
                <a:solidFill>
                  <a:srgbClr val="000000"/>
                </a:solidFill>
                <a:latin typeface="+mn-lt"/>
                <a:ea typeface="+mn-ea"/>
                <a:cs typeface="+mn-cs"/>
              </a:rPr>
              <a:t>Visual Studio Code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612011"/>
            <a:ext cx="6286500" cy="358080"/>
          </a:xfrm>
          <a:prstGeom prst="rect">
            <a:avLst/>
          </a:prstGeom>
          <a:noFill/>
          <a:ln/>
        </p:spPr>
        <p:txBody>
          <a:bodyPr wrap="square" lIns="25400" tIns="25400" rIns="25400" bIns="25400" rtlCol="0" anchor="t">
            <a:normAutofit/>
          </a:bodyPr>
          <a:lstStyle/>
          <a:p>
            <a:pPr algn="l" indent="0" marL="0">
              <a:lnSpc>
                <a:spcPct val="105000"/>
              </a:lnSpc>
              <a:buNone/>
            </a:pPr>
            <a:r>
              <a:rPr lang="en-US" sz="1800" dirty="0">
                <a:solidFill>
                  <a:srgbClr val="404040"/>
                </a:solidFill>
                <a:latin typeface="+mn-lt"/>
                <a:ea typeface="+mn-ea"/>
                <a:cs typeface="+mn-cs"/>
              </a:rPr>
              <a:t>Mac: GitHub Desktop › Settings instead of File › Options.</a:t>
            </a:r>
            <a:endParaRPr lang="en-US" sz="1800" dirty="0"/>
          </a:p>
        </p:txBody>
      </p:sp>
      <p:sp xmlns:p="http://schemas.openxmlformats.org/presentationml/2006/main" xmlns:a="http://schemas.openxmlformats.org/drawingml/2006/main" xmlns:r="http://schemas.openxmlformats.org/officeDocument/2006/relationships">
        <p:nvSpPr>
          <p:cNvPr id="14" name="Nav highlight"/>
          <p:cNvSpPr txBox="1"/>
          <p:nvPr userDrawn="1"/>
        </p:nvSpPr>
        <p:spPr>
          <a:xfrm>
            <a:off x="133350" y="3143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The Practice Project</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4611052" cy="784820"/>
          </a:xfrm>
          <a:prstGeom prst="rect">
            <a:avLst/>
          </a:prstGeom>
          <a:noFill/>
          <a:ln/>
        </p:spPr>
        <p:txBody>
          <a:bodyPr wrap="square" lIns="25400" tIns="25400" rIns="25400" bIns="25400" rtlCol="0" anchor="t">
            <a:normAutofit/>
          </a:bodyPr>
          <a:lstStyle/>
          <a:p>
            <a:pPr algn="l" indent="0" marL="0">
              <a:lnSpc>
                <a:spcPct val="105000"/>
              </a:lnSpc>
              <a:buNone/>
            </a:pPr>
            <a:r>
              <a:rPr lang="en-US" sz="2100" b="1" dirty="0">
                <a:solidFill>
                  <a:srgbClr val="000000"/>
                </a:solidFill>
                <a:latin typeface="+mn-lt"/>
                <a:ea typeface="+mn-ea"/>
                <a:cs typeface="+mn-cs"/>
              </a:rPr>
              <a:t>beam-calc </a:t>
            </a:r>
            <a:r>
              <a:rPr lang="en-US" sz="2100" dirty="0">
                <a:solidFill>
                  <a:srgbClr val="000000"/>
                </a:solidFill>
                <a:latin typeface="+mn-lt"/>
                <a:ea typeface="+mn-ea"/>
                <a:cs typeface="+mn-cs"/>
              </a:rPr>
              <a:t>: tip deflection of a cantilever beam under a point load.</a:t>
            </a:r>
            <a:endParaRPr lang="en-US" sz="2100" dirty="0"/>
          </a:p>
        </p:txBody>
      </p:sp>
      <p:sp xmlns:p="http://schemas.openxmlformats.org/presentationml/2006/main" xmlns:a="http://schemas.openxmlformats.org/drawingml/2006/main" xmlns:r="http://schemas.openxmlformats.org/officeDocument/2006/relationships">
        <p:nvSpPr>
          <p:cNvPr id="4" name="Text 16"/>
          <p:cNvSpPr/>
          <p:nvPr/>
        </p:nvSpPr>
        <p:spPr>
          <a:xfrm>
            <a:off x="1742599" y="2708870"/>
            <a:ext cx="4611052" cy="419100"/>
          </a:xfrm>
          <a:prstGeom prst="rect">
            <a:avLst/>
          </a:prstGeom>
          <a:noFill/>
          <a:ln/>
        </p:spPr>
        <p:txBody>
          <a:bodyPr wrap="square" lIns="25400" tIns="25400" rIns="25400" bIns="25400" rtlCol="0" anchor="t">
            <a:normAutofit/>
          </a:bodyPr>
          <a:lstStyle/>
          <a:p>
            <a:pPr algn="ctr" indent="0" marL="0">
              <a:buNone/>
            </a:pPr>
            <a:r>
              <a:rPr lang="en-US" sz="2550" i="1" dirty="0">
                <a:solidFill>
                  <a:srgbClr val="000000"/>
                </a:solidFill>
                <a:latin typeface="Cambria Math" pitchFamily="34" charset="0"/>
                <a:ea typeface="Cambria Math" pitchFamily="34" charset="-122"/>
                <a:cs typeface="Cambria Math" pitchFamily="34" charset="-120"/>
              </a:rPr>
              <a:t>δ = P L³ / (3 E I)</a:t>
            </a:r>
            <a:endParaRPr lang="en-US" sz="2550" dirty="0"/>
          </a:p>
        </p:txBody>
      </p:sp>
      <p:sp xmlns:p="http://schemas.openxmlformats.org/presentationml/2006/main" xmlns:a="http://schemas.openxmlformats.org/drawingml/2006/main" xmlns:r="http://schemas.openxmlformats.org/officeDocument/2006/relationships">
        <p:nvSpPr>
          <p:cNvPr id="5" name="Shape 17"/>
          <p:cNvSpPr/>
          <p:nvPr/>
        </p:nvSpPr>
        <p:spPr>
          <a:xfrm>
            <a:off x="1809750" y="3432770"/>
            <a:ext cx="4476750" cy="2937371"/>
          </a:xfrm>
          <a:prstGeom prst="roundRect">
            <a:avLst>
              <a:gd name="adj" fmla="val 3891"/>
            </a:avLst>
          </a:prstGeom>
          <a:solidFill>
            <a:srgbClr val="1E1E1E"/>
          </a:solidFill>
          <a:ln/>
        </p:spPr>
      </p:sp>
      <p:sp xmlns:p="http://schemas.openxmlformats.org/presentationml/2006/main" xmlns:a="http://schemas.openxmlformats.org/drawingml/2006/main" xmlns:r="http://schemas.openxmlformats.org/officeDocument/2006/relationships">
        <p:nvSpPr>
          <p:cNvPr id="6" name="Text 18"/>
          <p:cNvSpPr/>
          <p:nvPr/>
        </p:nvSpPr>
        <p:spPr>
          <a:xfrm>
            <a:off x="2057400" y="3661370"/>
            <a:ext cx="4115752" cy="2518271"/>
          </a:xfrm>
          <a:prstGeom prst="rect">
            <a:avLst/>
          </a:prstGeom>
          <a:noFill/>
          <a:ln/>
        </p:spPr>
        <p:txBody>
          <a:bodyPr wrap="none" lIns="25400" tIns="25400" rIns="25400" bIns="25400" rtlCol="0" anchor="t">
            <a:normAutofit/>
          </a:bodyPr>
          <a:lstStyle/>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beam-calc/</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README.md</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AGENTS.md</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.gitignore</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beam.m</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tests/</a:t>
            </a:r>
            <a:endParaRPr lang="en-US" sz="1800" dirty="0"/>
          </a:p>
          <a:p>
            <a:pPr algn="l" indent="0" marL="0">
              <a:lnSpc>
                <a:spcPct val="136098"/>
              </a:lnSpc>
              <a:buNone/>
            </a:pPr>
            <a:r>
              <a:rPr lang="en-US" sz="1800" dirty="0">
                <a:solidFill>
                  <a:srgbClr val="D4D4D4"/>
                </a:solidFill>
                <a:latin typeface="Consolas" pitchFamily="34" charset="0"/>
                <a:ea typeface="Consolas" pitchFamily="34" charset="-122"/>
                <a:cs typeface="Consolas" pitchFamily="34" charset="-120"/>
              </a:rPr>
              <a:t>   └─ testBeam.m</a:t>
            </a:r>
            <a:endParaRPr lang="en-US" sz="1800" dirty="0"/>
          </a:p>
        </p:txBody>
      </p:sp>
      <p:sp xmlns:p="http://schemas.openxmlformats.org/presentationml/2006/main" xmlns:a="http://schemas.openxmlformats.org/drawingml/2006/main" xmlns:r="http://schemas.openxmlformats.org/officeDocument/2006/relationships">
        <p:nvSpPr>
          <p:cNvPr id="7" name="Text 19"/>
          <p:cNvSpPr/>
          <p:nvPr/>
        </p:nvSpPr>
        <p:spPr>
          <a:xfrm>
            <a:off x="6572250" y="1619250"/>
            <a:ext cx="7606665" cy="298450"/>
          </a:xfrm>
          <a:prstGeom prst="rect">
            <a:avLst/>
          </a:prstGeom>
          <a:noFill/>
          <a:ln/>
        </p:spPr>
        <p:txBody>
          <a:bodyPr wrap="square" lIns="25400" tIns="25400" rIns="25400" bIns="25400" rtlCol="0" anchor="t">
            <a:normAutofit/>
          </a:bodyPr>
          <a:lstStyle/>
          <a:p>
            <a:pPr algn="l" indent="0" marL="0">
              <a:buNone/>
            </a:pPr>
            <a:r>
              <a:rPr lang="en-US" sz="1800" b="1" dirty="0">
                <a:solidFill>
                  <a:srgbClr val="000000"/>
                </a:solidFill>
                <a:latin typeface="Consolas" pitchFamily="34" charset="0"/>
                <a:ea typeface="Consolas" pitchFamily="34" charset="-122"/>
                <a:cs typeface="Consolas" pitchFamily="34" charset="-120"/>
              </a:rPr>
              <a:t>beam.m</a:t>
            </a:r>
            <a:endParaRPr lang="en-US" sz="1800" dirty="0"/>
          </a:p>
        </p:txBody>
      </p:sp>
      <p:sp xmlns:p="http://schemas.openxmlformats.org/presentationml/2006/main" xmlns:a="http://schemas.openxmlformats.org/drawingml/2006/main" xmlns:r="http://schemas.openxmlformats.org/officeDocument/2006/relationships">
        <p:nvSpPr>
          <p:cNvPr id="8" name="Shape 20"/>
          <p:cNvSpPr/>
          <p:nvPr/>
        </p:nvSpPr>
        <p:spPr>
          <a:xfrm>
            <a:off x="6572250" y="2012950"/>
            <a:ext cx="6915150" cy="3961606"/>
          </a:xfrm>
          <a:prstGeom prst="roundRect">
            <a:avLst>
              <a:gd name="adj" fmla="val 2885"/>
            </a:avLst>
          </a:prstGeom>
          <a:solidFill>
            <a:srgbClr val="1E1E1E"/>
          </a:solidFill>
          <a:ln/>
        </p:spPr>
      </p:sp>
      <p:sp xmlns:p="http://schemas.openxmlformats.org/presentationml/2006/main" xmlns:a="http://schemas.openxmlformats.org/drawingml/2006/main" xmlns:r="http://schemas.openxmlformats.org/officeDocument/2006/relationships">
        <p:nvSpPr>
          <p:cNvPr id="9" name="Text 21"/>
          <p:cNvSpPr/>
          <p:nvPr/>
        </p:nvSpPr>
        <p:spPr>
          <a:xfrm>
            <a:off x="6819900" y="2241550"/>
            <a:ext cx="6627304" cy="3542506"/>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6A9955"/>
                </a:solidFill>
                <a:latin typeface="Consolas" pitchFamily="34" charset="0"/>
                <a:ea typeface="Consolas" pitchFamily="34" charset="-122"/>
                <a:cs typeface="Consolas" pitchFamily="34" charset="-120"/>
              </a:rPr>
              <a:t>% Cantilever beam tip deflection</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E = 200e9;           </a:t>
            </a:r>
            <a:r>
              <a:rPr lang="en-US" sz="1725" dirty="0">
                <a:solidFill>
                  <a:srgbClr val="6A9955"/>
                </a:solidFill>
                <a:latin typeface="Consolas" pitchFamily="34" charset="0"/>
                <a:ea typeface="Consolas" pitchFamily="34" charset="-122"/>
                <a:cs typeface="Consolas" pitchFamily="34" charset="-120"/>
              </a:rPr>
              <a:t>% Pa, steel</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L = 2.0;             </a:t>
            </a:r>
            <a:r>
              <a:rPr lang="en-US" sz="1725" dirty="0">
                <a:solidFill>
                  <a:srgbClr val="6A9955"/>
                </a:solidFill>
                <a:latin typeface="Consolas" pitchFamily="34" charset="0"/>
                <a:ea typeface="Consolas" pitchFamily="34" charset="-122"/>
                <a:cs typeface="Consolas" pitchFamily="34" charset="-120"/>
              </a:rPr>
              <a:t>% m, length</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P = 500.0;           </a:t>
            </a:r>
            <a:r>
              <a:rPr lang="en-US" sz="1725" dirty="0">
                <a:solidFill>
                  <a:srgbClr val="6A9955"/>
                </a:solidFill>
                <a:latin typeface="Consolas" pitchFamily="34" charset="0"/>
                <a:ea typeface="Consolas" pitchFamily="34" charset="-122"/>
                <a:cs typeface="Consolas" pitchFamily="34" charset="-120"/>
              </a:rPr>
              <a:t>% N, tip load</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b = 0.05; h = 0.10;  </a:t>
            </a:r>
            <a:r>
              <a:rPr lang="en-US" sz="1725" dirty="0">
                <a:solidFill>
                  <a:srgbClr val="6A9955"/>
                </a:solidFill>
                <a:latin typeface="Consolas" pitchFamily="34" charset="0"/>
                <a:ea typeface="Consolas" pitchFamily="34" charset="-122"/>
                <a:cs typeface="Consolas" pitchFamily="34" charset="-120"/>
              </a:rPr>
              <a:t>% m, section</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I = b*h^3/12;</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delta = P*L^3/(3*E*I);</a:t>
            </a:r>
            <a:endParaRPr lang="en-US" sz="1725" dirty="0"/>
          </a:p>
          <a:p>
            <a:pPr algn="l" indent="0" marL="0">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fprintf('Tip deflection: %.2f mm\n', delta*1e3)</a:t>
            </a:r>
            <a:endParaRPr lang="en-US" sz="1725" dirty="0"/>
          </a:p>
        </p:txBody>
      </p:sp>
      <p:sp xmlns:p="http://schemas.openxmlformats.org/presentationml/2006/main" xmlns:a="http://schemas.openxmlformats.org/drawingml/2006/main" xmlns:r="http://schemas.openxmlformats.org/officeDocument/2006/relationships">
        <p:nvSpPr>
          <p:cNvPr id="10" name="Text 22"/>
          <p:cNvSpPr/>
          <p:nvPr/>
        </p:nvSpPr>
        <p:spPr>
          <a:xfrm>
            <a:off x="6572250" y="6107906"/>
            <a:ext cx="760666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404040"/>
                </a:solidFill>
                <a:latin typeface="+mn-lt"/>
                <a:ea typeface="+mn-ea"/>
                <a:cs typeface="+mn-cs"/>
              </a:rPr>
              <a:t>Output: </a:t>
            </a:r>
            <a:r>
              <a:rPr lang="en-US" sz="1800" dirty="0">
                <a:solidFill>
                  <a:srgbClr val="404040"/>
                </a:solidFill>
                <a:latin typeface="Consolas" pitchFamily="34" charset="0"/>
                <a:ea typeface="Consolas" pitchFamily="34" charset="-122"/>
                <a:cs typeface="Consolas" pitchFamily="34" charset="-120"/>
              </a:rPr>
              <a:t>Tip deflection: 1.60 mm</a:t>
            </a:r>
            <a:endParaRPr lang="en-US" sz="1800" dirty="0"/>
          </a:p>
        </p:txBody>
      </p:sp>
      <p:sp xmlns:p="http://schemas.openxmlformats.org/presentationml/2006/main" xmlns:a="http://schemas.openxmlformats.org/drawingml/2006/main" xmlns:r="http://schemas.openxmlformats.org/officeDocument/2006/relationships">
        <p:nvSpPr>
          <p:cNvPr id="11" name="Nav highlight"/>
          <p:cNvSpPr txBox="1"/>
          <p:nvPr userDrawn="1"/>
        </p:nvSpPr>
        <p:spPr>
          <a:xfrm>
            <a:off x="133350" y="3143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2: Copy &amp; Clone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14550"/>
            <a:ext cx="6286500"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On GitHub (browser)</a:t>
            </a:r>
            <a:endParaRPr lang="en-US" sz="195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65430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65430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Open the beam-calc link from your instructor.</a:t>
            </a:r>
            <a:endParaRPr lang="en-US" sz="2025"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21151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21151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Use this template </a:t>
            </a:r>
            <a:r>
              <a:rPr lang="en-US" sz="2025" dirty="0">
                <a:solidFill>
                  <a:srgbClr val="000000"/>
                </a:solidFill>
                <a:latin typeface="+mn-lt"/>
                <a:ea typeface="+mn-ea"/>
                <a:cs typeface="+mn-cs"/>
              </a:rPr>
              <a:t>› Create a new repository. Owner: you. Visibility: </a:t>
            </a:r>
            <a:r>
              <a:rPr lang="en-US" sz="2025" b="1" dirty="0">
                <a:solidFill>
                  <a:srgbClr val="000000"/>
                </a:solidFill>
                <a:latin typeface="+mn-lt"/>
                <a:ea typeface="+mn-ea"/>
                <a:cs typeface="+mn-cs"/>
              </a:rPr>
              <a:t>Private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4172545"/>
            <a:ext cx="6286500"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mn-lt"/>
                <a:ea typeface="+mn-ea"/>
                <a:cs typeface="+mn-cs"/>
              </a:rPr>
              <a:t>In GitHub Desktop</a:t>
            </a:r>
            <a:endParaRPr lang="en-US" sz="1950"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712296"/>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712296"/>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File › </a:t>
            </a:r>
            <a:r>
              <a:rPr lang="en-US" sz="2025" b="1" dirty="0">
                <a:solidFill>
                  <a:srgbClr val="000000"/>
                </a:solidFill>
                <a:latin typeface="+mn-lt"/>
                <a:ea typeface="+mn-ea"/>
                <a:cs typeface="+mn-cs"/>
              </a:rPr>
              <a:t>Clone repository </a:t>
            </a:r>
            <a:r>
              <a:rPr lang="en-US" sz="2025" dirty="0">
                <a:solidFill>
                  <a:srgbClr val="000000"/>
                </a:solidFill>
                <a:latin typeface="+mn-lt"/>
                <a:ea typeface="+mn-ea"/>
                <a:cs typeface="+mn-cs"/>
              </a:rPr>
              <a:t>› pick your new beam-calc.</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57807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2343150" y="557807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Choose a local path outside OneDrive. Click </a:t>
            </a:r>
            <a:r>
              <a:rPr lang="en-US" sz="2025" b="1" dirty="0">
                <a:solidFill>
                  <a:srgbClr val="000000"/>
                </a:solidFill>
                <a:latin typeface="+mn-lt"/>
                <a:ea typeface="+mn-ea"/>
                <a:cs typeface="+mn-cs"/>
              </a:rPr>
              <a:t>Clone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5" name="Text 27"/>
          <p:cNvSpPr/>
          <p:nvPr/>
        </p:nvSpPr>
        <p:spPr>
          <a:xfrm>
            <a:off x="1809750" y="6443861"/>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6" name="Text 28"/>
          <p:cNvSpPr/>
          <p:nvPr/>
        </p:nvSpPr>
        <p:spPr>
          <a:xfrm>
            <a:off x="2343150" y="6443861"/>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Repository › Show in Explorer. Confirm the files are there.</a:t>
            </a:r>
            <a:endParaRPr lang="en-US" sz="2025" dirty="0"/>
          </a:p>
        </p:txBody>
      </p:sp>
      <p:sp xmlns:p="http://schemas.openxmlformats.org/presentationml/2006/main" xmlns:a="http://schemas.openxmlformats.org/drawingml/2006/main" xmlns:r="http://schemas.openxmlformats.org/officeDocument/2006/relationships">
        <p:nvSpPr>
          <p:cNvPr id="17"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Clone</a:t>
            </a:r>
            <a:endParaRPr lang="en-US" sz="1800" b="1" dirty="0"/>
          </a:p>
        </p:txBody>
      </p:sp>
      <p:sp xmlns:p="http://schemas.openxmlformats.org/presentationml/2006/main" xmlns:a="http://schemas.openxmlformats.org/drawingml/2006/main" xmlns:r="http://schemas.openxmlformats.org/officeDocument/2006/relationships">
        <p:nvSpPr>
          <p:cNvPr id="1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9"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Your Own Code: Create &amp; Publish</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4062909"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3879996"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REFERENCE · DO BEFORE LESSON 2</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33600"/>
            <a:ext cx="12845415" cy="411460"/>
          </a:xfrm>
          <a:prstGeom prst="rect">
            <a:avLst/>
          </a:prstGeom>
          <a:noFill/>
          <a:ln/>
        </p:spPr>
        <p:txBody>
          <a:bodyPr wrap="square" lIns="25400" tIns="25400" rIns="25400" bIns="25400" rtlCol="0" anchor="t">
            <a:normAutofit/>
          </a:bodyPr>
          <a:lstStyle/>
          <a:p>
            <a:pPr algn="l" indent="0" marL="0">
              <a:lnSpc>
                <a:spcPct val="105000"/>
              </a:lnSpc>
              <a:buNone/>
            </a:pPr>
            <a:r>
              <a:rPr lang="en-US" sz="2100" dirty="0">
                <a:solidFill>
                  <a:srgbClr val="000000"/>
                </a:solidFill>
                <a:latin typeface="+mn-lt"/>
                <a:ea typeface="+mn-ea"/>
                <a:cs typeface="+mn-cs"/>
              </a:rPr>
              <a:t>To put an existing project folder (scripts, models, course code) under version control:</a:t>
            </a:r>
            <a:endParaRPr lang="en-US" sz="21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735560"/>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735560"/>
            <a:ext cx="1147857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File › </a:t>
            </a:r>
            <a:r>
              <a:rPr lang="en-US" sz="2025" b="1" dirty="0">
                <a:solidFill>
                  <a:srgbClr val="000000"/>
                </a:solidFill>
                <a:latin typeface="+mn-lt"/>
                <a:ea typeface="+mn-ea"/>
                <a:cs typeface="+mn-cs"/>
              </a:rPr>
              <a:t>Add local repository </a:t>
            </a:r>
            <a:r>
              <a:rPr lang="en-US" sz="2025" dirty="0">
                <a:solidFill>
                  <a:srgbClr val="000000"/>
                </a:solidFill>
                <a:latin typeface="+mn-lt"/>
                <a:ea typeface="+mn-ea"/>
                <a:cs typeface="+mn-cs"/>
              </a:rPr>
              <a:t>› select the folder. Desktop says it isn’t a repo yet; click </a:t>
            </a:r>
            <a:r>
              <a:rPr lang="en-US" sz="2025" b="1" dirty="0">
                <a:solidFill>
                  <a:srgbClr val="000000"/>
                </a:solidFill>
                <a:latin typeface="+mn-lt"/>
                <a:ea typeface="+mn-ea"/>
                <a:cs typeface="+mn-cs"/>
              </a:rPr>
              <a:t>create a repository </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658493"/>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658493"/>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Set </a:t>
            </a:r>
            <a:r>
              <a:rPr lang="en-US" sz="2025" b="1" dirty="0">
                <a:solidFill>
                  <a:srgbClr val="000000"/>
                </a:solidFill>
                <a:latin typeface="+mn-lt"/>
                <a:ea typeface="+mn-ea"/>
                <a:cs typeface="+mn-cs"/>
              </a:rPr>
              <a:t>Git ignore </a:t>
            </a:r>
            <a:r>
              <a:rPr lang="en-US" sz="2025" dirty="0">
                <a:solidFill>
                  <a:srgbClr val="000000"/>
                </a:solidFill>
                <a:latin typeface="+mn-lt"/>
                <a:ea typeface="+mn-ea"/>
                <a:cs typeface="+mn-cs"/>
              </a:rPr>
              <a:t>to your language (e.g. MATLAB). Leave the rest as default. Click </a:t>
            </a:r>
            <a:r>
              <a:rPr lang="en-US" sz="2025" b="1" dirty="0">
                <a:solidFill>
                  <a:srgbClr val="000000"/>
                </a:solidFill>
                <a:latin typeface="+mn-lt"/>
                <a:ea typeface="+mn-ea"/>
                <a:cs typeface="+mn-cs"/>
              </a:rPr>
              <a:t>Create repository</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4272855"/>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1" name="Text 23"/>
          <p:cNvSpPr/>
          <p:nvPr/>
        </p:nvSpPr>
        <p:spPr>
          <a:xfrm>
            <a:off x="2343150" y="4272855"/>
            <a:ext cx="1147857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Desktop makes the first commit. Check the Changes tab for files that shouldn’t be there (data, outputs, passwords).</a:t>
            </a:r>
            <a:endParaRPr lang="en-US" sz="2025" dirty="0"/>
          </a:p>
        </p:txBody>
      </p:sp>
      <p:sp xmlns:p="http://schemas.openxmlformats.org/presentationml/2006/main" xmlns:a="http://schemas.openxmlformats.org/drawingml/2006/main" xmlns:r="http://schemas.openxmlformats.org/officeDocument/2006/relationships">
        <p:nvSpPr>
          <p:cNvPr id="12" name="Text 24"/>
          <p:cNvSpPr/>
          <p:nvPr/>
        </p:nvSpPr>
        <p:spPr>
          <a:xfrm>
            <a:off x="1809750" y="5195789"/>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3" name="Text 25"/>
          <p:cNvSpPr/>
          <p:nvPr/>
        </p:nvSpPr>
        <p:spPr>
          <a:xfrm>
            <a:off x="2343150" y="5195789"/>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Publish repository</a:t>
            </a:r>
            <a:r>
              <a:rPr lang="en-US" sz="2025" dirty="0">
                <a:solidFill>
                  <a:srgbClr val="000000"/>
                </a:solidFill>
                <a:latin typeface="+mn-lt"/>
                <a:ea typeface="+mn-ea"/>
                <a:cs typeface="+mn-cs"/>
              </a:rPr>
              <a:t>. Leave </a:t>
            </a:r>
            <a:r>
              <a:rPr lang="en-US" sz="2025" b="1" dirty="0">
                <a:solidFill>
                  <a:srgbClr val="000000"/>
                </a:solidFill>
                <a:latin typeface="+mn-lt"/>
                <a:ea typeface="+mn-ea"/>
                <a:cs typeface="+mn-cs"/>
              </a:rPr>
              <a:t>Keep this code private </a:t>
            </a:r>
            <a:r>
              <a:rPr lang="en-US" sz="2025" dirty="0">
                <a:solidFill>
                  <a:srgbClr val="000000"/>
                </a:solidFill>
                <a:latin typeface="+mn-lt"/>
                <a:ea typeface="+mn-ea"/>
                <a:cs typeface="+mn-cs"/>
              </a:rPr>
              <a:t>checked.</a:t>
            </a:r>
            <a:endParaRPr lang="en-US" sz="2025"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581015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5" name="Text 27"/>
          <p:cNvSpPr/>
          <p:nvPr/>
        </p:nvSpPr>
        <p:spPr>
          <a:xfrm>
            <a:off x="2343150" y="5810151"/>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Repository › </a:t>
            </a:r>
            <a:r>
              <a:rPr lang="en-US" sz="2025" b="1" dirty="0">
                <a:solidFill>
                  <a:srgbClr val="000000"/>
                </a:solidFill>
                <a:latin typeface="+mn-lt"/>
                <a:ea typeface="+mn-ea"/>
                <a:cs typeface="+mn-cs"/>
              </a:rPr>
              <a:t>View on GitHub </a:t>
            </a:r>
            <a:r>
              <a:rPr lang="en-US" sz="2025" dirty="0">
                <a:solidFill>
                  <a:srgbClr val="000000"/>
                </a:solidFill>
                <a:latin typeface="+mn-lt"/>
                <a:ea typeface="+mn-ea"/>
                <a:cs typeface="+mn-cs"/>
              </a:rPr>
              <a:t>to confirm it’s there.</a:t>
            </a:r>
            <a:endParaRPr lang="en-US" sz="2025" dirty="0"/>
          </a:p>
        </p:txBody>
      </p:sp>
      <p:sp xmlns:p="http://schemas.openxmlformats.org/presentationml/2006/main" xmlns:a="http://schemas.openxmlformats.org/drawingml/2006/main" xmlns:r="http://schemas.openxmlformats.org/officeDocument/2006/relationships">
        <p:nvSpPr>
          <p:cNvPr id="16" name="Shape 28"/>
          <p:cNvSpPr/>
          <p:nvPr/>
        </p:nvSpPr>
        <p:spPr>
          <a:xfrm>
            <a:off x="1809750" y="6424514"/>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7" name="Text 29"/>
          <p:cNvSpPr/>
          <p:nvPr/>
        </p:nvSpPr>
        <p:spPr>
          <a:xfrm>
            <a:off x="1809750" y="6653114"/>
            <a:ext cx="12027980" cy="384770"/>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mn-lt"/>
                <a:ea typeface="+mn-ea"/>
                <a:cs typeface="+mn-cs"/>
              </a:rPr>
              <a:t>Starting from nothing? File › </a:t>
            </a:r>
            <a:r>
              <a:rPr lang="en-US" sz="1950" b="1" dirty="0">
                <a:solidFill>
                  <a:srgbClr val="000000"/>
                </a:solidFill>
                <a:latin typeface="+mn-lt"/>
                <a:ea typeface="+mn-ea"/>
                <a:cs typeface="+mn-cs"/>
              </a:rPr>
              <a:t>New repository </a:t>
            </a:r>
            <a:r>
              <a:rPr lang="en-US" sz="1950" dirty="0">
                <a:solidFill>
                  <a:srgbClr val="404040"/>
                </a:solidFill>
                <a:latin typeface="+mn-lt"/>
                <a:ea typeface="+mn-ea"/>
                <a:cs typeface="+mn-cs"/>
              </a:rPr>
              <a:t>does steps 1–2 with an empty folder.</a:t>
            </a:r>
            <a:endParaRPr lang="en-US" sz="1950" dirty="0"/>
          </a:p>
        </p:txBody>
      </p:sp>
      <p:sp xmlns:p="http://schemas.openxmlformats.org/presentationml/2006/main" xmlns:a="http://schemas.openxmlformats.org/drawingml/2006/main" xmlns:r="http://schemas.openxmlformats.org/officeDocument/2006/relationships">
        <p:nvSpPr>
          <p:cNvPr id="18"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Clone</a:t>
            </a:r>
            <a:endParaRPr lang="en-US" sz="1800" b="1" dirty="0"/>
          </a:p>
        </p:txBody>
      </p:sp>
      <p:sp xmlns:p="http://schemas.openxmlformats.org/presentationml/2006/main" xmlns:a="http://schemas.openxmlformats.org/drawingml/2006/main" xmlns:r="http://schemas.openxmlformats.org/officeDocument/2006/relationships">
        <p:nvSpPr>
          <p:cNvPr id="1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3: Edit, Review, Commit</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1455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11455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Repository › </a:t>
            </a:r>
            <a:r>
              <a:rPr lang="en-US" sz="2025" b="1" dirty="0">
                <a:solidFill>
                  <a:srgbClr val="000000"/>
                </a:solidFill>
                <a:latin typeface="+mn-lt"/>
                <a:ea typeface="+mn-ea"/>
                <a:cs typeface="+mn-cs"/>
              </a:rPr>
              <a:t>Open in Visual Studio Code</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2690813"/>
            <a:ext cx="609600" cy="744637"/>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2690813"/>
            <a:ext cx="5337048" cy="744637"/>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In beam.m change the load to </a:t>
            </a:r>
            <a:r>
              <a:rPr lang="en-US" sz="1800" dirty="0">
                <a:solidFill>
                  <a:srgbClr val="000000"/>
                </a:solidFill>
                <a:latin typeface="Consolas" pitchFamily="34" charset="0"/>
                <a:ea typeface="Consolas" pitchFamily="34" charset="-122"/>
                <a:cs typeface="Consolas" pitchFamily="34" charset="-120"/>
              </a:rPr>
              <a:t>P = 750.0; </a:t>
            </a:r>
            <a:r>
              <a:rPr lang="en-US" sz="2025" dirty="0">
                <a:solidFill>
                  <a:srgbClr val="000000"/>
                </a:solidFill>
                <a:latin typeface="+mn-lt"/>
                <a:ea typeface="+mn-ea"/>
                <a:cs typeface="+mn-cs"/>
              </a:rPr>
              <a:t>. Save.</a:t>
            </a:r>
            <a:endParaRPr lang="en-US" sz="202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587849"/>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3587849"/>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Back in Desktop, open the </a:t>
            </a:r>
            <a:r>
              <a:rPr lang="en-US" sz="2025" b="1" dirty="0">
                <a:solidFill>
                  <a:srgbClr val="000000"/>
                </a:solidFill>
                <a:latin typeface="+mn-lt"/>
                <a:ea typeface="+mn-ea"/>
                <a:cs typeface="+mn-cs"/>
              </a:rPr>
              <a:t>Changes </a:t>
            </a:r>
            <a:r>
              <a:rPr lang="en-US" sz="2025" dirty="0">
                <a:solidFill>
                  <a:srgbClr val="000000"/>
                </a:solidFill>
                <a:latin typeface="+mn-lt"/>
                <a:ea typeface="+mn-ea"/>
                <a:cs typeface="+mn-cs"/>
              </a:rPr>
              <a:t>tab and read the diff.</a:t>
            </a:r>
            <a:endParaRPr lang="en-US" sz="202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472682"/>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472682"/>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Summary: </a:t>
            </a:r>
            <a:r>
              <a:rPr lang="en-US" sz="2025" i="1" dirty="0">
                <a:solidFill>
                  <a:srgbClr val="000000"/>
                </a:solidFill>
                <a:latin typeface="+mn-lt"/>
                <a:ea typeface="+mn-ea"/>
                <a:cs typeface="+mn-cs"/>
              </a:rPr>
              <a:t>Increase tip load to 750 N</a:t>
            </a:r>
            <a:r>
              <a:rPr lang="en-US" sz="2025" dirty="0">
                <a:solidFill>
                  <a:srgbClr val="000000"/>
                </a:solidFill>
                <a:latin typeface="+mn-lt"/>
                <a:ea typeface="+mn-ea"/>
                <a:cs typeface="+mn-cs"/>
              </a:rPr>
              <a:t>. Click </a:t>
            </a:r>
            <a:r>
              <a:rPr lang="en-US" sz="2025" b="1" dirty="0">
                <a:solidFill>
                  <a:srgbClr val="000000"/>
                </a:solidFill>
                <a:latin typeface="+mn-lt"/>
                <a:ea typeface="+mn-ea"/>
                <a:cs typeface="+mn-cs"/>
              </a:rPr>
              <a:t>Commit to main</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35751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2343150" y="5357515"/>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Click </a:t>
            </a:r>
            <a:r>
              <a:rPr lang="en-US" sz="2025" b="1" dirty="0">
                <a:solidFill>
                  <a:srgbClr val="000000"/>
                </a:solidFill>
                <a:latin typeface="+mn-lt"/>
                <a:ea typeface="+mn-ea"/>
                <a:cs typeface="+mn-cs"/>
              </a:rPr>
              <a:t>Push origin</a:t>
            </a:r>
            <a:r>
              <a:rPr lang="en-US" sz="2025" dirty="0">
                <a:solidFill>
                  <a:srgbClr val="000000"/>
                </a:solidFill>
                <a:latin typeface="+mn-lt"/>
                <a:ea typeface="+mn-ea"/>
                <a:cs typeface="+mn-cs"/>
              </a:rPr>
              <a:t>. Refresh GitHub to see it.</a:t>
            </a:r>
            <a:endParaRPr lang="en-US" sz="202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5952827"/>
            <a:ext cx="5715000" cy="1432322"/>
          </a:xfrm>
          <a:prstGeom prst="roundRect">
            <a:avLst>
              <a:gd name="adj" fmla="val 7980"/>
            </a:avLst>
          </a:prstGeom>
          <a:solidFill>
            <a:srgbClr val="1E1E1E"/>
          </a:solidFill>
          <a:ln/>
        </p:spPr>
      </p:sp>
      <p:sp xmlns:p="http://schemas.openxmlformats.org/presentationml/2006/main" xmlns:a="http://schemas.openxmlformats.org/drawingml/2006/main" xmlns:r="http://schemas.openxmlformats.org/officeDocument/2006/relationships">
        <p:nvSpPr>
          <p:cNvPr id="16" name="Text 28"/>
          <p:cNvSpPr/>
          <p:nvPr/>
        </p:nvSpPr>
        <p:spPr>
          <a:xfrm>
            <a:off x="2038350" y="6143327"/>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8C8C8C"/>
                </a:solidFill>
                <a:latin typeface="Consolas" pitchFamily="34" charset="0"/>
                <a:ea typeface="Consolas" pitchFamily="34" charset="-122"/>
                <a:cs typeface="Consolas" pitchFamily="34" charset="-120"/>
              </a:rPr>
              <a:t>beam.m</a:t>
            </a:r>
            <a:endParaRPr lang="en-US" sz="1725" dirty="0"/>
          </a:p>
        </p:txBody>
      </p:sp>
      <p:sp xmlns:p="http://schemas.openxmlformats.org/presentationml/2006/main" xmlns:a="http://schemas.openxmlformats.org/drawingml/2006/main" xmlns:r="http://schemas.openxmlformats.org/officeDocument/2006/relationships">
        <p:nvSpPr>
          <p:cNvPr id="17" name="Text 29"/>
          <p:cNvSpPr/>
          <p:nvPr/>
        </p:nvSpPr>
        <p:spPr>
          <a:xfrm>
            <a:off x="2038350" y="6493768"/>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F48771"/>
                </a:solidFill>
                <a:latin typeface="Consolas" pitchFamily="34" charset="0"/>
                <a:ea typeface="Consolas" pitchFamily="34" charset="-122"/>
                <a:cs typeface="Consolas" pitchFamily="34" charset="-120"/>
              </a:rPr>
              <a:t>− P = 500.0;   % N, tip load</a:t>
            </a:r>
            <a:endParaRPr lang="en-US" sz="1725" dirty="0"/>
          </a:p>
        </p:txBody>
      </p:sp>
      <p:sp xmlns:p="http://schemas.openxmlformats.org/presentationml/2006/main" xmlns:a="http://schemas.openxmlformats.org/drawingml/2006/main" xmlns:r="http://schemas.openxmlformats.org/officeDocument/2006/relationships">
        <p:nvSpPr>
          <p:cNvPr id="18" name="Text 30"/>
          <p:cNvSpPr/>
          <p:nvPr/>
        </p:nvSpPr>
        <p:spPr>
          <a:xfrm>
            <a:off x="2038350" y="6844209"/>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89D185"/>
                </a:solidFill>
                <a:latin typeface="Consolas" pitchFamily="34" charset="0"/>
                <a:ea typeface="Consolas" pitchFamily="34" charset="-122"/>
                <a:cs typeface="Consolas" pitchFamily="34" charset="-120"/>
              </a:rPr>
              <a:t>+ P = 750.0;   % N, tip load</a:t>
            </a:r>
            <a:endParaRPr lang="en-US" sz="1725" dirty="0"/>
          </a:p>
        </p:txBody>
      </p:sp>
      <p:sp xmlns:p="http://schemas.openxmlformats.org/presentationml/2006/main" xmlns:a="http://schemas.openxmlformats.org/drawingml/2006/main" xmlns:r="http://schemas.openxmlformats.org/officeDocument/2006/relationships">
        <p:nvSpPr>
          <p:cNvPr id="19" name="Text 31"/>
          <p:cNvSpPr/>
          <p:nvPr/>
        </p:nvSpPr>
        <p:spPr>
          <a:xfrm>
            <a:off x="1809750" y="7594699"/>
            <a:ext cx="5886450" cy="678061"/>
          </a:xfrm>
          <a:prstGeom prst="rect">
            <a:avLst/>
          </a:prstGeom>
          <a:noFill/>
          <a:ln/>
        </p:spPr>
        <p:txBody>
          <a:bodyPr wrap="square" lIns="25400" tIns="25400" rIns="25400" bIns="25400" rtlCol="0" anchor="t">
            <a:normAutofit/>
          </a:bodyPr>
          <a:lstStyle/>
          <a:p>
            <a:pPr algn="l" indent="0" marL="0">
              <a:lnSpc>
                <a:spcPct val="105000"/>
              </a:lnSpc>
              <a:buNone/>
            </a:pPr>
            <a:r>
              <a:rPr lang="en-US" sz="1800" dirty="0">
                <a:solidFill>
                  <a:srgbClr val="404040"/>
                </a:solidFill>
                <a:latin typeface="+mn-lt"/>
                <a:ea typeface="+mn-ea"/>
                <a:cs typeface="+mn-cs"/>
              </a:rPr>
              <a:t>Good commits: one logical change, with a summary that says what and why.</a:t>
            </a:r>
            <a:endParaRPr lang="en-US" sz="1800" dirty="0"/>
          </a:p>
        </p:txBody>
      </p:sp>
      <p:sp xmlns:p="http://schemas.openxmlformats.org/presentationml/2006/main" xmlns:a="http://schemas.openxmlformats.org/drawingml/2006/main" xmlns:r="http://schemas.openxmlformats.org/officeDocument/2006/relationships">
        <p:nvSpPr>
          <p:cNvPr id="20" name="Nav highlight"/>
          <p:cNvSpPr txBox="1"/>
          <p:nvPr userDrawn="1"/>
        </p:nvSpPr>
        <p:spPr>
          <a:xfrm>
            <a:off x="133350" y="3905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Commit</a:t>
            </a:r>
            <a:endParaRPr lang="en-US" sz="1800" b="1" dirty="0"/>
          </a:p>
        </p:txBody>
      </p:sp>
      <p:sp xmlns:p="http://schemas.openxmlformats.org/presentationml/2006/main" xmlns:a="http://schemas.openxmlformats.org/drawingml/2006/main" xmlns:r="http://schemas.openxmlformats.org/officeDocument/2006/relationships">
        <p:nvSpPr>
          <p:cNvPr id="21"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2"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4: Push, Fetch, Pull</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3790950" cy="1423988"/>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4" name="Text 16"/>
          <p:cNvSpPr/>
          <p:nvPr/>
        </p:nvSpPr>
        <p:spPr>
          <a:xfrm>
            <a:off x="201930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onsolas" pitchFamily="34" charset="0"/>
                <a:ea typeface="Consolas" pitchFamily="34" charset="-122"/>
                <a:cs typeface="Consolas" pitchFamily="34" charset="-120"/>
              </a:rPr>
              <a:t>Push origin</a:t>
            </a:r>
            <a:endParaRPr lang="en-US" sz="1950" dirty="0"/>
          </a:p>
        </p:txBody>
      </p:sp>
      <p:sp xmlns:p="http://schemas.openxmlformats.org/presentationml/2006/main" xmlns:a="http://schemas.openxmlformats.org/drawingml/2006/main" xmlns:r="http://schemas.openxmlformats.org/officeDocument/2006/relationships">
        <p:nvSpPr>
          <p:cNvPr id="5" name="Text 17"/>
          <p:cNvSpPr/>
          <p:nvPr/>
        </p:nvSpPr>
        <p:spPr>
          <a:xfrm>
            <a:off x="2019300" y="2095500"/>
            <a:ext cx="3709035" cy="359569"/>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Upload your commits to GitHub</a:t>
            </a:r>
            <a:endParaRPr lang="en-US" sz="1875" dirty="0"/>
          </a:p>
        </p:txBody>
      </p:sp>
      <p:sp xmlns:p="http://schemas.openxmlformats.org/presentationml/2006/main" xmlns:a="http://schemas.openxmlformats.org/drawingml/2006/main" xmlns:r="http://schemas.openxmlformats.org/officeDocument/2006/relationships">
        <p:nvSpPr>
          <p:cNvPr id="6" name="Shape 18"/>
          <p:cNvSpPr/>
          <p:nvPr/>
        </p:nvSpPr>
        <p:spPr>
          <a:xfrm>
            <a:off x="5753100" y="1524000"/>
            <a:ext cx="3790950" cy="1423988"/>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7" name="Text 19"/>
          <p:cNvSpPr/>
          <p:nvPr/>
        </p:nvSpPr>
        <p:spPr>
          <a:xfrm>
            <a:off x="596265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onsolas" pitchFamily="34" charset="0"/>
                <a:ea typeface="Consolas" pitchFamily="34" charset="-122"/>
                <a:cs typeface="Consolas" pitchFamily="34" charset="-120"/>
              </a:rPr>
              <a:t>Fetch origin</a:t>
            </a:r>
            <a:endParaRPr lang="en-US" sz="1950" dirty="0"/>
          </a:p>
        </p:txBody>
      </p:sp>
      <p:sp xmlns:p="http://schemas.openxmlformats.org/presentationml/2006/main" xmlns:a="http://schemas.openxmlformats.org/drawingml/2006/main" xmlns:r="http://schemas.openxmlformats.org/officeDocument/2006/relationships">
        <p:nvSpPr>
          <p:cNvPr id="8" name="Text 20"/>
          <p:cNvSpPr/>
          <p:nvPr/>
        </p:nvSpPr>
        <p:spPr>
          <a:xfrm>
            <a:off x="5962650" y="2095500"/>
            <a:ext cx="3473006"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Check GitHub for new commits. Files don’t change.</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9696450" y="1524000"/>
            <a:ext cx="3790950" cy="1423988"/>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0" name="Text 22"/>
          <p:cNvSpPr/>
          <p:nvPr/>
        </p:nvSpPr>
        <p:spPr>
          <a:xfrm>
            <a:off x="990600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onsolas" pitchFamily="34" charset="0"/>
                <a:ea typeface="Consolas" pitchFamily="34" charset="-122"/>
                <a:cs typeface="Consolas" pitchFamily="34" charset="-120"/>
              </a:rPr>
              <a:t>Pull origin</a:t>
            </a:r>
            <a:endParaRPr lang="en-US" sz="1950" dirty="0"/>
          </a:p>
        </p:txBody>
      </p:sp>
      <p:sp xmlns:p="http://schemas.openxmlformats.org/presentationml/2006/main" xmlns:a="http://schemas.openxmlformats.org/drawingml/2006/main" xmlns:r="http://schemas.openxmlformats.org/officeDocument/2006/relationships">
        <p:nvSpPr>
          <p:cNvPr id="11" name="Text 23"/>
          <p:cNvSpPr/>
          <p:nvPr/>
        </p:nvSpPr>
        <p:spPr>
          <a:xfrm>
            <a:off x="9906000" y="2095500"/>
            <a:ext cx="3473006"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mn-lt"/>
                <a:ea typeface="+mn-ea"/>
                <a:cs typeface="+mn-cs"/>
              </a:rPr>
              <a:t>Download new commits into your files</a:t>
            </a:r>
            <a:endParaRPr lang="en-US" sz="1875" dirty="0"/>
          </a:p>
        </p:txBody>
      </p:sp>
      <p:sp xmlns:p="http://schemas.openxmlformats.org/presentationml/2006/main" xmlns:a="http://schemas.openxmlformats.org/drawingml/2006/main" xmlns:r="http://schemas.openxmlformats.org/officeDocument/2006/relationships">
        <p:nvSpPr>
          <p:cNvPr id="12" name="Shape 24"/>
          <p:cNvSpPr/>
          <p:nvPr/>
        </p:nvSpPr>
        <p:spPr>
          <a:xfrm>
            <a:off x="1809750" y="3271838"/>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13" name="Text 25"/>
          <p:cNvSpPr/>
          <p:nvPr/>
        </p:nvSpPr>
        <p:spPr>
          <a:xfrm>
            <a:off x="1962150" y="3309938"/>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3900488"/>
            <a:ext cx="12845415"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Simulate a teammate (or an agent) changing the repo:</a:t>
            </a:r>
            <a:endParaRPr lang="en-US" sz="2025" dirty="0"/>
          </a:p>
        </p:txBody>
      </p:sp>
      <p:sp xmlns:p="http://schemas.openxmlformats.org/presentationml/2006/main" xmlns:a="http://schemas.openxmlformats.org/drawingml/2006/main" xmlns:r="http://schemas.openxmlformats.org/officeDocument/2006/relationships">
        <p:nvSpPr>
          <p:cNvPr id="15" name="Text 27"/>
          <p:cNvSpPr/>
          <p:nvPr/>
        </p:nvSpPr>
        <p:spPr>
          <a:xfrm>
            <a:off x="1809750" y="4491038"/>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16" name="Text 28"/>
          <p:cNvSpPr/>
          <p:nvPr/>
        </p:nvSpPr>
        <p:spPr>
          <a:xfrm>
            <a:off x="2343150" y="4491038"/>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On GitHub, open README.md › pencil icon. Add a line: </a:t>
            </a:r>
            <a:r>
              <a:rPr lang="en-US" sz="2025" i="1" dirty="0">
                <a:solidFill>
                  <a:srgbClr val="000000"/>
                </a:solidFill>
                <a:latin typeface="+mn-lt"/>
                <a:ea typeface="+mn-ea"/>
                <a:cs typeface="+mn-cs"/>
              </a:rPr>
              <a:t>Units: SI throughout.</a:t>
            </a:r>
            <a:endParaRPr lang="en-US" sz="2025" dirty="0"/>
          </a:p>
        </p:txBody>
      </p:sp>
      <p:sp xmlns:p="http://schemas.openxmlformats.org/presentationml/2006/main" xmlns:a="http://schemas.openxmlformats.org/drawingml/2006/main" xmlns:r="http://schemas.openxmlformats.org/officeDocument/2006/relationships">
        <p:nvSpPr>
          <p:cNvPr id="17" name="Text 29"/>
          <p:cNvSpPr/>
          <p:nvPr/>
        </p:nvSpPr>
        <p:spPr>
          <a:xfrm>
            <a:off x="1809750" y="506730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18" name="Text 30"/>
          <p:cNvSpPr/>
          <p:nvPr/>
        </p:nvSpPr>
        <p:spPr>
          <a:xfrm>
            <a:off x="2343150" y="5067300"/>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Commit changes </a:t>
            </a:r>
            <a:r>
              <a:rPr lang="en-US" sz="2025" dirty="0">
                <a:solidFill>
                  <a:srgbClr val="000000"/>
                </a:solidFill>
                <a:latin typeface="+mn-lt"/>
                <a:ea typeface="+mn-ea"/>
                <a:cs typeface="+mn-cs"/>
              </a:rPr>
              <a:t>directly to main.</a:t>
            </a:r>
            <a:endParaRPr lang="en-US" sz="2025" dirty="0"/>
          </a:p>
        </p:txBody>
      </p:sp>
      <p:sp xmlns:p="http://schemas.openxmlformats.org/presentationml/2006/main" xmlns:a="http://schemas.openxmlformats.org/drawingml/2006/main" xmlns:r="http://schemas.openxmlformats.org/officeDocument/2006/relationships">
        <p:nvSpPr>
          <p:cNvPr id="19" name="Text 31"/>
          <p:cNvSpPr/>
          <p:nvPr/>
        </p:nvSpPr>
        <p:spPr>
          <a:xfrm>
            <a:off x="1809750" y="5643563"/>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20" name="Text 32"/>
          <p:cNvSpPr/>
          <p:nvPr/>
        </p:nvSpPr>
        <p:spPr>
          <a:xfrm>
            <a:off x="2343150" y="5643563"/>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In Desktop: </a:t>
            </a:r>
            <a:r>
              <a:rPr lang="en-US" sz="2025" b="1" dirty="0">
                <a:solidFill>
                  <a:srgbClr val="000000"/>
                </a:solidFill>
                <a:latin typeface="+mn-lt"/>
                <a:ea typeface="+mn-ea"/>
                <a:cs typeface="+mn-cs"/>
              </a:rPr>
              <a:t>Fetch origin</a:t>
            </a:r>
            <a:r>
              <a:rPr lang="en-US" sz="2025" dirty="0">
                <a:solidFill>
                  <a:srgbClr val="000000"/>
                </a:solidFill>
                <a:latin typeface="+mn-lt"/>
                <a:ea typeface="+mn-ea"/>
                <a:cs typeface="+mn-cs"/>
              </a:rPr>
              <a:t>. The button changes to </a:t>
            </a:r>
            <a:r>
              <a:rPr lang="en-US" sz="2025" b="1" dirty="0">
                <a:solidFill>
                  <a:srgbClr val="000000"/>
                </a:solidFill>
                <a:latin typeface="+mn-lt"/>
                <a:ea typeface="+mn-ea"/>
                <a:cs typeface="+mn-cs"/>
              </a:rPr>
              <a:t>Pull origin ↓1</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21" name="Text 33"/>
          <p:cNvSpPr/>
          <p:nvPr/>
        </p:nvSpPr>
        <p:spPr>
          <a:xfrm>
            <a:off x="1809750" y="621982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22" name="Text 34"/>
          <p:cNvSpPr/>
          <p:nvPr/>
        </p:nvSpPr>
        <p:spPr>
          <a:xfrm>
            <a:off x="2343150" y="6219825"/>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Pull origin</a:t>
            </a:r>
            <a:r>
              <a:rPr lang="en-US" sz="2025" dirty="0">
                <a:solidFill>
                  <a:srgbClr val="000000"/>
                </a:solidFill>
                <a:latin typeface="+mn-lt"/>
                <a:ea typeface="+mn-ea"/>
                <a:cs typeface="+mn-cs"/>
              </a:rPr>
              <a:t>. Open README.md locally and confirm the new line.</a:t>
            </a:r>
            <a:endParaRPr lang="en-US" sz="202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6853238"/>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809750" y="7081838"/>
            <a:ext cx="12027980"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Pull before you start. Push when you finish.</a:t>
            </a:r>
            <a:endParaRPr lang="en-US" sz="210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4286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Sync</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5: Work on a Branch</a:t>
            </a:r>
            <a:endParaRPr lang="en-US" dirty="0"/>
          </a:p>
        </p:txBody>
      </p:sp>
      <p:pic xmlns:p="http://schemas.openxmlformats.org/presentationml/2006/main" xmlns:a="http://schemas.openxmlformats.org/drawingml/2006/main" xmlns:r="http://schemas.openxmlformats.org/officeDocument/2006/relationships">
        <p:nvPicPr>
          <p:cNvPr id="3"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09750" y="1571625"/>
            <a:ext cx="11677650" cy="2000250"/>
          </a:xfrm>
          <a:prstGeom prst="rect">
            <a:avLst/>
          </a:prstGeom>
        </p:spPr>
      </p:pic>
      <p:sp xmlns:p="http://schemas.openxmlformats.org/presentationml/2006/main" xmlns:a="http://schemas.openxmlformats.org/drawingml/2006/main" xmlns:r="http://schemas.openxmlformats.org/officeDocument/2006/relationships">
        <p:nvSpPr>
          <p:cNvPr id="4" name="Shape 15"/>
          <p:cNvSpPr/>
          <p:nvPr/>
        </p:nvSpPr>
        <p:spPr>
          <a:xfrm>
            <a:off x="1809750" y="3800475"/>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5" name="Text 16"/>
          <p:cNvSpPr/>
          <p:nvPr/>
        </p:nvSpPr>
        <p:spPr>
          <a:xfrm>
            <a:off x="1962150" y="3838575"/>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6" name="Text 17"/>
          <p:cNvSpPr/>
          <p:nvPr/>
        </p:nvSpPr>
        <p:spPr>
          <a:xfrm>
            <a:off x="1809750" y="4371975"/>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8"/>
          <p:cNvSpPr/>
          <p:nvPr/>
        </p:nvSpPr>
        <p:spPr>
          <a:xfrm>
            <a:off x="2343150" y="4371975"/>
            <a:ext cx="5287994"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Current branch </a:t>
            </a:r>
            <a:r>
              <a:rPr lang="en-US" sz="1950" dirty="0">
                <a:solidFill>
                  <a:srgbClr val="000000"/>
                </a:solidFill>
                <a:latin typeface="+mn-lt"/>
                <a:ea typeface="+mn-ea"/>
                <a:cs typeface="+mn-cs"/>
              </a:rPr>
              <a:t>› </a:t>
            </a:r>
            <a:r>
              <a:rPr lang="en-US" sz="1950" b="1" dirty="0">
                <a:solidFill>
                  <a:srgbClr val="000000"/>
                </a:solidFill>
                <a:latin typeface="+mn-lt"/>
                <a:ea typeface="+mn-ea"/>
                <a:cs typeface="+mn-cs"/>
              </a:rPr>
              <a:t>New branch</a:t>
            </a:r>
            <a:r>
              <a:rPr lang="en-US" sz="1950" dirty="0">
                <a:solidFill>
                  <a:srgbClr val="000000"/>
                </a:solidFill>
                <a:latin typeface="+mn-lt"/>
                <a:ea typeface="+mn-ea"/>
                <a:cs typeface="+mn-cs"/>
              </a:rPr>
              <a:t>: </a:t>
            </a:r>
            <a:r>
              <a:rPr lang="en-US" sz="1725" dirty="0">
                <a:solidFill>
                  <a:srgbClr val="000000"/>
                </a:solidFill>
                <a:latin typeface="Consolas" pitchFamily="34" charset="0"/>
                <a:ea typeface="Consolas" pitchFamily="34" charset="-122"/>
                <a:cs typeface="Consolas" pitchFamily="34" charset="-120"/>
              </a:rPr>
              <a:t>feature/aluminum</a:t>
            </a:r>
            <a:endParaRPr lang="en-US" sz="1950" dirty="0"/>
          </a:p>
        </p:txBody>
      </p:sp>
      <p:sp xmlns:p="http://schemas.openxmlformats.org/presentationml/2006/main" xmlns:a="http://schemas.openxmlformats.org/drawingml/2006/main" xmlns:r="http://schemas.openxmlformats.org/officeDocument/2006/relationships">
        <p:nvSpPr>
          <p:cNvPr id="8" name="Text 19"/>
          <p:cNvSpPr/>
          <p:nvPr/>
        </p:nvSpPr>
        <p:spPr>
          <a:xfrm>
            <a:off x="1809750" y="521781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0"/>
          <p:cNvSpPr/>
          <p:nvPr/>
        </p:nvSpPr>
        <p:spPr>
          <a:xfrm>
            <a:off x="2343150" y="5217815"/>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In beam.m: </a:t>
            </a:r>
            <a:r>
              <a:rPr lang="en-US" sz="1725" dirty="0">
                <a:solidFill>
                  <a:srgbClr val="000000"/>
                </a:solidFill>
                <a:latin typeface="Consolas" pitchFamily="34" charset="0"/>
                <a:ea typeface="Consolas" pitchFamily="34" charset="-122"/>
                <a:cs typeface="Consolas" pitchFamily="34" charset="-120"/>
              </a:rPr>
              <a:t>E = 69e9; % Pa, aluminum</a:t>
            </a:r>
            <a:endParaRPr lang="en-US" sz="1950" dirty="0"/>
          </a:p>
        </p:txBody>
      </p:sp>
      <p:sp xmlns:p="http://schemas.openxmlformats.org/presentationml/2006/main" xmlns:a="http://schemas.openxmlformats.org/drawingml/2006/main" xmlns:r="http://schemas.openxmlformats.org/officeDocument/2006/relationships">
        <p:nvSpPr>
          <p:cNvPr id="10" name="Text 21"/>
          <p:cNvSpPr/>
          <p:nvPr/>
        </p:nvSpPr>
        <p:spPr>
          <a:xfrm>
            <a:off x="1809750" y="5775028"/>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1" name="Text 22"/>
          <p:cNvSpPr/>
          <p:nvPr/>
        </p:nvSpPr>
        <p:spPr>
          <a:xfrm>
            <a:off x="2343150" y="5775028"/>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Commit to feature/aluminum.</a:t>
            </a:r>
            <a:endParaRPr lang="en-US" sz="1950" dirty="0"/>
          </a:p>
        </p:txBody>
      </p:sp>
      <p:sp xmlns:p="http://schemas.openxmlformats.org/presentationml/2006/main" xmlns:a="http://schemas.openxmlformats.org/drawingml/2006/main" xmlns:r="http://schemas.openxmlformats.org/officeDocument/2006/relationships">
        <p:nvSpPr>
          <p:cNvPr id="12" name="Text 23"/>
          <p:cNvSpPr/>
          <p:nvPr/>
        </p:nvSpPr>
        <p:spPr>
          <a:xfrm>
            <a:off x="1809750" y="633224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3" name="Text 24"/>
          <p:cNvSpPr/>
          <p:nvPr/>
        </p:nvSpPr>
        <p:spPr>
          <a:xfrm>
            <a:off x="2343150" y="6332240"/>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Publish branch</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4" name="Text 25"/>
          <p:cNvSpPr/>
          <p:nvPr/>
        </p:nvSpPr>
        <p:spPr>
          <a:xfrm>
            <a:off x="1809750" y="688945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5" name="Text 26"/>
          <p:cNvSpPr/>
          <p:nvPr/>
        </p:nvSpPr>
        <p:spPr>
          <a:xfrm>
            <a:off x="2343150" y="6889453"/>
            <a:ext cx="5287994"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Switch Current branch to main. Look at beam.m.</a:t>
            </a:r>
            <a:endParaRPr lang="en-US" sz="1950" dirty="0"/>
          </a:p>
        </p:txBody>
      </p:sp>
      <p:sp xmlns:p="http://schemas.openxmlformats.org/presentationml/2006/main" xmlns:a="http://schemas.openxmlformats.org/drawingml/2006/main" xmlns:r="http://schemas.openxmlformats.org/officeDocument/2006/relationships">
        <p:nvSpPr>
          <p:cNvPr id="16" name="Text 27"/>
          <p:cNvSpPr/>
          <p:nvPr/>
        </p:nvSpPr>
        <p:spPr>
          <a:xfrm>
            <a:off x="7820025" y="4352925"/>
            <a:ext cx="5837396"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b="1" dirty="0">
                <a:solidFill>
                  <a:srgbClr val="000000"/>
                </a:solidFill>
                <a:latin typeface="+mn-lt"/>
                <a:ea typeface="+mn-ea"/>
                <a:cs typeface="+mn-cs"/>
              </a:rPr>
              <a:t>Branch: </a:t>
            </a:r>
            <a:r>
              <a:rPr lang="en-US" sz="2025" dirty="0">
                <a:solidFill>
                  <a:srgbClr val="000000"/>
                </a:solidFill>
                <a:latin typeface="+mn-lt"/>
                <a:ea typeface="+mn-ea"/>
                <a:cs typeface="+mn-cs"/>
              </a:rPr>
              <a:t>a separate line of commits. main stays unchanged until the branch is merged.</a:t>
            </a:r>
            <a:endParaRPr lang="en-US" sz="2025" dirty="0"/>
          </a:p>
        </p:txBody>
      </p:sp>
      <p:sp xmlns:p="http://schemas.openxmlformats.org/presentationml/2006/main" xmlns:a="http://schemas.openxmlformats.org/drawingml/2006/main" xmlns:r="http://schemas.openxmlformats.org/officeDocument/2006/relationships">
        <p:nvSpPr>
          <p:cNvPr id="17" name="Text 28"/>
          <p:cNvSpPr/>
          <p:nvPr/>
        </p:nvSpPr>
        <p:spPr>
          <a:xfrm>
            <a:off x="7820025" y="5244307"/>
            <a:ext cx="5837396"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000000"/>
                </a:solidFill>
                <a:latin typeface="+mn-lt"/>
                <a:ea typeface="+mn-ea"/>
                <a:cs typeface="+mn-cs"/>
              </a:rPr>
              <a:t>Switching branches swaps the files in your folder. Commit before you switch.</a:t>
            </a:r>
            <a:endParaRPr lang="en-US" sz="2025" dirty="0"/>
          </a:p>
        </p:txBody>
      </p:sp>
      <p:sp xmlns:p="http://schemas.openxmlformats.org/presentationml/2006/main" xmlns:a="http://schemas.openxmlformats.org/drawingml/2006/main" xmlns:r="http://schemas.openxmlformats.org/officeDocument/2006/relationships">
        <p:nvSpPr>
          <p:cNvPr id="18" name="Text 29"/>
          <p:cNvSpPr/>
          <p:nvPr/>
        </p:nvSpPr>
        <p:spPr>
          <a:xfrm>
            <a:off x="7820025" y="6135688"/>
            <a:ext cx="6234113" cy="398066"/>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404040"/>
                </a:solidFill>
                <a:latin typeface="+mn-lt"/>
                <a:ea typeface="+mn-ea"/>
                <a:cs typeface="+mn-cs"/>
              </a:rPr>
              <a:t>Coding agents always work on their own branch.</a:t>
            </a:r>
            <a:endParaRPr lang="en-US" sz="2025" dirty="0"/>
          </a:p>
        </p:txBody>
      </p:sp>
      <p:sp xmlns:p="http://schemas.openxmlformats.org/presentationml/2006/main" xmlns:a="http://schemas.openxmlformats.org/drawingml/2006/main" xmlns:r="http://schemas.openxmlformats.org/officeDocument/2006/relationships">
        <p:nvSpPr>
          <p:cNvPr id="19" name="Nav highlight"/>
          <p:cNvSpPr txBox="1"/>
          <p:nvPr userDrawn="1"/>
        </p:nvSpPr>
        <p:spPr>
          <a:xfrm>
            <a:off x="133350" y="4667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Branches</a:t>
            </a:r>
            <a:endParaRPr lang="en-US" sz="1800" b="1" dirty="0"/>
          </a:p>
        </p:txBody>
      </p:sp>
      <p:sp xmlns:p="http://schemas.openxmlformats.org/presentationml/2006/main" xmlns:a="http://schemas.openxmlformats.org/drawingml/2006/main" xmlns:r="http://schemas.openxmlformats.org/officeDocument/2006/relationships">
        <p:nvSpPr>
          <p:cNvPr id="2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6: Pull Request &amp; Merge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24000"/>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114550"/>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114550"/>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Switch to feature/aluminum. Branch › </a:t>
            </a:r>
            <a:r>
              <a:rPr lang="en-US" sz="2025" b="1" dirty="0">
                <a:solidFill>
                  <a:srgbClr val="000000"/>
                </a:solidFill>
                <a:latin typeface="+mn-lt"/>
                <a:ea typeface="+mn-ea"/>
                <a:cs typeface="+mn-cs"/>
              </a:rPr>
              <a:t>Create pull request </a:t>
            </a:r>
            <a:r>
              <a:rPr lang="en-US" sz="2025" dirty="0">
                <a:solidFill>
                  <a:srgbClr val="000000"/>
                </a:solidFill>
                <a:latin typeface="+mn-lt"/>
                <a:ea typeface="+mn-ea"/>
                <a:cs typeface="+mn-cs"/>
              </a:rPr>
              <a:t>. GitHub opens.</a:t>
            </a:r>
            <a:endParaRPr lang="en-US" sz="202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299938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299938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Add a title and one-line description. </a:t>
            </a:r>
            <a:r>
              <a:rPr lang="en-US" sz="2025" b="1" dirty="0">
                <a:solidFill>
                  <a:srgbClr val="000000"/>
                </a:solidFill>
                <a:latin typeface="+mn-lt"/>
                <a:ea typeface="+mn-ea"/>
                <a:cs typeface="+mn-cs"/>
              </a:rPr>
              <a:t>Create pull request </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884216"/>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3884216"/>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Open </a:t>
            </a:r>
            <a:r>
              <a:rPr lang="en-US" sz="2025" b="1" dirty="0">
                <a:solidFill>
                  <a:srgbClr val="000000"/>
                </a:solidFill>
                <a:latin typeface="+mn-lt"/>
                <a:ea typeface="+mn-ea"/>
                <a:cs typeface="+mn-cs"/>
              </a:rPr>
              <a:t>Files changed</a:t>
            </a:r>
            <a:r>
              <a:rPr lang="en-US" sz="2025" dirty="0">
                <a:solidFill>
                  <a:srgbClr val="000000"/>
                </a:solidFill>
                <a:latin typeface="+mn-lt"/>
                <a:ea typeface="+mn-ea"/>
                <a:cs typeface="+mn-cs"/>
              </a:rPr>
              <a:t>. Review every line.</a:t>
            </a:r>
            <a:endParaRPr lang="en-US" sz="202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46047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46047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mn-lt"/>
                <a:ea typeface="+mn-ea"/>
                <a:cs typeface="+mn-cs"/>
              </a:rPr>
              <a:t>Merge pull request </a:t>
            </a:r>
            <a:r>
              <a:rPr lang="en-US" sz="2025" dirty="0">
                <a:solidFill>
                  <a:srgbClr val="000000"/>
                </a:solidFill>
                <a:latin typeface="+mn-lt"/>
                <a:ea typeface="+mn-ea"/>
                <a:cs typeface="+mn-cs"/>
              </a:rPr>
              <a:t>› Confirm. Then </a:t>
            </a:r>
            <a:r>
              <a:rPr lang="en-US" sz="2025" b="1" dirty="0">
                <a:solidFill>
                  <a:srgbClr val="000000"/>
                </a:solidFill>
                <a:latin typeface="+mn-lt"/>
                <a:ea typeface="+mn-ea"/>
                <a:cs typeface="+mn-cs"/>
              </a:rPr>
              <a:t>Delete branch </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3" name="Text 25"/>
          <p:cNvSpPr/>
          <p:nvPr/>
        </p:nvSpPr>
        <p:spPr>
          <a:xfrm>
            <a:off x="1809750" y="534531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4" name="Text 26"/>
          <p:cNvSpPr/>
          <p:nvPr/>
        </p:nvSpPr>
        <p:spPr>
          <a:xfrm>
            <a:off x="2343150" y="5345311"/>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mn-lt"/>
                <a:ea typeface="+mn-ea"/>
                <a:cs typeface="+mn-cs"/>
              </a:rPr>
              <a:t>In Desktop: switch to main, </a:t>
            </a:r>
            <a:r>
              <a:rPr lang="en-US" sz="2025" b="1" dirty="0">
                <a:solidFill>
                  <a:srgbClr val="000000"/>
                </a:solidFill>
                <a:latin typeface="+mn-lt"/>
                <a:ea typeface="+mn-ea"/>
                <a:cs typeface="+mn-cs"/>
              </a:rPr>
              <a:t>Pull origin</a:t>
            </a:r>
            <a:r>
              <a:rPr lang="en-US" sz="2025" dirty="0">
                <a:solidFill>
                  <a:srgbClr val="000000"/>
                </a:solidFill>
                <a:latin typeface="+mn-lt"/>
                <a:ea typeface="+mn-ea"/>
                <a:cs typeface="+mn-cs"/>
              </a:rPr>
              <a:t>.</a:t>
            </a:r>
            <a:endParaRPr lang="en-US" sz="202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5940623"/>
            <a:ext cx="5715000" cy="1112441"/>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6" name="Text 28"/>
          <p:cNvSpPr/>
          <p:nvPr/>
        </p:nvSpPr>
        <p:spPr>
          <a:xfrm>
            <a:off x="2038350" y="6150173"/>
            <a:ext cx="5429250"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A pull request is a review checkpoint. Nothing reaches main until someone clicks Merge.</a:t>
            </a:r>
            <a:endParaRPr lang="en-US" sz="1950" dirty="0"/>
          </a:p>
        </p:txBody>
      </p:sp>
      <p:sp xmlns:p="http://schemas.openxmlformats.org/presentationml/2006/main" xmlns:a="http://schemas.openxmlformats.org/drawingml/2006/main" xmlns:r="http://schemas.openxmlformats.org/officeDocument/2006/relationships">
        <p:nvSpPr>
          <p:cNvPr id="17" name="Nav highlight"/>
          <p:cNvSpPr txBox="1"/>
          <p:nvPr userDrawn="1"/>
        </p:nvSpPr>
        <p:spPr>
          <a:xfrm>
            <a:off x="133350" y="4667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Branches</a:t>
            </a:r>
            <a:endParaRPr lang="en-US" sz="1800" b="1" dirty="0"/>
          </a:p>
        </p:txBody>
      </p:sp>
      <p:sp xmlns:p="http://schemas.openxmlformats.org/presentationml/2006/main" xmlns:a="http://schemas.openxmlformats.org/drawingml/2006/main" xmlns:r="http://schemas.openxmlformats.org/officeDocument/2006/relationships">
        <p:nvSpPr>
          <p:cNvPr id="1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9"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7: Resolve a Conflict</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524000"/>
            <a:ext cx="6082665"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000000"/>
                </a:solidFill>
                <a:latin typeface="+mn-lt"/>
                <a:ea typeface="+mn-ea"/>
                <a:cs typeface="+mn-cs"/>
              </a:rPr>
              <a:t>A conflict happens when two commits change the same lines. You decide the result.</a:t>
            </a:r>
            <a:endParaRPr lang="en-US" sz="2025"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415381"/>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5" name="Text 17"/>
          <p:cNvSpPr/>
          <p:nvPr/>
        </p:nvSpPr>
        <p:spPr>
          <a:xfrm>
            <a:off x="1962150" y="2453481"/>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6" name="Text 18"/>
          <p:cNvSpPr/>
          <p:nvPr/>
        </p:nvSpPr>
        <p:spPr>
          <a:xfrm>
            <a:off x="1809750" y="2967831"/>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7" name="Text 19"/>
          <p:cNvSpPr/>
          <p:nvPr/>
        </p:nvSpPr>
        <p:spPr>
          <a:xfrm>
            <a:off x="2343150" y="2967831"/>
            <a:ext cx="5533263"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On GitHub, edit beam.m on main: </a:t>
            </a:r>
            <a:r>
              <a:rPr lang="en-US" sz="1725" dirty="0">
                <a:solidFill>
                  <a:srgbClr val="000000"/>
                </a:solidFill>
                <a:latin typeface="Consolas" pitchFamily="34" charset="0"/>
                <a:ea typeface="Consolas" pitchFamily="34" charset="-122"/>
                <a:cs typeface="Consolas" pitchFamily="34" charset="-120"/>
              </a:rPr>
              <a:t>L = 2.5; </a:t>
            </a:r>
            <a:r>
              <a:rPr lang="en-US" sz="1950" dirty="0">
                <a:solidFill>
                  <a:srgbClr val="000000"/>
                </a:solidFill>
                <a:latin typeface="+mn-lt"/>
                <a:ea typeface="+mn-ea"/>
                <a:cs typeface="+mn-cs"/>
              </a:rPr>
              <a:t>. Commit.</a:t>
            </a:r>
            <a:endParaRPr lang="en-US" sz="1950" dirty="0"/>
          </a:p>
        </p:txBody>
      </p:sp>
      <p:sp xmlns:p="http://schemas.openxmlformats.org/presentationml/2006/main" xmlns:a="http://schemas.openxmlformats.org/drawingml/2006/main" xmlns:r="http://schemas.openxmlformats.org/officeDocument/2006/relationships">
        <p:nvSpPr>
          <p:cNvPr id="8" name="Text 20"/>
          <p:cNvSpPr/>
          <p:nvPr/>
        </p:nvSpPr>
        <p:spPr>
          <a:xfrm>
            <a:off x="1809750" y="3794621"/>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9" name="Text 21"/>
          <p:cNvSpPr/>
          <p:nvPr/>
        </p:nvSpPr>
        <p:spPr>
          <a:xfrm>
            <a:off x="2343150" y="3794621"/>
            <a:ext cx="5533263"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Locally, on main: </a:t>
            </a:r>
            <a:r>
              <a:rPr lang="en-US" sz="1725" dirty="0">
                <a:solidFill>
                  <a:srgbClr val="000000"/>
                </a:solidFill>
                <a:latin typeface="Consolas" pitchFamily="34" charset="0"/>
                <a:ea typeface="Consolas" pitchFamily="34" charset="-122"/>
                <a:cs typeface="Consolas" pitchFamily="34" charset="-120"/>
              </a:rPr>
              <a:t>L = 3.0; </a:t>
            </a:r>
            <a:r>
              <a:rPr lang="en-US" sz="1950" dirty="0">
                <a:solidFill>
                  <a:srgbClr val="000000"/>
                </a:solidFill>
                <a:latin typeface="+mn-lt"/>
                <a:ea typeface="+mn-ea"/>
                <a:cs typeface="+mn-cs"/>
              </a:rPr>
              <a:t>. Commit. Don’t pull first.</a:t>
            </a:r>
            <a:endParaRPr lang="en-US" sz="1950" dirty="0"/>
          </a:p>
        </p:txBody>
      </p:sp>
      <p:sp xmlns:p="http://schemas.openxmlformats.org/presentationml/2006/main" xmlns:a="http://schemas.openxmlformats.org/drawingml/2006/main" xmlns:r="http://schemas.openxmlformats.org/officeDocument/2006/relationships">
        <p:nvSpPr>
          <p:cNvPr id="10" name="Text 22"/>
          <p:cNvSpPr/>
          <p:nvPr/>
        </p:nvSpPr>
        <p:spPr>
          <a:xfrm>
            <a:off x="1809750" y="462141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1" name="Text 23"/>
          <p:cNvSpPr/>
          <p:nvPr/>
        </p:nvSpPr>
        <p:spPr>
          <a:xfrm>
            <a:off x="2343150" y="4621411"/>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Push origin </a:t>
            </a:r>
            <a:r>
              <a:rPr lang="en-US" sz="1950" dirty="0">
                <a:solidFill>
                  <a:srgbClr val="000000"/>
                </a:solidFill>
                <a:latin typeface="+mn-lt"/>
                <a:ea typeface="+mn-ea"/>
                <a:cs typeface="+mn-cs"/>
              </a:rPr>
              <a:t>is rejected. Click </a:t>
            </a:r>
            <a:r>
              <a:rPr lang="en-US" sz="1950" b="1" dirty="0">
                <a:solidFill>
                  <a:srgbClr val="000000"/>
                </a:solidFill>
                <a:latin typeface="+mn-lt"/>
                <a:ea typeface="+mn-ea"/>
                <a:cs typeface="+mn-cs"/>
              </a:rPr>
              <a:t>Pull origin</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2" name="Text 24"/>
          <p:cNvSpPr/>
          <p:nvPr/>
        </p:nvSpPr>
        <p:spPr>
          <a:xfrm>
            <a:off x="1809750" y="515957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3" name="Text 25"/>
          <p:cNvSpPr/>
          <p:nvPr/>
        </p:nvSpPr>
        <p:spPr>
          <a:xfrm>
            <a:off x="2343150" y="5159573"/>
            <a:ext cx="5533263"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Desktop lists the conflicted file. </a:t>
            </a:r>
            <a:r>
              <a:rPr lang="en-US" sz="1950" b="1" dirty="0">
                <a:solidFill>
                  <a:srgbClr val="000000"/>
                </a:solidFill>
                <a:latin typeface="+mn-lt"/>
                <a:ea typeface="+mn-ea"/>
                <a:cs typeface="+mn-cs"/>
              </a:rPr>
              <a:t>Open in Visual Studio Code </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4" name="Text 26"/>
          <p:cNvSpPr/>
          <p:nvPr/>
        </p:nvSpPr>
        <p:spPr>
          <a:xfrm>
            <a:off x="1809750" y="5980509"/>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5" name="Text 27"/>
          <p:cNvSpPr/>
          <p:nvPr/>
        </p:nvSpPr>
        <p:spPr>
          <a:xfrm>
            <a:off x="2343150" y="5980509"/>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Keep one value, delete the markers, save.</a:t>
            </a:r>
            <a:endParaRPr lang="en-US" sz="1950" dirty="0"/>
          </a:p>
        </p:txBody>
      </p:sp>
      <p:sp xmlns:p="http://schemas.openxmlformats.org/presentationml/2006/main" xmlns:a="http://schemas.openxmlformats.org/drawingml/2006/main" xmlns:r="http://schemas.openxmlformats.org/officeDocument/2006/relationships">
        <p:nvSpPr>
          <p:cNvPr id="16" name="Text 28"/>
          <p:cNvSpPr/>
          <p:nvPr/>
        </p:nvSpPr>
        <p:spPr>
          <a:xfrm>
            <a:off x="1809750" y="6518672"/>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6</a:t>
            </a:r>
            <a:endParaRPr lang="en-US" sz="2250" dirty="0"/>
          </a:p>
        </p:txBody>
      </p:sp>
      <p:sp xmlns:p="http://schemas.openxmlformats.org/presentationml/2006/main" xmlns:a="http://schemas.openxmlformats.org/drawingml/2006/main" xmlns:r="http://schemas.openxmlformats.org/officeDocument/2006/relationships">
        <p:nvSpPr>
          <p:cNvPr id="17" name="Text 29"/>
          <p:cNvSpPr/>
          <p:nvPr/>
        </p:nvSpPr>
        <p:spPr>
          <a:xfrm>
            <a:off x="2343150" y="6518672"/>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mn-lt"/>
                <a:ea typeface="+mn-ea"/>
                <a:cs typeface="+mn-cs"/>
              </a:rPr>
              <a:t>Continue merge</a:t>
            </a:r>
            <a:r>
              <a:rPr lang="en-US" sz="1950" dirty="0">
                <a:solidFill>
                  <a:srgbClr val="000000"/>
                </a:solidFill>
                <a:latin typeface="+mn-lt"/>
                <a:ea typeface="+mn-ea"/>
                <a:cs typeface="+mn-cs"/>
              </a:rPr>
              <a:t>, then </a:t>
            </a:r>
            <a:r>
              <a:rPr lang="en-US" sz="1950" b="1" dirty="0">
                <a:solidFill>
                  <a:srgbClr val="000000"/>
                </a:solidFill>
                <a:latin typeface="+mn-lt"/>
                <a:ea typeface="+mn-ea"/>
                <a:cs typeface="+mn-cs"/>
              </a:rPr>
              <a:t>Push origin</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8" name="Text 30"/>
          <p:cNvSpPr/>
          <p:nvPr/>
        </p:nvSpPr>
        <p:spPr>
          <a:xfrm>
            <a:off x="8001000" y="1524000"/>
            <a:ext cx="6035040" cy="298450"/>
          </a:xfrm>
          <a:prstGeom prst="rect">
            <a:avLst/>
          </a:prstGeom>
          <a:noFill/>
          <a:ln/>
        </p:spPr>
        <p:txBody>
          <a:bodyPr wrap="square" lIns="25400" tIns="25400" rIns="25400" bIns="25400" rtlCol="0" anchor="t">
            <a:normAutofit/>
          </a:bodyPr>
          <a:lstStyle/>
          <a:p>
            <a:pPr algn="l" indent="0" marL="0">
              <a:buNone/>
            </a:pPr>
            <a:r>
              <a:rPr lang="en-US" sz="1800" b="1" dirty="0">
                <a:solidFill>
                  <a:srgbClr val="000000"/>
                </a:solidFill>
                <a:latin typeface="Consolas" pitchFamily="34" charset="0"/>
                <a:ea typeface="Consolas" pitchFamily="34" charset="-122"/>
                <a:cs typeface="Consolas" pitchFamily="34" charset="-120"/>
              </a:rPr>
              <a:t>beam.m during the conflict</a:t>
            </a:r>
            <a:endParaRPr lang="en-US" sz="1800" dirty="0"/>
          </a:p>
        </p:txBody>
      </p:sp>
      <p:sp xmlns:p="http://schemas.openxmlformats.org/presentationml/2006/main" xmlns:a="http://schemas.openxmlformats.org/drawingml/2006/main" xmlns:r="http://schemas.openxmlformats.org/officeDocument/2006/relationships">
        <p:nvSpPr>
          <p:cNvPr id="19" name="Shape 31"/>
          <p:cNvSpPr/>
          <p:nvPr/>
        </p:nvSpPr>
        <p:spPr>
          <a:xfrm>
            <a:off x="8001000" y="1936750"/>
            <a:ext cx="5486400" cy="2987378"/>
          </a:xfrm>
          <a:prstGeom prst="roundRect">
            <a:avLst>
              <a:gd name="adj" fmla="val 3826"/>
            </a:avLst>
          </a:prstGeom>
          <a:solidFill>
            <a:srgbClr val="1E1E1E"/>
          </a:solidFill>
          <a:ln/>
        </p:spPr>
      </p:sp>
      <p:sp xmlns:p="http://schemas.openxmlformats.org/presentationml/2006/main" xmlns:a="http://schemas.openxmlformats.org/drawingml/2006/main" xmlns:r="http://schemas.openxmlformats.org/officeDocument/2006/relationships">
        <p:nvSpPr>
          <p:cNvPr id="20" name="Text 32"/>
          <p:cNvSpPr/>
          <p:nvPr/>
        </p:nvSpPr>
        <p:spPr>
          <a:xfrm>
            <a:off x="8248650" y="2165350"/>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E = 200e9;   </a:t>
            </a:r>
            <a:r>
              <a:rPr lang="en-US" sz="1725" dirty="0">
                <a:solidFill>
                  <a:srgbClr val="6A9955"/>
                </a:solidFill>
                <a:latin typeface="Consolas" pitchFamily="34" charset="0"/>
                <a:ea typeface="Consolas" pitchFamily="34" charset="-122"/>
                <a:cs typeface="Consolas" pitchFamily="34" charset="-120"/>
              </a:rPr>
              <a:t>% Pa</a:t>
            </a:r>
            <a:endParaRPr lang="en-US" sz="1725" dirty="0"/>
          </a:p>
        </p:txBody>
      </p:sp>
      <p:sp xmlns:p="http://schemas.openxmlformats.org/presentationml/2006/main" xmlns:a="http://schemas.openxmlformats.org/drawingml/2006/main" xmlns:r="http://schemas.openxmlformats.org/officeDocument/2006/relationships">
        <p:nvSpPr>
          <p:cNvPr id="21" name="Text 33"/>
          <p:cNvSpPr/>
          <p:nvPr/>
        </p:nvSpPr>
        <p:spPr>
          <a:xfrm>
            <a:off x="8248650" y="2526804"/>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onsolas" pitchFamily="34" charset="0"/>
                <a:ea typeface="Consolas" pitchFamily="34" charset="-122"/>
                <a:cs typeface="Consolas" pitchFamily="34" charset="-120"/>
              </a:rPr>
              <a:t>&lt;&lt;&lt;&lt;&lt;&lt;&lt; HEAD</a:t>
            </a:r>
            <a:endParaRPr lang="en-US" sz="1725" dirty="0"/>
          </a:p>
        </p:txBody>
      </p:sp>
      <p:sp xmlns:p="http://schemas.openxmlformats.org/presentationml/2006/main" xmlns:a="http://schemas.openxmlformats.org/drawingml/2006/main" xmlns:r="http://schemas.openxmlformats.org/officeDocument/2006/relationships">
        <p:nvSpPr>
          <p:cNvPr id="22" name="Text 34"/>
          <p:cNvSpPr/>
          <p:nvPr/>
        </p:nvSpPr>
        <p:spPr>
          <a:xfrm>
            <a:off x="8248650" y="2888258"/>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L = 3.0;     </a:t>
            </a:r>
            <a:r>
              <a:rPr lang="en-US" sz="1725" dirty="0">
                <a:solidFill>
                  <a:srgbClr val="6A9955"/>
                </a:solidFill>
                <a:latin typeface="Consolas" pitchFamily="34" charset="0"/>
                <a:ea typeface="Consolas" pitchFamily="34" charset="-122"/>
                <a:cs typeface="Consolas" pitchFamily="34" charset="-120"/>
              </a:rPr>
              <a:t>% m</a:t>
            </a:r>
            <a:endParaRPr lang="en-US" sz="1725" dirty="0"/>
          </a:p>
        </p:txBody>
      </p:sp>
      <p:sp xmlns:p="http://schemas.openxmlformats.org/presentationml/2006/main" xmlns:a="http://schemas.openxmlformats.org/drawingml/2006/main" xmlns:r="http://schemas.openxmlformats.org/officeDocument/2006/relationships">
        <p:nvSpPr>
          <p:cNvPr id="23" name="Text 35"/>
          <p:cNvSpPr/>
          <p:nvPr/>
        </p:nvSpPr>
        <p:spPr>
          <a:xfrm>
            <a:off x="8248650" y="3249712"/>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onsolas" pitchFamily="34" charset="0"/>
                <a:ea typeface="Consolas" pitchFamily="34" charset="-122"/>
                <a:cs typeface="Consolas" pitchFamily="34" charset="-120"/>
              </a:rPr>
              <a:t>=======</a:t>
            </a:r>
            <a:endParaRPr lang="en-US" sz="1725" dirty="0"/>
          </a:p>
        </p:txBody>
      </p:sp>
      <p:sp xmlns:p="http://schemas.openxmlformats.org/presentationml/2006/main" xmlns:a="http://schemas.openxmlformats.org/drawingml/2006/main" xmlns:r="http://schemas.openxmlformats.org/officeDocument/2006/relationships">
        <p:nvSpPr>
          <p:cNvPr id="24" name="Text 36"/>
          <p:cNvSpPr/>
          <p:nvPr/>
        </p:nvSpPr>
        <p:spPr>
          <a:xfrm>
            <a:off x="8248650" y="3611166"/>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L = 2.5;     </a:t>
            </a:r>
            <a:r>
              <a:rPr lang="en-US" sz="1725" dirty="0">
                <a:solidFill>
                  <a:srgbClr val="6A9955"/>
                </a:solidFill>
                <a:latin typeface="Consolas" pitchFamily="34" charset="0"/>
                <a:ea typeface="Consolas" pitchFamily="34" charset="-122"/>
                <a:cs typeface="Consolas" pitchFamily="34" charset="-120"/>
              </a:rPr>
              <a:t>% m</a:t>
            </a:r>
            <a:endParaRPr lang="en-US" sz="1725" dirty="0"/>
          </a:p>
        </p:txBody>
      </p:sp>
      <p:sp xmlns:p="http://schemas.openxmlformats.org/presentationml/2006/main" xmlns:a="http://schemas.openxmlformats.org/drawingml/2006/main" xmlns:r="http://schemas.openxmlformats.org/officeDocument/2006/relationships">
        <p:nvSpPr>
          <p:cNvPr id="25" name="Text 37"/>
          <p:cNvSpPr/>
          <p:nvPr/>
        </p:nvSpPr>
        <p:spPr>
          <a:xfrm>
            <a:off x="8248650" y="3972620"/>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onsolas" pitchFamily="34" charset="0"/>
                <a:ea typeface="Consolas" pitchFamily="34" charset="-122"/>
                <a:cs typeface="Consolas" pitchFamily="34" charset="-120"/>
              </a:rPr>
              <a:t>&gt;&gt;&gt;&gt;&gt;&gt;&gt; origin/main</a:t>
            </a:r>
            <a:endParaRPr lang="en-US" sz="1725" dirty="0"/>
          </a:p>
        </p:txBody>
      </p:sp>
      <p:sp xmlns:p="http://schemas.openxmlformats.org/presentationml/2006/main" xmlns:a="http://schemas.openxmlformats.org/drawingml/2006/main" xmlns:r="http://schemas.openxmlformats.org/officeDocument/2006/relationships">
        <p:nvSpPr>
          <p:cNvPr id="26" name="Text 38"/>
          <p:cNvSpPr/>
          <p:nvPr/>
        </p:nvSpPr>
        <p:spPr>
          <a:xfrm>
            <a:off x="8248650" y="4334074"/>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onsolas" pitchFamily="34" charset="0"/>
                <a:ea typeface="Consolas" pitchFamily="34" charset="-122"/>
                <a:cs typeface="Consolas" pitchFamily="34" charset="-120"/>
              </a:rPr>
              <a:t>P = 750.0;   </a:t>
            </a:r>
            <a:r>
              <a:rPr lang="en-US" sz="1725" dirty="0">
                <a:solidFill>
                  <a:srgbClr val="6A9955"/>
                </a:solidFill>
                <a:latin typeface="Consolas" pitchFamily="34" charset="0"/>
                <a:ea typeface="Consolas" pitchFamily="34" charset="-122"/>
                <a:cs typeface="Consolas" pitchFamily="34" charset="-120"/>
              </a:rPr>
              <a:t>% N</a:t>
            </a:r>
            <a:endParaRPr lang="en-US" sz="1725" dirty="0"/>
          </a:p>
        </p:txBody>
      </p:sp>
      <p:sp xmlns:p="http://schemas.openxmlformats.org/presentationml/2006/main" xmlns:a="http://schemas.openxmlformats.org/drawingml/2006/main" xmlns:r="http://schemas.openxmlformats.org/officeDocument/2006/relationships">
        <p:nvSpPr>
          <p:cNvPr id="27" name="Text 39"/>
          <p:cNvSpPr/>
          <p:nvPr/>
        </p:nvSpPr>
        <p:spPr>
          <a:xfrm>
            <a:off x="8001000" y="5076527"/>
            <a:ext cx="1620738" cy="346670"/>
          </a:xfrm>
          <a:prstGeom prst="rect">
            <a:avLst/>
          </a:prstGeom>
          <a:noFill/>
          <a:ln/>
        </p:spPr>
        <p:txBody>
          <a:bodyPr wrap="square" lIns="25400" tIns="25400" rIns="25400" bIns="25400" rtlCol="0" anchor="t">
            <a:normAutofit/>
          </a:bodyPr>
          <a:lstStyle/>
          <a:p>
            <a:pPr algn="l" indent="0" marL="0">
              <a:lnSpc>
                <a:spcPct val="118537"/>
              </a:lnSpc>
              <a:buNone/>
            </a:pPr>
            <a:r>
              <a:rPr lang="en-US" sz="1800" b="1" dirty="0">
                <a:solidFill>
                  <a:srgbClr val="000000"/>
                </a:solidFill>
                <a:latin typeface="Consolas" pitchFamily="34" charset="0"/>
                <a:ea typeface="Consolas" pitchFamily="34" charset="-122"/>
                <a:cs typeface="Consolas" pitchFamily="34" charset="-120"/>
              </a:rPr>
              <a:t>HEAD</a:t>
            </a:r>
            <a:endParaRPr lang="en-US" sz="1800" dirty="0"/>
          </a:p>
        </p:txBody>
      </p:sp>
      <p:sp xmlns:p="http://schemas.openxmlformats.org/presentationml/2006/main" xmlns:a="http://schemas.openxmlformats.org/drawingml/2006/main" xmlns:r="http://schemas.openxmlformats.org/officeDocument/2006/relationships">
        <p:nvSpPr>
          <p:cNvPr id="28" name="Text 40"/>
          <p:cNvSpPr/>
          <p:nvPr/>
        </p:nvSpPr>
        <p:spPr>
          <a:xfrm>
            <a:off x="9645848" y="5076527"/>
            <a:ext cx="4225707"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your local version</a:t>
            </a:r>
            <a:endParaRPr lang="en-US" sz="1800" dirty="0"/>
          </a:p>
        </p:txBody>
      </p:sp>
      <p:sp xmlns:p="http://schemas.openxmlformats.org/presentationml/2006/main" xmlns:a="http://schemas.openxmlformats.org/drawingml/2006/main" xmlns:r="http://schemas.openxmlformats.org/officeDocument/2006/relationships">
        <p:nvSpPr>
          <p:cNvPr id="29" name="Text 41"/>
          <p:cNvSpPr/>
          <p:nvPr/>
        </p:nvSpPr>
        <p:spPr>
          <a:xfrm>
            <a:off x="8001000" y="5480348"/>
            <a:ext cx="1620738" cy="346670"/>
          </a:xfrm>
          <a:prstGeom prst="rect">
            <a:avLst/>
          </a:prstGeom>
          <a:noFill/>
          <a:ln/>
        </p:spPr>
        <p:txBody>
          <a:bodyPr wrap="square" lIns="25400" tIns="25400" rIns="25400" bIns="25400" rtlCol="0" anchor="t">
            <a:normAutofit/>
          </a:bodyPr>
          <a:lstStyle/>
          <a:p>
            <a:pPr algn="l" indent="0" marL="0">
              <a:lnSpc>
                <a:spcPct val="118537"/>
              </a:lnSpc>
              <a:buNone/>
            </a:pPr>
            <a:r>
              <a:rPr lang="en-US" sz="1800" b="1" dirty="0">
                <a:solidFill>
                  <a:srgbClr val="000000"/>
                </a:solidFill>
                <a:latin typeface="Consolas" pitchFamily="34" charset="0"/>
                <a:ea typeface="Consolas" pitchFamily="34" charset="-122"/>
                <a:cs typeface="Consolas" pitchFamily="34" charset="-120"/>
              </a:rPr>
              <a:t>origin/main</a:t>
            </a:r>
            <a:endParaRPr lang="en-US" sz="1800" dirty="0"/>
          </a:p>
        </p:txBody>
      </p:sp>
      <p:sp xmlns:p="http://schemas.openxmlformats.org/presentationml/2006/main" xmlns:a="http://schemas.openxmlformats.org/drawingml/2006/main" xmlns:r="http://schemas.openxmlformats.org/officeDocument/2006/relationships">
        <p:nvSpPr>
          <p:cNvPr id="30" name="Text 42"/>
          <p:cNvSpPr/>
          <p:nvPr/>
        </p:nvSpPr>
        <p:spPr>
          <a:xfrm>
            <a:off x="9645848" y="5480348"/>
            <a:ext cx="4225707"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mn-lt"/>
                <a:ea typeface="+mn-ea"/>
                <a:cs typeface="+mn-cs"/>
              </a:rPr>
              <a:t>the version from GitHub</a:t>
            </a:r>
            <a:endParaRPr lang="en-US" sz="1800" dirty="0"/>
          </a:p>
        </p:txBody>
      </p:sp>
      <p:sp xmlns:p="http://schemas.openxmlformats.org/presentationml/2006/main" xmlns:a="http://schemas.openxmlformats.org/drawingml/2006/main" xmlns:r="http://schemas.openxmlformats.org/officeDocument/2006/relationships">
        <p:nvSpPr>
          <p:cNvPr id="31" name="Nav highlight"/>
          <p:cNvSpPr txBox="1"/>
          <p:nvPr userDrawn="1"/>
        </p:nvSpPr>
        <p:spPr>
          <a:xfrm>
            <a:off x="133350" y="5048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Conflicts</a:t>
            </a:r>
            <a:endParaRPr lang="en-US" sz="1800" b="1" dirty="0"/>
          </a:p>
        </p:txBody>
      </p:sp>
      <p:sp xmlns:p="http://schemas.openxmlformats.org/presentationml/2006/main" xmlns:a="http://schemas.openxmlformats.org/drawingml/2006/main" xmlns:r="http://schemas.openxmlformats.org/officeDocument/2006/relationships">
        <p:nvSpPr>
          <p:cNvPr id="3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3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8: History &amp; Undo</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23812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21145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Situation</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4191000" y="1571625"/>
            <a:ext cx="54864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4362450" y="1724025"/>
            <a:ext cx="5308092"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What to do</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9677400" y="1571625"/>
            <a:ext cx="38100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8" name="Text 20"/>
          <p:cNvSpPr/>
          <p:nvPr/>
        </p:nvSpPr>
        <p:spPr>
          <a:xfrm>
            <a:off x="9848850" y="1724025"/>
            <a:ext cx="358140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GitHub Desktop</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1809750" y="3109913"/>
            <a:ext cx="2381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1981200" y="2338388"/>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Not committed</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4191000" y="3109913"/>
            <a:ext cx="5486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4362450" y="2338388"/>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Throw away edits to a file</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9677400" y="3109913"/>
            <a:ext cx="3810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9848850" y="2338388"/>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Changes › right-click › Discard changes</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4052888"/>
            <a:ext cx="2381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3281363"/>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Committed, not pushed</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4191000" y="4052888"/>
            <a:ext cx="5486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4362450" y="3281363"/>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Take back the last commit; edits return to Changes</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9677400" y="4052888"/>
            <a:ext cx="3810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9848850" y="3281363"/>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Undo button (below commit box)</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1809750" y="4995863"/>
            <a:ext cx="23812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1981200" y="4224338"/>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Already pushed</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4191000" y="4995863"/>
            <a:ext cx="54864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4362450" y="4224338"/>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Add a new commit that reverses an old one</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9677400" y="4995863"/>
            <a:ext cx="3810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9848850" y="4224338"/>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History › right-click › Revert changes in commit</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5262563"/>
            <a:ext cx="1314450" cy="381000"/>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62150" y="5300663"/>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29" name="Text 41"/>
          <p:cNvSpPr/>
          <p:nvPr/>
        </p:nvSpPr>
        <p:spPr>
          <a:xfrm>
            <a:off x="1809750" y="583406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30" name="Text 42"/>
          <p:cNvSpPr/>
          <p:nvPr/>
        </p:nvSpPr>
        <p:spPr>
          <a:xfrm>
            <a:off x="2343150" y="5834063"/>
            <a:ext cx="53370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Open the </a:t>
            </a:r>
            <a:r>
              <a:rPr lang="en-US" sz="1950" b="1" dirty="0">
                <a:solidFill>
                  <a:srgbClr val="000000"/>
                </a:solidFill>
                <a:latin typeface="+mn-lt"/>
                <a:ea typeface="+mn-ea"/>
                <a:cs typeface="+mn-cs"/>
              </a:rPr>
              <a:t>History </a:t>
            </a:r>
            <a:r>
              <a:rPr lang="en-US" sz="1950" dirty="0">
                <a:solidFill>
                  <a:srgbClr val="000000"/>
                </a:solidFill>
                <a:latin typeface="+mn-lt"/>
                <a:ea typeface="+mn-ea"/>
                <a:cs typeface="+mn-cs"/>
              </a:rPr>
              <a:t>tab. Click each commit to see its diff.</a:t>
            </a:r>
            <a:endParaRPr lang="en-US" sz="1950" dirty="0"/>
          </a:p>
        </p:txBody>
      </p:sp>
      <p:sp xmlns:p="http://schemas.openxmlformats.org/presentationml/2006/main" xmlns:a="http://schemas.openxmlformats.org/drawingml/2006/main" xmlns:r="http://schemas.openxmlformats.org/officeDocument/2006/relationships">
        <p:nvSpPr>
          <p:cNvPr id="31" name="Text 43"/>
          <p:cNvSpPr/>
          <p:nvPr/>
        </p:nvSpPr>
        <p:spPr>
          <a:xfrm>
            <a:off x="1809750" y="6674048"/>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32" name="Text 44"/>
          <p:cNvSpPr/>
          <p:nvPr/>
        </p:nvSpPr>
        <p:spPr>
          <a:xfrm>
            <a:off x="2343150" y="6674048"/>
            <a:ext cx="53370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Right-click </a:t>
            </a:r>
            <a:r>
              <a:rPr lang="en-US" sz="1950" i="1" dirty="0">
                <a:solidFill>
                  <a:srgbClr val="000000"/>
                </a:solidFill>
                <a:latin typeface="+mn-lt"/>
                <a:ea typeface="+mn-ea"/>
                <a:cs typeface="+mn-cs"/>
              </a:rPr>
              <a:t>Increase tip load to 750 N </a:t>
            </a:r>
            <a:r>
              <a:rPr lang="en-US" sz="1950" dirty="0">
                <a:solidFill>
                  <a:srgbClr val="000000"/>
                </a:solidFill>
                <a:latin typeface="+mn-lt"/>
                <a:ea typeface="+mn-ea"/>
                <a:cs typeface="+mn-cs"/>
              </a:rPr>
              <a:t>› </a:t>
            </a:r>
            <a:r>
              <a:rPr lang="en-US" sz="1950" b="1" dirty="0">
                <a:solidFill>
                  <a:srgbClr val="000000"/>
                </a:solidFill>
                <a:latin typeface="+mn-lt"/>
                <a:ea typeface="+mn-ea"/>
                <a:cs typeface="+mn-cs"/>
              </a:rPr>
              <a:t>Revert changes in commit </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33" name="Text 45"/>
          <p:cNvSpPr/>
          <p:nvPr/>
        </p:nvSpPr>
        <p:spPr>
          <a:xfrm>
            <a:off x="1809750" y="7514034"/>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34" name="Text 46"/>
          <p:cNvSpPr/>
          <p:nvPr/>
        </p:nvSpPr>
        <p:spPr>
          <a:xfrm>
            <a:off x="2343150" y="7514034"/>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Check beam.m: P is back to 500. Push origin.</a:t>
            </a:r>
            <a:endParaRPr lang="en-US" sz="1950" dirty="0"/>
          </a:p>
        </p:txBody>
      </p:sp>
      <p:sp xmlns:p="http://schemas.openxmlformats.org/presentationml/2006/main" xmlns:a="http://schemas.openxmlformats.org/drawingml/2006/main" xmlns:r="http://schemas.openxmlformats.org/officeDocument/2006/relationships">
        <p:nvSpPr>
          <p:cNvPr id="35" name="Nav highlight"/>
          <p:cNvSpPr txBox="1"/>
          <p:nvPr userDrawn="1"/>
        </p:nvSpPr>
        <p:spPr>
          <a:xfrm>
            <a:off x="133350" y="5429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History</a:t>
            </a:r>
            <a:endParaRPr lang="en-US" sz="1800" b="1" dirty="0"/>
          </a:p>
        </p:txBody>
      </p:sp>
      <p:sp xmlns:p="http://schemas.openxmlformats.org/presentationml/2006/main" xmlns:a="http://schemas.openxmlformats.org/drawingml/2006/main" xmlns:r="http://schemas.openxmlformats.org/officeDocument/2006/relationships">
        <p:nvSpPr>
          <p:cNvPr id="3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3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README, .gitignore, AGENTS.md</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onsolas" pitchFamily="34" charset="0"/>
                <a:ea typeface="Consolas" pitchFamily="34" charset="-122"/>
                <a:cs typeface="Consolas" pitchFamily="34" charset="-120"/>
              </a:rPr>
              <a:t>README.md</a:t>
            </a:r>
            <a:endParaRPr lang="en-US" sz="1950" dirty="0"/>
          </a:p>
        </p:txBody>
      </p:sp>
      <p:sp xmlns:p="http://schemas.openxmlformats.org/presentationml/2006/main" xmlns:a="http://schemas.openxmlformats.org/drawingml/2006/main" xmlns:r="http://schemas.openxmlformats.org/officeDocument/2006/relationships">
        <p:nvSpPr>
          <p:cNvPr id="4" name="Text 16"/>
          <p:cNvSpPr/>
          <p:nvPr/>
        </p:nvSpPr>
        <p:spPr>
          <a:xfrm>
            <a:off x="1809750" y="1990725"/>
            <a:ext cx="3878517" cy="95250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mn-lt"/>
                <a:ea typeface="+mn-ea"/>
                <a:cs typeface="+mn-cs"/>
              </a:rPr>
              <a:t>What it is and how to run it. Shown on the repo’s GitHub page.</a:t>
            </a:r>
            <a:endParaRPr lang="en-US" sz="1800" dirty="0"/>
          </a:p>
        </p:txBody>
      </p:sp>
      <p:sp xmlns:p="http://schemas.openxmlformats.org/presentationml/2006/main" xmlns:a="http://schemas.openxmlformats.org/drawingml/2006/main" xmlns:r="http://schemas.openxmlformats.org/officeDocument/2006/relationships">
        <p:nvSpPr>
          <p:cNvPr id="5" name="Shape 17"/>
          <p:cNvSpPr/>
          <p:nvPr/>
        </p:nvSpPr>
        <p:spPr>
          <a:xfrm>
            <a:off x="1809750" y="3038475"/>
            <a:ext cx="3765550" cy="4953000"/>
          </a:xfrm>
          <a:prstGeom prst="roundRect">
            <a:avLst>
              <a:gd name="adj" fmla="val 3035"/>
            </a:avLst>
          </a:prstGeom>
          <a:solidFill>
            <a:srgbClr val="1E1E1E"/>
          </a:solidFill>
          <a:ln/>
        </p:spPr>
      </p:sp>
      <p:sp xmlns:p="http://schemas.openxmlformats.org/presentationml/2006/main" xmlns:a="http://schemas.openxmlformats.org/drawingml/2006/main" xmlns:r="http://schemas.openxmlformats.org/officeDocument/2006/relationships">
        <p:nvSpPr>
          <p:cNvPr id="6" name="Text 18"/>
          <p:cNvSpPr/>
          <p:nvPr/>
        </p:nvSpPr>
        <p:spPr>
          <a:xfrm>
            <a:off x="2019300" y="3228975"/>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beam-calc</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Cantilever tip deflection.</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Run</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In MATLAB: beam</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Test</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runtests('tests')</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Units: SI throughout.</a:t>
            </a:r>
            <a:endParaRPr lang="en-US" sz="1575" dirty="0"/>
          </a:p>
        </p:txBody>
      </p:sp>
      <p:sp xmlns:p="http://schemas.openxmlformats.org/presentationml/2006/main" xmlns:a="http://schemas.openxmlformats.org/drawingml/2006/main" xmlns:r="http://schemas.openxmlformats.org/officeDocument/2006/relationships">
        <p:nvSpPr>
          <p:cNvPr id="7" name="Text 19"/>
          <p:cNvSpPr/>
          <p:nvPr/>
        </p:nvSpPr>
        <p:spPr>
          <a:xfrm>
            <a:off x="576580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onsolas" pitchFamily="34" charset="0"/>
                <a:ea typeface="Consolas" pitchFamily="34" charset="-122"/>
                <a:cs typeface="Consolas" pitchFamily="34" charset="-120"/>
              </a:rPr>
              <a:t>.gitignore</a:t>
            </a:r>
            <a:endParaRPr lang="en-US" sz="1950" dirty="0"/>
          </a:p>
        </p:txBody>
      </p:sp>
      <p:sp xmlns:p="http://schemas.openxmlformats.org/presentationml/2006/main" xmlns:a="http://schemas.openxmlformats.org/drawingml/2006/main" xmlns:r="http://schemas.openxmlformats.org/officeDocument/2006/relationships">
        <p:nvSpPr>
          <p:cNvPr id="8" name="Text 20"/>
          <p:cNvSpPr/>
          <p:nvPr/>
        </p:nvSpPr>
        <p:spPr>
          <a:xfrm>
            <a:off x="5765800" y="1990725"/>
            <a:ext cx="3878517" cy="95250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mn-lt"/>
                <a:ea typeface="+mn-ea"/>
                <a:cs typeface="+mn-cs"/>
              </a:rPr>
              <a:t>Files Git should never track: outputs, data, secrets.</a:t>
            </a:r>
            <a:endParaRPr lang="en-US" sz="1800" dirty="0"/>
          </a:p>
        </p:txBody>
      </p:sp>
      <p:sp xmlns:p="http://schemas.openxmlformats.org/presentationml/2006/main" xmlns:a="http://schemas.openxmlformats.org/drawingml/2006/main" xmlns:r="http://schemas.openxmlformats.org/officeDocument/2006/relationships">
        <p:nvSpPr>
          <p:cNvPr id="9" name="Shape 21"/>
          <p:cNvSpPr/>
          <p:nvPr/>
        </p:nvSpPr>
        <p:spPr>
          <a:xfrm>
            <a:off x="5765800" y="3038475"/>
            <a:ext cx="3765550" cy="4953000"/>
          </a:xfrm>
          <a:prstGeom prst="roundRect">
            <a:avLst>
              <a:gd name="adj" fmla="val 3035"/>
            </a:avLst>
          </a:prstGeom>
          <a:solidFill>
            <a:srgbClr val="1E1E1E"/>
          </a:solidFill>
          <a:ln/>
        </p:spPr>
      </p:sp>
      <p:sp xmlns:p="http://schemas.openxmlformats.org/presentationml/2006/main" xmlns:a="http://schemas.openxmlformats.org/drawingml/2006/main" xmlns:r="http://schemas.openxmlformats.org/officeDocument/2006/relationships">
        <p:nvSpPr>
          <p:cNvPr id="10" name="Text 22"/>
          <p:cNvSpPr/>
          <p:nvPr/>
        </p:nvSpPr>
        <p:spPr>
          <a:xfrm>
            <a:off x="5975350" y="3228975"/>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6A9955"/>
                </a:solidFill>
                <a:latin typeface="Consolas" pitchFamily="34" charset="0"/>
                <a:ea typeface="Consolas" pitchFamily="34" charset="-122"/>
                <a:cs typeface="Consolas" pitchFamily="34" charset="-120"/>
              </a:rPr>
              <a:t># MATLAB</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*.asv</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*.mex*</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slprj/</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codegen/ </a:t>
            </a:r>
            <a:endParaRPr lang="en-US" sz="1575" dirty="0"/>
          </a:p>
          <a:p>
            <a:pPr algn="l" indent="0" marL="0">
              <a:lnSpc>
                <a:spcPct val="140000"/>
              </a:lnSpc>
              <a:buNone/>
            </a:pPr>
            <a:r>
              <a:rPr lang="en-US" sz="1575" dirty="0">
                <a:solidFill>
                  <a:srgbClr val="6A9955"/>
                </a:solidFill>
                <a:latin typeface="Consolas" pitchFamily="34" charset="0"/>
                <a:ea typeface="Consolas" pitchFamily="34" charset="-122"/>
                <a:cs typeface="Consolas" pitchFamily="34" charset="-120"/>
              </a:rPr>
              <a:t># Outputs and data</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results/</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data/raw/ </a:t>
            </a:r>
            <a:endParaRPr lang="en-US" sz="1575" dirty="0"/>
          </a:p>
          <a:p>
            <a:pPr algn="l" indent="0" marL="0">
              <a:lnSpc>
                <a:spcPct val="140000"/>
              </a:lnSpc>
              <a:buNone/>
            </a:pPr>
            <a:r>
              <a:rPr lang="en-US" sz="1575" dirty="0">
                <a:solidFill>
                  <a:srgbClr val="6A9955"/>
                </a:solidFill>
                <a:latin typeface="Consolas" pitchFamily="34" charset="0"/>
                <a:ea typeface="Consolas" pitchFamily="34" charset="-122"/>
                <a:cs typeface="Consolas" pitchFamily="34" charset="-120"/>
              </a:rPr>
              <a:t># Secrets</a:t>
            </a:r>
            <a:endParaRPr lang="en-US" sz="1575" dirty="0"/>
          </a:p>
          <a:p>
            <a:pPr algn="l" indent="0" marL="0">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.env</a:t>
            </a:r>
            <a:endParaRPr lang="en-US" sz="1575" dirty="0"/>
          </a:p>
        </p:txBody>
      </p:sp>
      <p:sp xmlns:p="http://schemas.openxmlformats.org/presentationml/2006/main" xmlns:a="http://schemas.openxmlformats.org/drawingml/2006/main" xmlns:r="http://schemas.openxmlformats.org/officeDocument/2006/relationships">
        <p:nvSpPr>
          <p:cNvPr id="11" name="Text 23"/>
          <p:cNvSpPr/>
          <p:nvPr/>
        </p:nvSpPr>
        <p:spPr>
          <a:xfrm>
            <a:off x="972185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onsolas" pitchFamily="34" charset="0"/>
                <a:ea typeface="Consolas" pitchFamily="34" charset="-122"/>
                <a:cs typeface="Consolas" pitchFamily="34" charset="-120"/>
              </a:rPr>
              <a:t>AGENTS.md</a:t>
            </a:r>
            <a:endParaRPr lang="en-US" sz="1950" dirty="0"/>
          </a:p>
        </p:txBody>
      </p:sp>
      <p:sp xmlns:p="http://schemas.openxmlformats.org/presentationml/2006/main" xmlns:a="http://schemas.openxmlformats.org/drawingml/2006/main" xmlns:r="http://schemas.openxmlformats.org/officeDocument/2006/relationships">
        <p:nvSpPr>
          <p:cNvPr id="12" name="Text 24"/>
          <p:cNvSpPr/>
          <p:nvPr/>
        </p:nvSpPr>
        <p:spPr>
          <a:xfrm>
            <a:off x="9721850" y="1990725"/>
            <a:ext cx="3878517" cy="96381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mn-lt"/>
                <a:ea typeface="+mn-ea"/>
                <a:cs typeface="+mn-cs"/>
              </a:rPr>
              <a:t>Standing instructions Codex reads before every task. Covered in Lesson 2.</a:t>
            </a:r>
            <a:endParaRPr lang="en-US" sz="1800" dirty="0"/>
          </a:p>
        </p:txBody>
      </p:sp>
      <p:sp xmlns:p="http://schemas.openxmlformats.org/presentationml/2006/main" xmlns:a="http://schemas.openxmlformats.org/drawingml/2006/main" xmlns:r="http://schemas.openxmlformats.org/officeDocument/2006/relationships">
        <p:nvSpPr>
          <p:cNvPr id="13" name="Shape 25"/>
          <p:cNvSpPr/>
          <p:nvPr/>
        </p:nvSpPr>
        <p:spPr>
          <a:xfrm>
            <a:off x="9721850" y="3049786"/>
            <a:ext cx="3765550" cy="4953000"/>
          </a:xfrm>
          <a:prstGeom prst="roundRect">
            <a:avLst>
              <a:gd name="adj" fmla="val 3035"/>
            </a:avLst>
          </a:prstGeom>
          <a:solidFill>
            <a:srgbClr val="1E1E1E"/>
          </a:solidFill>
          <a:ln/>
        </p:spPr>
      </p:sp>
      <p:sp xmlns:p="http://schemas.openxmlformats.org/presentationml/2006/main" xmlns:a="http://schemas.openxmlformats.org/drawingml/2006/main" xmlns:r="http://schemas.openxmlformats.org/officeDocument/2006/relationships">
        <p:nvSpPr>
          <p:cNvPr id="14" name="Text 26"/>
          <p:cNvSpPr/>
          <p:nvPr/>
        </p:nvSpPr>
        <p:spPr>
          <a:xfrm>
            <a:off x="9931400" y="3240286"/>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AGENTS.md</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Project</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MATLAB R2024b,</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no extra toolboxes.</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Conventions</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SI units; comment</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units on every constant.</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Before committing</a:t>
            </a:r>
            <a:endParaRPr lang="en-US" sz="1575" dirty="0"/>
          </a:p>
          <a:p>
            <a:pPr algn="l" indent="0" marL="0">
              <a:lnSpc>
                <a:spcPct val="140000"/>
              </a:lnSpc>
              <a:buNone/>
            </a:pPr>
            <a:r>
              <a:rPr lang="en-US" sz="1575" dirty="0">
                <a:solidFill>
                  <a:srgbClr val="D4D4D4"/>
                </a:solidFill>
                <a:latin typeface="Consolas" pitchFamily="34" charset="0"/>
                <a:ea typeface="Consolas" pitchFamily="34" charset="-122"/>
                <a:cs typeface="Consolas" pitchFamily="34" charset="-120"/>
              </a:rPr>
              <a:t>- Run runtests('tests')</a:t>
            </a:r>
            <a:endParaRPr lang="en-US" sz="1575"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Public vs. Private &amp; Data</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619250"/>
            <a:ext cx="5743575" cy="1241425"/>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4" name="Text 16"/>
          <p:cNvSpPr/>
          <p:nvPr/>
        </p:nvSpPr>
        <p:spPr>
          <a:xfrm>
            <a:off x="2038350" y="1847850"/>
            <a:ext cx="5815013"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Public</a:t>
            </a:r>
            <a:endParaRPr lang="en-US" sz="2100" dirty="0"/>
          </a:p>
        </p:txBody>
      </p:sp>
      <p:sp xmlns:p="http://schemas.openxmlformats.org/presentationml/2006/main" xmlns:a="http://schemas.openxmlformats.org/drawingml/2006/main" xmlns:r="http://schemas.openxmlformats.org/officeDocument/2006/relationships">
        <p:nvSpPr>
          <p:cNvPr id="5" name="Text 17"/>
          <p:cNvSpPr/>
          <p:nvPr/>
        </p:nvSpPr>
        <p:spPr>
          <a:xfrm>
            <a:off x="2038350" y="2298700"/>
            <a:ext cx="5815013" cy="371475"/>
          </a:xfrm>
          <a:prstGeom prst="rect">
            <a:avLst/>
          </a:prstGeom>
          <a:noFill/>
          <a:ln/>
        </p:spPr>
        <p:txBody>
          <a:bodyPr wrap="square" lIns="25400" tIns="25400" rIns="25400" bIns="25400" rtlCol="0" anchor="t">
            <a:normAutofit/>
          </a:bodyPr>
          <a:lstStyle/>
          <a:p>
            <a:pPr algn="l" indent="0" marL="0">
              <a:lnSpc>
                <a:spcPct val="107143"/>
              </a:lnSpc>
              <a:buNone/>
            </a:pPr>
            <a:r>
              <a:rPr lang="en-US" sz="1875" dirty="0">
                <a:solidFill>
                  <a:srgbClr val="000000"/>
                </a:solidFill>
                <a:latin typeface="+mn-lt"/>
                <a:ea typeface="+mn-ea"/>
                <a:cs typeface="+mn-cs"/>
              </a:rPr>
              <a:t>Anyone on the internet can view and copy it.</a:t>
            </a:r>
            <a:endParaRPr lang="en-US" sz="1875" dirty="0"/>
          </a:p>
        </p:txBody>
      </p:sp>
      <p:sp xmlns:p="http://schemas.openxmlformats.org/presentationml/2006/main" xmlns:a="http://schemas.openxmlformats.org/drawingml/2006/main" xmlns:r="http://schemas.openxmlformats.org/officeDocument/2006/relationships">
        <p:nvSpPr>
          <p:cNvPr id="6" name="Shape 18"/>
          <p:cNvSpPr/>
          <p:nvPr/>
        </p:nvSpPr>
        <p:spPr>
          <a:xfrm>
            <a:off x="7743825" y="1619250"/>
            <a:ext cx="5743575" cy="1241425"/>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7" name="Text 19"/>
          <p:cNvSpPr/>
          <p:nvPr/>
        </p:nvSpPr>
        <p:spPr>
          <a:xfrm>
            <a:off x="7972425" y="1847850"/>
            <a:ext cx="5815013"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FFFFFF"/>
                </a:solidFill>
                <a:latin typeface="+mn-lt"/>
                <a:ea typeface="+mn-ea"/>
                <a:cs typeface="+mn-cs"/>
              </a:rPr>
              <a:t>Private (default for this course)</a:t>
            </a:r>
            <a:endParaRPr lang="en-US" sz="2100" dirty="0"/>
          </a:p>
        </p:txBody>
      </p:sp>
      <p:sp xmlns:p="http://schemas.openxmlformats.org/presentationml/2006/main" xmlns:a="http://schemas.openxmlformats.org/drawingml/2006/main" xmlns:r="http://schemas.openxmlformats.org/officeDocument/2006/relationships">
        <p:nvSpPr>
          <p:cNvPr id="8" name="Text 20"/>
          <p:cNvSpPr/>
          <p:nvPr/>
        </p:nvSpPr>
        <p:spPr>
          <a:xfrm>
            <a:off x="7972425" y="2298700"/>
            <a:ext cx="5815013" cy="371475"/>
          </a:xfrm>
          <a:prstGeom prst="rect">
            <a:avLst/>
          </a:prstGeom>
          <a:noFill/>
          <a:ln/>
        </p:spPr>
        <p:txBody>
          <a:bodyPr wrap="square" lIns="25400" tIns="25400" rIns="25400" bIns="25400" rtlCol="0" anchor="t">
            <a:normAutofit/>
          </a:bodyPr>
          <a:lstStyle/>
          <a:p>
            <a:pPr algn="l" indent="0" marL="0">
              <a:lnSpc>
                <a:spcPct val="107143"/>
              </a:lnSpc>
              <a:buNone/>
            </a:pPr>
            <a:r>
              <a:rPr lang="en-US" sz="1875" dirty="0">
                <a:solidFill>
                  <a:srgbClr val="FFFFFF"/>
                </a:solidFill>
                <a:latin typeface="+mn-lt"/>
                <a:ea typeface="+mn-ea"/>
                <a:cs typeface="+mn-cs"/>
              </a:rPr>
              <a:t>Only you and people you invite.</a:t>
            </a:r>
            <a:endParaRPr lang="en-US" sz="187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3146425"/>
            <a:ext cx="6213158"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Never commit</a:t>
            </a:r>
            <a:endParaRPr lang="en-US" sz="2100" dirty="0"/>
          </a:p>
        </p:txBody>
      </p:sp>
      <p:sp xmlns:p="http://schemas.openxmlformats.org/presentationml/2006/main" xmlns:a="http://schemas.openxmlformats.org/drawingml/2006/main" xmlns:r="http://schemas.openxmlformats.org/officeDocument/2006/relationships">
        <p:nvSpPr>
          <p:cNvPr id="10" name="Shape 22"/>
          <p:cNvSpPr/>
          <p:nvPr/>
        </p:nvSpPr>
        <p:spPr>
          <a:xfrm>
            <a:off x="1809750" y="3749675"/>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1" name="Text 23"/>
          <p:cNvSpPr/>
          <p:nvPr/>
        </p:nvSpPr>
        <p:spPr>
          <a:xfrm>
            <a:off x="2057400" y="3635375"/>
            <a:ext cx="3307834"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Passwords, API keys, tokens</a:t>
            </a:r>
            <a:endParaRPr lang="en-US" sz="1950" dirty="0"/>
          </a:p>
        </p:txBody>
      </p:sp>
      <p:sp xmlns:p="http://schemas.openxmlformats.org/presentationml/2006/main" xmlns:a="http://schemas.openxmlformats.org/drawingml/2006/main" xmlns:r="http://schemas.openxmlformats.org/officeDocument/2006/relationships">
        <p:nvSpPr>
          <p:cNvPr id="12" name="Shape 24"/>
          <p:cNvSpPr/>
          <p:nvPr/>
        </p:nvSpPr>
        <p:spPr>
          <a:xfrm>
            <a:off x="1809750" y="4198243"/>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3" name="Text 25"/>
          <p:cNvSpPr/>
          <p:nvPr/>
        </p:nvSpPr>
        <p:spPr>
          <a:xfrm>
            <a:off x="2057400" y="4083943"/>
            <a:ext cx="327683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Student records, grades, PII</a:t>
            </a:r>
            <a:endParaRPr lang="en-US" sz="1950" dirty="0"/>
          </a:p>
        </p:txBody>
      </p:sp>
      <p:sp xmlns:p="http://schemas.openxmlformats.org/presentationml/2006/main" xmlns:a="http://schemas.openxmlformats.org/drawingml/2006/main" xmlns:r="http://schemas.openxmlformats.org/officeDocument/2006/relationships">
        <p:nvSpPr>
          <p:cNvPr id="14" name="Shape 26"/>
          <p:cNvSpPr/>
          <p:nvPr/>
        </p:nvSpPr>
        <p:spPr>
          <a:xfrm>
            <a:off x="1809750" y="4646811"/>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5" name="Text 27"/>
          <p:cNvSpPr/>
          <p:nvPr/>
        </p:nvSpPr>
        <p:spPr>
          <a:xfrm>
            <a:off x="2057400" y="4532511"/>
            <a:ext cx="3540740"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CUI or export-controlled data</a:t>
            </a:r>
            <a:endParaRPr lang="en-US" sz="1950" dirty="0"/>
          </a:p>
        </p:txBody>
      </p:sp>
      <p:sp xmlns:p="http://schemas.openxmlformats.org/presentationml/2006/main" xmlns:a="http://schemas.openxmlformats.org/drawingml/2006/main" xmlns:r="http://schemas.openxmlformats.org/officeDocument/2006/relationships">
        <p:nvSpPr>
          <p:cNvPr id="16" name="Shape 28"/>
          <p:cNvSpPr/>
          <p:nvPr/>
        </p:nvSpPr>
        <p:spPr>
          <a:xfrm>
            <a:off x="1809750" y="5095379"/>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7" name="Text 29"/>
          <p:cNvSpPr/>
          <p:nvPr/>
        </p:nvSpPr>
        <p:spPr>
          <a:xfrm>
            <a:off x="2057400" y="4981079"/>
            <a:ext cx="3845679"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Anything not cleared for release</a:t>
            </a:r>
            <a:endParaRPr lang="en-US" sz="1950" dirty="0"/>
          </a:p>
        </p:txBody>
      </p:sp>
      <p:sp xmlns:p="http://schemas.openxmlformats.org/presentationml/2006/main" xmlns:a="http://schemas.openxmlformats.org/drawingml/2006/main" xmlns:r="http://schemas.openxmlformats.org/officeDocument/2006/relationships">
        <p:nvSpPr>
          <p:cNvPr id="18" name="Text 30"/>
          <p:cNvSpPr/>
          <p:nvPr/>
        </p:nvSpPr>
        <p:spPr>
          <a:xfrm>
            <a:off x="7839075" y="3146425"/>
            <a:ext cx="6213158"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mn-lt"/>
                <a:ea typeface="+mn-ea"/>
                <a:cs typeface="+mn-cs"/>
              </a:rPr>
              <a:t>Remember</a:t>
            </a:r>
            <a:endParaRPr lang="en-US" sz="2100" dirty="0"/>
          </a:p>
        </p:txBody>
      </p:sp>
      <p:sp xmlns:p="http://schemas.openxmlformats.org/presentationml/2006/main" xmlns:a="http://schemas.openxmlformats.org/drawingml/2006/main" xmlns:r="http://schemas.openxmlformats.org/officeDocument/2006/relationships">
        <p:nvSpPr>
          <p:cNvPr id="19" name="Shape 31"/>
          <p:cNvSpPr/>
          <p:nvPr/>
        </p:nvSpPr>
        <p:spPr>
          <a:xfrm>
            <a:off x="7839075" y="3749675"/>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20" name="Text 32"/>
          <p:cNvSpPr/>
          <p:nvPr/>
        </p:nvSpPr>
        <p:spPr>
          <a:xfrm>
            <a:off x="8086725" y="3635375"/>
            <a:ext cx="5562695"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History is permanent. Deleting a file later doesn’t remove it from past commits.</a:t>
            </a:r>
            <a:endParaRPr lang="en-US" sz="1950" dirty="0"/>
          </a:p>
        </p:txBody>
      </p:sp>
      <p:sp xmlns:p="http://schemas.openxmlformats.org/presentationml/2006/main" xmlns:a="http://schemas.openxmlformats.org/drawingml/2006/main" xmlns:r="http://schemas.openxmlformats.org/officeDocument/2006/relationships">
        <p:nvSpPr>
          <p:cNvPr id="21" name="Shape 33"/>
          <p:cNvSpPr/>
          <p:nvPr/>
        </p:nvSpPr>
        <p:spPr>
          <a:xfrm>
            <a:off x="7839075" y="4532511"/>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22" name="Text 34"/>
          <p:cNvSpPr/>
          <p:nvPr/>
        </p:nvSpPr>
        <p:spPr>
          <a:xfrm>
            <a:off x="8086725" y="4418211"/>
            <a:ext cx="4699486"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Pushed a secret? Rotate it immediately.</a:t>
            </a:r>
            <a:endParaRPr lang="en-US" sz="1950" dirty="0"/>
          </a:p>
        </p:txBody>
      </p:sp>
      <p:sp xmlns:p="http://schemas.openxmlformats.org/presentationml/2006/main" xmlns:a="http://schemas.openxmlformats.org/drawingml/2006/main" xmlns:r="http://schemas.openxmlformats.org/officeDocument/2006/relationships">
        <p:nvSpPr>
          <p:cNvPr id="23" name="Shape 35"/>
          <p:cNvSpPr/>
          <p:nvPr/>
        </p:nvSpPr>
        <p:spPr>
          <a:xfrm>
            <a:off x="7839075" y="4981079"/>
            <a:ext cx="114300" cy="11430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24" name="Text 36"/>
          <p:cNvSpPr/>
          <p:nvPr/>
        </p:nvSpPr>
        <p:spPr>
          <a:xfrm>
            <a:off x="8086725" y="4866779"/>
            <a:ext cx="5562695"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mn-lt"/>
                <a:ea typeface="+mn-ea"/>
                <a:cs typeface="+mn-cs"/>
              </a:rPr>
              <a:t>Connecting a repo to an agent sends its contents to that service.</a:t>
            </a:r>
            <a:endParaRPr lang="en-US" sz="1950" dirty="0"/>
          </a:p>
        </p:txBody>
      </p:sp>
      <p:sp xmlns:p="http://schemas.openxmlformats.org/presentationml/2006/main" xmlns:a="http://schemas.openxmlformats.org/drawingml/2006/main" xmlns:r="http://schemas.openxmlformats.org/officeDocument/2006/relationships">
        <p:nvSpPr>
          <p:cNvPr id="25" name="Shape 37"/>
          <p:cNvSpPr/>
          <p:nvPr/>
        </p:nvSpPr>
        <p:spPr>
          <a:xfrm>
            <a:off x="1809750" y="5821065"/>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1809750" y="6049665"/>
            <a:ext cx="12027980" cy="384770"/>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mn-lt"/>
                <a:ea typeface="+mn-ea"/>
                <a:cs typeface="+mn-cs"/>
              </a:rPr>
              <a:t>Follow current USAFA guidance on GenAI tools and data handling. Private is not the same as approved.</a:t>
            </a:r>
            <a:endParaRPr lang="en-US" sz="1950" dirty="0"/>
          </a:p>
        </p:txBody>
      </p:sp>
      <p:sp xmlns:p="http://schemas.openxmlformats.org/presentationml/2006/main" xmlns:a="http://schemas.openxmlformats.org/drawingml/2006/main" xmlns:r="http://schemas.openxmlformats.org/officeDocument/2006/relationships">
        <p:nvSpPr>
          <p:cNvPr id="27"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xmlns:p="http://schemas.openxmlformats.org/presentationml/2006/main" xmlns:a="http://schemas.openxmlformats.org/drawingml/2006/main" xmlns:r="http://schemas.openxmlformats.org/officeDocument/2006/relationships">
        <p:nvSpPr>
          <p:cNvPr id="2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29"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Agent-Ready Checklist</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mn-lt"/>
                <a:ea typeface="+mn-ea"/>
                <a:cs typeface="+mn-cs"/>
              </a:rPr>
              <a:t>Before Lesson 2, bring one of your own projects to this state:</a:t>
            </a:r>
            <a:endParaRPr lang="en-US" sz="2100" dirty="0"/>
          </a:p>
        </p:txBody>
      </p:sp>
      <p:sp xmlns:p="http://schemas.openxmlformats.org/presentationml/2006/main" xmlns:a="http://schemas.openxmlformats.org/drawingml/2006/main" xmlns:r="http://schemas.openxmlformats.org/officeDocument/2006/relationships">
        <p:nvSpPr>
          <p:cNvPr id="4" name="Shape 16"/>
          <p:cNvSpPr/>
          <p:nvPr/>
        </p:nvSpPr>
        <p:spPr>
          <a:xfrm>
            <a:off x="1809750" y="22225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 name="Shape 17"/>
          <p:cNvSpPr/>
          <p:nvPr/>
        </p:nvSpPr>
        <p:spPr>
          <a:xfrm>
            <a:off x="1809750" y="29083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6" name="Shape 18"/>
          <p:cNvSpPr/>
          <p:nvPr/>
        </p:nvSpPr>
        <p:spPr>
          <a:xfrm>
            <a:off x="1809750" y="24066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7" name="Text 19"/>
          <p:cNvSpPr/>
          <p:nvPr/>
        </p:nvSpPr>
        <p:spPr>
          <a:xfrm>
            <a:off x="2355850" y="2403475"/>
            <a:ext cx="3831928"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Repo is on GitHub and </a:t>
            </a:r>
            <a:r>
              <a:rPr lang="en-US" sz="2025" b="1" dirty="0">
                <a:solidFill>
                  <a:srgbClr val="000000"/>
                </a:solidFill>
                <a:latin typeface="+mn-lt"/>
                <a:ea typeface="+mn-ea"/>
                <a:cs typeface="+mn-cs"/>
              </a:rPr>
              <a:t>private</a:t>
            </a:r>
            <a:endParaRPr lang="en-US" sz="2025" dirty="0"/>
          </a:p>
        </p:txBody>
      </p:sp>
      <p:sp xmlns:p="http://schemas.openxmlformats.org/presentationml/2006/main" xmlns:a="http://schemas.openxmlformats.org/drawingml/2006/main" xmlns:r="http://schemas.openxmlformats.org/officeDocument/2006/relationships">
        <p:nvSpPr>
          <p:cNvPr id="8" name="Shape 20"/>
          <p:cNvSpPr/>
          <p:nvPr/>
        </p:nvSpPr>
        <p:spPr>
          <a:xfrm>
            <a:off x="1809750" y="35941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9" name="Shape 21"/>
          <p:cNvSpPr/>
          <p:nvPr/>
        </p:nvSpPr>
        <p:spPr>
          <a:xfrm>
            <a:off x="1809750" y="30924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0" name="Text 22"/>
          <p:cNvSpPr/>
          <p:nvPr/>
        </p:nvSpPr>
        <p:spPr>
          <a:xfrm>
            <a:off x="2355850" y="3089275"/>
            <a:ext cx="4028271"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main runs as-is (you’ve tested it)</a:t>
            </a:r>
            <a:endParaRPr lang="en-US" sz="2025"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42799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Shape 24"/>
          <p:cNvSpPr/>
          <p:nvPr/>
        </p:nvSpPr>
        <p:spPr>
          <a:xfrm>
            <a:off x="1809750" y="37782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3" name="Text 25"/>
          <p:cNvSpPr/>
          <p:nvPr/>
        </p:nvSpPr>
        <p:spPr>
          <a:xfrm>
            <a:off x="2355850" y="3775075"/>
            <a:ext cx="3857794"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README explains how to run it</a:t>
            </a:r>
            <a:endParaRPr lang="en-US" sz="2025" dirty="0"/>
          </a:p>
        </p:txBody>
      </p:sp>
      <p:sp xmlns:p="http://schemas.openxmlformats.org/presentationml/2006/main" xmlns:a="http://schemas.openxmlformats.org/drawingml/2006/main" xmlns:r="http://schemas.openxmlformats.org/officeDocument/2006/relationships">
        <p:nvSpPr>
          <p:cNvPr id="14" name="Shape 26"/>
          <p:cNvSpPr/>
          <p:nvPr/>
        </p:nvSpPr>
        <p:spPr>
          <a:xfrm>
            <a:off x="1809750" y="49657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5" name="Shape 27"/>
          <p:cNvSpPr/>
          <p:nvPr/>
        </p:nvSpPr>
        <p:spPr>
          <a:xfrm>
            <a:off x="1809750" y="44640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6" name="Text 28"/>
          <p:cNvSpPr/>
          <p:nvPr/>
        </p:nvSpPr>
        <p:spPr>
          <a:xfrm>
            <a:off x="2355850" y="4460875"/>
            <a:ext cx="5627072"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.gitignore excludes outputs, data, and secrets</a:t>
            </a:r>
            <a:endParaRPr lang="en-US" sz="2025" dirty="0"/>
          </a:p>
        </p:txBody>
      </p:sp>
      <p:sp xmlns:p="http://schemas.openxmlformats.org/presentationml/2006/main" xmlns:a="http://schemas.openxmlformats.org/drawingml/2006/main" xmlns:r="http://schemas.openxmlformats.org/officeDocument/2006/relationships">
        <p:nvSpPr>
          <p:cNvPr id="17" name="Shape 29"/>
          <p:cNvSpPr/>
          <p:nvPr/>
        </p:nvSpPr>
        <p:spPr>
          <a:xfrm>
            <a:off x="1809750" y="56515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Shape 30"/>
          <p:cNvSpPr/>
          <p:nvPr/>
        </p:nvSpPr>
        <p:spPr>
          <a:xfrm>
            <a:off x="1809750" y="51498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9" name="Text 31"/>
          <p:cNvSpPr/>
          <p:nvPr/>
        </p:nvSpPr>
        <p:spPr>
          <a:xfrm>
            <a:off x="2355850" y="5146675"/>
            <a:ext cx="4653429"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No sensitive data anywhere in history</a:t>
            </a:r>
            <a:endParaRPr lang="en-US" sz="2025" dirty="0"/>
          </a:p>
        </p:txBody>
      </p:sp>
      <p:sp xmlns:p="http://schemas.openxmlformats.org/presentationml/2006/main" xmlns:a="http://schemas.openxmlformats.org/drawingml/2006/main" xmlns:r="http://schemas.openxmlformats.org/officeDocument/2006/relationships">
        <p:nvSpPr>
          <p:cNvPr id="20" name="Shape 32"/>
          <p:cNvSpPr/>
          <p:nvPr/>
        </p:nvSpPr>
        <p:spPr>
          <a:xfrm>
            <a:off x="1809750" y="63373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1" name="Shape 33"/>
          <p:cNvSpPr/>
          <p:nvPr/>
        </p:nvSpPr>
        <p:spPr>
          <a:xfrm>
            <a:off x="1809750" y="58356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22" name="Text 34"/>
          <p:cNvSpPr/>
          <p:nvPr/>
        </p:nvSpPr>
        <p:spPr>
          <a:xfrm>
            <a:off x="2355850" y="5832475"/>
            <a:ext cx="5405626"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You can branch, open a PR, merge, and pull</a:t>
            </a:r>
            <a:endParaRPr lang="en-US" sz="202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7023100"/>
            <a:ext cx="11677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Shape 36"/>
          <p:cNvSpPr/>
          <p:nvPr/>
        </p:nvSpPr>
        <p:spPr>
          <a:xfrm>
            <a:off x="1809750" y="6521450"/>
            <a:ext cx="336550" cy="336550"/>
          </a:xfrm>
          <a:prstGeom prst="rect">
            <a:avLst/>
          </a:prstGeom>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25" name="Text 37"/>
          <p:cNvSpPr/>
          <p:nvPr/>
        </p:nvSpPr>
        <p:spPr>
          <a:xfrm>
            <a:off x="2355850" y="6518275"/>
            <a:ext cx="4188053"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mn-lt"/>
                <a:ea typeface="+mn-ea"/>
                <a:cs typeface="+mn-cs"/>
              </a:rPr>
              <a:t>Optional: a first-draft AGENTS.md</a:t>
            </a:r>
            <a:endParaRPr lang="en-US" sz="2025" dirty="0"/>
          </a:p>
        </p:txBody>
      </p:sp>
      <p:sp xmlns:p="http://schemas.openxmlformats.org/presentationml/2006/main" xmlns:a="http://schemas.openxmlformats.org/drawingml/2006/main" xmlns:r="http://schemas.openxmlformats.org/officeDocument/2006/relationships">
        <p:nvSpPr>
          <p:cNvPr id="26" name="Shape 38"/>
          <p:cNvSpPr/>
          <p:nvPr/>
        </p:nvSpPr>
        <p:spPr>
          <a:xfrm>
            <a:off x="1809750" y="7289800"/>
            <a:ext cx="11677650" cy="1139031"/>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27" name="Text 39"/>
          <p:cNvSpPr/>
          <p:nvPr/>
        </p:nvSpPr>
        <p:spPr>
          <a:xfrm>
            <a:off x="2057400" y="7499350"/>
            <a:ext cx="11532680"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b="1" dirty="0">
                <a:solidFill>
                  <a:srgbClr val="FFFFFF"/>
                </a:solidFill>
                <a:latin typeface="+mn-lt"/>
                <a:ea typeface="+mn-ea"/>
                <a:cs typeface="+mn-cs"/>
              </a:rPr>
              <a:t>Next: Lesson 2 </a:t>
            </a:r>
            <a:r>
              <a:rPr lang="en-US" sz="2025" dirty="0">
                <a:solidFill>
                  <a:srgbClr val="FFFFFF"/>
                </a:solidFill>
                <a:highlight>
                  <a:srgbClr val="152A47"/>
                </a:highlight>
                <a:latin typeface="+mn-lt"/>
                <a:ea typeface="+mn-ea"/>
                <a:cs typeface="+mn-cs"/>
              </a:rPr>
              <a:t>· Agentic AI workflow: connect this repo to a coding agent and review its first pull request.</a:t>
            </a:r>
            <a:endParaRPr lang="en-US" sz="2025" dirty="0"/>
          </a:p>
        </p:txBody>
      </p:sp>
      <p:sp xmlns:p="http://schemas.openxmlformats.org/presentationml/2006/main" xmlns:a="http://schemas.openxmlformats.org/drawingml/2006/main" xmlns:r="http://schemas.openxmlformats.org/officeDocument/2006/relationships">
        <p:nvSpPr>
          <p:cNvPr id="28"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xmlns:p="http://schemas.openxmlformats.org/presentationml/2006/main" xmlns:a="http://schemas.openxmlformats.org/drawingml/2006/main" xmlns:r="http://schemas.openxmlformats.org/officeDocument/2006/relationships">
        <p:nvSpPr>
          <p:cNvPr id="2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3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Troubleshooting</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45720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Symptom</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6381750" y="1571625"/>
            <a:ext cx="71056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6553200" y="1724025"/>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Fix</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1809750" y="3090863"/>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8" name="Text 20"/>
          <p:cNvSpPr/>
          <p:nvPr/>
        </p:nvSpPr>
        <p:spPr>
          <a:xfrm>
            <a:off x="1981200" y="2328863"/>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Push rejected; Desktop shows Pull origin</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6381750" y="3090863"/>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6553200" y="2328863"/>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GitHub has newer commits. Pull, resolve any conflict, then push.</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4014788"/>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1981200" y="3252788"/>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Repo missing from Clone list</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6381750" y="4014788"/>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6553200" y="3252788"/>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Check the signed-in account (Options › Accounts) or paste the URL in the URL tab.</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4629150"/>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4176712"/>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Authentication failed</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6381750" y="4629150"/>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6553200" y="4176712"/>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Sign out and back in under Options › Accounts.</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1809750" y="5553075"/>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1981200" y="4791075"/>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Can’t switch branch or pull: uncommitted changes</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6381750" y="5553075"/>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6553200" y="4791075"/>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Commit them, or choose to stash them when Desktop asks.</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6167438"/>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981200" y="5715000"/>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Committed to the wrong branch</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6381750" y="6167438"/>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6553200" y="5715000"/>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Not pushed: Undo, switch branch, commit again.</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6781800"/>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81200" y="6329363"/>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Unwanted files in Changes</a:t>
            </a:r>
            <a:endParaRPr lang="en-US" sz="1875" dirty="0"/>
          </a:p>
        </p:txBody>
      </p:sp>
      <p:sp xmlns:p="http://schemas.openxmlformats.org/presentationml/2006/main" xmlns:a="http://schemas.openxmlformats.org/drawingml/2006/main" xmlns:r="http://schemas.openxmlformats.org/officeDocument/2006/relationships">
        <p:nvSpPr>
          <p:cNvPr id="29" name="Shape 41"/>
          <p:cNvSpPr/>
          <p:nvPr/>
        </p:nvSpPr>
        <p:spPr>
          <a:xfrm>
            <a:off x="6381750" y="6781800"/>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0" name="Text 42"/>
          <p:cNvSpPr/>
          <p:nvPr/>
        </p:nvSpPr>
        <p:spPr>
          <a:xfrm>
            <a:off x="6553200" y="6329363"/>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Right-click › Ignore file (adds it to .gitignore).</a:t>
            </a:r>
            <a:endParaRPr lang="en-US" sz="1875" dirty="0"/>
          </a:p>
        </p:txBody>
      </p:sp>
      <p:sp xmlns:p="http://schemas.openxmlformats.org/presentationml/2006/main" xmlns:a="http://schemas.openxmlformats.org/drawingml/2006/main" xmlns:r="http://schemas.openxmlformats.org/officeDocument/2006/relationships">
        <p:nvSpPr>
          <p:cNvPr id="31" name="Shape 43"/>
          <p:cNvSpPr/>
          <p:nvPr/>
        </p:nvSpPr>
        <p:spPr>
          <a:xfrm>
            <a:off x="1809750" y="7396162"/>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2" name="Text 44"/>
          <p:cNvSpPr/>
          <p:nvPr/>
        </p:nvSpPr>
        <p:spPr>
          <a:xfrm>
            <a:off x="1981200" y="6943725"/>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Files flicker or duplicate</a:t>
            </a:r>
            <a:endParaRPr lang="en-US" sz="1875" dirty="0"/>
          </a:p>
        </p:txBody>
      </p:sp>
      <p:sp xmlns:p="http://schemas.openxmlformats.org/presentationml/2006/main" xmlns:a="http://schemas.openxmlformats.org/drawingml/2006/main" xmlns:r="http://schemas.openxmlformats.org/officeDocument/2006/relationships">
        <p:nvSpPr>
          <p:cNvPr id="33" name="Shape 45"/>
          <p:cNvSpPr/>
          <p:nvPr/>
        </p:nvSpPr>
        <p:spPr>
          <a:xfrm>
            <a:off x="6381750" y="7396162"/>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4" name="Text 46"/>
          <p:cNvSpPr/>
          <p:nvPr/>
        </p:nvSpPr>
        <p:spPr>
          <a:xfrm>
            <a:off x="6553200" y="6943725"/>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Repo is in a OneDrive-synced folder. Re-clone to a local path.</a:t>
            </a:r>
            <a:endParaRPr lang="en-US" sz="1875" dirty="0"/>
          </a:p>
        </p:txBody>
      </p:sp>
      <p:sp xmlns:p="http://schemas.openxmlformats.org/presentationml/2006/main" xmlns:a="http://schemas.openxmlformats.org/drawingml/2006/main" xmlns:r="http://schemas.openxmlformats.org/officeDocument/2006/relationships">
        <p:nvSpPr>
          <p:cNvPr id="35" name="Shape 47"/>
          <p:cNvSpPr/>
          <p:nvPr/>
        </p:nvSpPr>
        <p:spPr>
          <a:xfrm>
            <a:off x="1809750" y="8010525"/>
            <a:ext cx="4572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6" name="Text 48"/>
          <p:cNvSpPr/>
          <p:nvPr/>
        </p:nvSpPr>
        <p:spPr>
          <a:xfrm>
            <a:off x="1981200" y="7558088"/>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Pushed a password or key</a:t>
            </a:r>
            <a:endParaRPr lang="en-US" sz="1875" dirty="0"/>
          </a:p>
        </p:txBody>
      </p:sp>
      <p:sp xmlns:p="http://schemas.openxmlformats.org/presentationml/2006/main" xmlns:a="http://schemas.openxmlformats.org/drawingml/2006/main" xmlns:r="http://schemas.openxmlformats.org/officeDocument/2006/relationships">
        <p:nvSpPr>
          <p:cNvPr id="37" name="Shape 49"/>
          <p:cNvSpPr/>
          <p:nvPr/>
        </p:nvSpPr>
        <p:spPr>
          <a:xfrm>
            <a:off x="6381750" y="8010525"/>
            <a:ext cx="7105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8" name="Text 50"/>
          <p:cNvSpPr/>
          <p:nvPr/>
        </p:nvSpPr>
        <p:spPr>
          <a:xfrm>
            <a:off x="6553200" y="7558088"/>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Rotate it now. Deleting the file doesn’t remove it from history.</a:t>
            </a:r>
            <a:endParaRPr lang="en-US" sz="1875" dirty="0"/>
          </a:p>
        </p:txBody>
      </p:sp>
      <p:sp xmlns:p="http://schemas.openxmlformats.org/presentationml/2006/main" xmlns:a="http://schemas.openxmlformats.org/drawingml/2006/main" xmlns:r="http://schemas.openxmlformats.org/officeDocument/2006/relationships">
        <p:nvSpPr>
          <p:cNvPr id="39"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4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4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Quick Reference</a:t>
            </a:r>
            <a:endParaRPr lang="en-US" dirty="0"/>
          </a:p>
        </p:txBody>
      </p:sp>
      <p:sp xmlns:p="http://schemas.openxmlformats.org/presentationml/2006/main" xmlns:a="http://schemas.openxmlformats.org/drawingml/2006/main" xmlns:r="http://schemas.openxmlformats.org/officeDocument/2006/relationships">
        <p:nvSpPr>
          <p:cNvPr id="3" name="Shape 15"/>
          <p:cNvSpPr/>
          <p:nvPr/>
        </p:nvSpPr>
        <p:spPr>
          <a:xfrm>
            <a:off x="1809750" y="1571625"/>
            <a:ext cx="419100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16"/>
          <p:cNvSpPr/>
          <p:nvPr/>
        </p:nvSpPr>
        <p:spPr>
          <a:xfrm>
            <a:off x="1981200" y="172402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To…</a:t>
            </a:r>
            <a:endParaRPr lang="en-US" sz="1875" dirty="0"/>
          </a:p>
        </p:txBody>
      </p:sp>
      <p:sp xmlns:p="http://schemas.openxmlformats.org/presentationml/2006/main" xmlns:a="http://schemas.openxmlformats.org/drawingml/2006/main" xmlns:r="http://schemas.openxmlformats.org/officeDocument/2006/relationships">
        <p:nvSpPr>
          <p:cNvPr id="5" name="Shape 17"/>
          <p:cNvSpPr/>
          <p:nvPr/>
        </p:nvSpPr>
        <p:spPr>
          <a:xfrm>
            <a:off x="6000750" y="1571625"/>
            <a:ext cx="7486650" cy="614363"/>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18"/>
          <p:cNvSpPr/>
          <p:nvPr/>
        </p:nvSpPr>
        <p:spPr>
          <a:xfrm>
            <a:off x="6172200" y="172402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mn-lt"/>
                <a:ea typeface="+mn-ea"/>
                <a:cs typeface="+mn-cs"/>
              </a:rPr>
              <a:t>In GitHub Desktop</a:t>
            </a:r>
            <a:endParaRPr lang="en-US" sz="1875" dirty="0"/>
          </a:p>
        </p:txBody>
      </p:sp>
      <p:sp xmlns:p="http://schemas.openxmlformats.org/presentationml/2006/main" xmlns:a="http://schemas.openxmlformats.org/drawingml/2006/main" xmlns:r="http://schemas.openxmlformats.org/officeDocument/2006/relationships">
        <p:nvSpPr>
          <p:cNvPr id="7" name="Shape 19"/>
          <p:cNvSpPr/>
          <p:nvPr/>
        </p:nvSpPr>
        <p:spPr>
          <a:xfrm>
            <a:off x="1809750" y="2743200"/>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8" name="Text 20"/>
          <p:cNvSpPr/>
          <p:nvPr/>
        </p:nvSpPr>
        <p:spPr>
          <a:xfrm>
            <a:off x="1981200" y="230981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Get a repo from GitHub</a:t>
            </a:r>
            <a:endParaRPr lang="en-US" sz="1875" dirty="0"/>
          </a:p>
        </p:txBody>
      </p:sp>
      <p:sp xmlns:p="http://schemas.openxmlformats.org/presentationml/2006/main" xmlns:a="http://schemas.openxmlformats.org/drawingml/2006/main" xmlns:r="http://schemas.openxmlformats.org/officeDocument/2006/relationships">
        <p:nvSpPr>
          <p:cNvPr id="9" name="Shape 21"/>
          <p:cNvSpPr/>
          <p:nvPr/>
        </p:nvSpPr>
        <p:spPr>
          <a:xfrm>
            <a:off x="6000750" y="2743200"/>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0" name="Text 22"/>
          <p:cNvSpPr/>
          <p:nvPr/>
        </p:nvSpPr>
        <p:spPr>
          <a:xfrm>
            <a:off x="6172200" y="230981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File › Clone repository</a:t>
            </a:r>
            <a:endParaRPr lang="en-US" sz="1875" dirty="0"/>
          </a:p>
        </p:txBody>
      </p:sp>
      <p:sp xmlns:p="http://schemas.openxmlformats.org/presentationml/2006/main" xmlns:a="http://schemas.openxmlformats.org/drawingml/2006/main" xmlns:r="http://schemas.openxmlformats.org/officeDocument/2006/relationships">
        <p:nvSpPr>
          <p:cNvPr id="11" name="Shape 23"/>
          <p:cNvSpPr/>
          <p:nvPr/>
        </p:nvSpPr>
        <p:spPr>
          <a:xfrm>
            <a:off x="1809750" y="3319463"/>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Text 24"/>
          <p:cNvSpPr/>
          <p:nvPr/>
        </p:nvSpPr>
        <p:spPr>
          <a:xfrm>
            <a:off x="1981200" y="288607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Track an existing folder</a:t>
            </a:r>
            <a:endParaRPr lang="en-US" sz="1875" dirty="0"/>
          </a:p>
        </p:txBody>
      </p:sp>
      <p:sp xmlns:p="http://schemas.openxmlformats.org/presentationml/2006/main" xmlns:a="http://schemas.openxmlformats.org/drawingml/2006/main" xmlns:r="http://schemas.openxmlformats.org/officeDocument/2006/relationships">
        <p:nvSpPr>
          <p:cNvPr id="13" name="Shape 25"/>
          <p:cNvSpPr/>
          <p:nvPr/>
        </p:nvSpPr>
        <p:spPr>
          <a:xfrm>
            <a:off x="6000750" y="3319463"/>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4" name="Text 26"/>
          <p:cNvSpPr/>
          <p:nvPr/>
        </p:nvSpPr>
        <p:spPr>
          <a:xfrm>
            <a:off x="6172200" y="288607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File › Add local repository › create a repository</a:t>
            </a:r>
            <a:endParaRPr lang="en-US" sz="1875" dirty="0"/>
          </a:p>
        </p:txBody>
      </p:sp>
      <p:sp xmlns:p="http://schemas.openxmlformats.org/presentationml/2006/main" xmlns:a="http://schemas.openxmlformats.org/drawingml/2006/main" xmlns:r="http://schemas.openxmlformats.org/officeDocument/2006/relationships">
        <p:nvSpPr>
          <p:cNvPr id="15" name="Shape 27"/>
          <p:cNvSpPr/>
          <p:nvPr/>
        </p:nvSpPr>
        <p:spPr>
          <a:xfrm>
            <a:off x="1809750" y="3895725"/>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Text 28"/>
          <p:cNvSpPr/>
          <p:nvPr/>
        </p:nvSpPr>
        <p:spPr>
          <a:xfrm>
            <a:off x="1981200" y="3462337"/>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Put it on GitHub</a:t>
            </a:r>
            <a:endParaRPr lang="en-US" sz="1875" dirty="0"/>
          </a:p>
        </p:txBody>
      </p:sp>
      <p:sp xmlns:p="http://schemas.openxmlformats.org/presentationml/2006/main" xmlns:a="http://schemas.openxmlformats.org/drawingml/2006/main" xmlns:r="http://schemas.openxmlformats.org/officeDocument/2006/relationships">
        <p:nvSpPr>
          <p:cNvPr id="17" name="Shape 29"/>
          <p:cNvSpPr/>
          <p:nvPr/>
        </p:nvSpPr>
        <p:spPr>
          <a:xfrm>
            <a:off x="6000750" y="3895725"/>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Text 30"/>
          <p:cNvSpPr/>
          <p:nvPr/>
        </p:nvSpPr>
        <p:spPr>
          <a:xfrm>
            <a:off x="6172200" y="3462337"/>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Publish repository (keep private)</a:t>
            </a:r>
            <a:endParaRPr lang="en-US" sz="1875" dirty="0"/>
          </a:p>
        </p:txBody>
      </p:sp>
      <p:sp xmlns:p="http://schemas.openxmlformats.org/presentationml/2006/main" xmlns:a="http://schemas.openxmlformats.org/drawingml/2006/main" xmlns:r="http://schemas.openxmlformats.org/officeDocument/2006/relationships">
        <p:nvSpPr>
          <p:cNvPr id="19" name="Shape 31"/>
          <p:cNvSpPr/>
          <p:nvPr/>
        </p:nvSpPr>
        <p:spPr>
          <a:xfrm>
            <a:off x="1809750" y="4471988"/>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Text 32"/>
          <p:cNvSpPr/>
          <p:nvPr/>
        </p:nvSpPr>
        <p:spPr>
          <a:xfrm>
            <a:off x="1981200" y="4038600"/>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Save a snapshot</a:t>
            </a:r>
            <a:endParaRPr lang="en-US" sz="1875" dirty="0"/>
          </a:p>
        </p:txBody>
      </p:sp>
      <p:sp xmlns:p="http://schemas.openxmlformats.org/presentationml/2006/main" xmlns:a="http://schemas.openxmlformats.org/drawingml/2006/main" xmlns:r="http://schemas.openxmlformats.org/officeDocument/2006/relationships">
        <p:nvSpPr>
          <p:cNvPr id="21" name="Shape 33"/>
          <p:cNvSpPr/>
          <p:nvPr/>
        </p:nvSpPr>
        <p:spPr>
          <a:xfrm>
            <a:off x="6000750" y="4471988"/>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4"/>
          <p:cNvSpPr/>
          <p:nvPr/>
        </p:nvSpPr>
        <p:spPr>
          <a:xfrm>
            <a:off x="6172200" y="4038600"/>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Changes tab › Summary › Commit to &lt;branch&gt;</a:t>
            </a:r>
            <a:endParaRPr lang="en-US" sz="1875" dirty="0"/>
          </a:p>
        </p:txBody>
      </p:sp>
      <p:sp xmlns:p="http://schemas.openxmlformats.org/presentationml/2006/main" xmlns:a="http://schemas.openxmlformats.org/drawingml/2006/main" xmlns:r="http://schemas.openxmlformats.org/officeDocument/2006/relationships">
        <p:nvSpPr>
          <p:cNvPr id="23" name="Shape 35"/>
          <p:cNvSpPr/>
          <p:nvPr/>
        </p:nvSpPr>
        <p:spPr>
          <a:xfrm>
            <a:off x="1809750" y="5048250"/>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36"/>
          <p:cNvSpPr/>
          <p:nvPr/>
        </p:nvSpPr>
        <p:spPr>
          <a:xfrm>
            <a:off x="1981200" y="461486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Send commits</a:t>
            </a:r>
            <a:endParaRPr lang="en-US" sz="1875" dirty="0"/>
          </a:p>
        </p:txBody>
      </p:sp>
      <p:sp xmlns:p="http://schemas.openxmlformats.org/presentationml/2006/main" xmlns:a="http://schemas.openxmlformats.org/drawingml/2006/main" xmlns:r="http://schemas.openxmlformats.org/officeDocument/2006/relationships">
        <p:nvSpPr>
          <p:cNvPr id="25" name="Shape 37"/>
          <p:cNvSpPr/>
          <p:nvPr/>
        </p:nvSpPr>
        <p:spPr>
          <a:xfrm>
            <a:off x="6000750" y="5048250"/>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38"/>
          <p:cNvSpPr/>
          <p:nvPr/>
        </p:nvSpPr>
        <p:spPr>
          <a:xfrm>
            <a:off x="6172200" y="461486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Push origin</a:t>
            </a:r>
            <a:endParaRPr lang="en-US" sz="1875" dirty="0"/>
          </a:p>
        </p:txBody>
      </p:sp>
      <p:sp xmlns:p="http://schemas.openxmlformats.org/presentationml/2006/main" xmlns:a="http://schemas.openxmlformats.org/drawingml/2006/main" xmlns:r="http://schemas.openxmlformats.org/officeDocument/2006/relationships">
        <p:nvSpPr>
          <p:cNvPr id="27" name="Shape 39"/>
          <p:cNvSpPr/>
          <p:nvPr/>
        </p:nvSpPr>
        <p:spPr>
          <a:xfrm>
            <a:off x="1809750" y="5624513"/>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8" name="Text 40"/>
          <p:cNvSpPr/>
          <p:nvPr/>
        </p:nvSpPr>
        <p:spPr>
          <a:xfrm>
            <a:off x="1981200" y="519112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Get the latest</a:t>
            </a:r>
            <a:endParaRPr lang="en-US" sz="1875" dirty="0"/>
          </a:p>
        </p:txBody>
      </p:sp>
      <p:sp xmlns:p="http://schemas.openxmlformats.org/presentationml/2006/main" xmlns:a="http://schemas.openxmlformats.org/drawingml/2006/main" xmlns:r="http://schemas.openxmlformats.org/officeDocument/2006/relationships">
        <p:nvSpPr>
          <p:cNvPr id="29" name="Shape 41"/>
          <p:cNvSpPr/>
          <p:nvPr/>
        </p:nvSpPr>
        <p:spPr>
          <a:xfrm>
            <a:off x="6000750" y="5624513"/>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0" name="Text 42"/>
          <p:cNvSpPr/>
          <p:nvPr/>
        </p:nvSpPr>
        <p:spPr>
          <a:xfrm>
            <a:off x="6172200" y="519112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Fetch origin › Pull origin</a:t>
            </a:r>
            <a:endParaRPr lang="en-US" sz="1875" dirty="0"/>
          </a:p>
        </p:txBody>
      </p:sp>
      <p:sp xmlns:p="http://schemas.openxmlformats.org/presentationml/2006/main" xmlns:a="http://schemas.openxmlformats.org/drawingml/2006/main" xmlns:r="http://schemas.openxmlformats.org/officeDocument/2006/relationships">
        <p:nvSpPr>
          <p:cNvPr id="31" name="Shape 43"/>
          <p:cNvSpPr/>
          <p:nvPr/>
        </p:nvSpPr>
        <p:spPr>
          <a:xfrm>
            <a:off x="1809750" y="6200775"/>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2" name="Text 44"/>
          <p:cNvSpPr/>
          <p:nvPr/>
        </p:nvSpPr>
        <p:spPr>
          <a:xfrm>
            <a:off x="1981200" y="5767388"/>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Start a branch</a:t>
            </a:r>
            <a:endParaRPr lang="en-US" sz="1875" dirty="0"/>
          </a:p>
        </p:txBody>
      </p:sp>
      <p:sp xmlns:p="http://schemas.openxmlformats.org/presentationml/2006/main" xmlns:a="http://schemas.openxmlformats.org/drawingml/2006/main" xmlns:r="http://schemas.openxmlformats.org/officeDocument/2006/relationships">
        <p:nvSpPr>
          <p:cNvPr id="33" name="Shape 45"/>
          <p:cNvSpPr/>
          <p:nvPr/>
        </p:nvSpPr>
        <p:spPr>
          <a:xfrm>
            <a:off x="6000750" y="6200775"/>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4" name="Text 46"/>
          <p:cNvSpPr/>
          <p:nvPr/>
        </p:nvSpPr>
        <p:spPr>
          <a:xfrm>
            <a:off x="6172200" y="5767388"/>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Current branch › New branch › Publish branch</a:t>
            </a:r>
            <a:endParaRPr lang="en-US" sz="1875" dirty="0"/>
          </a:p>
        </p:txBody>
      </p:sp>
      <p:sp xmlns:p="http://schemas.openxmlformats.org/presentationml/2006/main" xmlns:a="http://schemas.openxmlformats.org/drawingml/2006/main" xmlns:r="http://schemas.openxmlformats.org/officeDocument/2006/relationships">
        <p:nvSpPr>
          <p:cNvPr id="35" name="Shape 47"/>
          <p:cNvSpPr/>
          <p:nvPr/>
        </p:nvSpPr>
        <p:spPr>
          <a:xfrm>
            <a:off x="1809750" y="6777038"/>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6" name="Text 48"/>
          <p:cNvSpPr/>
          <p:nvPr/>
        </p:nvSpPr>
        <p:spPr>
          <a:xfrm>
            <a:off x="1981200" y="6343650"/>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Use someone’s branch</a:t>
            </a:r>
            <a:endParaRPr lang="en-US" sz="1875" dirty="0"/>
          </a:p>
        </p:txBody>
      </p:sp>
      <p:sp xmlns:p="http://schemas.openxmlformats.org/presentationml/2006/main" xmlns:a="http://schemas.openxmlformats.org/drawingml/2006/main" xmlns:r="http://schemas.openxmlformats.org/officeDocument/2006/relationships">
        <p:nvSpPr>
          <p:cNvPr id="37" name="Shape 49"/>
          <p:cNvSpPr/>
          <p:nvPr/>
        </p:nvSpPr>
        <p:spPr>
          <a:xfrm>
            <a:off x="6000750" y="6777038"/>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8" name="Text 50"/>
          <p:cNvSpPr/>
          <p:nvPr/>
        </p:nvSpPr>
        <p:spPr>
          <a:xfrm>
            <a:off x="6172200" y="6343650"/>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Fetch origin › Current branch › pick it</a:t>
            </a:r>
            <a:endParaRPr lang="en-US" sz="1875" dirty="0"/>
          </a:p>
        </p:txBody>
      </p:sp>
      <p:sp xmlns:p="http://schemas.openxmlformats.org/presentationml/2006/main" xmlns:a="http://schemas.openxmlformats.org/drawingml/2006/main" xmlns:r="http://schemas.openxmlformats.org/officeDocument/2006/relationships">
        <p:nvSpPr>
          <p:cNvPr id="39" name="Shape 51"/>
          <p:cNvSpPr/>
          <p:nvPr/>
        </p:nvSpPr>
        <p:spPr>
          <a:xfrm>
            <a:off x="1809750" y="7353300"/>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0" name="Text 52"/>
          <p:cNvSpPr/>
          <p:nvPr/>
        </p:nvSpPr>
        <p:spPr>
          <a:xfrm>
            <a:off x="1981200" y="691991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Propose a merge</a:t>
            </a:r>
            <a:endParaRPr lang="en-US" sz="1875" dirty="0"/>
          </a:p>
        </p:txBody>
      </p:sp>
      <p:sp xmlns:p="http://schemas.openxmlformats.org/presentationml/2006/main" xmlns:a="http://schemas.openxmlformats.org/drawingml/2006/main" xmlns:r="http://schemas.openxmlformats.org/officeDocument/2006/relationships">
        <p:nvSpPr>
          <p:cNvPr id="41" name="Shape 53"/>
          <p:cNvSpPr/>
          <p:nvPr/>
        </p:nvSpPr>
        <p:spPr>
          <a:xfrm>
            <a:off x="6000750" y="7353300"/>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2" name="Text 54"/>
          <p:cNvSpPr/>
          <p:nvPr/>
        </p:nvSpPr>
        <p:spPr>
          <a:xfrm>
            <a:off x="6172200" y="691991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Branch › Create pull request</a:t>
            </a:r>
            <a:endParaRPr lang="en-US" sz="1875" dirty="0"/>
          </a:p>
        </p:txBody>
      </p:sp>
      <p:sp xmlns:p="http://schemas.openxmlformats.org/presentationml/2006/main" xmlns:a="http://schemas.openxmlformats.org/drawingml/2006/main" xmlns:r="http://schemas.openxmlformats.org/officeDocument/2006/relationships">
        <p:nvSpPr>
          <p:cNvPr id="43" name="Shape 55"/>
          <p:cNvSpPr/>
          <p:nvPr/>
        </p:nvSpPr>
        <p:spPr>
          <a:xfrm>
            <a:off x="1809750" y="7929563"/>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4" name="Text 56"/>
          <p:cNvSpPr/>
          <p:nvPr/>
        </p:nvSpPr>
        <p:spPr>
          <a:xfrm>
            <a:off x="1981200" y="749617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Undo a pushed commit</a:t>
            </a:r>
            <a:endParaRPr lang="en-US" sz="1875" dirty="0"/>
          </a:p>
        </p:txBody>
      </p:sp>
      <p:sp xmlns:p="http://schemas.openxmlformats.org/presentationml/2006/main" xmlns:a="http://schemas.openxmlformats.org/drawingml/2006/main" xmlns:r="http://schemas.openxmlformats.org/officeDocument/2006/relationships">
        <p:nvSpPr>
          <p:cNvPr id="45" name="Shape 57"/>
          <p:cNvSpPr/>
          <p:nvPr/>
        </p:nvSpPr>
        <p:spPr>
          <a:xfrm>
            <a:off x="6000750" y="7929563"/>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6" name="Text 58"/>
          <p:cNvSpPr/>
          <p:nvPr/>
        </p:nvSpPr>
        <p:spPr>
          <a:xfrm>
            <a:off x="6172200" y="749617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History › right-click › Revert changes in commit</a:t>
            </a:r>
            <a:endParaRPr lang="en-US" sz="1875" dirty="0"/>
          </a:p>
        </p:txBody>
      </p:sp>
      <p:sp xmlns:p="http://schemas.openxmlformats.org/presentationml/2006/main" xmlns:a="http://schemas.openxmlformats.org/drawingml/2006/main" xmlns:r="http://schemas.openxmlformats.org/officeDocument/2006/relationships">
        <p:nvSpPr>
          <p:cNvPr id="47" name="Shape 59"/>
          <p:cNvSpPr/>
          <p:nvPr/>
        </p:nvSpPr>
        <p:spPr>
          <a:xfrm>
            <a:off x="1809750" y="8505825"/>
            <a:ext cx="419100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8" name="Text 60"/>
          <p:cNvSpPr/>
          <p:nvPr/>
        </p:nvSpPr>
        <p:spPr>
          <a:xfrm>
            <a:off x="1981200" y="8072438"/>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mn-lt"/>
                <a:ea typeface="+mn-ea"/>
                <a:cs typeface="+mn-cs"/>
              </a:rPr>
              <a:t>Edit the code</a:t>
            </a:r>
            <a:endParaRPr lang="en-US" sz="1875" dirty="0"/>
          </a:p>
        </p:txBody>
      </p:sp>
      <p:sp xmlns:p="http://schemas.openxmlformats.org/presentationml/2006/main" xmlns:a="http://schemas.openxmlformats.org/drawingml/2006/main" xmlns:r="http://schemas.openxmlformats.org/officeDocument/2006/relationships">
        <p:nvSpPr>
          <p:cNvPr id="49" name="Shape 61"/>
          <p:cNvSpPr/>
          <p:nvPr/>
        </p:nvSpPr>
        <p:spPr>
          <a:xfrm>
            <a:off x="6000750" y="8505825"/>
            <a:ext cx="7486650" cy="19050"/>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0" name="Text 62"/>
          <p:cNvSpPr/>
          <p:nvPr/>
        </p:nvSpPr>
        <p:spPr>
          <a:xfrm>
            <a:off x="6172200" y="8072438"/>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mn-lt"/>
                <a:ea typeface="+mn-ea"/>
                <a:cs typeface="+mn-cs"/>
              </a:rPr>
              <a:t>Repository › Open in Visual Studio Code</a:t>
            </a:r>
            <a:endParaRPr lang="en-US" sz="1875" dirty="0"/>
          </a:p>
        </p:txBody>
      </p:sp>
      <p:sp xmlns:p="http://schemas.openxmlformats.org/presentationml/2006/main" xmlns:a="http://schemas.openxmlformats.org/drawingml/2006/main" xmlns:r="http://schemas.openxmlformats.org/officeDocument/2006/relationships">
        <p:nvSpPr>
          <p:cNvPr id="51"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5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5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Knowledge Check</a:t>
            </a:r>
            <a:endParaRPr lang="en-US" dirty="0"/>
          </a:p>
        </p:txBody>
      </p:sp>
      <p:sp xmlns:p="http://schemas.openxmlformats.org/presentationml/2006/main" xmlns:a="http://schemas.openxmlformats.org/drawingml/2006/main" xmlns:r="http://schemas.openxmlformats.org/officeDocument/2006/relationships">
        <p:nvSpPr>
          <p:cNvPr id="3" name="Text 15"/>
          <p:cNvSpPr/>
          <p:nvPr/>
        </p:nvSpPr>
        <p:spPr>
          <a:xfrm>
            <a:off x="1809750" y="1714500"/>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1</a:t>
            </a:r>
            <a:endParaRPr lang="en-US" sz="2400" dirty="0"/>
          </a:p>
        </p:txBody>
      </p:sp>
      <p:sp xmlns:p="http://schemas.openxmlformats.org/presentationml/2006/main" xmlns:a="http://schemas.openxmlformats.org/drawingml/2006/main" xmlns:r="http://schemas.openxmlformats.org/officeDocument/2006/relationships">
        <p:nvSpPr>
          <p:cNvPr id="4" name="Text 16"/>
          <p:cNvSpPr/>
          <p:nvPr/>
        </p:nvSpPr>
        <p:spPr>
          <a:xfrm>
            <a:off x="2343150" y="1714500"/>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You edited beam.m, but the change doesn’t appear on GitHub. What did you skip?</a:t>
            </a:r>
            <a:endParaRPr lang="en-US" sz="2175" dirty="0"/>
          </a:p>
        </p:txBody>
      </p:sp>
      <p:sp xmlns:p="http://schemas.openxmlformats.org/presentationml/2006/main" xmlns:a="http://schemas.openxmlformats.org/drawingml/2006/main" xmlns:r="http://schemas.openxmlformats.org/officeDocument/2006/relationships">
        <p:nvSpPr>
          <p:cNvPr id="5" name="Text 17"/>
          <p:cNvSpPr/>
          <p:nvPr/>
        </p:nvSpPr>
        <p:spPr>
          <a:xfrm>
            <a:off x="1809750" y="2522141"/>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2</a:t>
            </a:r>
            <a:endParaRPr lang="en-US" sz="2400" dirty="0"/>
          </a:p>
        </p:txBody>
      </p:sp>
      <p:sp xmlns:p="http://schemas.openxmlformats.org/presentationml/2006/main" xmlns:a="http://schemas.openxmlformats.org/drawingml/2006/main" xmlns:r="http://schemas.openxmlformats.org/officeDocument/2006/relationships">
        <p:nvSpPr>
          <p:cNvPr id="6" name="Text 18"/>
          <p:cNvSpPr/>
          <p:nvPr/>
        </p:nvSpPr>
        <p:spPr>
          <a:xfrm>
            <a:off x="2343150" y="2522141"/>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What is the difference between </a:t>
            </a:r>
            <a:r>
              <a:rPr lang="en-US" sz="2175" b="1" dirty="0">
                <a:solidFill>
                  <a:srgbClr val="000000"/>
                </a:solidFill>
                <a:latin typeface="+mn-lt"/>
                <a:ea typeface="+mn-ea"/>
                <a:cs typeface="+mn-cs"/>
              </a:rPr>
              <a:t>Fetch </a:t>
            </a:r>
            <a:r>
              <a:rPr lang="en-US" sz="2175" dirty="0">
                <a:solidFill>
                  <a:srgbClr val="000000"/>
                </a:solidFill>
                <a:latin typeface="+mn-lt"/>
                <a:ea typeface="+mn-ea"/>
                <a:cs typeface="+mn-cs"/>
              </a:rPr>
              <a:t>and </a:t>
            </a:r>
            <a:r>
              <a:rPr lang="en-US" sz="2175" b="1" dirty="0">
                <a:solidFill>
                  <a:srgbClr val="000000"/>
                </a:solidFill>
                <a:latin typeface="+mn-lt"/>
                <a:ea typeface="+mn-ea"/>
                <a:cs typeface="+mn-cs"/>
              </a:rPr>
              <a:t>Pull</a:t>
            </a:r>
            <a:r>
              <a:rPr lang="en-US" sz="2175" dirty="0">
                <a:solidFill>
                  <a:srgbClr val="000000"/>
                </a:solidFill>
                <a:latin typeface="+mn-lt"/>
                <a:ea typeface="+mn-ea"/>
                <a:cs typeface="+mn-cs"/>
              </a:rPr>
              <a:t>?</a:t>
            </a:r>
            <a:endParaRPr lang="en-US" sz="2175" dirty="0"/>
          </a:p>
        </p:txBody>
      </p:sp>
      <p:sp xmlns:p="http://schemas.openxmlformats.org/presentationml/2006/main" xmlns:a="http://schemas.openxmlformats.org/drawingml/2006/main" xmlns:r="http://schemas.openxmlformats.org/officeDocument/2006/relationships">
        <p:nvSpPr>
          <p:cNvPr id="7" name="Text 19"/>
          <p:cNvSpPr/>
          <p:nvPr/>
        </p:nvSpPr>
        <p:spPr>
          <a:xfrm>
            <a:off x="1809750" y="3329781"/>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3</a:t>
            </a:r>
            <a:endParaRPr lang="en-US" sz="2400" dirty="0"/>
          </a:p>
        </p:txBody>
      </p:sp>
      <p:sp xmlns:p="http://schemas.openxmlformats.org/presentationml/2006/main" xmlns:a="http://schemas.openxmlformats.org/drawingml/2006/main" xmlns:r="http://schemas.openxmlformats.org/officeDocument/2006/relationships">
        <p:nvSpPr>
          <p:cNvPr id="8" name="Text 20"/>
          <p:cNvSpPr/>
          <p:nvPr/>
        </p:nvSpPr>
        <p:spPr>
          <a:xfrm>
            <a:off x="2343150" y="3329781"/>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Why should a coding agent work on a branch instead of main?</a:t>
            </a:r>
            <a:endParaRPr lang="en-US" sz="2175" dirty="0"/>
          </a:p>
        </p:txBody>
      </p:sp>
      <p:sp xmlns:p="http://schemas.openxmlformats.org/presentationml/2006/main" xmlns:a="http://schemas.openxmlformats.org/drawingml/2006/main" xmlns:r="http://schemas.openxmlformats.org/officeDocument/2006/relationships">
        <p:nvSpPr>
          <p:cNvPr id="9" name="Text 21"/>
          <p:cNvSpPr/>
          <p:nvPr/>
        </p:nvSpPr>
        <p:spPr>
          <a:xfrm>
            <a:off x="1809750" y="4137422"/>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4</a:t>
            </a:r>
            <a:endParaRPr lang="en-US" sz="2400" dirty="0"/>
          </a:p>
        </p:txBody>
      </p:sp>
      <p:sp xmlns:p="http://schemas.openxmlformats.org/presentationml/2006/main" xmlns:a="http://schemas.openxmlformats.org/drawingml/2006/main" xmlns:r="http://schemas.openxmlformats.org/officeDocument/2006/relationships">
        <p:nvSpPr>
          <p:cNvPr id="10" name="Text 22"/>
          <p:cNvSpPr/>
          <p:nvPr/>
        </p:nvSpPr>
        <p:spPr>
          <a:xfrm>
            <a:off x="2343150" y="4137422"/>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Push origin is rejected. What do you do?</a:t>
            </a:r>
            <a:endParaRPr lang="en-US" sz="2175" dirty="0"/>
          </a:p>
        </p:txBody>
      </p:sp>
      <p:sp xmlns:p="http://schemas.openxmlformats.org/presentationml/2006/main" xmlns:a="http://schemas.openxmlformats.org/drawingml/2006/main" xmlns:r="http://schemas.openxmlformats.org/officeDocument/2006/relationships">
        <p:nvSpPr>
          <p:cNvPr id="11" name="Text 23"/>
          <p:cNvSpPr/>
          <p:nvPr/>
        </p:nvSpPr>
        <p:spPr>
          <a:xfrm>
            <a:off x="1809750" y="4945063"/>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mn-lt"/>
                <a:ea typeface="+mn-ea"/>
                <a:cs typeface="+mn-cs"/>
              </a:rPr>
              <a:t>5</a:t>
            </a:r>
            <a:endParaRPr lang="en-US" sz="2400" dirty="0"/>
          </a:p>
        </p:txBody>
      </p:sp>
      <p:sp xmlns:p="http://schemas.openxmlformats.org/presentationml/2006/main" xmlns:a="http://schemas.openxmlformats.org/drawingml/2006/main" xmlns:r="http://schemas.openxmlformats.org/officeDocument/2006/relationships">
        <p:nvSpPr>
          <p:cNvPr id="12" name="Text 24"/>
          <p:cNvSpPr/>
          <p:nvPr/>
        </p:nvSpPr>
        <p:spPr>
          <a:xfrm>
            <a:off x="2343150" y="4945063"/>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mn-lt"/>
                <a:ea typeface="+mn-ea"/>
                <a:cs typeface="+mn-cs"/>
              </a:rPr>
              <a:t>You pushed a file containing an API key, then deleted it in the next commit. Is the key safe?</a:t>
            </a:r>
            <a:endParaRPr lang="en-US" sz="2175" dirty="0"/>
          </a:p>
        </p:txBody>
      </p:sp>
      <p:sp xmlns:p="http://schemas.openxmlformats.org/presentationml/2006/main" xmlns:a="http://schemas.openxmlformats.org/drawingml/2006/main" xmlns:r="http://schemas.openxmlformats.org/officeDocument/2006/relationships">
        <p:nvSpPr>
          <p:cNvPr id="13"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1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xmlns:p="http://schemas.openxmlformats.org/presentationml/2006/main" xmlns:a="http://schemas.openxmlformats.org/drawingml/2006/main" xmlns:r="http://schemas.openxmlformats.org/officeDocument/2006/relationships">
        <p:nvSpPr>
          <p:cNvPr id="1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theme/theme1.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Slides>23</Slides>
  <Notes>23</Notes>
</Properties>
</file>

<file path=docProps/core.xml><?xml version="1.0" encoding="utf-8"?>
<cp:coreProperties xmlns:cp="http://schemas.openxmlformats.org/package/2006/metadata/core-properties" xmlns:dc="http://purl.org/dc/elements/1.1/" xmlns:dcterms="http://purl.org/dc/terms/" xmlns:xsi="http://www.w3.org/2001/XMLSchema-instance">
  <dc:title>Agentic AI for Engineering · Lesson 1</dc:title>
  <dc:creator>Agentic AI for Engineering</dc:creator>
</cp:coreProperties>
</file>