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7"/>
    <p:sldId id="275" r:id="rId6"/>
    <p:sldId id="276" r:id="rId5"/>
    <p:sldId id="277" r:id="rId4"/>
  </p:sldIdLst>
  <p:notesMasterIdLst>
    <p:notesMasterId r:id="rId25"/>
  </p:notesMasterIdLst>
  <p:sldSz cx="13716000" cy="10287000"/>
  <p:notesSz cx="10287000" cy="13716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9.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Lesson 2 connects the repo from Lesson 1 to a coding agent. The goal is a repeatable loop: specify a verifiable change, let the agent generate it on a branch, and verify it yourself before it reaches main. Everything we do today with beam-calc applies to your own course code in Exercise 7.</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1 gave everyone a repo on GitHub and the habit of working through branches and pull requests. This lesson puts a coding agent on the other side of that loop. The worked example continues with beam-calc so nobody is debugging unfamiliar code; the last exercise moves to each instructor’s own project. Emphasize objective 4: the engineer, not the agent, owns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account is the usual blocker; sort it out before class. Use whatever account type your organization directs. MATLAB is optional but strongly recommended: the agent cannot run MATLAB in its cloud sandbox, so the instructor is the only one who can execute the tests. That gap is the point of the Adjudicate step.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instructors have used chat LLMs. The shift is that the agent works directly in the repo, so the human job moves from integrating code to specifying and verifying it. That is the same shift we ask of cadets when they move from writing every line to engineering a 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Specify, Generate, Implement, Adjudicate, then Iterate. The agent is good at Generate. Specify and Adjudicate stay with the engineer; Implement means trusted tools (MATLAB, the compiler, test suites, hardware) turn the proposal into evidence. The five steps are the mechanics; every remaining slide maps to one of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Code on the web is the worked example because it runs entirely from a GitHub repo, which is what Lesson 1 set up. The method transfers to any agent. Codex reads AGENTS.md, which is why the beam-calc repo already has one; CLAUDE.md can import it. Verify current plans before recommending a tool to colleagues or cadets.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small feature carried through every exercise. The requirement is written so it can be verified before any code exists: a named function, units, and a test with a tolerance. The hand check uses the Lesson 1 section (50 × 100 mm steel, L = 2 m), so it does not depend on what instructors changed in beam.m during Lesson 1. Point out the 3/8 ratio: an independent sanity check the agent did not write.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CLAUDE.md is the most effective single thing you can do to improve agent output. It is plain Markdown at the repo root. The @AGENTS.md line pulls in the Lesson 1 file, so Codex and Claude Code follow the same conventions without duplicating them. Alternative: type /init in a session and the agent drafts CLAUDE.md by scanning the repo; then correct it and add what it can’t see, like the fact that it can’t run MATLAB. About me sets the explanation level; in any prompt you can also ask it to explain like you are new to Git.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architecture: the agent never touches the laptop. GitHub is the hand-off point between the cloud session and your machine, which is why Lesson 1 spent so long on push, fetch, and pull. Grant the GitHub App access to selected repositories only, not your whole account.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orientation prompt costs one message and tells you whether the agent understands the code. A good answer names the formula, the units, the test, and its own limits. If the summary is wrong, fix CLAUDE.md before going further.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Asking for a plan first is cheap and catches wrong assumptions before code is written. Good plans name files, functions, and open questions. The engineer answers the questions; the agent should not guess. Here the load extent is a real modeling decision that belongs to the instructor.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pushes to a new claude/ branch, never directly to main. Walk through the diff line by line. Look hardest at the test: an agent that writes both the code and its test can make them agree with each other and still be wrong. Here the expected value 2.40e-3 m comes from our hand calculation, not from the code. The ... in the fprintf lines is shortened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branches and pull requests as Lesson 1, with the agent as the other contributor. The agent never commits to main. Each session gets its own branch, and every commit in that session, including fixes, goes there. The pull request is where the review happens, and where the change is merged after the test passes.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only step that tests the requirement. MATLAB and the test suite are the trusted tools; the hand calculation and the 3/8 ratio are independent checks the agent did not produce. If an instructor has no MATLAB, they can still review the test logic and the hand calculation, but should record the change as unverified.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Failure reports should contain observations and logs, not just ‘it doesn’t work’. Asking for an explanation before a fix keeps the engineer in the loop and often exposes a wrong assumption (here, a section dimension entered in mm). One requirement per session keeps context small and commits easy to review.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is a pattern seen with engineering code. Agents produce plausible code; plausible is not the same as correct. The weakened test is the most dangerous because the green check mark looks like evidence. The independent checks (hand calculation, units, running the suite yourself) are what catch these.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Instructors who document their own agent use are better placed to set and grade the same expectation for cadets. An AI_LOG.md, one entry per session, records how GenAI contributed and what the human did to evaluate it. Check the current USAFA and department GenAI policy for the exact wording your course requires.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 from the shared example to each instructor’s own project. Coach toward small, checkable requirements; the first session is about learning the loop, not shipping a large feature. Walk the room and look at requirements before people open sessions: a requirement with no verification is the most common problem.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bring this to a course, decide the team model up front. A session belongs to one account; teammates cannot join it live, so the repo is where collaboration happens. Grading the artifacts of the process (requirement, plan, review, verification, log) rewards the engineering judgment we care about rather than the volume of generated code.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problems instructors hit most often in a first session. Most come back to two ideas: GitHub is the hand-off point, so fetch before you look for agent work; and the agent cannot run MATLAB, so verification is always yours.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one-page summary of the prompts and actions from today. Suggest instructors keep it open during Exercise 7 and when they first use an agent on their own.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 answers. 1: it reads the repo, edits files, runs commands, and commits; you move from integrator to specifier, reviewer, and tester. 2: project context, environment limits, and rules; CLAUDE.md can import AGENTS.md so every agent shares one set of rules. 3: it catches wrong assumptions and open questions cheaply, before code exists. 4: verify it yourself; the agent cannot run MATLAB. 5: not without an independent reason the old value was wrong; a test edited to pass is not evidence.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txBody>
          <a:bodyPr/>
          <a:p/>
        </p:txBody>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676400" y="152400"/>
            <a:ext cx="11525250" cy="1104900"/>
          </a:xfrm>
          <a:prstGeom prst="rect">
            <a:avLst/>
          </a:prstGeom>
          <a:noFill/>
          <a:ln/>
        </p:spPr>
        <p:txBody>
          <a:bodyPr wrap="square" lIns="25400" tIns="25400" rIns="25400" bIns="25400" rtlCol="0" anchor="ctr">
            <a:normAutofit/>
          </a:bodyPr>
          <a:lstStyle/>
          <a:p>
            <a:pPr algn="l" indent="0" marL="0">
              <a:lnSpc>
                <a:spcPct val="75000"/>
              </a:lnSpc>
              <a:buNone/>
            </a:pPr>
            <a:r>
              <a:rPr lang="en-US" sz="5400" b="1" dirty="0">
                <a:solidFill>
                  <a:srgbClr val="000000"/>
                </a:solidFill>
                <a:latin typeface="Segoe UI" pitchFamily="34" charset="0"/>
                <a:ea typeface="Segoe UI" pitchFamily="34" charset="-122"/>
                <a:cs typeface="Segoe UI" pitchFamily="34" charset="-120"/>
              </a:rPr>
              <a:t>Agentic AI for Engineering</a:t>
            </a:r>
            <a:endParaRPr lang="en-US" sz="5400" dirty="0"/>
          </a:p>
        </p:txBody>
      </p:sp>
      <p:sp>
        <p:nvSpPr>
          <p:cNvPr id="5" name="Shape 2"/>
          <p:cNvSpPr/>
          <p:nvPr/>
        </p:nvSpPr>
        <p:spPr>
          <a:xfrm>
            <a:off x="1657350" y="1219200"/>
            <a:ext cx="11925300" cy="66675"/>
          </a:xfrm>
          <a:prstGeom prst="rect">
            <a:avLst/>
          </a:prstGeom>
          <a:solidFill>
            <a:srgbClr val="000000"/>
          </a:solidFill>
          <a:ln/>
        </p:spPr>
        <p:txBody>
          <a:bodyPr/>
          <a:p/>
        </p:txBody>
      </p:sp>
      <p:sp>
        <p:nvSpPr>
          <p:cNvPr id="6" name="Text 3"/>
          <p:cNvSpPr/>
          <p:nvPr/>
        </p:nvSpPr>
        <p:spPr>
          <a:xfrm>
            <a:off x="5115149" y="2476500"/>
            <a:ext cx="5028655" cy="1181100"/>
          </a:xfrm>
          <a:prstGeom prst="rect">
            <a:avLst/>
          </a:prstGeom>
          <a:noFill/>
          <a:ln/>
        </p:spPr>
        <p:txBody>
          <a:bodyPr wrap="square" lIns="25400" tIns="25400" rIns="25400" bIns="25400" rtlCol="0" anchor="t">
            <a:normAutofit/>
          </a:bodyPr>
          <a:lstStyle/>
          <a:p>
            <a:pPr algn="ctr" indent="0" marL="0">
              <a:lnSpc>
                <a:spcPct val="75314"/>
              </a:lnSpc>
              <a:buNone/>
            </a:pPr>
            <a:r>
              <a:rPr lang="en-US" sz="9000" b="1" dirty="0">
                <a:solidFill>
                  <a:srgbClr val="000000"/>
                </a:solidFill>
                <a:latin typeface="Segoe UI" pitchFamily="34" charset="0"/>
                <a:ea typeface="Segoe UI" pitchFamily="34" charset="-122"/>
                <a:cs typeface="Segoe UI" pitchFamily="34" charset="-120"/>
              </a:rPr>
              <a:t>Lesson 2</a:t>
            </a:r>
            <a:endParaRPr lang="en-US" sz="9000" dirty="0"/>
          </a:p>
        </p:txBody>
      </p:sp>
      <p:sp>
        <p:nvSpPr>
          <p:cNvPr id="7" name="Text 4"/>
          <p:cNvSpPr/>
          <p:nvPr/>
        </p:nvSpPr>
        <p:spPr>
          <a:xfrm>
            <a:off x="1885950" y="3886200"/>
            <a:ext cx="11601450" cy="750491"/>
          </a:xfrm>
          <a:prstGeom prst="rect">
            <a:avLst/>
          </a:prstGeom>
          <a:noFill/>
          <a:ln/>
        </p:spPr>
        <p:txBody>
          <a:bodyPr wrap="square" lIns="25400" tIns="25400" rIns="25400" bIns="25400" rtlCol="0" anchor="t">
            <a:normAutofit/>
          </a:bodyPr>
          <a:lstStyle/>
          <a:p>
            <a:pPr algn="ctr" indent="0" marL="0">
              <a:lnSpc>
                <a:spcPct val="82500"/>
              </a:lnSpc>
              <a:buNone/>
            </a:pPr>
            <a:r>
              <a:rPr lang="en-US" sz="5100" b="1" dirty="0">
                <a:solidFill>
                  <a:srgbClr val="000000"/>
                </a:solidFill>
                <a:latin typeface="Segoe UI" pitchFamily="34" charset="0"/>
                <a:ea typeface="Segoe UI" pitchFamily="34" charset="-122"/>
                <a:cs typeface="Segoe UI" pitchFamily="34" charset="-120"/>
              </a:rPr>
              <a:t>Introduction to Agentic AI for Coding</a:t>
            </a:r>
            <a:endParaRPr lang="en-US" sz="5100" dirty="0"/>
          </a:p>
        </p:txBody>
      </p:sp>
      <p:sp>
        <p:nvSpPr>
          <p:cNvPr id="8" name="Text 5"/>
          <p:cNvSpPr/>
          <p:nvPr/>
        </p:nvSpPr>
        <p:spPr>
          <a:xfrm>
            <a:off x="1885950" y="4865291"/>
            <a:ext cx="11601450" cy="596900"/>
          </a:xfrm>
          <a:prstGeom prst="rect">
            <a:avLst/>
          </a:prstGeom>
          <a:noFill/>
          <a:ln/>
        </p:spPr>
        <p:txBody>
          <a:bodyPr wrap="square" lIns="25400" tIns="25400" rIns="25400" bIns="25400" rtlCol="0" anchor="t">
            <a:normAutofit/>
          </a:bodyPr>
          <a:lstStyle/>
          <a:p>
            <a:pPr algn="ctr" indent="0" marL="0">
              <a:buNone/>
            </a:pPr>
            <a:r>
              <a:rPr lang="en-US" sz="3300" b="1" dirty="0">
                <a:solidFill>
                  <a:srgbClr val="000000"/>
                </a:solidFill>
                <a:latin typeface="Segoe UI" pitchFamily="34" charset="0"/>
                <a:ea typeface="Segoe UI" pitchFamily="34" charset="-122"/>
                <a:cs typeface="Segoe UI" pitchFamily="34" charset="-120"/>
              </a:rPr>
              <a:t>Hands-on with Claude Code on the web</a:t>
            </a:r>
            <a:endParaRPr lang="en-US" sz="3300" dirty="0"/>
          </a:p>
        </p:txBody>
      </p:sp>
      <p:sp>
        <p:nvSpPr>
          <p:cNvPr id="9" name="Text 6"/>
          <p:cNvSpPr/>
          <p:nvPr/>
        </p:nvSpPr>
        <p:spPr>
          <a:xfrm>
            <a:off x="1885950" y="5690791"/>
            <a:ext cx="11601450" cy="495300"/>
          </a:xfrm>
          <a:prstGeom prst="rect">
            <a:avLst/>
          </a:prstGeom>
          <a:noFill/>
          <a:ln/>
        </p:spPr>
        <p:txBody>
          <a:bodyPr wrap="square" lIns="25400" tIns="25400" rIns="25400" bIns="25400" rtlCol="0" anchor="t">
            <a:normAutofit/>
          </a:bodyPr>
          <a:lstStyle/>
          <a:p>
            <a:pPr algn="ctr" indent="0" marL="0">
              <a:buNone/>
            </a:pPr>
            <a:r>
              <a:rPr lang="en-US" sz="2700" dirty="0">
                <a:solidFill>
                  <a:srgbClr val="404040"/>
                </a:solidFill>
                <a:latin typeface="Segoe UI" pitchFamily="34" charset="0"/>
                <a:ea typeface="Segoe UI" pitchFamily="34" charset="-122"/>
                <a:cs typeface="Segoe UI" pitchFamily="34" charset="-120"/>
              </a:rPr>
              <a:t>Specify, generate, and verify changes with a coding agent</a:t>
            </a:r>
            <a:endParaRPr lang="en-US" sz="2700" dirty="0"/>
          </a:p>
        </p:txBody>
      </p:sp>
      <p:sp>
        <p:nvSpPr>
          <p:cNvPr id="10" name="Text 7"/>
          <p:cNvSpPr/>
          <p:nvPr/>
        </p:nvSpPr>
        <p:spPr>
          <a:xfrm>
            <a:off x="934403" y="9382125"/>
            <a:ext cx="13390245" cy="546100"/>
          </a:xfrm>
          <a:prstGeom prst="rect">
            <a:avLst/>
          </a:prstGeom>
          <a:noFill/>
          <a:ln/>
        </p:spPr>
        <p:txBody>
          <a:bodyPr wrap="square" lIns="25400" tIns="25400" rIns="25400" bIns="25400" rtlCol="0" anchor="t">
            <a:normAutofit/>
          </a:bodyPr>
          <a:lstStyle/>
          <a:p>
            <a:pPr algn="ctr" indent="0" marL="0">
              <a:buNone/>
            </a:pPr>
            <a:r>
              <a:rPr lang="en-US" sz="3000" b="1" dirty="0">
                <a:solidFill>
                  <a:srgbClr val="000000"/>
                </a:solidFill>
                <a:latin typeface="Segoe UI" pitchFamily="34" charset="0"/>
                <a:ea typeface="Segoe UI" pitchFamily="34" charset="-122"/>
                <a:cs typeface="Segoe UI" pitchFamily="34" charset="-120"/>
              </a:rPr>
              <a:t>USAFA Instructor Short Course</a:t>
            </a:r>
            <a:endParaRPr lang="en-US" sz="30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3"/>
          <p:cNvSpPr/>
          <p:nvPr/>
        </p:nvSpPr>
        <p:spPr>
          <a:xfrm>
            <a:off x="0" y="0"/>
            <a:ext cx="1543050" cy="10287000"/>
          </a:xfrm>
          <a:prstGeom prst="rect">
            <a:avLst/>
          </a:prstGeom>
          <a:solidFill>
            <a:srgbClr val="E6E6E6"/>
          </a:solidFill>
          <a:ln/>
        </p:spPr>
      </p:sp>
      <p:pic>
        <p:nvPicPr>
          <p:cNvPr id="3" name="Picture 1" descr="image.png"/>
          <p:cNvPicPr>
            <a:picLocks noChangeAspect="1"/>
          </p:cNvPicPr>
          <p:nvPr/>
        </p:nvPicPr>
        <p:blipFill>
          <a:blip r:embed="rId2"/>
          <a:stretch>
            <a:fillRect/>
          </a:stretch>
        </p:blipFill>
        <p:spPr>
          <a:xfrm>
            <a:off x="200025" y="133350"/>
            <a:ext cx="1143000" cy="1143000"/>
          </a:xfrm>
          <a:prstGeom prst="rect">
            <a:avLst/>
          </a:prstGeom>
        </p:spPr>
      </p:pic>
      <p:sp>
        <p:nvSpPr>
          <p:cNvPr id="4" name="Text 4"/>
          <p:cNvSpPr txBox="1"/>
          <p:nvPr/>
        </p:nvSpPr>
        <p:spPr>
          <a:xfrm>
            <a:off x="133350" y="238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Overview</a:t>
            </a:r>
            <a:endParaRPr lang="en-US" sz="1800" dirty="0"/>
          </a:p>
        </p:txBody>
      </p:sp>
      <p:sp>
        <p:nvSpPr>
          <p:cNvPr id="5" name="Text 5"/>
          <p:cNvSpPr txBox="1"/>
          <p:nvPr/>
        </p:nvSpPr>
        <p:spPr>
          <a:xfrm>
            <a:off x="133350" y="2762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6"/>
          <p:cNvSpPr txBox="1"/>
          <p:nvPr/>
        </p:nvSpPr>
        <p:spPr>
          <a:xfrm>
            <a:off x="133350" y="3143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Specify</a:t>
            </a:r>
            <a:endParaRPr lang="en-US" sz="1800" dirty="0"/>
          </a:p>
        </p:txBody>
      </p:sp>
      <p:sp>
        <p:nvSpPr>
          <p:cNvPr id="7" name="Text 7"/>
          <p:cNvSpPr txBox="1"/>
          <p:nvPr/>
        </p:nvSpPr>
        <p:spPr>
          <a:xfrm>
            <a:off x="133350" y="3524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8" name="Text 8"/>
          <p:cNvSpPr txBox="1"/>
          <p:nvPr/>
        </p:nvSpPr>
        <p:spPr>
          <a:xfrm>
            <a:off x="133350" y="3905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Generate</a:t>
            </a:r>
            <a:endParaRPr lang="en-US" sz="1800" dirty="0"/>
          </a:p>
        </p:txBody>
      </p:sp>
      <p:sp>
        <p:nvSpPr>
          <p:cNvPr id="9" name="Text 9"/>
          <p:cNvSpPr txBox="1"/>
          <p:nvPr/>
        </p:nvSpPr>
        <p:spPr>
          <a:xfrm>
            <a:off x="133350" y="4286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Adjudicate</a:t>
            </a:r>
            <a:endParaRPr lang="en-US" sz="1800" dirty="0"/>
          </a:p>
        </p:txBody>
      </p:sp>
      <p:sp>
        <p:nvSpPr>
          <p:cNvPr id="10" name="Text 10"/>
          <p:cNvSpPr txBox="1"/>
          <p:nvPr/>
        </p:nvSpPr>
        <p:spPr>
          <a:xfrm>
            <a:off x="133350" y="4667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Pitfalls</a:t>
            </a:r>
            <a:endParaRPr lang="en-US" sz="1800" dirty="0"/>
          </a:p>
        </p:txBody>
      </p:sp>
      <p:sp>
        <p:nvSpPr>
          <p:cNvPr id="11" name="Text 11"/>
          <p:cNvSpPr txBox="1"/>
          <p:nvPr/>
        </p:nvSpPr>
        <p:spPr>
          <a:xfrm>
            <a:off x="133350" y="5048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GenAI Use</a:t>
            </a:r>
            <a:endParaRPr lang="en-US" sz="1800" dirty="0"/>
          </a:p>
        </p:txBody>
      </p:sp>
      <p:sp>
        <p:nvSpPr>
          <p:cNvPr id="12" name="Text 12"/>
          <p:cNvSpPr txBox="1"/>
          <p:nvPr/>
        </p:nvSpPr>
        <p:spPr>
          <a:xfrm>
            <a:off x="133350" y="5429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Your Repo</a:t>
            </a:r>
            <a:endParaRPr lang="en-US" sz="1800" dirty="0"/>
          </a:p>
        </p:txBody>
      </p:sp>
      <p:sp>
        <p:nvSpPr>
          <p:cNvPr id="13" name="Text 13"/>
          <p:cNvSpPr txBox="1"/>
          <p:nvPr/>
        </p:nvSpPr>
        <p:spPr>
          <a:xfrm>
            <a:off x="133350" y="5810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Teaching</a:t>
            </a:r>
            <a:endParaRPr lang="en-US" sz="1800" dirty="0"/>
          </a:p>
        </p:txBody>
      </p:sp>
      <p:sp>
        <p:nvSpPr>
          <p:cNvPr id="14" name="Text 14"/>
          <p:cNvSpPr txBox="1"/>
          <p:nvPr/>
        </p:nvSpPr>
        <p:spPr>
          <a:xfrm>
            <a:off x="133350" y="619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5"/>
          <p:cNvSpPr txBox="1"/>
          <p:nvPr/>
        </p:nvSpPr>
        <p:spPr>
          <a:xfrm>
            <a:off x="1657350" y="200025"/>
            <a:ext cx="10988040" cy="1057275"/>
          </a:xfrm>
          <a:prstGeom prst="rect">
            <a:avLst/>
          </a:prstGeom>
          <a:noFill/>
          <a:ln/>
        </p:spPr>
        <p:txBody>
          <a:bodyPr wrap="square" lIns="25400" tIns="25400" rIns="25400" bIns="25400" rtlCol="0" anchor="ctr">
            <a:no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Lesson Objectives</a:t>
            </a:r>
            <a:endParaRPr lang="en-US" sz="4800" dirty="0"/>
          </a:p>
        </p:txBody>
      </p:sp>
      <p:sp>
        <p:nvSpPr>
          <p:cNvPr id="16" name="Text 16"/>
          <p:cNvSpPr txBox="1"/>
          <p:nvPr/>
        </p:nvSpPr>
        <p:spPr>
          <a:xfrm>
            <a:off x="12515950" y="133350"/>
            <a:ext cx="1142901" cy="393700"/>
          </a:xfrm>
          <a:prstGeom prst="rect">
            <a:avLst/>
          </a:prstGeom>
          <a:noFill/>
          <a:ln/>
        </p:spPr>
        <p:txBody>
          <a:bodyPr wrap="non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2</a:t>
            </a:r>
            <a:endParaRPr lang="en-US" sz="2100" dirty="0"/>
          </a:p>
        </p:txBody>
      </p:sp>
      <p:sp>
        <p:nvSpPr>
          <p:cNvPr id="17" name="Shape 17"/>
          <p:cNvSpPr/>
          <p:nvPr/>
        </p:nvSpPr>
        <p:spPr>
          <a:xfrm>
            <a:off x="1657350" y="1219200"/>
            <a:ext cx="11925300" cy="66675"/>
          </a:xfrm>
          <a:prstGeom prst="rect">
            <a:avLst/>
          </a:prstGeom>
          <a:solidFill>
            <a:srgbClr val="000000"/>
          </a:solidFill>
          <a:ln/>
        </p:spPr>
      </p:sp>
      <p:sp>
        <p:nvSpPr>
          <p:cNvPr id="18" name="Text 18"/>
          <p:cNvSpPr txBox="1"/>
          <p:nvPr/>
        </p:nvSpPr>
        <p:spPr>
          <a:xfrm>
            <a:off x="1054418" y="9810750"/>
            <a:ext cx="13264515" cy="342900"/>
          </a:xfrm>
          <a:prstGeom prst="rect">
            <a:avLst/>
          </a:prstGeom>
          <a:noFill/>
          <a:ln/>
        </p:spPr>
        <p:txBody>
          <a:bodyPr wrap="square" lIns="25400" tIns="25400" rIns="25400" bIns="25400" rtlCol="0" anchor="t">
            <a:no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2</a:t>
            </a:r>
            <a:endParaRPr lang="en-US" sz="1800" dirty="0"/>
          </a:p>
        </p:txBody>
      </p:sp>
      <p:sp>
        <p:nvSpPr>
          <p:cNvPr id="19" name="Text 19"/>
          <p:cNvSpPr txBox="1"/>
          <p:nvPr/>
        </p:nvSpPr>
        <p:spPr>
          <a:xfrm>
            <a:off x="13458850" y="9810750"/>
            <a:ext cx="200000" cy="342900"/>
          </a:xfrm>
          <a:prstGeom prst="rect">
            <a:avLst/>
          </a:prstGeom>
          <a:noFill/>
          <a:ln/>
        </p:spPr>
        <p:txBody>
          <a:bodyPr wrap="none" lIns="25400" tIns="25400" rIns="25400" bIns="25400" rtlCol="0" anchor="t">
            <a:no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2</a:t>
            </a:r>
            <a:endParaRPr lang="en-US" sz="1800" dirty="0"/>
          </a:p>
        </p:txBody>
      </p:sp>
      <p:sp>
        <p:nvSpPr>
          <p:cNvPr id="20" name="Text 20"/>
          <p:cNvSpPr txBox="1"/>
          <p:nvPr/>
        </p:nvSpPr>
        <p:spPr>
          <a:xfrm>
            <a:off x="1810512" y="1618488"/>
            <a:ext cx="12847320" cy="393192"/>
          </a:xfrm>
          <a:prstGeom prst="rect">
            <a:avLst/>
          </a:prstGeom>
          <a:noFill/>
          <a:ln/>
        </p:spPr>
        <p:txBody>
          <a:bodyPr wrap="square" lIns="25400" tIns="25400" rIns="25400" bIns="25400" rtlCol="0" anchor="t">
            <a:noAutofit/>
          </a:bodyPr>
          <a:lstStyle/>
          <a:p>
            <a:pPr algn="l" indent="0" marL="0">
              <a:buNone/>
            </a:pPr>
            <a:r>
              <a:rPr lang="en-US" sz="2100" dirty="0">
                <a:solidFill>
                  <a:srgbClr val="000000"/>
                </a:solidFill>
                <a:latin typeface="Segoe UI" pitchFamily="34" charset="0"/>
                <a:ea typeface="Segoe UI" pitchFamily="34" charset="-122"/>
                <a:cs typeface="Segoe UI" pitchFamily="34" charset="-120"/>
              </a:rPr>
              <a:t>By the end of this lesson you can:</a:t>
            </a:r>
            <a:endParaRPr lang="en-US" sz="2100" dirty="0"/>
          </a:p>
        </p:txBody>
      </p:sp>
      <p:sp>
        <p:nvSpPr>
          <p:cNvPr id="21" name="Text 21"/>
          <p:cNvSpPr txBox="1"/>
          <p:nvPr/>
        </p:nvSpPr>
        <p:spPr>
          <a:xfrm>
            <a:off x="1810512" y="2185416"/>
            <a:ext cx="612648" cy="411480"/>
          </a:xfrm>
          <a:prstGeom prst="rect">
            <a:avLst/>
          </a:prstGeom>
          <a:noFill/>
          <a:ln/>
        </p:spPr>
        <p:txBody>
          <a:bodyPr wrap="square" lIns="25400" tIns="25400" rIns="25400" bIns="25400" rtlCol="0" anchor="t">
            <a:noAutofit/>
          </a:bodyPr>
          <a:lstStyle/>
          <a:p>
            <a:pPr algn="l" indent="0" marL="0">
              <a:lnSpc>
                <a:spcPct val="97500"/>
              </a:lnSpc>
              <a:buNone/>
            </a:pPr>
            <a:r>
              <a:rPr lang="en-US" sz="2250" b="1" dirty="0">
                <a:solidFill>
                  <a:srgbClr val="1F6FB2"/>
                </a:solidFill>
                <a:latin typeface="Segoe UI" pitchFamily="34" charset="0"/>
                <a:ea typeface="Segoe UI" pitchFamily="34" charset="-122"/>
                <a:cs typeface="Segoe UI" pitchFamily="34" charset="-120"/>
              </a:rPr>
              <a:t>1</a:t>
            </a:r>
            <a:endParaRPr lang="en-US" sz="2250" dirty="0"/>
          </a:p>
        </p:txBody>
      </p:sp>
      <p:sp>
        <p:nvSpPr>
          <p:cNvPr id="22" name="Text 22"/>
          <p:cNvSpPr txBox="1"/>
          <p:nvPr/>
        </p:nvSpPr>
        <p:spPr>
          <a:xfrm>
            <a:off x="2340864" y="2212848"/>
            <a:ext cx="11155680" cy="384048"/>
          </a:xfrm>
          <a:prstGeom prst="rect">
            <a:avLst/>
          </a:prstGeom>
          <a:noFill/>
          <a:ln/>
        </p:spPr>
        <p:txBody>
          <a:bodyPr wrap="square" lIns="25400" tIns="25400" rIns="25400" bIns="25400" rtlCol="0" anchor="t">
            <a:noAutofit/>
          </a:bodyPr>
          <a:lstStyle/>
          <a:p>
            <a:pPr algn="l" indent="0" marL="0">
              <a:lnSpc>
                <a:spcPct val="97500"/>
              </a:lnSpc>
              <a:buNone/>
            </a:pPr>
            <a:r>
              <a:rPr lang="en-US" sz="2100" dirty="0">
                <a:solidFill>
                  <a:srgbClr val="000000"/>
                </a:solidFill>
                <a:latin typeface="Segoe UI" pitchFamily="34" charset="0"/>
                <a:ea typeface="Segoe UI" pitchFamily="34" charset="-122"/>
                <a:cs typeface="Segoe UI" pitchFamily="34" charset="-120"/>
              </a:rPr>
              <a:t>Explain how a coding agent differs from a chat LLM, and how your role changes</a:t>
            </a:r>
            <a:endParaRPr lang="en-US" sz="2100" dirty="0"/>
          </a:p>
        </p:txBody>
      </p:sp>
      <p:sp>
        <p:nvSpPr>
          <p:cNvPr id="23" name="Text 23"/>
          <p:cNvSpPr txBox="1"/>
          <p:nvPr/>
        </p:nvSpPr>
        <p:spPr>
          <a:xfrm>
            <a:off x="1810512" y="2729484"/>
            <a:ext cx="612648" cy="411480"/>
          </a:xfrm>
          <a:prstGeom prst="rect">
            <a:avLst/>
          </a:prstGeom>
          <a:noFill/>
          <a:ln/>
        </p:spPr>
        <p:txBody>
          <a:bodyPr wrap="square" lIns="25400" tIns="25400" rIns="25400" bIns="25400" rtlCol="0" anchor="t">
            <a:noAutofit/>
          </a:bodyPr>
          <a:lstStyle/>
          <a:p>
            <a:pPr algn="l" indent="0" marL="0">
              <a:lnSpc>
                <a:spcPct val="97500"/>
              </a:lnSpc>
              <a:buNone/>
            </a:pPr>
            <a:r>
              <a:rPr lang="en-US" sz="2250" b="1" dirty="0">
                <a:solidFill>
                  <a:srgbClr val="1F6FB2"/>
                </a:solidFill>
                <a:latin typeface="Segoe UI" pitchFamily="34" charset="0"/>
                <a:ea typeface="Segoe UI" pitchFamily="34" charset="-122"/>
                <a:cs typeface="Segoe UI" pitchFamily="34" charset="-120"/>
              </a:rPr>
              <a:t>2</a:t>
            </a:r>
            <a:endParaRPr lang="en-US" sz="2250" dirty="0"/>
          </a:p>
        </p:txBody>
      </p:sp>
      <p:sp>
        <p:nvSpPr>
          <p:cNvPr id="24" name="Text 24"/>
          <p:cNvSpPr txBox="1"/>
          <p:nvPr/>
        </p:nvSpPr>
        <p:spPr>
          <a:xfrm>
            <a:off x="2340864" y="2756916"/>
            <a:ext cx="11155680" cy="384048"/>
          </a:xfrm>
          <a:prstGeom prst="rect">
            <a:avLst/>
          </a:prstGeom>
          <a:noFill/>
          <a:ln/>
        </p:spPr>
        <p:txBody>
          <a:bodyPr wrap="square" lIns="25400" tIns="25400" rIns="25400" bIns="25400" rtlCol="0" anchor="t">
            <a:noAutofit/>
          </a:bodyPr>
          <a:lstStyle/>
          <a:p>
            <a:pPr algn="l" indent="0" marL="0">
              <a:lnSpc>
                <a:spcPct val="97500"/>
              </a:lnSpc>
              <a:buNone/>
            </a:pPr>
            <a:r>
              <a:rPr lang="en-US" sz="2100" dirty="0">
                <a:solidFill>
                  <a:srgbClr val="000000"/>
                </a:solidFill>
                <a:latin typeface="Segoe UI" pitchFamily="34" charset="0"/>
                <a:ea typeface="Segoe UI" pitchFamily="34" charset="-122"/>
                <a:cs typeface="Segoe UI" pitchFamily="34" charset="-120"/>
              </a:rPr>
              <a:t>Give an agent your project’s context with CLAUDE.md (and AGENTS.md)</a:t>
            </a:r>
            <a:endParaRPr lang="en-US" sz="2100" dirty="0"/>
          </a:p>
        </p:txBody>
      </p:sp>
      <p:sp>
        <p:nvSpPr>
          <p:cNvPr id="25" name="Text 25"/>
          <p:cNvSpPr txBox="1"/>
          <p:nvPr/>
        </p:nvSpPr>
        <p:spPr>
          <a:xfrm>
            <a:off x="1810512" y="3273552"/>
            <a:ext cx="612648" cy="411480"/>
          </a:xfrm>
          <a:prstGeom prst="rect">
            <a:avLst/>
          </a:prstGeom>
          <a:noFill/>
          <a:ln/>
        </p:spPr>
        <p:txBody>
          <a:bodyPr wrap="square" lIns="25400" tIns="25400" rIns="25400" bIns="25400" rtlCol="0" anchor="t">
            <a:noAutofit/>
          </a:bodyPr>
          <a:lstStyle/>
          <a:p>
            <a:pPr algn="l" indent="0" marL="0">
              <a:lnSpc>
                <a:spcPct val="97500"/>
              </a:lnSpc>
              <a:buNone/>
            </a:pPr>
            <a:r>
              <a:rPr lang="en-US" sz="2250" b="1" dirty="0">
                <a:solidFill>
                  <a:srgbClr val="1F6FB2"/>
                </a:solidFill>
                <a:latin typeface="Segoe UI" pitchFamily="34" charset="0"/>
                <a:ea typeface="Segoe UI" pitchFamily="34" charset="-122"/>
                <a:cs typeface="Segoe UI" pitchFamily="34" charset="-120"/>
              </a:rPr>
              <a:t>3</a:t>
            </a:r>
            <a:endParaRPr lang="en-US" sz="2250" dirty="0"/>
          </a:p>
        </p:txBody>
      </p:sp>
      <p:sp>
        <p:nvSpPr>
          <p:cNvPr id="26" name="Text 26"/>
          <p:cNvSpPr txBox="1"/>
          <p:nvPr/>
        </p:nvSpPr>
        <p:spPr>
          <a:xfrm>
            <a:off x="2340864" y="3300984"/>
            <a:ext cx="11155680" cy="384048"/>
          </a:xfrm>
          <a:prstGeom prst="rect">
            <a:avLst/>
          </a:prstGeom>
          <a:noFill/>
          <a:ln/>
        </p:spPr>
        <p:txBody>
          <a:bodyPr wrap="square" lIns="25400" tIns="25400" rIns="25400" bIns="25400" rtlCol="0" anchor="t">
            <a:noAutofit/>
          </a:bodyPr>
          <a:lstStyle/>
          <a:p>
            <a:pPr algn="l" indent="0" marL="0">
              <a:lnSpc>
                <a:spcPct val="97500"/>
              </a:lnSpc>
              <a:buNone/>
            </a:pPr>
            <a:r>
              <a:rPr lang="en-US" sz="2100" dirty="0">
                <a:solidFill>
                  <a:srgbClr val="000000"/>
                </a:solidFill>
                <a:latin typeface="Segoe UI" pitchFamily="34" charset="0"/>
                <a:ea typeface="Segoe UI" pitchFamily="34" charset="-122"/>
                <a:cs typeface="Segoe UI" pitchFamily="34" charset="-120"/>
              </a:rPr>
              <a:t>Specify a change as a verifiable requirement, and get a plan before any code</a:t>
            </a:r>
            <a:endParaRPr lang="en-US" sz="2100" dirty="0"/>
          </a:p>
        </p:txBody>
      </p:sp>
      <p:sp>
        <p:nvSpPr>
          <p:cNvPr id="27" name="Text 27"/>
          <p:cNvSpPr txBox="1"/>
          <p:nvPr/>
        </p:nvSpPr>
        <p:spPr>
          <a:xfrm>
            <a:off x="1810512" y="3817620"/>
            <a:ext cx="612648" cy="411480"/>
          </a:xfrm>
          <a:prstGeom prst="rect">
            <a:avLst/>
          </a:prstGeom>
          <a:noFill/>
          <a:ln/>
        </p:spPr>
        <p:txBody>
          <a:bodyPr wrap="square" lIns="25400" tIns="25400" rIns="25400" bIns="25400" rtlCol="0" anchor="t">
            <a:noAutofit/>
          </a:bodyPr>
          <a:lstStyle/>
          <a:p>
            <a:pPr algn="l" indent="0" marL="0">
              <a:lnSpc>
                <a:spcPct val="97500"/>
              </a:lnSpc>
              <a:buNone/>
            </a:pPr>
            <a:r>
              <a:rPr lang="en-US" sz="2250" b="1" dirty="0">
                <a:solidFill>
                  <a:srgbClr val="1F6FB2"/>
                </a:solidFill>
                <a:latin typeface="Segoe UI" pitchFamily="34" charset="0"/>
                <a:ea typeface="Segoe UI" pitchFamily="34" charset="-122"/>
                <a:cs typeface="Segoe UI" pitchFamily="34" charset="-120"/>
              </a:rPr>
              <a:t>4</a:t>
            </a:r>
            <a:endParaRPr lang="en-US" sz="2250" dirty="0"/>
          </a:p>
        </p:txBody>
      </p:sp>
      <p:sp>
        <p:nvSpPr>
          <p:cNvPr id="28" name="Text 28"/>
          <p:cNvSpPr txBox="1"/>
          <p:nvPr/>
        </p:nvSpPr>
        <p:spPr>
          <a:xfrm>
            <a:off x="2340864" y="3845052"/>
            <a:ext cx="11155680" cy="384048"/>
          </a:xfrm>
          <a:prstGeom prst="rect">
            <a:avLst/>
          </a:prstGeom>
          <a:noFill/>
          <a:ln/>
        </p:spPr>
        <p:txBody>
          <a:bodyPr wrap="square" lIns="25400" tIns="25400" rIns="25400" bIns="25400" rtlCol="0" anchor="t">
            <a:noAutofit/>
          </a:bodyPr>
          <a:lstStyle/>
          <a:p>
            <a:pPr algn="l" indent="0" marL="0">
              <a:lnSpc>
                <a:spcPct val="97500"/>
              </a:lnSpc>
              <a:buNone/>
            </a:pPr>
            <a:r>
              <a:rPr lang="en-US" sz="2100" dirty="0">
                <a:solidFill>
                  <a:srgbClr val="000000"/>
                </a:solidFill>
                <a:latin typeface="Segoe UI" pitchFamily="34" charset="0"/>
                <a:ea typeface="Segoe UI" pitchFamily="34" charset="-122"/>
                <a:cs typeface="Segoe UI" pitchFamily="34" charset="-120"/>
              </a:rPr>
              <a:t>Review an agent’s diff and pull request, then verify the result yourself</a:t>
            </a:r>
            <a:endParaRPr lang="en-US" sz="2100" dirty="0"/>
          </a:p>
        </p:txBody>
      </p:sp>
      <p:sp>
        <p:nvSpPr>
          <p:cNvPr id="29" name="Text 29"/>
          <p:cNvSpPr txBox="1"/>
          <p:nvPr/>
        </p:nvSpPr>
        <p:spPr>
          <a:xfrm>
            <a:off x="1810512" y="4361688"/>
            <a:ext cx="612648" cy="411480"/>
          </a:xfrm>
          <a:prstGeom prst="rect">
            <a:avLst/>
          </a:prstGeom>
          <a:noFill/>
          <a:ln/>
        </p:spPr>
        <p:txBody>
          <a:bodyPr wrap="square" lIns="25400" tIns="25400" rIns="25400" bIns="25400" rtlCol="0" anchor="t">
            <a:noAutofit/>
          </a:bodyPr>
          <a:lstStyle/>
          <a:p>
            <a:pPr algn="l" indent="0" marL="0">
              <a:lnSpc>
                <a:spcPct val="97500"/>
              </a:lnSpc>
              <a:buNone/>
            </a:pPr>
            <a:r>
              <a:rPr lang="en-US" sz="2250" b="1" dirty="0">
                <a:solidFill>
                  <a:srgbClr val="1F6FB2"/>
                </a:solidFill>
                <a:latin typeface="Segoe UI" pitchFamily="34" charset="0"/>
                <a:ea typeface="Segoe UI" pitchFamily="34" charset="-122"/>
                <a:cs typeface="Segoe UI" pitchFamily="34" charset="-120"/>
              </a:rPr>
              <a:t>5</a:t>
            </a:r>
            <a:endParaRPr lang="en-US" sz="2250" dirty="0"/>
          </a:p>
        </p:txBody>
      </p:sp>
      <p:sp>
        <p:nvSpPr>
          <p:cNvPr id="30" name="Text 30"/>
          <p:cNvSpPr txBox="1"/>
          <p:nvPr/>
        </p:nvSpPr>
        <p:spPr>
          <a:xfrm>
            <a:off x="2340864" y="4389120"/>
            <a:ext cx="11155680" cy="384048"/>
          </a:xfrm>
          <a:prstGeom prst="rect">
            <a:avLst/>
          </a:prstGeom>
          <a:noFill/>
          <a:ln/>
        </p:spPr>
        <p:txBody>
          <a:bodyPr wrap="square" lIns="25400" tIns="25400" rIns="25400" bIns="25400" rtlCol="0" anchor="t">
            <a:noAutofit/>
          </a:bodyPr>
          <a:lstStyle/>
          <a:p>
            <a:pPr algn="l" indent="0" marL="0">
              <a:lnSpc>
                <a:spcPct val="97500"/>
              </a:lnSpc>
              <a:buNone/>
            </a:pPr>
            <a:r>
              <a:rPr lang="en-US" sz="2100" dirty="0">
                <a:solidFill>
                  <a:srgbClr val="000000"/>
                </a:solidFill>
                <a:latin typeface="Segoe UI" pitchFamily="34" charset="0"/>
                <a:ea typeface="Segoe UI" pitchFamily="34" charset="-122"/>
                <a:cs typeface="Segoe UI" pitchFamily="34" charset="-120"/>
              </a:rPr>
              <a:t>Document GenAI use, and plan how cadets will use agents in your course</a:t>
            </a:r>
            <a:endParaRPr lang="en-US" sz="2100" dirty="0"/>
          </a:p>
        </p:txBody>
      </p:sp>
      <p:sp>
        <p:nvSpPr>
          <p:cNvPr id="31" name="Text 31"/>
          <p:cNvSpPr txBox="1"/>
          <p:nvPr/>
        </p:nvSpPr>
        <p:spPr>
          <a:xfrm>
            <a:off x="1810512" y="5148072"/>
            <a:ext cx="12847320" cy="393192"/>
          </a:xfrm>
          <a:prstGeom prst="rect">
            <a:avLst/>
          </a:prstGeom>
          <a:noFill/>
          <a:ln/>
        </p:spPr>
        <p:txBody>
          <a:bodyPr wrap="squar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Agenda (50 min)</a:t>
            </a:r>
            <a:endParaRPr lang="en-US" sz="2100" dirty="0"/>
          </a:p>
        </p:txBody>
      </p:sp>
      <p:sp>
        <p:nvSpPr>
          <p:cNvPr id="32" name="Shape 32"/>
          <p:cNvSpPr/>
          <p:nvPr/>
        </p:nvSpPr>
        <p:spPr>
          <a:xfrm>
            <a:off x="1810512" y="5715000"/>
            <a:ext cx="3456432" cy="987552"/>
          </a:xfrm>
          <a:prstGeom prst="rect">
            <a:avLst/>
          </a:prstGeom>
          <a:solidFill>
            <a:srgbClr val="152A47"/>
          </a:solidFill>
          <a:ln/>
        </p:spPr>
      </p:sp>
      <p:sp>
        <p:nvSpPr>
          <p:cNvPr id="33" name="Text 33"/>
          <p:cNvSpPr txBox="1"/>
          <p:nvPr/>
        </p:nvSpPr>
        <p:spPr>
          <a:xfrm>
            <a:off x="2002536" y="5888736"/>
            <a:ext cx="3273552"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0–15 min</a:t>
            </a:r>
            <a:endParaRPr lang="en-US" sz="1800" dirty="0"/>
          </a:p>
        </p:txBody>
      </p:sp>
      <p:sp>
        <p:nvSpPr>
          <p:cNvPr id="34" name="Text 34"/>
          <p:cNvSpPr txBox="1"/>
          <p:nvPr/>
        </p:nvSpPr>
        <p:spPr>
          <a:xfrm>
            <a:off x="2002536" y="6227064"/>
            <a:ext cx="3273552" cy="347472"/>
          </a:xfrm>
          <a:prstGeom prst="rect">
            <a:avLst/>
          </a:prstGeom>
          <a:noFill/>
          <a:ln/>
        </p:spPr>
        <p:txBody>
          <a:bodyPr wrap="square" lIns="25400" tIns="25400" rIns="25400" bIns="25400" rtlCol="0" anchor="t">
            <a:noAutofit/>
          </a:bodyPr>
          <a:lstStyle/>
          <a:p>
            <a:pPr algn="l" indent="0" marL="0">
              <a:buNone/>
            </a:pPr>
            <a:r>
              <a:rPr lang="en-US" sz="1800" dirty="0">
                <a:solidFill>
                  <a:srgbClr val="FFFFFF"/>
                </a:solidFill>
                <a:latin typeface="Segoe UI" pitchFamily="34" charset="0"/>
                <a:ea typeface="Segoe UI" pitchFamily="34" charset="-122"/>
                <a:cs typeface="Segoe UI" pitchFamily="34" charset="-120"/>
              </a:rPr>
              <a:t>Concepts</a:t>
            </a:r>
            <a:endParaRPr lang="en-US" sz="1800" dirty="0"/>
          </a:p>
        </p:txBody>
      </p:sp>
      <p:sp>
        <p:nvSpPr>
          <p:cNvPr id="35" name="Shape 35"/>
          <p:cNvSpPr/>
          <p:nvPr/>
        </p:nvSpPr>
        <p:spPr>
          <a:xfrm>
            <a:off x="5340096" y="5715000"/>
            <a:ext cx="6912864" cy="987552"/>
          </a:xfrm>
          <a:prstGeom prst="rect">
            <a:avLst/>
          </a:prstGeom>
          <a:solidFill>
            <a:srgbClr val="1F6FB2"/>
          </a:solidFill>
          <a:ln/>
        </p:spPr>
      </p:sp>
      <p:sp>
        <p:nvSpPr>
          <p:cNvPr id="36" name="Text 36"/>
          <p:cNvSpPr txBox="1"/>
          <p:nvPr/>
        </p:nvSpPr>
        <p:spPr>
          <a:xfrm>
            <a:off x="5532120" y="5888736"/>
            <a:ext cx="6729984"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15–45 min</a:t>
            </a:r>
            <a:endParaRPr lang="en-US" sz="1800" dirty="0"/>
          </a:p>
        </p:txBody>
      </p:sp>
      <p:sp>
        <p:nvSpPr>
          <p:cNvPr id="37" name="Text 37"/>
          <p:cNvSpPr txBox="1"/>
          <p:nvPr/>
        </p:nvSpPr>
        <p:spPr>
          <a:xfrm>
            <a:off x="5532120" y="6227064"/>
            <a:ext cx="6729984" cy="347472"/>
          </a:xfrm>
          <a:prstGeom prst="rect">
            <a:avLst/>
          </a:prstGeom>
          <a:noFill/>
          <a:ln/>
        </p:spPr>
        <p:txBody>
          <a:bodyPr wrap="square" lIns="25400" tIns="25400" rIns="25400" bIns="25400" rtlCol="0" anchor="t">
            <a:noAutofit/>
          </a:bodyPr>
          <a:lstStyle/>
          <a:p>
            <a:pPr algn="l" indent="0" marL="0">
              <a:buNone/>
            </a:pPr>
            <a:r>
              <a:rPr lang="en-US" sz="1800" dirty="0">
                <a:solidFill>
                  <a:srgbClr val="FFFFFF"/>
                </a:solidFill>
                <a:latin typeface="Segoe UI" pitchFamily="34" charset="0"/>
                <a:ea typeface="Segoe UI" pitchFamily="34" charset="-122"/>
                <a:cs typeface="Segoe UI" pitchFamily="34" charset="-120"/>
              </a:rPr>
              <a:t>Guided exercises in Claude Code</a:t>
            </a:r>
            <a:endParaRPr lang="en-US" sz="1800" dirty="0"/>
          </a:p>
        </p:txBody>
      </p:sp>
      <p:sp>
        <p:nvSpPr>
          <p:cNvPr id="38" name="Shape 38"/>
          <p:cNvSpPr/>
          <p:nvPr/>
        </p:nvSpPr>
        <p:spPr>
          <a:xfrm>
            <a:off x="12335256" y="5715000"/>
            <a:ext cx="1152144" cy="987552"/>
          </a:xfrm>
          <a:prstGeom prst="rect">
            <a:avLst/>
          </a:prstGeom>
          <a:solidFill>
            <a:srgbClr val="595959"/>
          </a:solidFill>
          <a:ln/>
        </p:spPr>
      </p:sp>
      <p:sp>
        <p:nvSpPr>
          <p:cNvPr id="39" name="Text 39"/>
          <p:cNvSpPr txBox="1"/>
          <p:nvPr/>
        </p:nvSpPr>
        <p:spPr>
          <a:xfrm>
            <a:off x="12444984" y="5888736"/>
            <a:ext cx="969264"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45–50</a:t>
            </a:r>
            <a:endParaRPr lang="en-US" sz="1800" dirty="0"/>
          </a:p>
        </p:txBody>
      </p:sp>
      <p:sp>
        <p:nvSpPr>
          <p:cNvPr id="40" name="Text 40"/>
          <p:cNvSpPr txBox="1"/>
          <p:nvPr/>
        </p:nvSpPr>
        <p:spPr>
          <a:xfrm>
            <a:off x="12444984" y="6227064"/>
            <a:ext cx="969264" cy="347472"/>
          </a:xfrm>
          <a:prstGeom prst="rect">
            <a:avLst/>
          </a:prstGeom>
          <a:noFill/>
          <a:ln/>
        </p:spPr>
        <p:txBody>
          <a:bodyPr wrap="square" lIns="25400" tIns="25400" rIns="25400" bIns="25400" rtlCol="0" anchor="t">
            <a:noAutofit/>
          </a:bodyPr>
          <a:lstStyle/>
          <a:p>
            <a:pPr algn="l" indent="0" marL="0">
              <a:buNone/>
            </a:pPr>
            <a:r>
              <a:rPr lang="en-US" sz="1800" dirty="0">
                <a:solidFill>
                  <a:srgbClr val="FFFFFF"/>
                </a:solidFill>
                <a:latin typeface="Segoe UI" pitchFamily="34" charset="0"/>
                <a:ea typeface="Segoe UI" pitchFamily="34" charset="-122"/>
                <a:cs typeface="Segoe UI" pitchFamily="34" charset="-120"/>
              </a:rPr>
              <a:t>Review</a:t>
            </a:r>
            <a:endParaRPr lang="en-US" sz="18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3"/>
          <p:cNvSpPr/>
          <p:nvPr/>
        </p:nvSpPr>
        <p:spPr>
          <a:xfrm>
            <a:off x="0" y="0"/>
            <a:ext cx="1543050" cy="10287000"/>
          </a:xfrm>
          <a:prstGeom prst="rect">
            <a:avLst/>
          </a:prstGeom>
          <a:solidFill>
            <a:srgbClr val="E6E6E6"/>
          </a:solidFill>
          <a:ln/>
        </p:spPr>
      </p:sp>
      <p:pic>
        <p:nvPicPr>
          <p:cNvPr id="3" name="Picture 1" descr="image.png"/>
          <p:cNvPicPr>
            <a:picLocks noChangeAspect="1"/>
          </p:cNvPicPr>
          <p:nvPr/>
        </p:nvPicPr>
        <p:blipFill>
          <a:blip r:embed="rId2"/>
          <a:stretch>
            <a:fillRect/>
          </a:stretch>
        </p:blipFill>
        <p:spPr>
          <a:xfrm>
            <a:off x="200025" y="133350"/>
            <a:ext cx="1143000" cy="1143000"/>
          </a:xfrm>
          <a:prstGeom prst="rect">
            <a:avLst/>
          </a:prstGeom>
        </p:spPr>
      </p:pic>
      <p:sp>
        <p:nvSpPr>
          <p:cNvPr id="4" name="Text 4"/>
          <p:cNvSpPr txBox="1"/>
          <p:nvPr/>
        </p:nvSpPr>
        <p:spPr>
          <a:xfrm>
            <a:off x="133350" y="238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Overview</a:t>
            </a:r>
            <a:endParaRPr lang="en-US" sz="1800" dirty="0"/>
          </a:p>
        </p:txBody>
      </p:sp>
      <p:sp>
        <p:nvSpPr>
          <p:cNvPr id="5" name="Text 5"/>
          <p:cNvSpPr txBox="1"/>
          <p:nvPr/>
        </p:nvSpPr>
        <p:spPr>
          <a:xfrm>
            <a:off x="133350" y="2762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6"/>
          <p:cNvSpPr txBox="1"/>
          <p:nvPr/>
        </p:nvSpPr>
        <p:spPr>
          <a:xfrm>
            <a:off x="133350" y="3143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Specify</a:t>
            </a:r>
            <a:endParaRPr lang="en-US" sz="1800" dirty="0"/>
          </a:p>
        </p:txBody>
      </p:sp>
      <p:sp>
        <p:nvSpPr>
          <p:cNvPr id="7" name="Text 7"/>
          <p:cNvSpPr txBox="1"/>
          <p:nvPr/>
        </p:nvSpPr>
        <p:spPr>
          <a:xfrm>
            <a:off x="133350" y="3524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8" name="Text 8"/>
          <p:cNvSpPr txBox="1"/>
          <p:nvPr/>
        </p:nvSpPr>
        <p:spPr>
          <a:xfrm>
            <a:off x="133350" y="3905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Generate</a:t>
            </a:r>
            <a:endParaRPr lang="en-US" sz="1800" dirty="0"/>
          </a:p>
        </p:txBody>
      </p:sp>
      <p:sp>
        <p:nvSpPr>
          <p:cNvPr id="9" name="Text 9"/>
          <p:cNvSpPr txBox="1"/>
          <p:nvPr/>
        </p:nvSpPr>
        <p:spPr>
          <a:xfrm>
            <a:off x="133350" y="4286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Adjudicate</a:t>
            </a:r>
            <a:endParaRPr lang="en-US" sz="1800" dirty="0"/>
          </a:p>
        </p:txBody>
      </p:sp>
      <p:sp>
        <p:nvSpPr>
          <p:cNvPr id="10" name="Text 10"/>
          <p:cNvSpPr txBox="1"/>
          <p:nvPr/>
        </p:nvSpPr>
        <p:spPr>
          <a:xfrm>
            <a:off x="133350" y="4667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Pitfalls</a:t>
            </a:r>
            <a:endParaRPr lang="en-US" sz="1800" dirty="0"/>
          </a:p>
        </p:txBody>
      </p:sp>
      <p:sp>
        <p:nvSpPr>
          <p:cNvPr id="11" name="Text 11"/>
          <p:cNvSpPr txBox="1"/>
          <p:nvPr/>
        </p:nvSpPr>
        <p:spPr>
          <a:xfrm>
            <a:off x="133350" y="5048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GenAI Use</a:t>
            </a:r>
            <a:endParaRPr lang="en-US" sz="1800" dirty="0"/>
          </a:p>
        </p:txBody>
      </p:sp>
      <p:sp>
        <p:nvSpPr>
          <p:cNvPr id="12" name="Text 12"/>
          <p:cNvSpPr txBox="1"/>
          <p:nvPr/>
        </p:nvSpPr>
        <p:spPr>
          <a:xfrm>
            <a:off x="133350" y="5429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Your Repo</a:t>
            </a:r>
            <a:endParaRPr lang="en-US" sz="1800" dirty="0"/>
          </a:p>
        </p:txBody>
      </p:sp>
      <p:sp>
        <p:nvSpPr>
          <p:cNvPr id="13" name="Text 13"/>
          <p:cNvSpPr txBox="1"/>
          <p:nvPr/>
        </p:nvSpPr>
        <p:spPr>
          <a:xfrm>
            <a:off x="133350" y="5810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Teaching</a:t>
            </a:r>
            <a:endParaRPr lang="en-US" sz="1800" dirty="0"/>
          </a:p>
        </p:txBody>
      </p:sp>
      <p:sp>
        <p:nvSpPr>
          <p:cNvPr id="14" name="Text 14"/>
          <p:cNvSpPr txBox="1"/>
          <p:nvPr/>
        </p:nvSpPr>
        <p:spPr>
          <a:xfrm>
            <a:off x="133350" y="619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5"/>
          <p:cNvSpPr txBox="1"/>
          <p:nvPr/>
        </p:nvSpPr>
        <p:spPr>
          <a:xfrm>
            <a:off x="1657350" y="200025"/>
            <a:ext cx="10988040" cy="1057275"/>
          </a:xfrm>
          <a:prstGeom prst="rect">
            <a:avLst/>
          </a:prstGeom>
          <a:noFill/>
          <a:ln/>
        </p:spPr>
        <p:txBody>
          <a:bodyPr wrap="square" lIns="25400" tIns="25400" rIns="25400" bIns="25400" rtlCol="0" anchor="ctr">
            <a:no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Prerequisites</a:t>
            </a:r>
            <a:endParaRPr lang="en-US" sz="4800" dirty="0"/>
          </a:p>
        </p:txBody>
      </p:sp>
      <p:sp>
        <p:nvSpPr>
          <p:cNvPr id="16" name="Text 16"/>
          <p:cNvSpPr txBox="1"/>
          <p:nvPr/>
        </p:nvSpPr>
        <p:spPr>
          <a:xfrm>
            <a:off x="12515950" y="133350"/>
            <a:ext cx="1142901" cy="393700"/>
          </a:xfrm>
          <a:prstGeom prst="rect">
            <a:avLst/>
          </a:prstGeom>
          <a:noFill/>
          <a:ln/>
        </p:spPr>
        <p:txBody>
          <a:bodyPr wrap="non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2</a:t>
            </a:r>
            <a:endParaRPr lang="en-US" sz="2100" dirty="0"/>
          </a:p>
        </p:txBody>
      </p:sp>
      <p:sp>
        <p:nvSpPr>
          <p:cNvPr id="17" name="Shape 17"/>
          <p:cNvSpPr/>
          <p:nvPr/>
        </p:nvSpPr>
        <p:spPr>
          <a:xfrm>
            <a:off x="1657350" y="1219200"/>
            <a:ext cx="11925300" cy="66675"/>
          </a:xfrm>
          <a:prstGeom prst="rect">
            <a:avLst/>
          </a:prstGeom>
          <a:solidFill>
            <a:srgbClr val="000000"/>
          </a:solidFill>
          <a:ln/>
        </p:spPr>
      </p:sp>
      <p:sp>
        <p:nvSpPr>
          <p:cNvPr id="18" name="Text 18"/>
          <p:cNvSpPr txBox="1"/>
          <p:nvPr/>
        </p:nvSpPr>
        <p:spPr>
          <a:xfrm>
            <a:off x="1054418" y="9810750"/>
            <a:ext cx="13264515" cy="342900"/>
          </a:xfrm>
          <a:prstGeom prst="rect">
            <a:avLst/>
          </a:prstGeom>
          <a:noFill/>
          <a:ln/>
        </p:spPr>
        <p:txBody>
          <a:bodyPr wrap="square" lIns="25400" tIns="25400" rIns="25400" bIns="25400" rtlCol="0" anchor="t">
            <a:no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2</a:t>
            </a:r>
            <a:endParaRPr lang="en-US" sz="1800" dirty="0"/>
          </a:p>
        </p:txBody>
      </p:sp>
      <p:sp>
        <p:nvSpPr>
          <p:cNvPr id="19" name="Text 19"/>
          <p:cNvSpPr txBox="1"/>
          <p:nvPr/>
        </p:nvSpPr>
        <p:spPr>
          <a:xfrm>
            <a:off x="13458850" y="9810750"/>
            <a:ext cx="200000" cy="342900"/>
          </a:xfrm>
          <a:prstGeom prst="rect">
            <a:avLst/>
          </a:prstGeom>
          <a:noFill/>
          <a:ln/>
        </p:spPr>
        <p:txBody>
          <a:bodyPr wrap="none" lIns="25400" tIns="25400" rIns="25400" bIns="25400" rtlCol="0" anchor="t">
            <a:no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3</a:t>
            </a:r>
            <a:endParaRPr lang="en-US" sz="1800" dirty="0"/>
          </a:p>
        </p:txBody>
      </p:sp>
      <p:sp>
        <p:nvSpPr>
          <p:cNvPr id="20" name="Text 20"/>
          <p:cNvSpPr txBox="1"/>
          <p:nvPr/>
        </p:nvSpPr>
        <p:spPr>
          <a:xfrm>
            <a:off x="1810512" y="1618488"/>
            <a:ext cx="12847320" cy="393192"/>
          </a:xfrm>
          <a:prstGeom prst="rect">
            <a:avLst/>
          </a:prstGeom>
          <a:noFill/>
          <a:ln/>
        </p:spPr>
        <p:txBody>
          <a:bodyPr wrap="square" lIns="25400" tIns="25400" rIns="25400" bIns="25400" rtlCol="0" anchor="t">
            <a:noAutofit/>
          </a:bodyPr>
          <a:lstStyle/>
          <a:p>
            <a:pPr algn="l" indent="0" marL="0">
              <a:buNone/>
            </a:pPr>
            <a:r>
              <a:rPr lang="en-US" sz="2100" dirty="0">
                <a:solidFill>
                  <a:srgbClr val="000000"/>
                </a:solidFill>
                <a:latin typeface="Segoe UI" pitchFamily="34" charset="0"/>
                <a:ea typeface="Segoe UI" pitchFamily="34" charset="-122"/>
                <a:cs typeface="Segoe UI" pitchFamily="34" charset="-120"/>
              </a:rPr>
              <a:t>Complete before class:</a:t>
            </a:r>
            <a:endParaRPr lang="en-US" sz="2100" dirty="0"/>
          </a:p>
        </p:txBody>
      </p:sp>
      <p:sp>
        <p:nvSpPr>
          <p:cNvPr id="21" name="Shape 21"/>
          <p:cNvSpPr/>
          <p:nvPr/>
        </p:nvSpPr>
        <p:spPr>
          <a:xfrm>
            <a:off x="1810512" y="2167128"/>
            <a:ext cx="11676888" cy="18288"/>
          </a:xfrm>
          <a:prstGeom prst="rect">
            <a:avLst/>
          </a:prstGeom>
          <a:solidFill>
            <a:srgbClr val="BFBFBF"/>
          </a:solidFill>
          <a:ln/>
        </p:spPr>
      </p:sp>
      <p:sp>
        <p:nvSpPr>
          <p:cNvPr id="22" name="Text 22"/>
          <p:cNvSpPr txBox="1"/>
          <p:nvPr/>
        </p:nvSpPr>
        <p:spPr>
          <a:xfrm>
            <a:off x="1984248" y="2350008"/>
            <a:ext cx="2898648" cy="695706"/>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Segoe UI" pitchFamily="34" charset="0"/>
                <a:ea typeface="Segoe UI" pitchFamily="34" charset="-122"/>
                <a:cs typeface="Segoe UI" pitchFamily="34" charset="-120"/>
              </a:rPr>
              <a:t>Lesson 1 repo</a:t>
            </a:r>
            <a:endParaRPr lang="en-US" sz="1950" dirty="0"/>
          </a:p>
        </p:txBody>
      </p:sp>
      <p:sp>
        <p:nvSpPr>
          <p:cNvPr id="23" name="Text 23"/>
          <p:cNvSpPr txBox="1"/>
          <p:nvPr/>
        </p:nvSpPr>
        <p:spPr>
          <a:xfrm>
            <a:off x="5120640" y="2350008"/>
            <a:ext cx="8449056" cy="695706"/>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Segoe UI" pitchFamily="34" charset="0"/>
                <a:ea typeface="Segoe UI" pitchFamily="34" charset="-122"/>
                <a:cs typeface="Segoe UI" pitchFamily="34" charset="-120"/>
              </a:rPr>
              <a:t xml:space="preserve">Your private copy of </a:t>
            </a:r>
            <a:r>
              <a:rPr lang="en-US" sz="1950" b="1" dirty="0">
                <a:solidFill>
                  <a:srgbClr val="000000"/>
                </a:solidFill>
                <a:latin typeface="Segoe UI" pitchFamily="34" charset="0"/>
                <a:ea typeface="Segoe UI" pitchFamily="34" charset="-122"/>
                <a:cs typeface="Segoe UI" pitchFamily="34" charset="-120"/>
              </a:rPr>
              <a:t>beam-calc</a:t>
            </a:r>
            <a:r>
              <a:rPr lang="en-US" sz="1950" dirty="0">
                <a:solidFill>
                  <a:srgbClr val="000000"/>
                </a:solidFill>
                <a:latin typeface="Segoe UI" pitchFamily="34" charset="0"/>
                <a:ea typeface="Segoe UI" pitchFamily="34" charset="-122"/>
                <a:cs typeface="Segoe UI" pitchFamily="34" charset="-120"/>
              </a:rPr>
              <a:t xml:space="preserve"> on GitHub, cloned with GitHub Desktop.</a:t>
            </a:r>
            <a:endParaRPr lang="en-US" sz="1950" dirty="0"/>
          </a:p>
        </p:txBody>
      </p:sp>
      <p:sp>
        <p:nvSpPr>
          <p:cNvPr id="24" name="Shape 24"/>
          <p:cNvSpPr/>
          <p:nvPr/>
        </p:nvSpPr>
        <p:spPr>
          <a:xfrm>
            <a:off x="1810512" y="3210306"/>
            <a:ext cx="3145536" cy="18288"/>
          </a:xfrm>
          <a:prstGeom prst="rect">
            <a:avLst/>
          </a:prstGeom>
          <a:solidFill>
            <a:srgbClr val="BFBFBF"/>
          </a:solidFill>
          <a:ln/>
        </p:spPr>
      </p:sp>
      <p:sp>
        <p:nvSpPr>
          <p:cNvPr id="25" name="Shape 25"/>
          <p:cNvSpPr/>
          <p:nvPr/>
        </p:nvSpPr>
        <p:spPr>
          <a:xfrm>
            <a:off x="4956048" y="3210306"/>
            <a:ext cx="8531352" cy="18288"/>
          </a:xfrm>
          <a:prstGeom prst="rect">
            <a:avLst/>
          </a:prstGeom>
          <a:solidFill>
            <a:srgbClr val="BFBFBF"/>
          </a:solidFill>
          <a:ln/>
        </p:spPr>
      </p:sp>
      <p:sp>
        <p:nvSpPr>
          <p:cNvPr id="26" name="Text 26"/>
          <p:cNvSpPr txBox="1"/>
          <p:nvPr/>
        </p:nvSpPr>
        <p:spPr>
          <a:xfrm>
            <a:off x="1984248" y="3393186"/>
            <a:ext cx="2898648" cy="997839"/>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Segoe UI" pitchFamily="34" charset="0"/>
                <a:ea typeface="Segoe UI" pitchFamily="34" charset="-122"/>
                <a:cs typeface="Segoe UI" pitchFamily="34" charset="-120"/>
              </a:rPr>
              <a:t>Agent account</a:t>
            </a:r>
            <a:endParaRPr lang="en-US" sz="1950" dirty="0"/>
          </a:p>
        </p:txBody>
      </p:sp>
      <p:sp>
        <p:nvSpPr>
          <p:cNvPr id="27" name="Text 27"/>
          <p:cNvSpPr txBox="1"/>
          <p:nvPr/>
        </p:nvSpPr>
        <p:spPr>
          <a:xfrm>
            <a:off x="5120640" y="3393186"/>
            <a:ext cx="8449056" cy="997839"/>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Segoe UI" pitchFamily="34" charset="0"/>
                <a:ea typeface="Segoe UI" pitchFamily="34" charset="-122"/>
                <a:cs typeface="Segoe UI" pitchFamily="34" charset="-120"/>
              </a:rPr>
              <a:t>Claude Pro or higher for Claude Code on the web. Use the account type your organization directs. Other tools: see Agent Tool Options.</a:t>
            </a:r>
            <a:endParaRPr lang="en-US" sz="1950" dirty="0"/>
          </a:p>
        </p:txBody>
      </p:sp>
      <p:sp>
        <p:nvSpPr>
          <p:cNvPr id="28" name="Shape 28"/>
          <p:cNvSpPr/>
          <p:nvPr/>
        </p:nvSpPr>
        <p:spPr>
          <a:xfrm>
            <a:off x="1810512" y="4555617"/>
            <a:ext cx="3145536" cy="18288"/>
          </a:xfrm>
          <a:prstGeom prst="rect">
            <a:avLst/>
          </a:prstGeom>
          <a:solidFill>
            <a:srgbClr val="BFBFBF"/>
          </a:solidFill>
          <a:ln/>
        </p:spPr>
      </p:sp>
      <p:sp>
        <p:nvSpPr>
          <p:cNvPr id="29" name="Shape 29"/>
          <p:cNvSpPr/>
          <p:nvPr/>
        </p:nvSpPr>
        <p:spPr>
          <a:xfrm>
            <a:off x="4956048" y="4555617"/>
            <a:ext cx="8531352" cy="18288"/>
          </a:xfrm>
          <a:prstGeom prst="rect">
            <a:avLst/>
          </a:prstGeom>
          <a:solidFill>
            <a:srgbClr val="BFBFBF"/>
          </a:solidFill>
          <a:ln/>
        </p:spPr>
      </p:sp>
      <p:sp>
        <p:nvSpPr>
          <p:cNvPr id="30" name="Text 30"/>
          <p:cNvSpPr txBox="1"/>
          <p:nvPr/>
        </p:nvSpPr>
        <p:spPr>
          <a:xfrm>
            <a:off x="1984248" y="4738497"/>
            <a:ext cx="2898648" cy="695706"/>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Segoe UI" pitchFamily="34" charset="0"/>
                <a:ea typeface="Segoe UI" pitchFamily="34" charset="-122"/>
                <a:cs typeface="Segoe UI" pitchFamily="34" charset="-120"/>
              </a:rPr>
              <a:t>GitHub Desktop + VS Code</a:t>
            </a:r>
            <a:endParaRPr lang="en-US" sz="1950" dirty="0"/>
          </a:p>
        </p:txBody>
      </p:sp>
      <p:sp>
        <p:nvSpPr>
          <p:cNvPr id="31" name="Text 31"/>
          <p:cNvSpPr txBox="1"/>
          <p:nvPr/>
        </p:nvSpPr>
        <p:spPr>
          <a:xfrm>
            <a:off x="5120640" y="4738497"/>
            <a:ext cx="8449056" cy="695706"/>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Segoe UI" pitchFamily="34" charset="0"/>
                <a:ea typeface="Segoe UI" pitchFamily="34" charset="-122"/>
                <a:cs typeface="Segoe UI" pitchFamily="34" charset="-120"/>
              </a:rPr>
              <a:t>Installed and signed in (Lesson 1).</a:t>
            </a:r>
            <a:endParaRPr lang="en-US" sz="1950" dirty="0"/>
          </a:p>
        </p:txBody>
      </p:sp>
      <p:sp>
        <p:nvSpPr>
          <p:cNvPr id="32" name="Shape 32"/>
          <p:cNvSpPr/>
          <p:nvPr/>
        </p:nvSpPr>
        <p:spPr>
          <a:xfrm>
            <a:off x="1810512" y="5598795"/>
            <a:ext cx="3145536" cy="18288"/>
          </a:xfrm>
          <a:prstGeom prst="rect">
            <a:avLst/>
          </a:prstGeom>
          <a:solidFill>
            <a:srgbClr val="BFBFBF"/>
          </a:solidFill>
          <a:ln/>
        </p:spPr>
      </p:sp>
      <p:sp>
        <p:nvSpPr>
          <p:cNvPr id="33" name="Shape 33"/>
          <p:cNvSpPr/>
          <p:nvPr/>
        </p:nvSpPr>
        <p:spPr>
          <a:xfrm>
            <a:off x="4956048" y="5598795"/>
            <a:ext cx="8531352" cy="18288"/>
          </a:xfrm>
          <a:prstGeom prst="rect">
            <a:avLst/>
          </a:prstGeom>
          <a:solidFill>
            <a:srgbClr val="BFBFBF"/>
          </a:solidFill>
          <a:ln/>
        </p:spPr>
      </p:sp>
      <p:sp>
        <p:nvSpPr>
          <p:cNvPr id="34" name="Text 34"/>
          <p:cNvSpPr txBox="1"/>
          <p:nvPr/>
        </p:nvSpPr>
        <p:spPr>
          <a:xfrm>
            <a:off x="1984248" y="5781675"/>
            <a:ext cx="2898648" cy="393573"/>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Segoe UI" pitchFamily="34" charset="0"/>
                <a:ea typeface="Segoe UI" pitchFamily="34" charset="-122"/>
                <a:cs typeface="Segoe UI" pitchFamily="34" charset="-120"/>
              </a:rPr>
              <a:t>MATLAB (optional)</a:t>
            </a:r>
            <a:endParaRPr lang="en-US" sz="1950" dirty="0"/>
          </a:p>
        </p:txBody>
      </p:sp>
      <p:sp>
        <p:nvSpPr>
          <p:cNvPr id="35" name="Text 35"/>
          <p:cNvSpPr txBox="1"/>
          <p:nvPr/>
        </p:nvSpPr>
        <p:spPr>
          <a:xfrm>
            <a:off x="5120640" y="5781675"/>
            <a:ext cx="8449056" cy="393573"/>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Segoe UI" pitchFamily="34" charset="0"/>
                <a:ea typeface="Segoe UI" pitchFamily="34" charset="-122"/>
                <a:cs typeface="Segoe UI" pitchFamily="34" charset="-120"/>
              </a:rPr>
              <a:t>To run the tests yourself. The agent’s cloud sandbox has no MATLAB.</a:t>
            </a:r>
            <a:endParaRPr lang="en-US" sz="1950" dirty="0"/>
          </a:p>
        </p:txBody>
      </p:sp>
      <p:sp>
        <p:nvSpPr>
          <p:cNvPr id="36" name="Shape 36"/>
          <p:cNvSpPr/>
          <p:nvPr/>
        </p:nvSpPr>
        <p:spPr>
          <a:xfrm>
            <a:off x="1810512" y="6339840"/>
            <a:ext cx="3145536" cy="18288"/>
          </a:xfrm>
          <a:prstGeom prst="rect">
            <a:avLst/>
          </a:prstGeom>
          <a:solidFill>
            <a:srgbClr val="BFBFBF"/>
          </a:solidFill>
          <a:ln/>
        </p:spPr>
      </p:sp>
      <p:sp>
        <p:nvSpPr>
          <p:cNvPr id="37" name="Shape 37"/>
          <p:cNvSpPr/>
          <p:nvPr/>
        </p:nvSpPr>
        <p:spPr>
          <a:xfrm>
            <a:off x="4956048" y="6339840"/>
            <a:ext cx="8531352" cy="18288"/>
          </a:xfrm>
          <a:prstGeom prst="rect">
            <a:avLst/>
          </a:prstGeom>
          <a:solidFill>
            <a:srgbClr val="BFBFBF"/>
          </a:solidFill>
          <a:ln/>
        </p:spPr>
      </p:sp>
      <p:sp>
        <p:nvSpPr>
          <p:cNvPr id="38" name="Text 38"/>
          <p:cNvSpPr txBox="1"/>
          <p:nvPr/>
        </p:nvSpPr>
        <p:spPr>
          <a:xfrm>
            <a:off x="1984248" y="6522720"/>
            <a:ext cx="2898648" cy="393573"/>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Segoe UI" pitchFamily="34" charset="0"/>
                <a:ea typeface="Segoe UI" pitchFamily="34" charset="-122"/>
                <a:cs typeface="Segoe UI" pitchFamily="34" charset="-120"/>
              </a:rPr>
              <a:t>Your own project</a:t>
            </a:r>
            <a:endParaRPr lang="en-US" sz="1950" dirty="0"/>
          </a:p>
        </p:txBody>
      </p:sp>
      <p:sp>
        <p:nvSpPr>
          <p:cNvPr id="39" name="Text 39"/>
          <p:cNvSpPr txBox="1"/>
          <p:nvPr/>
        </p:nvSpPr>
        <p:spPr>
          <a:xfrm>
            <a:off x="5120640" y="6522720"/>
            <a:ext cx="8449056" cy="393573"/>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Segoe UI" pitchFamily="34" charset="0"/>
                <a:ea typeface="Segoe UI" pitchFamily="34" charset="-122"/>
                <a:cs typeface="Segoe UI" pitchFamily="34" charset="-120"/>
              </a:rPr>
              <a:t>The repo from Lesson 1’s Agent-Ready Checklist, for Exercise 7.</a:t>
            </a:r>
            <a:endParaRPr lang="en-US" sz="1950" dirty="0"/>
          </a:p>
        </p:txBody>
      </p:sp>
      <p:sp>
        <p:nvSpPr>
          <p:cNvPr id="40" name="Shape 40"/>
          <p:cNvSpPr/>
          <p:nvPr/>
        </p:nvSpPr>
        <p:spPr>
          <a:xfrm>
            <a:off x="1810512" y="7080885"/>
            <a:ext cx="3145536" cy="18288"/>
          </a:xfrm>
          <a:prstGeom prst="rect">
            <a:avLst/>
          </a:prstGeom>
          <a:solidFill>
            <a:srgbClr val="BFBFBF"/>
          </a:solidFill>
          <a:ln/>
        </p:spPr>
      </p:sp>
      <p:sp>
        <p:nvSpPr>
          <p:cNvPr id="41" name="Shape 41"/>
          <p:cNvSpPr/>
          <p:nvPr/>
        </p:nvSpPr>
        <p:spPr>
          <a:xfrm>
            <a:off x="4956048" y="7080885"/>
            <a:ext cx="8531352" cy="18288"/>
          </a:xfrm>
          <a:prstGeom prst="rect">
            <a:avLst/>
          </a:prstGeom>
          <a:solidFill>
            <a:srgbClr val="BFBFBF"/>
          </a:solidFill>
          <a:ln/>
        </p:spPr>
      </p:sp>
      <p:sp>
        <p:nvSpPr>
          <p:cNvPr id="42" name="Text 42"/>
          <p:cNvSpPr txBox="1"/>
          <p:nvPr/>
        </p:nvSpPr>
        <p:spPr>
          <a:xfrm>
            <a:off x="1810512" y="7355205"/>
            <a:ext cx="11887200" cy="731520"/>
          </a:xfrm>
          <a:prstGeom prst="rect">
            <a:avLst/>
          </a:prstGeom>
          <a:noFill/>
          <a:ln/>
        </p:spPr>
        <p:txBody>
          <a:bodyPr wrap="square" lIns="25400" tIns="25400" rIns="25400" bIns="25400" rtlCol="0" anchor="t">
            <a:noAutofit/>
          </a:bodyPr>
          <a:lstStyle/>
          <a:p>
            <a:pPr algn="l" indent="0" marL="0">
              <a:buNone/>
            </a:pPr>
            <a:r>
              <a:rPr lang="en-US" sz="1950" dirty="0">
                <a:solidFill>
                  <a:srgbClr val="404040"/>
                </a:solidFill>
                <a:latin typeface="Segoe UI" pitchFamily="34" charset="0"/>
                <a:ea typeface="Segoe UI" pitchFamily="34" charset="-122"/>
                <a:cs typeface="Segoe UI" pitchFamily="34" charset="-120"/>
              </a:rPr>
              <a:t>Follow current USAFA guidance on GenAI tools and data handling before you connect a repo to an agent.</a:t>
            </a:r>
            <a:endParaRPr lang="en-US" sz="195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3"/>
          <p:cNvSpPr/>
          <p:nvPr/>
        </p:nvSpPr>
        <p:spPr>
          <a:xfrm>
            <a:off x="0" y="0"/>
            <a:ext cx="1543050" cy="10287000"/>
          </a:xfrm>
          <a:prstGeom prst="rect">
            <a:avLst/>
          </a:prstGeom>
          <a:solidFill>
            <a:srgbClr val="E6E6E6"/>
          </a:solidFill>
          <a:ln/>
        </p:spPr>
      </p:sp>
      <p:pic>
        <p:nvPicPr>
          <p:cNvPr id="3" name="Picture 1" descr="image.png"/>
          <p:cNvPicPr>
            <a:picLocks noChangeAspect="1"/>
          </p:cNvPicPr>
          <p:nvPr/>
        </p:nvPicPr>
        <p:blipFill>
          <a:blip r:embed="rId2"/>
          <a:stretch>
            <a:fillRect/>
          </a:stretch>
        </p:blipFill>
        <p:spPr>
          <a:xfrm>
            <a:off x="200025" y="133350"/>
            <a:ext cx="1143000" cy="1143000"/>
          </a:xfrm>
          <a:prstGeom prst="rect">
            <a:avLst/>
          </a:prstGeom>
        </p:spPr>
      </p:pic>
      <p:sp>
        <p:nvSpPr>
          <p:cNvPr id="4" name="Text 4"/>
          <p:cNvSpPr txBox="1"/>
          <p:nvPr/>
        </p:nvSpPr>
        <p:spPr>
          <a:xfrm>
            <a:off x="133350" y="238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5"/>
          <p:cNvSpPr txBox="1"/>
          <p:nvPr/>
        </p:nvSpPr>
        <p:spPr>
          <a:xfrm>
            <a:off x="133350" y="2762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Concepts</a:t>
            </a:r>
            <a:endParaRPr lang="en-US" sz="1800" dirty="0"/>
          </a:p>
        </p:txBody>
      </p:sp>
      <p:sp>
        <p:nvSpPr>
          <p:cNvPr id="6" name="Text 6"/>
          <p:cNvSpPr txBox="1"/>
          <p:nvPr/>
        </p:nvSpPr>
        <p:spPr>
          <a:xfrm>
            <a:off x="133350" y="3143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Specify</a:t>
            </a:r>
            <a:endParaRPr lang="en-US" sz="1800" dirty="0"/>
          </a:p>
        </p:txBody>
      </p:sp>
      <p:sp>
        <p:nvSpPr>
          <p:cNvPr id="7" name="Text 7"/>
          <p:cNvSpPr txBox="1"/>
          <p:nvPr/>
        </p:nvSpPr>
        <p:spPr>
          <a:xfrm>
            <a:off x="133350" y="3524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8" name="Text 8"/>
          <p:cNvSpPr txBox="1"/>
          <p:nvPr/>
        </p:nvSpPr>
        <p:spPr>
          <a:xfrm>
            <a:off x="133350" y="3905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Generate</a:t>
            </a:r>
            <a:endParaRPr lang="en-US" sz="1800" dirty="0"/>
          </a:p>
        </p:txBody>
      </p:sp>
      <p:sp>
        <p:nvSpPr>
          <p:cNvPr id="9" name="Text 9"/>
          <p:cNvSpPr txBox="1"/>
          <p:nvPr/>
        </p:nvSpPr>
        <p:spPr>
          <a:xfrm>
            <a:off x="133350" y="4286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Adjudicate</a:t>
            </a:r>
            <a:endParaRPr lang="en-US" sz="1800" dirty="0"/>
          </a:p>
        </p:txBody>
      </p:sp>
      <p:sp>
        <p:nvSpPr>
          <p:cNvPr id="10" name="Text 10"/>
          <p:cNvSpPr txBox="1"/>
          <p:nvPr/>
        </p:nvSpPr>
        <p:spPr>
          <a:xfrm>
            <a:off x="133350" y="4667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Pitfalls</a:t>
            </a:r>
            <a:endParaRPr lang="en-US" sz="1800" dirty="0"/>
          </a:p>
        </p:txBody>
      </p:sp>
      <p:sp>
        <p:nvSpPr>
          <p:cNvPr id="11" name="Text 11"/>
          <p:cNvSpPr txBox="1"/>
          <p:nvPr/>
        </p:nvSpPr>
        <p:spPr>
          <a:xfrm>
            <a:off x="133350" y="5048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GenAI Use</a:t>
            </a:r>
            <a:endParaRPr lang="en-US" sz="1800" dirty="0"/>
          </a:p>
        </p:txBody>
      </p:sp>
      <p:sp>
        <p:nvSpPr>
          <p:cNvPr id="12" name="Text 12"/>
          <p:cNvSpPr txBox="1"/>
          <p:nvPr/>
        </p:nvSpPr>
        <p:spPr>
          <a:xfrm>
            <a:off x="133350" y="5429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Your Repo</a:t>
            </a:r>
            <a:endParaRPr lang="en-US" sz="1800" dirty="0"/>
          </a:p>
        </p:txBody>
      </p:sp>
      <p:sp>
        <p:nvSpPr>
          <p:cNvPr id="13" name="Text 13"/>
          <p:cNvSpPr txBox="1"/>
          <p:nvPr/>
        </p:nvSpPr>
        <p:spPr>
          <a:xfrm>
            <a:off x="133350" y="5810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Teaching</a:t>
            </a:r>
            <a:endParaRPr lang="en-US" sz="1800" dirty="0"/>
          </a:p>
        </p:txBody>
      </p:sp>
      <p:sp>
        <p:nvSpPr>
          <p:cNvPr id="14" name="Text 14"/>
          <p:cNvSpPr txBox="1"/>
          <p:nvPr/>
        </p:nvSpPr>
        <p:spPr>
          <a:xfrm>
            <a:off x="133350" y="619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5"/>
          <p:cNvSpPr txBox="1"/>
          <p:nvPr/>
        </p:nvSpPr>
        <p:spPr>
          <a:xfrm>
            <a:off x="1657350" y="200025"/>
            <a:ext cx="10988040" cy="1057275"/>
          </a:xfrm>
          <a:prstGeom prst="rect">
            <a:avLst/>
          </a:prstGeom>
          <a:noFill/>
          <a:ln/>
        </p:spPr>
        <p:txBody>
          <a:bodyPr wrap="square" lIns="25400" tIns="25400" rIns="25400" bIns="25400" rtlCol="0" anchor="ctr">
            <a:no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Chat LLM vs. Coding Agent</a:t>
            </a:r>
            <a:endParaRPr lang="en-US" sz="4800" dirty="0"/>
          </a:p>
        </p:txBody>
      </p:sp>
      <p:sp>
        <p:nvSpPr>
          <p:cNvPr id="16" name="Text 16"/>
          <p:cNvSpPr txBox="1"/>
          <p:nvPr/>
        </p:nvSpPr>
        <p:spPr>
          <a:xfrm>
            <a:off x="12515950" y="133350"/>
            <a:ext cx="1142901" cy="393700"/>
          </a:xfrm>
          <a:prstGeom prst="rect">
            <a:avLst/>
          </a:prstGeom>
          <a:noFill/>
          <a:ln/>
        </p:spPr>
        <p:txBody>
          <a:bodyPr wrap="non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2</a:t>
            </a:r>
            <a:endParaRPr lang="en-US" sz="2100" dirty="0"/>
          </a:p>
        </p:txBody>
      </p:sp>
      <p:sp>
        <p:nvSpPr>
          <p:cNvPr id="17" name="Shape 17"/>
          <p:cNvSpPr/>
          <p:nvPr/>
        </p:nvSpPr>
        <p:spPr>
          <a:xfrm>
            <a:off x="1657350" y="1219200"/>
            <a:ext cx="11925300" cy="66675"/>
          </a:xfrm>
          <a:prstGeom prst="rect">
            <a:avLst/>
          </a:prstGeom>
          <a:solidFill>
            <a:srgbClr val="000000"/>
          </a:solidFill>
          <a:ln/>
        </p:spPr>
      </p:sp>
      <p:sp>
        <p:nvSpPr>
          <p:cNvPr id="18" name="Text 18"/>
          <p:cNvSpPr txBox="1"/>
          <p:nvPr/>
        </p:nvSpPr>
        <p:spPr>
          <a:xfrm>
            <a:off x="1054418" y="9810750"/>
            <a:ext cx="13264515" cy="342900"/>
          </a:xfrm>
          <a:prstGeom prst="rect">
            <a:avLst/>
          </a:prstGeom>
          <a:noFill/>
          <a:ln/>
        </p:spPr>
        <p:txBody>
          <a:bodyPr wrap="square" lIns="25400" tIns="25400" rIns="25400" bIns="25400" rtlCol="0" anchor="t">
            <a:no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2</a:t>
            </a:r>
            <a:endParaRPr lang="en-US" sz="1800" dirty="0"/>
          </a:p>
        </p:txBody>
      </p:sp>
      <p:sp>
        <p:nvSpPr>
          <p:cNvPr id="19" name="Text 19"/>
          <p:cNvSpPr txBox="1"/>
          <p:nvPr/>
        </p:nvSpPr>
        <p:spPr>
          <a:xfrm>
            <a:off x="13458850" y="9810750"/>
            <a:ext cx="200000" cy="342900"/>
          </a:xfrm>
          <a:prstGeom prst="rect">
            <a:avLst/>
          </a:prstGeom>
          <a:noFill/>
          <a:ln/>
        </p:spPr>
        <p:txBody>
          <a:bodyPr wrap="none" lIns="25400" tIns="25400" rIns="25400" bIns="25400" rtlCol="0" anchor="t">
            <a:no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4</a:t>
            </a:r>
            <a:endParaRPr lang="en-US" sz="1800" dirty="0"/>
          </a:p>
        </p:txBody>
      </p:sp>
      <p:sp>
        <p:nvSpPr>
          <p:cNvPr id="20" name="Shape 20"/>
          <p:cNvSpPr/>
          <p:nvPr/>
        </p:nvSpPr>
        <p:spPr>
          <a:xfrm>
            <a:off x="1810512" y="1572768"/>
            <a:ext cx="3429000" cy="1481328"/>
          </a:xfrm>
          <a:prstGeom prst="rect">
            <a:avLst/>
          </a:prstGeom>
          <a:solidFill>
            <a:srgbClr val="F2F2F2"/>
          </a:solidFill>
          <a:ln/>
        </p:spPr>
      </p:sp>
      <p:sp>
        <p:nvSpPr>
          <p:cNvPr id="21" name="Text 21"/>
          <p:cNvSpPr txBox="1"/>
          <p:nvPr/>
        </p:nvSpPr>
        <p:spPr>
          <a:xfrm>
            <a:off x="1993392" y="1700784"/>
            <a:ext cx="310896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1F6FB2"/>
                </a:solidFill>
                <a:latin typeface="Segoe UI" pitchFamily="34" charset="0"/>
                <a:ea typeface="Segoe UI" pitchFamily="34" charset="-122"/>
                <a:cs typeface="Segoe UI" pitchFamily="34" charset="-120"/>
              </a:rPr>
              <a:t>Chat LLM</a:t>
            </a:r>
            <a:endParaRPr lang="en-US" sz="2100" dirty="0"/>
          </a:p>
        </p:txBody>
      </p:sp>
      <p:sp>
        <p:nvSpPr>
          <p:cNvPr id="22" name="Text 22"/>
          <p:cNvSpPr txBox="1"/>
          <p:nvPr/>
        </p:nvSpPr>
        <p:spPr>
          <a:xfrm>
            <a:off x="1993392" y="2139696"/>
            <a:ext cx="3108960" cy="868680"/>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Segoe UI" pitchFamily="34" charset="0"/>
                <a:ea typeface="Segoe UI" pitchFamily="34" charset="-122"/>
                <a:cs typeface="Segoe UI" pitchFamily="34" charset="-120"/>
              </a:rPr>
              <a:t>Answers in text. You copy, paste, and debug.</a:t>
            </a:r>
            <a:endParaRPr lang="en-US" sz="1725" dirty="0"/>
          </a:p>
        </p:txBody>
      </p:sp>
      <p:sp>
        <p:nvSpPr>
          <p:cNvPr id="23" name="Shape 23"/>
          <p:cNvSpPr/>
          <p:nvPr/>
        </p:nvSpPr>
        <p:spPr>
          <a:xfrm>
            <a:off x="5330952" y="2148840"/>
            <a:ext cx="384048" cy="329184"/>
          </a:xfrm>
          <a:prstGeom prst="rightArrow">
            <a:avLst/>
          </a:prstGeom>
          <a:solidFill>
            <a:srgbClr val="1F6FB2"/>
          </a:solidFill>
          <a:ln/>
        </p:spPr>
      </p:sp>
      <p:sp>
        <p:nvSpPr>
          <p:cNvPr id="24" name="Shape 24"/>
          <p:cNvSpPr/>
          <p:nvPr/>
        </p:nvSpPr>
        <p:spPr>
          <a:xfrm>
            <a:off x="5797296" y="1572768"/>
            <a:ext cx="3429000" cy="1481328"/>
          </a:xfrm>
          <a:prstGeom prst="rect">
            <a:avLst/>
          </a:prstGeom>
          <a:solidFill>
            <a:srgbClr val="F2F2F2"/>
          </a:solidFill>
          <a:ln/>
        </p:spPr>
      </p:sp>
      <p:sp>
        <p:nvSpPr>
          <p:cNvPr id="25" name="Text 25"/>
          <p:cNvSpPr txBox="1"/>
          <p:nvPr/>
        </p:nvSpPr>
        <p:spPr>
          <a:xfrm>
            <a:off x="5980176" y="1700784"/>
            <a:ext cx="310896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1F6FB2"/>
                </a:solidFill>
                <a:latin typeface="Segoe UI" pitchFamily="34" charset="0"/>
                <a:ea typeface="Segoe UI" pitchFamily="34" charset="-122"/>
                <a:cs typeface="Segoe UI" pitchFamily="34" charset="-120"/>
              </a:rPr>
              <a:t>LLM + tools</a:t>
            </a:r>
            <a:endParaRPr lang="en-US" sz="2100" dirty="0"/>
          </a:p>
        </p:txBody>
      </p:sp>
      <p:sp>
        <p:nvSpPr>
          <p:cNvPr id="26" name="Text 26"/>
          <p:cNvSpPr txBox="1"/>
          <p:nvPr/>
        </p:nvSpPr>
        <p:spPr>
          <a:xfrm>
            <a:off x="5980176" y="2139696"/>
            <a:ext cx="3108960" cy="868680"/>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Segoe UI" pitchFamily="34" charset="0"/>
                <a:ea typeface="Segoe UI" pitchFamily="34" charset="-122"/>
                <a:cs typeface="Segoe UI" pitchFamily="34" charset="-120"/>
              </a:rPr>
              <a:t>Writes and runs code in the chat. You still integrate it.</a:t>
            </a:r>
            <a:endParaRPr lang="en-US" sz="1725" dirty="0"/>
          </a:p>
        </p:txBody>
      </p:sp>
      <p:sp>
        <p:nvSpPr>
          <p:cNvPr id="27" name="Shape 27"/>
          <p:cNvSpPr/>
          <p:nvPr/>
        </p:nvSpPr>
        <p:spPr>
          <a:xfrm>
            <a:off x="9317736" y="2148840"/>
            <a:ext cx="384048" cy="329184"/>
          </a:xfrm>
          <a:prstGeom prst="rightArrow">
            <a:avLst/>
          </a:prstGeom>
          <a:solidFill>
            <a:srgbClr val="1F6FB2"/>
          </a:solidFill>
          <a:ln/>
        </p:spPr>
      </p:sp>
      <p:sp>
        <p:nvSpPr>
          <p:cNvPr id="28" name="Shape 28"/>
          <p:cNvSpPr/>
          <p:nvPr/>
        </p:nvSpPr>
        <p:spPr>
          <a:xfrm>
            <a:off x="9784080" y="1572768"/>
            <a:ext cx="3429000" cy="1481328"/>
          </a:xfrm>
          <a:prstGeom prst="rect">
            <a:avLst/>
          </a:prstGeom>
          <a:solidFill>
            <a:srgbClr val="152A47"/>
          </a:solidFill>
          <a:ln/>
        </p:spPr>
      </p:sp>
      <p:sp>
        <p:nvSpPr>
          <p:cNvPr id="29" name="Text 29"/>
          <p:cNvSpPr txBox="1"/>
          <p:nvPr/>
        </p:nvSpPr>
        <p:spPr>
          <a:xfrm>
            <a:off x="9966960" y="1700784"/>
            <a:ext cx="310896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00B0F0"/>
                </a:solidFill>
                <a:latin typeface="Segoe UI" pitchFamily="34" charset="0"/>
                <a:ea typeface="Segoe UI" pitchFamily="34" charset="-122"/>
                <a:cs typeface="Segoe UI" pitchFamily="34" charset="-120"/>
              </a:rPr>
              <a:t>Coding agent</a:t>
            </a:r>
            <a:endParaRPr lang="en-US" sz="2100" dirty="0"/>
          </a:p>
        </p:txBody>
      </p:sp>
      <p:sp>
        <p:nvSpPr>
          <p:cNvPr id="30" name="Text 30"/>
          <p:cNvSpPr txBox="1"/>
          <p:nvPr/>
        </p:nvSpPr>
        <p:spPr>
          <a:xfrm>
            <a:off x="9966960" y="2139696"/>
            <a:ext cx="3108960" cy="868680"/>
          </a:xfrm>
          <a:prstGeom prst="rect">
            <a:avLst/>
          </a:prstGeom>
          <a:noFill/>
          <a:ln/>
        </p:spPr>
        <p:txBody>
          <a:bodyPr wrap="square" lIns="25400" tIns="25400" rIns="25400" bIns="25400" rtlCol="0" anchor="t">
            <a:noAutofit/>
          </a:bodyPr>
          <a:lstStyle/>
          <a:p>
            <a:pPr algn="l" indent="0" marL="0">
              <a:buNone/>
            </a:pPr>
            <a:r>
              <a:rPr lang="en-US" sz="1725" dirty="0">
                <a:solidFill>
                  <a:srgbClr val="FFFFFF"/>
                </a:solidFill>
                <a:latin typeface="Segoe UI" pitchFamily="34" charset="0"/>
                <a:ea typeface="Segoe UI" pitchFamily="34" charset="-122"/>
                <a:cs typeface="Segoe UI" pitchFamily="34" charset="-120"/>
              </a:rPr>
              <a:t>Reads your repo, edits files, runs commands, commits. You review.</a:t>
            </a:r>
            <a:endParaRPr lang="en-US" sz="1725" dirty="0"/>
          </a:p>
        </p:txBody>
      </p:sp>
      <p:sp>
        <p:nvSpPr>
          <p:cNvPr id="31" name="Shape 31"/>
          <p:cNvSpPr/>
          <p:nvPr/>
        </p:nvSpPr>
        <p:spPr>
          <a:xfrm>
            <a:off x="1810512" y="3337560"/>
            <a:ext cx="2651760" cy="612648"/>
          </a:xfrm>
          <a:prstGeom prst="rect">
            <a:avLst/>
          </a:prstGeom>
          <a:solidFill>
            <a:srgbClr val="152A47"/>
          </a:solidFill>
          <a:ln/>
        </p:spPr>
      </p:sp>
      <p:sp>
        <p:nvSpPr>
          <p:cNvPr id="32" name="Text 32"/>
          <p:cNvSpPr txBox="1"/>
          <p:nvPr/>
        </p:nvSpPr>
        <p:spPr>
          <a:xfrm>
            <a:off x="1984248" y="3470148"/>
            <a:ext cx="2423160" cy="347472"/>
          </a:xfrm>
          <a:prstGeom prst="rect">
            <a:avLst/>
          </a:prstGeom>
          <a:noFill/>
          <a:ln/>
        </p:spPr>
        <p:txBody>
          <a:bodyPr wrap="square" lIns="25400" tIns="25400" rIns="25400" bIns="25400" rtlCol="0" anchor="t">
            <a:noAutofit/>
          </a:bodyPr>
          <a:lstStyle/>
          <a:p>
            <a:pPr algn="l" indent="0" marL="0">
              <a:buNone/>
            </a:pPr>
            <a:endParaRPr lang="en-US" sz="1800" dirty="0"/>
          </a:p>
        </p:txBody>
      </p:sp>
      <p:sp>
        <p:nvSpPr>
          <p:cNvPr id="33" name="Shape 33"/>
          <p:cNvSpPr/>
          <p:nvPr/>
        </p:nvSpPr>
        <p:spPr>
          <a:xfrm>
            <a:off x="4462272" y="3337560"/>
            <a:ext cx="4389120" cy="612648"/>
          </a:xfrm>
          <a:prstGeom prst="rect">
            <a:avLst/>
          </a:prstGeom>
          <a:solidFill>
            <a:srgbClr val="152A47"/>
          </a:solidFill>
          <a:ln/>
        </p:spPr>
      </p:sp>
      <p:sp>
        <p:nvSpPr>
          <p:cNvPr id="34" name="Text 34"/>
          <p:cNvSpPr txBox="1"/>
          <p:nvPr/>
        </p:nvSpPr>
        <p:spPr>
          <a:xfrm>
            <a:off x="4636008" y="3470148"/>
            <a:ext cx="4160520"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Chat LLM (copy/paste)</a:t>
            </a:r>
            <a:endParaRPr lang="en-US" sz="1800" dirty="0"/>
          </a:p>
        </p:txBody>
      </p:sp>
      <p:sp>
        <p:nvSpPr>
          <p:cNvPr id="35" name="Shape 35"/>
          <p:cNvSpPr/>
          <p:nvPr/>
        </p:nvSpPr>
        <p:spPr>
          <a:xfrm>
            <a:off x="8851392" y="3337560"/>
            <a:ext cx="4636008" cy="612648"/>
          </a:xfrm>
          <a:prstGeom prst="rect">
            <a:avLst/>
          </a:prstGeom>
          <a:solidFill>
            <a:srgbClr val="152A47"/>
          </a:solidFill>
          <a:ln/>
        </p:spPr>
      </p:sp>
      <p:sp>
        <p:nvSpPr>
          <p:cNvPr id="36" name="Text 36"/>
          <p:cNvSpPr txBox="1"/>
          <p:nvPr/>
        </p:nvSpPr>
        <p:spPr>
          <a:xfrm>
            <a:off x="9025128" y="3470148"/>
            <a:ext cx="4407408"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Coding agent (Claude Code)</a:t>
            </a:r>
            <a:endParaRPr lang="en-US" sz="1800" dirty="0"/>
          </a:p>
        </p:txBody>
      </p:sp>
      <p:sp>
        <p:nvSpPr>
          <p:cNvPr id="37" name="Text 37"/>
          <p:cNvSpPr txBox="1"/>
          <p:nvPr/>
        </p:nvSpPr>
        <p:spPr>
          <a:xfrm>
            <a:off x="1984248" y="4050792"/>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Sees your code</a:t>
            </a:r>
            <a:endParaRPr lang="en-US" sz="1800" dirty="0"/>
          </a:p>
        </p:txBody>
      </p:sp>
      <p:sp>
        <p:nvSpPr>
          <p:cNvPr id="38" name="Shape 38"/>
          <p:cNvSpPr/>
          <p:nvPr/>
        </p:nvSpPr>
        <p:spPr>
          <a:xfrm>
            <a:off x="1810512" y="4503420"/>
            <a:ext cx="2651760" cy="18288"/>
          </a:xfrm>
          <a:prstGeom prst="rect">
            <a:avLst/>
          </a:prstGeom>
          <a:solidFill>
            <a:srgbClr val="BFBFBF"/>
          </a:solidFill>
          <a:ln/>
        </p:spPr>
      </p:sp>
      <p:sp>
        <p:nvSpPr>
          <p:cNvPr id="39" name="Text 39"/>
          <p:cNvSpPr txBox="1"/>
          <p:nvPr/>
        </p:nvSpPr>
        <p:spPr>
          <a:xfrm>
            <a:off x="4636008" y="4050792"/>
            <a:ext cx="41605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Only what you paste in</a:t>
            </a:r>
            <a:endParaRPr lang="en-US" sz="1800" dirty="0"/>
          </a:p>
        </p:txBody>
      </p:sp>
      <p:sp>
        <p:nvSpPr>
          <p:cNvPr id="40" name="Shape 40"/>
          <p:cNvSpPr/>
          <p:nvPr/>
        </p:nvSpPr>
        <p:spPr>
          <a:xfrm>
            <a:off x="4462272" y="4503420"/>
            <a:ext cx="4389120" cy="18288"/>
          </a:xfrm>
          <a:prstGeom prst="rect">
            <a:avLst/>
          </a:prstGeom>
          <a:solidFill>
            <a:srgbClr val="BFBFBF"/>
          </a:solidFill>
          <a:ln/>
        </p:spPr>
      </p:sp>
      <p:sp>
        <p:nvSpPr>
          <p:cNvPr id="41" name="Text 41"/>
          <p:cNvSpPr txBox="1"/>
          <p:nvPr/>
        </p:nvSpPr>
        <p:spPr>
          <a:xfrm>
            <a:off x="9025128" y="4050792"/>
            <a:ext cx="44074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Reads the whole repo itself</a:t>
            </a:r>
            <a:endParaRPr lang="en-US" sz="1800" dirty="0"/>
          </a:p>
        </p:txBody>
      </p:sp>
      <p:sp>
        <p:nvSpPr>
          <p:cNvPr id="42" name="Shape 42"/>
          <p:cNvSpPr/>
          <p:nvPr/>
        </p:nvSpPr>
        <p:spPr>
          <a:xfrm>
            <a:off x="8851392" y="4503420"/>
            <a:ext cx="4636008" cy="18288"/>
          </a:xfrm>
          <a:prstGeom prst="rect">
            <a:avLst/>
          </a:prstGeom>
          <a:solidFill>
            <a:srgbClr val="BFBFBF"/>
          </a:solidFill>
          <a:ln/>
        </p:spPr>
      </p:sp>
      <p:sp>
        <p:nvSpPr>
          <p:cNvPr id="43" name="Text 43"/>
          <p:cNvSpPr txBox="1"/>
          <p:nvPr/>
        </p:nvSpPr>
        <p:spPr>
          <a:xfrm>
            <a:off x="1984248" y="4622292"/>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Edits code</a:t>
            </a:r>
            <a:endParaRPr lang="en-US" sz="1800" dirty="0"/>
          </a:p>
        </p:txBody>
      </p:sp>
      <p:sp>
        <p:nvSpPr>
          <p:cNvPr id="44" name="Shape 44"/>
          <p:cNvSpPr/>
          <p:nvPr/>
        </p:nvSpPr>
        <p:spPr>
          <a:xfrm>
            <a:off x="1810512" y="5353812"/>
            <a:ext cx="2651760" cy="18288"/>
          </a:xfrm>
          <a:prstGeom prst="rect">
            <a:avLst/>
          </a:prstGeom>
          <a:solidFill>
            <a:srgbClr val="BFBFBF"/>
          </a:solidFill>
          <a:ln/>
        </p:spPr>
      </p:sp>
      <p:sp>
        <p:nvSpPr>
          <p:cNvPr id="45" name="Text 45"/>
          <p:cNvSpPr txBox="1"/>
          <p:nvPr/>
        </p:nvSpPr>
        <p:spPr>
          <a:xfrm>
            <a:off x="4636008" y="4622292"/>
            <a:ext cx="41605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You copy, paste, and merge by hand</a:t>
            </a:r>
            <a:endParaRPr lang="en-US" sz="1800" dirty="0"/>
          </a:p>
        </p:txBody>
      </p:sp>
      <p:sp>
        <p:nvSpPr>
          <p:cNvPr id="46" name="Shape 46"/>
          <p:cNvSpPr/>
          <p:nvPr/>
        </p:nvSpPr>
        <p:spPr>
          <a:xfrm>
            <a:off x="4462272" y="5353812"/>
            <a:ext cx="4389120" cy="18288"/>
          </a:xfrm>
          <a:prstGeom prst="rect">
            <a:avLst/>
          </a:prstGeom>
          <a:solidFill>
            <a:srgbClr val="BFBFBF"/>
          </a:solidFill>
          <a:ln/>
        </p:spPr>
      </p:sp>
      <p:sp>
        <p:nvSpPr>
          <p:cNvPr id="47" name="Text 47"/>
          <p:cNvSpPr txBox="1"/>
          <p:nvPr/>
        </p:nvSpPr>
        <p:spPr>
          <a:xfrm>
            <a:off x="9025128" y="4622292"/>
            <a:ext cx="44074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Edits files and commits them to a branch</a:t>
            </a:r>
            <a:endParaRPr lang="en-US" sz="1800" dirty="0"/>
          </a:p>
        </p:txBody>
      </p:sp>
      <p:sp>
        <p:nvSpPr>
          <p:cNvPr id="48" name="Shape 48"/>
          <p:cNvSpPr/>
          <p:nvPr/>
        </p:nvSpPr>
        <p:spPr>
          <a:xfrm>
            <a:off x="8851392" y="5353812"/>
            <a:ext cx="4636008" cy="18288"/>
          </a:xfrm>
          <a:prstGeom prst="rect">
            <a:avLst/>
          </a:prstGeom>
          <a:solidFill>
            <a:srgbClr val="BFBFBF"/>
          </a:solidFill>
          <a:ln/>
        </p:spPr>
      </p:sp>
      <p:sp>
        <p:nvSpPr>
          <p:cNvPr id="49" name="Text 49"/>
          <p:cNvSpPr txBox="1"/>
          <p:nvPr/>
        </p:nvSpPr>
        <p:spPr>
          <a:xfrm>
            <a:off x="1984248" y="5472684"/>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Runs commands</a:t>
            </a:r>
            <a:endParaRPr lang="en-US" sz="1800" dirty="0"/>
          </a:p>
        </p:txBody>
      </p:sp>
      <p:sp>
        <p:nvSpPr>
          <p:cNvPr id="50" name="Shape 50"/>
          <p:cNvSpPr/>
          <p:nvPr/>
        </p:nvSpPr>
        <p:spPr>
          <a:xfrm>
            <a:off x="1810512" y="6204204"/>
            <a:ext cx="2651760" cy="18288"/>
          </a:xfrm>
          <a:prstGeom prst="rect">
            <a:avLst/>
          </a:prstGeom>
          <a:solidFill>
            <a:srgbClr val="BFBFBF"/>
          </a:solidFill>
          <a:ln/>
        </p:spPr>
      </p:sp>
      <p:sp>
        <p:nvSpPr>
          <p:cNvPr id="51" name="Text 51"/>
          <p:cNvSpPr txBox="1"/>
          <p:nvPr/>
        </p:nvSpPr>
        <p:spPr>
          <a:xfrm>
            <a:off x="4636008" y="5472684"/>
            <a:ext cx="41605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No</a:t>
            </a:r>
            <a:endParaRPr lang="en-US" sz="1800" dirty="0"/>
          </a:p>
        </p:txBody>
      </p:sp>
      <p:sp>
        <p:nvSpPr>
          <p:cNvPr id="52" name="Shape 52"/>
          <p:cNvSpPr/>
          <p:nvPr/>
        </p:nvSpPr>
        <p:spPr>
          <a:xfrm>
            <a:off x="4462272" y="6204204"/>
            <a:ext cx="4389120" cy="18288"/>
          </a:xfrm>
          <a:prstGeom prst="rect">
            <a:avLst/>
          </a:prstGeom>
          <a:solidFill>
            <a:srgbClr val="BFBFBF"/>
          </a:solidFill>
          <a:ln/>
        </p:spPr>
      </p:sp>
      <p:sp>
        <p:nvSpPr>
          <p:cNvPr id="53" name="Text 53"/>
          <p:cNvSpPr txBox="1"/>
          <p:nvPr/>
        </p:nvSpPr>
        <p:spPr>
          <a:xfrm>
            <a:off x="9025128" y="5472684"/>
            <a:ext cx="44074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Yes, in a cloud sandbox (search, scripts)</a:t>
            </a:r>
            <a:endParaRPr lang="en-US" sz="1800" dirty="0"/>
          </a:p>
        </p:txBody>
      </p:sp>
      <p:sp>
        <p:nvSpPr>
          <p:cNvPr id="54" name="Shape 54"/>
          <p:cNvSpPr/>
          <p:nvPr/>
        </p:nvSpPr>
        <p:spPr>
          <a:xfrm>
            <a:off x="8851392" y="6204204"/>
            <a:ext cx="4636008" cy="18288"/>
          </a:xfrm>
          <a:prstGeom prst="rect">
            <a:avLst/>
          </a:prstGeom>
          <a:solidFill>
            <a:srgbClr val="BFBFBF"/>
          </a:solidFill>
          <a:ln/>
        </p:spPr>
      </p:sp>
      <p:sp>
        <p:nvSpPr>
          <p:cNvPr id="55" name="Text 55"/>
          <p:cNvSpPr txBox="1"/>
          <p:nvPr/>
        </p:nvSpPr>
        <p:spPr>
          <a:xfrm>
            <a:off x="1984248" y="6323076"/>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Project rules</a:t>
            </a:r>
            <a:endParaRPr lang="en-US" sz="1800" dirty="0"/>
          </a:p>
        </p:txBody>
      </p:sp>
      <p:sp>
        <p:nvSpPr>
          <p:cNvPr id="56" name="Shape 56"/>
          <p:cNvSpPr/>
          <p:nvPr/>
        </p:nvSpPr>
        <p:spPr>
          <a:xfrm>
            <a:off x="1810512" y="7054596"/>
            <a:ext cx="2651760" cy="18288"/>
          </a:xfrm>
          <a:prstGeom prst="rect">
            <a:avLst/>
          </a:prstGeom>
          <a:solidFill>
            <a:srgbClr val="BFBFBF"/>
          </a:solidFill>
          <a:ln/>
        </p:spPr>
      </p:sp>
      <p:sp>
        <p:nvSpPr>
          <p:cNvPr id="57" name="Text 57"/>
          <p:cNvSpPr txBox="1"/>
          <p:nvPr/>
        </p:nvSpPr>
        <p:spPr>
          <a:xfrm>
            <a:off x="4636008" y="6323076"/>
            <a:ext cx="41605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Re-explained in every chat</a:t>
            </a:r>
            <a:endParaRPr lang="en-US" sz="1800" dirty="0"/>
          </a:p>
        </p:txBody>
      </p:sp>
      <p:sp>
        <p:nvSpPr>
          <p:cNvPr id="58" name="Shape 58"/>
          <p:cNvSpPr/>
          <p:nvPr/>
        </p:nvSpPr>
        <p:spPr>
          <a:xfrm>
            <a:off x="4462272" y="7054596"/>
            <a:ext cx="4389120" cy="18288"/>
          </a:xfrm>
          <a:prstGeom prst="rect">
            <a:avLst/>
          </a:prstGeom>
          <a:solidFill>
            <a:srgbClr val="BFBFBF"/>
          </a:solidFill>
          <a:ln/>
        </p:spPr>
      </p:sp>
      <p:sp>
        <p:nvSpPr>
          <p:cNvPr id="59" name="Text 59"/>
          <p:cNvSpPr txBox="1"/>
          <p:nvPr/>
        </p:nvSpPr>
        <p:spPr>
          <a:xfrm>
            <a:off x="9025128" y="6323076"/>
            <a:ext cx="44074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Written once in CLAUDE.md, read every session</a:t>
            </a:r>
            <a:endParaRPr lang="en-US" sz="1800" dirty="0"/>
          </a:p>
        </p:txBody>
      </p:sp>
      <p:sp>
        <p:nvSpPr>
          <p:cNvPr id="60" name="Shape 60"/>
          <p:cNvSpPr/>
          <p:nvPr/>
        </p:nvSpPr>
        <p:spPr>
          <a:xfrm>
            <a:off x="8851392" y="7054596"/>
            <a:ext cx="4636008" cy="18288"/>
          </a:xfrm>
          <a:prstGeom prst="rect">
            <a:avLst/>
          </a:prstGeom>
          <a:solidFill>
            <a:srgbClr val="BFBFBF"/>
          </a:solidFill>
          <a:ln/>
        </p:spPr>
      </p:sp>
      <p:sp>
        <p:nvSpPr>
          <p:cNvPr id="61" name="Text 61"/>
          <p:cNvSpPr txBox="1"/>
          <p:nvPr/>
        </p:nvSpPr>
        <p:spPr>
          <a:xfrm>
            <a:off x="1984248" y="7173468"/>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Your role</a:t>
            </a:r>
            <a:endParaRPr lang="en-US" sz="1800" dirty="0"/>
          </a:p>
        </p:txBody>
      </p:sp>
      <p:sp>
        <p:nvSpPr>
          <p:cNvPr id="62" name="Shape 62"/>
          <p:cNvSpPr/>
          <p:nvPr/>
        </p:nvSpPr>
        <p:spPr>
          <a:xfrm>
            <a:off x="1810512" y="7626096"/>
            <a:ext cx="2651760" cy="18288"/>
          </a:xfrm>
          <a:prstGeom prst="rect">
            <a:avLst/>
          </a:prstGeom>
          <a:solidFill>
            <a:srgbClr val="BFBFBF"/>
          </a:solidFill>
          <a:ln/>
        </p:spPr>
      </p:sp>
      <p:sp>
        <p:nvSpPr>
          <p:cNvPr id="63" name="Text 63"/>
          <p:cNvSpPr txBox="1"/>
          <p:nvPr/>
        </p:nvSpPr>
        <p:spPr>
          <a:xfrm>
            <a:off x="4636008" y="7173468"/>
            <a:ext cx="41605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Integrator and debugger</a:t>
            </a:r>
            <a:endParaRPr lang="en-US" sz="1800" dirty="0"/>
          </a:p>
        </p:txBody>
      </p:sp>
      <p:sp>
        <p:nvSpPr>
          <p:cNvPr id="64" name="Shape 64"/>
          <p:cNvSpPr/>
          <p:nvPr/>
        </p:nvSpPr>
        <p:spPr>
          <a:xfrm>
            <a:off x="4462272" y="7626096"/>
            <a:ext cx="4389120" cy="18288"/>
          </a:xfrm>
          <a:prstGeom prst="rect">
            <a:avLst/>
          </a:prstGeom>
          <a:solidFill>
            <a:srgbClr val="BFBFBF"/>
          </a:solidFill>
          <a:ln/>
        </p:spPr>
      </p:sp>
      <p:sp>
        <p:nvSpPr>
          <p:cNvPr id="65" name="Text 65"/>
          <p:cNvSpPr txBox="1"/>
          <p:nvPr/>
        </p:nvSpPr>
        <p:spPr>
          <a:xfrm>
            <a:off x="9025128" y="7173468"/>
            <a:ext cx="44074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Specifier, reviewer, and tester</a:t>
            </a:r>
            <a:endParaRPr lang="en-US" sz="1800" dirty="0"/>
          </a:p>
        </p:txBody>
      </p:sp>
      <p:sp>
        <p:nvSpPr>
          <p:cNvPr id="66" name="Shape 66"/>
          <p:cNvSpPr/>
          <p:nvPr/>
        </p:nvSpPr>
        <p:spPr>
          <a:xfrm>
            <a:off x="8851392" y="7626096"/>
            <a:ext cx="4636008" cy="18288"/>
          </a:xfrm>
          <a:prstGeom prst="rect">
            <a:avLst/>
          </a:prstGeom>
          <a:solidFill>
            <a:srgbClr val="BFBFBF"/>
          </a:solidFill>
          <a:ln/>
        </p:spPr>
      </p:sp>
      <p:sp>
        <p:nvSpPr>
          <p:cNvPr id="67" name="Text 67"/>
          <p:cNvSpPr txBox="1"/>
          <p:nvPr/>
        </p:nvSpPr>
        <p:spPr>
          <a:xfrm>
            <a:off x="1810512" y="7872984"/>
            <a:ext cx="11704320" cy="822960"/>
          </a:xfrm>
          <a:prstGeom prst="rect">
            <a:avLst/>
          </a:prstGeom>
          <a:noFill/>
          <a:ln/>
        </p:spPr>
        <p:txBody>
          <a:bodyPr wrap="square" lIns="25400" tIns="25400" rIns="25400" bIns="25400" rtlCol="0" anchor="t">
            <a:noAutofit/>
          </a:bodyPr>
          <a:lstStyle/>
          <a:p>
            <a:pPr algn="l" indent="0" marL="0">
              <a:buNone/>
            </a:pPr>
            <a:r>
              <a:rPr lang="en-US" sz="2025" b="1" dirty="0">
                <a:solidFill>
                  <a:srgbClr val="000000"/>
                </a:solidFill>
                <a:latin typeface="Segoe UI" pitchFamily="34" charset="0"/>
                <a:ea typeface="Segoe UI" pitchFamily="34" charset="-122"/>
                <a:cs typeface="Segoe UI" pitchFamily="34" charset="-120"/>
              </a:rPr>
              <a:t>An agent does more work per prompt. Each prompt needs a clearer specification, and each result needs a closer review.</a:t>
            </a:r>
            <a:endParaRPr lang="en-US" sz="2025"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3"/>
          <p:cNvSpPr/>
          <p:nvPr/>
        </p:nvSpPr>
        <p:spPr>
          <a:xfrm>
            <a:off x="0" y="0"/>
            <a:ext cx="1543050" cy="10287000"/>
          </a:xfrm>
          <a:prstGeom prst="rect">
            <a:avLst/>
          </a:prstGeom>
          <a:solidFill>
            <a:srgbClr val="E6E6E6"/>
          </a:solidFill>
          <a:ln/>
        </p:spPr>
      </p:sp>
      <p:pic>
        <p:nvPicPr>
          <p:cNvPr id="3" name="Picture 1" descr="image.png"/>
          <p:cNvPicPr>
            <a:picLocks noChangeAspect="1"/>
          </p:cNvPicPr>
          <p:nvPr/>
        </p:nvPicPr>
        <p:blipFill>
          <a:blip r:embed="rId2"/>
          <a:stretch>
            <a:fillRect/>
          </a:stretch>
        </p:blipFill>
        <p:spPr>
          <a:xfrm>
            <a:off x="200025" y="133350"/>
            <a:ext cx="1143000" cy="1143000"/>
          </a:xfrm>
          <a:prstGeom prst="rect">
            <a:avLst/>
          </a:prstGeom>
        </p:spPr>
      </p:pic>
      <p:sp>
        <p:nvSpPr>
          <p:cNvPr id="4" name="Text 4"/>
          <p:cNvSpPr txBox="1"/>
          <p:nvPr/>
        </p:nvSpPr>
        <p:spPr>
          <a:xfrm>
            <a:off x="133350" y="238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5"/>
          <p:cNvSpPr txBox="1"/>
          <p:nvPr/>
        </p:nvSpPr>
        <p:spPr>
          <a:xfrm>
            <a:off x="133350" y="2762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Concepts</a:t>
            </a:r>
            <a:endParaRPr lang="en-US" sz="1800" dirty="0"/>
          </a:p>
        </p:txBody>
      </p:sp>
      <p:sp>
        <p:nvSpPr>
          <p:cNvPr id="6" name="Text 6"/>
          <p:cNvSpPr txBox="1"/>
          <p:nvPr/>
        </p:nvSpPr>
        <p:spPr>
          <a:xfrm>
            <a:off x="133350" y="3143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Specify</a:t>
            </a:r>
            <a:endParaRPr lang="en-US" sz="1800" dirty="0"/>
          </a:p>
        </p:txBody>
      </p:sp>
      <p:sp>
        <p:nvSpPr>
          <p:cNvPr id="7" name="Text 7"/>
          <p:cNvSpPr txBox="1"/>
          <p:nvPr/>
        </p:nvSpPr>
        <p:spPr>
          <a:xfrm>
            <a:off x="133350" y="3524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8" name="Text 8"/>
          <p:cNvSpPr txBox="1"/>
          <p:nvPr/>
        </p:nvSpPr>
        <p:spPr>
          <a:xfrm>
            <a:off x="133350" y="3905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Generate</a:t>
            </a:r>
            <a:endParaRPr lang="en-US" sz="1800" dirty="0"/>
          </a:p>
        </p:txBody>
      </p:sp>
      <p:sp>
        <p:nvSpPr>
          <p:cNvPr id="9" name="Text 9"/>
          <p:cNvSpPr txBox="1"/>
          <p:nvPr/>
        </p:nvSpPr>
        <p:spPr>
          <a:xfrm>
            <a:off x="133350" y="4286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Adjudicate</a:t>
            </a:r>
            <a:endParaRPr lang="en-US" sz="1800" dirty="0"/>
          </a:p>
        </p:txBody>
      </p:sp>
      <p:sp>
        <p:nvSpPr>
          <p:cNvPr id="10" name="Text 10"/>
          <p:cNvSpPr txBox="1"/>
          <p:nvPr/>
        </p:nvSpPr>
        <p:spPr>
          <a:xfrm>
            <a:off x="133350" y="4667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Pitfalls</a:t>
            </a:r>
            <a:endParaRPr lang="en-US" sz="1800" dirty="0"/>
          </a:p>
        </p:txBody>
      </p:sp>
      <p:sp>
        <p:nvSpPr>
          <p:cNvPr id="11" name="Text 11"/>
          <p:cNvSpPr txBox="1"/>
          <p:nvPr/>
        </p:nvSpPr>
        <p:spPr>
          <a:xfrm>
            <a:off x="133350" y="5048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GenAI Use</a:t>
            </a:r>
            <a:endParaRPr lang="en-US" sz="1800" dirty="0"/>
          </a:p>
        </p:txBody>
      </p:sp>
      <p:sp>
        <p:nvSpPr>
          <p:cNvPr id="12" name="Text 12"/>
          <p:cNvSpPr txBox="1"/>
          <p:nvPr/>
        </p:nvSpPr>
        <p:spPr>
          <a:xfrm>
            <a:off x="133350" y="5429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Your Repo</a:t>
            </a:r>
            <a:endParaRPr lang="en-US" sz="1800" dirty="0"/>
          </a:p>
        </p:txBody>
      </p:sp>
      <p:sp>
        <p:nvSpPr>
          <p:cNvPr id="13" name="Text 13"/>
          <p:cNvSpPr txBox="1"/>
          <p:nvPr/>
        </p:nvSpPr>
        <p:spPr>
          <a:xfrm>
            <a:off x="133350" y="5810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Teaching</a:t>
            </a:r>
            <a:endParaRPr lang="en-US" sz="1800" dirty="0"/>
          </a:p>
        </p:txBody>
      </p:sp>
      <p:sp>
        <p:nvSpPr>
          <p:cNvPr id="14" name="Text 14"/>
          <p:cNvSpPr txBox="1"/>
          <p:nvPr/>
        </p:nvSpPr>
        <p:spPr>
          <a:xfrm>
            <a:off x="133350" y="619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5"/>
          <p:cNvSpPr txBox="1"/>
          <p:nvPr/>
        </p:nvSpPr>
        <p:spPr>
          <a:xfrm>
            <a:off x="1657350" y="200025"/>
            <a:ext cx="10988040" cy="1057275"/>
          </a:xfrm>
          <a:prstGeom prst="rect">
            <a:avLst/>
          </a:prstGeom>
          <a:noFill/>
          <a:ln/>
        </p:spPr>
        <p:txBody>
          <a:bodyPr wrap="square" lIns="25400" tIns="25400" rIns="25400" bIns="25400" rtlCol="0" anchor="ctr">
            <a:no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The Method</a:t>
            </a:r>
            <a:endParaRPr lang="en-US" sz="4800" dirty="0"/>
          </a:p>
        </p:txBody>
      </p:sp>
      <p:sp>
        <p:nvSpPr>
          <p:cNvPr id="16" name="Text 16"/>
          <p:cNvSpPr txBox="1"/>
          <p:nvPr/>
        </p:nvSpPr>
        <p:spPr>
          <a:xfrm>
            <a:off x="12515950" y="133350"/>
            <a:ext cx="1142901" cy="393700"/>
          </a:xfrm>
          <a:prstGeom prst="rect">
            <a:avLst/>
          </a:prstGeom>
          <a:noFill/>
          <a:ln/>
        </p:spPr>
        <p:txBody>
          <a:bodyPr wrap="non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2</a:t>
            </a:r>
            <a:endParaRPr lang="en-US" sz="2100" dirty="0"/>
          </a:p>
        </p:txBody>
      </p:sp>
      <p:sp>
        <p:nvSpPr>
          <p:cNvPr id="17" name="Shape 17"/>
          <p:cNvSpPr/>
          <p:nvPr/>
        </p:nvSpPr>
        <p:spPr>
          <a:xfrm>
            <a:off x="1657350" y="1219200"/>
            <a:ext cx="11925300" cy="66675"/>
          </a:xfrm>
          <a:prstGeom prst="rect">
            <a:avLst/>
          </a:prstGeom>
          <a:solidFill>
            <a:srgbClr val="000000"/>
          </a:solidFill>
          <a:ln/>
        </p:spPr>
      </p:sp>
      <p:sp>
        <p:nvSpPr>
          <p:cNvPr id="18" name="Text 18"/>
          <p:cNvSpPr txBox="1"/>
          <p:nvPr/>
        </p:nvSpPr>
        <p:spPr>
          <a:xfrm>
            <a:off x="1054418" y="9810750"/>
            <a:ext cx="13264515" cy="342900"/>
          </a:xfrm>
          <a:prstGeom prst="rect">
            <a:avLst/>
          </a:prstGeom>
          <a:noFill/>
          <a:ln/>
        </p:spPr>
        <p:txBody>
          <a:bodyPr wrap="square" lIns="25400" tIns="25400" rIns="25400" bIns="25400" rtlCol="0" anchor="t">
            <a:no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2</a:t>
            </a:r>
            <a:endParaRPr lang="en-US" sz="1800" dirty="0"/>
          </a:p>
        </p:txBody>
      </p:sp>
      <p:sp>
        <p:nvSpPr>
          <p:cNvPr id="19" name="Text 19"/>
          <p:cNvSpPr txBox="1"/>
          <p:nvPr/>
        </p:nvSpPr>
        <p:spPr>
          <a:xfrm>
            <a:off x="13458850" y="9810750"/>
            <a:ext cx="200000" cy="342900"/>
          </a:xfrm>
          <a:prstGeom prst="rect">
            <a:avLst/>
          </a:prstGeom>
          <a:noFill/>
          <a:ln/>
        </p:spPr>
        <p:txBody>
          <a:bodyPr wrap="none" lIns="25400" tIns="25400" rIns="25400" bIns="25400" rtlCol="0" anchor="t">
            <a:no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5</a:t>
            </a:r>
            <a:endParaRPr lang="en-US" sz="1800" dirty="0"/>
          </a:p>
        </p:txBody>
      </p:sp>
      <p:sp>
        <p:nvSpPr>
          <p:cNvPr id="20" name="Shape 20"/>
          <p:cNvSpPr/>
          <p:nvPr/>
        </p:nvSpPr>
        <p:spPr>
          <a:xfrm>
            <a:off x="1810512" y="1572768"/>
            <a:ext cx="2578608" cy="1188720"/>
          </a:xfrm>
          <a:prstGeom prst="rect">
            <a:avLst/>
          </a:prstGeom>
          <a:solidFill>
            <a:srgbClr val="152A47"/>
          </a:solidFill>
          <a:ln/>
        </p:spPr>
      </p:sp>
      <p:sp>
        <p:nvSpPr>
          <p:cNvPr id="21" name="Text 21"/>
          <p:cNvSpPr txBox="1"/>
          <p:nvPr/>
        </p:nvSpPr>
        <p:spPr>
          <a:xfrm>
            <a:off x="1901952" y="1691640"/>
            <a:ext cx="2395728" cy="411480"/>
          </a:xfrm>
          <a:prstGeom prst="rect">
            <a:avLst/>
          </a:prstGeom>
          <a:noFill/>
          <a:ln/>
        </p:spPr>
        <p:txBody>
          <a:bodyPr wrap="square" lIns="25400" tIns="25400" rIns="25400" bIns="25400" rtlCol="0" anchor="t">
            <a:noAutofit/>
          </a:bodyPr>
          <a:lstStyle/>
          <a:p>
            <a:pPr algn="ctr" indent="0" marL="0">
              <a:buNone/>
            </a:pPr>
            <a:r>
              <a:rPr lang="en-US" sz="2025" b="1" dirty="0">
                <a:solidFill>
                  <a:srgbClr val="00B0F0"/>
                </a:solidFill>
                <a:latin typeface="Segoe UI" pitchFamily="34" charset="0"/>
                <a:ea typeface="Segoe UI" pitchFamily="34" charset="-122"/>
                <a:cs typeface="Segoe UI" pitchFamily="34" charset="-120"/>
              </a:rPr>
              <a:t>SPECIFY</a:t>
            </a:r>
            <a:endParaRPr lang="en-US" sz="2025" dirty="0"/>
          </a:p>
        </p:txBody>
      </p:sp>
      <p:sp>
        <p:nvSpPr>
          <p:cNvPr id="22" name="Text 22"/>
          <p:cNvSpPr txBox="1"/>
          <p:nvPr/>
        </p:nvSpPr>
        <p:spPr>
          <a:xfrm>
            <a:off x="1901952" y="2103120"/>
            <a:ext cx="2395728" cy="548640"/>
          </a:xfrm>
          <a:prstGeom prst="rect">
            <a:avLst/>
          </a:prstGeom>
          <a:noFill/>
          <a:ln/>
        </p:spPr>
        <p:txBody>
          <a:bodyPr wrap="square" lIns="25400" tIns="25400" rIns="25400" bIns="25400" rtlCol="0" anchor="t">
            <a:noAutofit/>
          </a:bodyPr>
          <a:lstStyle/>
          <a:p>
            <a:pPr algn="ctr" indent="0" marL="0">
              <a:buNone/>
            </a:pPr>
            <a:r>
              <a:rPr lang="en-US" sz="1650" dirty="0">
                <a:solidFill>
                  <a:srgbClr val="FFFFFF"/>
                </a:solidFill>
                <a:latin typeface="Segoe UI" pitchFamily="34" charset="0"/>
                <a:ea typeface="Segoe UI" pitchFamily="34" charset="-122"/>
                <a:cs typeface="Segoe UI" pitchFamily="34" charset="-120"/>
              </a:rPr>
              <a:t>Verifiable requirements</a:t>
            </a:r>
            <a:endParaRPr lang="en-US" sz="1650" dirty="0"/>
          </a:p>
        </p:txBody>
      </p:sp>
      <p:sp>
        <p:nvSpPr>
          <p:cNvPr id="23" name="Shape 23"/>
          <p:cNvSpPr/>
          <p:nvPr/>
        </p:nvSpPr>
        <p:spPr>
          <a:xfrm>
            <a:off x="4425696" y="2011680"/>
            <a:ext cx="329184" cy="310896"/>
          </a:xfrm>
          <a:prstGeom prst="rightArrow">
            <a:avLst/>
          </a:prstGeom>
          <a:solidFill>
            <a:srgbClr val="1F6FB2"/>
          </a:solidFill>
          <a:ln/>
        </p:spPr>
      </p:sp>
      <p:sp>
        <p:nvSpPr>
          <p:cNvPr id="24" name="Shape 24"/>
          <p:cNvSpPr/>
          <p:nvPr/>
        </p:nvSpPr>
        <p:spPr>
          <a:xfrm>
            <a:off x="4800600" y="1572768"/>
            <a:ext cx="2578608" cy="1188720"/>
          </a:xfrm>
          <a:prstGeom prst="rect">
            <a:avLst/>
          </a:prstGeom>
          <a:solidFill>
            <a:srgbClr val="1F6FB2"/>
          </a:solidFill>
          <a:ln/>
        </p:spPr>
      </p:sp>
      <p:sp>
        <p:nvSpPr>
          <p:cNvPr id="25" name="Text 25"/>
          <p:cNvSpPr txBox="1"/>
          <p:nvPr/>
        </p:nvSpPr>
        <p:spPr>
          <a:xfrm>
            <a:off x="4892040" y="1691640"/>
            <a:ext cx="2395728" cy="411480"/>
          </a:xfrm>
          <a:prstGeom prst="rect">
            <a:avLst/>
          </a:prstGeom>
          <a:noFill/>
          <a:ln/>
        </p:spPr>
        <p:txBody>
          <a:bodyPr wrap="square" lIns="25400" tIns="25400" rIns="25400" bIns="25400" rtlCol="0" anchor="t">
            <a:noAutofit/>
          </a:bodyPr>
          <a:lstStyle/>
          <a:p>
            <a:pPr algn="ctr" indent="0" marL="0">
              <a:buNone/>
            </a:pPr>
            <a:r>
              <a:rPr lang="en-US" sz="2025" b="1" dirty="0">
                <a:solidFill>
                  <a:srgbClr val="FFFFFF"/>
                </a:solidFill>
                <a:latin typeface="Segoe UI" pitchFamily="34" charset="0"/>
                <a:ea typeface="Segoe UI" pitchFamily="34" charset="-122"/>
                <a:cs typeface="Segoe UI" pitchFamily="34" charset="-120"/>
              </a:rPr>
              <a:t>GENERATE</a:t>
            </a:r>
            <a:endParaRPr lang="en-US" sz="2025" dirty="0"/>
          </a:p>
        </p:txBody>
      </p:sp>
      <p:sp>
        <p:nvSpPr>
          <p:cNvPr id="26" name="Text 26"/>
          <p:cNvSpPr txBox="1"/>
          <p:nvPr/>
        </p:nvSpPr>
        <p:spPr>
          <a:xfrm>
            <a:off x="4892040" y="2103120"/>
            <a:ext cx="2395728" cy="548640"/>
          </a:xfrm>
          <a:prstGeom prst="rect">
            <a:avLst/>
          </a:prstGeom>
          <a:noFill/>
          <a:ln/>
        </p:spPr>
        <p:txBody>
          <a:bodyPr wrap="square" lIns="25400" tIns="25400" rIns="25400" bIns="25400" rtlCol="0" anchor="t">
            <a:noAutofit/>
          </a:bodyPr>
          <a:lstStyle/>
          <a:p>
            <a:pPr algn="ctr" indent="0" marL="0">
              <a:buNone/>
            </a:pPr>
            <a:r>
              <a:rPr lang="en-US" sz="1650" dirty="0">
                <a:solidFill>
                  <a:srgbClr val="FFFFFF"/>
                </a:solidFill>
                <a:latin typeface="Segoe UI" pitchFamily="34" charset="0"/>
                <a:ea typeface="Segoe UI" pitchFamily="34" charset="-122"/>
                <a:cs typeface="Segoe UI" pitchFamily="34" charset="-120"/>
              </a:rPr>
              <a:t>Agent proposes a design</a:t>
            </a:r>
            <a:endParaRPr lang="en-US" sz="1650" dirty="0"/>
          </a:p>
        </p:txBody>
      </p:sp>
      <p:sp>
        <p:nvSpPr>
          <p:cNvPr id="27" name="Shape 27"/>
          <p:cNvSpPr/>
          <p:nvPr/>
        </p:nvSpPr>
        <p:spPr>
          <a:xfrm>
            <a:off x="7415784" y="2011680"/>
            <a:ext cx="329184" cy="310896"/>
          </a:xfrm>
          <a:prstGeom prst="rightArrow">
            <a:avLst/>
          </a:prstGeom>
          <a:solidFill>
            <a:srgbClr val="1F6FB2"/>
          </a:solidFill>
          <a:ln/>
        </p:spPr>
      </p:sp>
      <p:sp>
        <p:nvSpPr>
          <p:cNvPr id="28" name="Shape 28"/>
          <p:cNvSpPr/>
          <p:nvPr/>
        </p:nvSpPr>
        <p:spPr>
          <a:xfrm>
            <a:off x="7790688" y="1572768"/>
            <a:ext cx="2578608" cy="1188720"/>
          </a:xfrm>
          <a:prstGeom prst="rect">
            <a:avLst/>
          </a:prstGeom>
          <a:solidFill>
            <a:srgbClr val="1F6FB2"/>
          </a:solidFill>
          <a:ln/>
        </p:spPr>
      </p:sp>
      <p:sp>
        <p:nvSpPr>
          <p:cNvPr id="29" name="Text 29"/>
          <p:cNvSpPr txBox="1"/>
          <p:nvPr/>
        </p:nvSpPr>
        <p:spPr>
          <a:xfrm>
            <a:off x="7882128" y="1691640"/>
            <a:ext cx="2395728" cy="411480"/>
          </a:xfrm>
          <a:prstGeom prst="rect">
            <a:avLst/>
          </a:prstGeom>
          <a:noFill/>
          <a:ln/>
        </p:spPr>
        <p:txBody>
          <a:bodyPr wrap="square" lIns="25400" tIns="25400" rIns="25400" bIns="25400" rtlCol="0" anchor="t">
            <a:noAutofit/>
          </a:bodyPr>
          <a:lstStyle/>
          <a:p>
            <a:pPr algn="ctr" indent="0" marL="0">
              <a:buNone/>
            </a:pPr>
            <a:r>
              <a:rPr lang="en-US" sz="2025" b="1" dirty="0">
                <a:solidFill>
                  <a:srgbClr val="FFFFFF"/>
                </a:solidFill>
                <a:latin typeface="Segoe UI" pitchFamily="34" charset="0"/>
                <a:ea typeface="Segoe UI" pitchFamily="34" charset="-122"/>
                <a:cs typeface="Segoe UI" pitchFamily="34" charset="-120"/>
              </a:rPr>
              <a:t>IMPLEMENT</a:t>
            </a:r>
            <a:endParaRPr lang="en-US" sz="2025" dirty="0"/>
          </a:p>
        </p:txBody>
      </p:sp>
      <p:sp>
        <p:nvSpPr>
          <p:cNvPr id="30" name="Text 30"/>
          <p:cNvSpPr txBox="1"/>
          <p:nvPr/>
        </p:nvSpPr>
        <p:spPr>
          <a:xfrm>
            <a:off x="7882128" y="2103120"/>
            <a:ext cx="2395728" cy="548640"/>
          </a:xfrm>
          <a:prstGeom prst="rect">
            <a:avLst/>
          </a:prstGeom>
          <a:noFill/>
          <a:ln/>
        </p:spPr>
        <p:txBody>
          <a:bodyPr wrap="square" lIns="25400" tIns="25400" rIns="25400" bIns="25400" rtlCol="0" anchor="t">
            <a:noAutofit/>
          </a:bodyPr>
          <a:lstStyle/>
          <a:p>
            <a:pPr algn="ctr" indent="0" marL="0">
              <a:buNone/>
            </a:pPr>
            <a:r>
              <a:rPr lang="en-US" sz="1650" dirty="0">
                <a:solidFill>
                  <a:srgbClr val="FFFFFF"/>
                </a:solidFill>
                <a:latin typeface="Segoe UI" pitchFamily="34" charset="0"/>
                <a:ea typeface="Segoe UI" pitchFamily="34" charset="-122"/>
                <a:cs typeface="Segoe UI" pitchFamily="34" charset="-120"/>
              </a:rPr>
              <a:t>Trusted tools make it real</a:t>
            </a:r>
            <a:endParaRPr lang="en-US" sz="1650" dirty="0"/>
          </a:p>
        </p:txBody>
      </p:sp>
      <p:sp>
        <p:nvSpPr>
          <p:cNvPr id="31" name="Shape 31"/>
          <p:cNvSpPr/>
          <p:nvPr/>
        </p:nvSpPr>
        <p:spPr>
          <a:xfrm>
            <a:off x="10405872" y="2011680"/>
            <a:ext cx="329184" cy="310896"/>
          </a:xfrm>
          <a:prstGeom prst="rightArrow">
            <a:avLst/>
          </a:prstGeom>
          <a:solidFill>
            <a:srgbClr val="1F6FB2"/>
          </a:solidFill>
          <a:ln/>
        </p:spPr>
      </p:sp>
      <p:sp>
        <p:nvSpPr>
          <p:cNvPr id="32" name="Shape 32"/>
          <p:cNvSpPr/>
          <p:nvPr/>
        </p:nvSpPr>
        <p:spPr>
          <a:xfrm>
            <a:off x="10780776" y="1572768"/>
            <a:ext cx="2578608" cy="1188720"/>
          </a:xfrm>
          <a:prstGeom prst="rect">
            <a:avLst/>
          </a:prstGeom>
          <a:solidFill>
            <a:srgbClr val="152A47"/>
          </a:solidFill>
          <a:ln/>
        </p:spPr>
      </p:sp>
      <p:sp>
        <p:nvSpPr>
          <p:cNvPr id="33" name="Text 33"/>
          <p:cNvSpPr txBox="1"/>
          <p:nvPr/>
        </p:nvSpPr>
        <p:spPr>
          <a:xfrm>
            <a:off x="10872216" y="1691640"/>
            <a:ext cx="2395728" cy="411480"/>
          </a:xfrm>
          <a:prstGeom prst="rect">
            <a:avLst/>
          </a:prstGeom>
          <a:noFill/>
          <a:ln/>
        </p:spPr>
        <p:txBody>
          <a:bodyPr wrap="square" lIns="25400" tIns="25400" rIns="25400" bIns="25400" rtlCol="0" anchor="t">
            <a:noAutofit/>
          </a:bodyPr>
          <a:lstStyle/>
          <a:p>
            <a:pPr algn="ctr" indent="0" marL="0">
              <a:buNone/>
            </a:pPr>
            <a:r>
              <a:rPr lang="en-US" sz="2025" b="1" dirty="0">
                <a:solidFill>
                  <a:srgbClr val="00B0F0"/>
                </a:solidFill>
                <a:latin typeface="Segoe UI" pitchFamily="34" charset="0"/>
                <a:ea typeface="Segoe UI" pitchFamily="34" charset="-122"/>
                <a:cs typeface="Segoe UI" pitchFamily="34" charset="-120"/>
              </a:rPr>
              <a:t>ADJUDICATE</a:t>
            </a:r>
            <a:endParaRPr lang="en-US" sz="2025" dirty="0"/>
          </a:p>
        </p:txBody>
      </p:sp>
      <p:sp>
        <p:nvSpPr>
          <p:cNvPr id="34" name="Text 34"/>
          <p:cNvSpPr txBox="1"/>
          <p:nvPr/>
        </p:nvSpPr>
        <p:spPr>
          <a:xfrm>
            <a:off x="10872216" y="2103120"/>
            <a:ext cx="2395728" cy="548640"/>
          </a:xfrm>
          <a:prstGeom prst="rect">
            <a:avLst/>
          </a:prstGeom>
          <a:noFill/>
          <a:ln/>
        </p:spPr>
        <p:txBody>
          <a:bodyPr wrap="square" lIns="25400" tIns="25400" rIns="25400" bIns="25400" rtlCol="0" anchor="t">
            <a:noAutofit/>
          </a:bodyPr>
          <a:lstStyle/>
          <a:p>
            <a:pPr algn="ctr" indent="0" marL="0">
              <a:buNone/>
            </a:pPr>
            <a:r>
              <a:rPr lang="en-US" sz="1650" dirty="0">
                <a:solidFill>
                  <a:srgbClr val="FFFFFF"/>
                </a:solidFill>
                <a:latin typeface="Segoe UI" pitchFamily="34" charset="0"/>
                <a:ea typeface="Segoe UI" pitchFamily="34" charset="-122"/>
                <a:cs typeface="Segoe UI" pitchFamily="34" charset="-120"/>
              </a:rPr>
              <a:t>Engineer owns the call</a:t>
            </a:r>
            <a:endParaRPr lang="en-US" sz="1650" dirty="0"/>
          </a:p>
        </p:txBody>
      </p:sp>
      <p:sp>
        <p:nvSpPr>
          <p:cNvPr id="35" name="Shape 35"/>
          <p:cNvSpPr/>
          <p:nvPr/>
        </p:nvSpPr>
        <p:spPr>
          <a:xfrm>
            <a:off x="12051792" y="2761488"/>
            <a:ext cx="36576" cy="384048"/>
          </a:xfrm>
          <a:prstGeom prst="rect">
            <a:avLst/>
          </a:prstGeom>
          <a:solidFill>
            <a:srgbClr val="595959"/>
          </a:solidFill>
          <a:ln/>
        </p:spPr>
      </p:sp>
      <p:sp>
        <p:nvSpPr>
          <p:cNvPr id="36" name="Shape 36"/>
          <p:cNvSpPr/>
          <p:nvPr/>
        </p:nvSpPr>
        <p:spPr>
          <a:xfrm>
            <a:off x="6071616" y="3127248"/>
            <a:ext cx="6016752" cy="36576"/>
          </a:xfrm>
          <a:prstGeom prst="rect">
            <a:avLst/>
          </a:prstGeom>
          <a:solidFill>
            <a:srgbClr val="595959"/>
          </a:solidFill>
          <a:ln/>
        </p:spPr>
      </p:sp>
      <p:sp>
        <p:nvSpPr>
          <p:cNvPr id="37" name="Shape 37"/>
          <p:cNvSpPr/>
          <p:nvPr/>
        </p:nvSpPr>
        <p:spPr>
          <a:xfrm>
            <a:off x="6071616" y="2834640"/>
            <a:ext cx="36576" cy="310896"/>
          </a:xfrm>
          <a:prstGeom prst="rect">
            <a:avLst/>
          </a:prstGeom>
          <a:solidFill>
            <a:srgbClr val="595959"/>
          </a:solidFill>
          <a:ln/>
        </p:spPr>
      </p:sp>
      <p:sp>
        <p:nvSpPr>
          <p:cNvPr id="38" name="Shape 38"/>
          <p:cNvSpPr/>
          <p:nvPr/>
        </p:nvSpPr>
        <p:spPr>
          <a:xfrm>
            <a:off x="5971032" y="2770632"/>
            <a:ext cx="237744" cy="155448"/>
          </a:xfrm>
          <a:prstGeom prst="triangle">
            <a:avLst/>
          </a:prstGeom>
          <a:solidFill>
            <a:srgbClr val="595959"/>
          </a:solidFill>
          <a:ln/>
        </p:spPr>
      </p:sp>
      <p:sp>
        <p:nvSpPr>
          <p:cNvPr id="39" name="Shape 39"/>
          <p:cNvSpPr/>
          <p:nvPr/>
        </p:nvSpPr>
        <p:spPr>
          <a:xfrm>
            <a:off x="7269480" y="2971800"/>
            <a:ext cx="1463040" cy="347472"/>
          </a:xfrm>
          <a:prstGeom prst="rect">
            <a:avLst/>
          </a:prstGeom>
          <a:solidFill>
            <a:srgbClr val="FFFFFF"/>
          </a:solidFill>
          <a:ln/>
        </p:spPr>
      </p:sp>
      <p:sp>
        <p:nvSpPr>
          <p:cNvPr id="40" name="Text 40"/>
          <p:cNvSpPr txBox="1"/>
          <p:nvPr/>
        </p:nvSpPr>
        <p:spPr>
          <a:xfrm>
            <a:off x="7269480" y="2971800"/>
            <a:ext cx="1463040" cy="347472"/>
          </a:xfrm>
          <a:prstGeom prst="rect">
            <a:avLst/>
          </a:prstGeom>
          <a:noFill/>
          <a:ln/>
        </p:spPr>
        <p:txBody>
          <a:bodyPr wrap="square" lIns="25400" tIns="25400" rIns="25400" bIns="25400" rtlCol="0" anchor="t">
            <a:noAutofit/>
          </a:bodyPr>
          <a:lstStyle/>
          <a:p>
            <a:pPr algn="ctr" indent="0" marL="0">
              <a:buNone/>
            </a:pPr>
            <a:r>
              <a:rPr lang="en-US" sz="1650" b="1" dirty="0">
                <a:solidFill>
                  <a:srgbClr val="595959"/>
                </a:solidFill>
                <a:latin typeface="Segoe UI" pitchFamily="34" charset="0"/>
                <a:ea typeface="Segoe UI" pitchFamily="34" charset="-122"/>
                <a:cs typeface="Segoe UI" pitchFamily="34" charset="-120"/>
              </a:rPr>
              <a:t>ITERATE</a:t>
            </a:r>
            <a:endParaRPr lang="en-US" sz="1650" dirty="0"/>
          </a:p>
        </p:txBody>
      </p:sp>
      <p:sp>
        <p:nvSpPr>
          <p:cNvPr id="41" name="Text 41"/>
          <p:cNvSpPr txBox="1"/>
          <p:nvPr/>
        </p:nvSpPr>
        <p:spPr>
          <a:xfrm>
            <a:off x="1810512" y="3611880"/>
            <a:ext cx="12847320" cy="393192"/>
          </a:xfrm>
          <a:prstGeom prst="rect">
            <a:avLst/>
          </a:prstGeom>
          <a:noFill/>
          <a:ln/>
        </p:spPr>
        <p:txBody>
          <a:bodyPr wrap="square" lIns="25400" tIns="25400" rIns="25400" bIns="25400" rtlCol="0" anchor="t">
            <a:noAutofit/>
          </a:bodyPr>
          <a:lstStyle/>
          <a:p>
            <a:pPr algn="l" indent="0" marL="0">
              <a:buNone/>
            </a:pPr>
            <a:r>
              <a:rPr lang="en-US" sz="2100" dirty="0">
                <a:solidFill>
                  <a:srgbClr val="000000"/>
                </a:solidFill>
                <a:latin typeface="Segoe UI" pitchFamily="34" charset="0"/>
                <a:ea typeface="Segoe UI" pitchFamily="34" charset="-122"/>
                <a:cs typeface="Segoe UI" pitchFamily="34" charset="-120"/>
              </a:rPr>
              <a:t>The five workflow steps, for any coding agent:</a:t>
            </a:r>
            <a:endParaRPr lang="en-US" sz="2100" dirty="0"/>
          </a:p>
        </p:txBody>
      </p:sp>
      <p:sp>
        <p:nvSpPr>
          <p:cNvPr id="42" name="Text 42"/>
          <p:cNvSpPr txBox="1"/>
          <p:nvPr/>
        </p:nvSpPr>
        <p:spPr>
          <a:xfrm>
            <a:off x="1810512" y="416052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1</a:t>
            </a:r>
            <a:endParaRPr lang="en-US" sz="2250" dirty="0"/>
          </a:p>
        </p:txBody>
      </p:sp>
      <p:sp>
        <p:nvSpPr>
          <p:cNvPr id="43" name="Text 43"/>
          <p:cNvSpPr txBox="1"/>
          <p:nvPr/>
        </p:nvSpPr>
        <p:spPr>
          <a:xfrm>
            <a:off x="2340864" y="4160520"/>
            <a:ext cx="11173968" cy="409115"/>
          </a:xfrm>
          <a:prstGeom prst="rect">
            <a:avLst/>
          </a:prstGeom>
          <a:noFill/>
          <a:ln/>
        </p:spPr>
        <p:txBody>
          <a:bodyPr wrap="square" lIns="25400" tIns="25400" rIns="25400" bIns="25400" rtlCol="0" anchor="t">
            <a:no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 xml:space="preserve">Put your project in a GitHub repo  </a:t>
            </a:r>
            <a:r>
              <a:rPr lang="en-US" sz="2025" dirty="0">
                <a:solidFill>
                  <a:srgbClr val="595959"/>
                </a:solidFill>
                <a:latin typeface="Segoe UI" pitchFamily="34" charset="0"/>
                <a:ea typeface="Segoe UI" pitchFamily="34" charset="-122"/>
                <a:cs typeface="Segoe UI" pitchFamily="34" charset="-120"/>
              </a:rPr>
              <a:t>(done in Lesson 1)</a:t>
            </a:r>
            <a:endParaRPr lang="en-US" sz="2025" dirty="0"/>
          </a:p>
        </p:txBody>
      </p:sp>
      <p:sp>
        <p:nvSpPr>
          <p:cNvPr id="44" name="Text 44"/>
          <p:cNvSpPr txBox="1"/>
          <p:nvPr/>
        </p:nvSpPr>
        <p:spPr>
          <a:xfrm>
            <a:off x="1810512" y="4697651"/>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2</a:t>
            </a:r>
            <a:endParaRPr lang="en-US" sz="2250" dirty="0"/>
          </a:p>
        </p:txBody>
      </p:sp>
      <p:sp>
        <p:nvSpPr>
          <p:cNvPr id="45" name="Text 45"/>
          <p:cNvSpPr txBox="1"/>
          <p:nvPr/>
        </p:nvSpPr>
        <p:spPr>
          <a:xfrm>
            <a:off x="2340864" y="4697651"/>
            <a:ext cx="11173968" cy="409115"/>
          </a:xfrm>
          <a:prstGeom prst="rect">
            <a:avLst/>
          </a:prstGeom>
          <a:noFill/>
          <a:ln/>
        </p:spPr>
        <p:txBody>
          <a:bodyPr wrap="square" lIns="25400" tIns="25400" rIns="25400" bIns="25400" rtlCol="0" anchor="t">
            <a:no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Open a session in Claude Code, Codex, or another coding agent</a:t>
            </a:r>
            <a:endParaRPr lang="en-US" sz="2025" dirty="0"/>
          </a:p>
        </p:txBody>
      </p:sp>
      <p:sp>
        <p:nvSpPr>
          <p:cNvPr id="46" name="Text 46"/>
          <p:cNvSpPr txBox="1"/>
          <p:nvPr/>
        </p:nvSpPr>
        <p:spPr>
          <a:xfrm>
            <a:off x="1810512" y="5234783"/>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3</a:t>
            </a:r>
            <a:endParaRPr lang="en-US" sz="2250" dirty="0"/>
          </a:p>
        </p:txBody>
      </p:sp>
      <p:sp>
        <p:nvSpPr>
          <p:cNvPr id="47" name="Text 47"/>
          <p:cNvSpPr txBox="1"/>
          <p:nvPr/>
        </p:nvSpPr>
        <p:spPr>
          <a:xfrm>
            <a:off x="2340864" y="5234783"/>
            <a:ext cx="11173968" cy="409115"/>
          </a:xfrm>
          <a:prstGeom prst="rect">
            <a:avLst/>
          </a:prstGeom>
          <a:noFill/>
          <a:ln/>
        </p:spPr>
        <p:txBody>
          <a:bodyPr wrap="square" lIns="25400" tIns="25400" rIns="25400" bIns="25400" rtlCol="0" anchor="t">
            <a:no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Connect your repo to the session, with a context file (CLAUDE.md)</a:t>
            </a:r>
            <a:endParaRPr lang="en-US" sz="2025" dirty="0"/>
          </a:p>
        </p:txBody>
      </p:sp>
      <p:sp>
        <p:nvSpPr>
          <p:cNvPr id="48" name="Text 48"/>
          <p:cNvSpPr txBox="1"/>
          <p:nvPr/>
        </p:nvSpPr>
        <p:spPr>
          <a:xfrm>
            <a:off x="1810512" y="5771914"/>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4</a:t>
            </a:r>
            <a:endParaRPr lang="en-US" sz="2250" dirty="0"/>
          </a:p>
        </p:txBody>
      </p:sp>
      <p:sp>
        <p:nvSpPr>
          <p:cNvPr id="49" name="Text 49"/>
          <p:cNvSpPr txBox="1"/>
          <p:nvPr/>
        </p:nvSpPr>
        <p:spPr>
          <a:xfrm>
            <a:off x="2340864" y="5771914"/>
            <a:ext cx="11173968" cy="409115"/>
          </a:xfrm>
          <a:prstGeom prst="rect">
            <a:avLst/>
          </a:prstGeom>
          <a:noFill/>
          <a:ln/>
        </p:spPr>
        <p:txBody>
          <a:bodyPr wrap="square" lIns="25400" tIns="25400" rIns="25400" bIns="25400" rtlCol="0" anchor="t">
            <a:no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Work with the agent to generate commits on a branch</a:t>
            </a:r>
            <a:endParaRPr lang="en-US" sz="2025" dirty="0"/>
          </a:p>
        </p:txBody>
      </p:sp>
      <p:sp>
        <p:nvSpPr>
          <p:cNvPr id="50" name="Text 50"/>
          <p:cNvSpPr txBox="1"/>
          <p:nvPr/>
        </p:nvSpPr>
        <p:spPr>
          <a:xfrm>
            <a:off x="1810512" y="6309046"/>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5</a:t>
            </a:r>
            <a:endParaRPr lang="en-US" sz="2250" dirty="0"/>
          </a:p>
        </p:txBody>
      </p:sp>
      <p:sp>
        <p:nvSpPr>
          <p:cNvPr id="51" name="Text 51"/>
          <p:cNvSpPr txBox="1"/>
          <p:nvPr/>
        </p:nvSpPr>
        <p:spPr>
          <a:xfrm>
            <a:off x="2340864" y="6309046"/>
            <a:ext cx="11173968" cy="409115"/>
          </a:xfrm>
          <a:prstGeom prst="rect">
            <a:avLst/>
          </a:prstGeom>
          <a:noFill/>
          <a:ln/>
        </p:spPr>
        <p:txBody>
          <a:bodyPr wrap="square" lIns="25400" tIns="25400" rIns="25400" bIns="25400" rtlCol="0" anchor="t">
            <a:no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Adjudicate the agent’s work yourself, and iterate</a:t>
            </a:r>
            <a:endParaRPr lang="en-US" sz="2025"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3"/>
          <p:cNvSpPr/>
          <p:nvPr/>
        </p:nvSpPr>
        <p:spPr>
          <a:xfrm>
            <a:off x="0" y="0"/>
            <a:ext cx="1543050" cy="10287000"/>
          </a:xfrm>
          <a:prstGeom prst="rect">
            <a:avLst/>
          </a:prstGeom>
          <a:solidFill>
            <a:srgbClr val="E6E6E6"/>
          </a:solidFill>
          <a:ln/>
        </p:spPr>
      </p:sp>
      <p:pic>
        <p:nvPicPr>
          <p:cNvPr id="3" name="Picture 1" descr="image.png"/>
          <p:cNvPicPr>
            <a:picLocks noChangeAspect="1"/>
          </p:cNvPicPr>
          <p:nvPr/>
        </p:nvPicPr>
        <p:blipFill>
          <a:blip r:embed="rId2"/>
          <a:stretch>
            <a:fillRect/>
          </a:stretch>
        </p:blipFill>
        <p:spPr>
          <a:xfrm>
            <a:off x="200025" y="133350"/>
            <a:ext cx="1143000" cy="1143000"/>
          </a:xfrm>
          <a:prstGeom prst="rect">
            <a:avLst/>
          </a:prstGeom>
        </p:spPr>
      </p:pic>
      <p:sp>
        <p:nvSpPr>
          <p:cNvPr id="4" name="Text 4"/>
          <p:cNvSpPr txBox="1"/>
          <p:nvPr/>
        </p:nvSpPr>
        <p:spPr>
          <a:xfrm>
            <a:off x="133350" y="238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5"/>
          <p:cNvSpPr txBox="1"/>
          <p:nvPr/>
        </p:nvSpPr>
        <p:spPr>
          <a:xfrm>
            <a:off x="133350" y="2762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Concepts</a:t>
            </a:r>
            <a:endParaRPr lang="en-US" sz="1800" dirty="0"/>
          </a:p>
        </p:txBody>
      </p:sp>
      <p:sp>
        <p:nvSpPr>
          <p:cNvPr id="6" name="Text 6"/>
          <p:cNvSpPr txBox="1"/>
          <p:nvPr/>
        </p:nvSpPr>
        <p:spPr>
          <a:xfrm>
            <a:off x="133350" y="3143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Specify</a:t>
            </a:r>
            <a:endParaRPr lang="en-US" sz="1800" dirty="0"/>
          </a:p>
        </p:txBody>
      </p:sp>
      <p:sp>
        <p:nvSpPr>
          <p:cNvPr id="7" name="Text 7"/>
          <p:cNvSpPr txBox="1"/>
          <p:nvPr/>
        </p:nvSpPr>
        <p:spPr>
          <a:xfrm>
            <a:off x="133350" y="3524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8" name="Text 8"/>
          <p:cNvSpPr txBox="1"/>
          <p:nvPr/>
        </p:nvSpPr>
        <p:spPr>
          <a:xfrm>
            <a:off x="133350" y="3905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Generate</a:t>
            </a:r>
            <a:endParaRPr lang="en-US" sz="1800" dirty="0"/>
          </a:p>
        </p:txBody>
      </p:sp>
      <p:sp>
        <p:nvSpPr>
          <p:cNvPr id="9" name="Text 9"/>
          <p:cNvSpPr txBox="1"/>
          <p:nvPr/>
        </p:nvSpPr>
        <p:spPr>
          <a:xfrm>
            <a:off x="133350" y="4286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Adjudicate</a:t>
            </a:r>
            <a:endParaRPr lang="en-US" sz="1800" dirty="0"/>
          </a:p>
        </p:txBody>
      </p:sp>
      <p:sp>
        <p:nvSpPr>
          <p:cNvPr id="10" name="Text 10"/>
          <p:cNvSpPr txBox="1"/>
          <p:nvPr/>
        </p:nvSpPr>
        <p:spPr>
          <a:xfrm>
            <a:off x="133350" y="4667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Pitfalls</a:t>
            </a:r>
            <a:endParaRPr lang="en-US" sz="1800" dirty="0"/>
          </a:p>
        </p:txBody>
      </p:sp>
      <p:sp>
        <p:nvSpPr>
          <p:cNvPr id="11" name="Text 11"/>
          <p:cNvSpPr txBox="1"/>
          <p:nvPr/>
        </p:nvSpPr>
        <p:spPr>
          <a:xfrm>
            <a:off x="133350" y="5048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GenAI Use</a:t>
            </a:r>
            <a:endParaRPr lang="en-US" sz="1800" dirty="0"/>
          </a:p>
        </p:txBody>
      </p:sp>
      <p:sp>
        <p:nvSpPr>
          <p:cNvPr id="12" name="Text 12"/>
          <p:cNvSpPr txBox="1"/>
          <p:nvPr/>
        </p:nvSpPr>
        <p:spPr>
          <a:xfrm>
            <a:off x="133350" y="5429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Your Repo</a:t>
            </a:r>
            <a:endParaRPr lang="en-US" sz="1800" dirty="0"/>
          </a:p>
        </p:txBody>
      </p:sp>
      <p:sp>
        <p:nvSpPr>
          <p:cNvPr id="13" name="Text 13"/>
          <p:cNvSpPr txBox="1"/>
          <p:nvPr/>
        </p:nvSpPr>
        <p:spPr>
          <a:xfrm>
            <a:off x="133350" y="5810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Teaching</a:t>
            </a:r>
            <a:endParaRPr lang="en-US" sz="1800" dirty="0"/>
          </a:p>
        </p:txBody>
      </p:sp>
      <p:sp>
        <p:nvSpPr>
          <p:cNvPr id="14" name="Text 14"/>
          <p:cNvSpPr txBox="1"/>
          <p:nvPr/>
        </p:nvSpPr>
        <p:spPr>
          <a:xfrm>
            <a:off x="133350" y="619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5"/>
          <p:cNvSpPr txBox="1"/>
          <p:nvPr/>
        </p:nvSpPr>
        <p:spPr>
          <a:xfrm>
            <a:off x="1657350" y="200025"/>
            <a:ext cx="10988040" cy="1057275"/>
          </a:xfrm>
          <a:prstGeom prst="rect">
            <a:avLst/>
          </a:prstGeom>
          <a:noFill/>
          <a:ln/>
        </p:spPr>
        <p:txBody>
          <a:bodyPr wrap="square" lIns="25400" tIns="25400" rIns="25400" bIns="25400" rtlCol="0" anchor="ctr">
            <a:no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Agent Tool Options</a:t>
            </a:r>
            <a:endParaRPr lang="en-US" sz="4800" dirty="0"/>
          </a:p>
        </p:txBody>
      </p:sp>
      <p:sp>
        <p:nvSpPr>
          <p:cNvPr id="16" name="Text 16"/>
          <p:cNvSpPr txBox="1"/>
          <p:nvPr/>
        </p:nvSpPr>
        <p:spPr>
          <a:xfrm>
            <a:off x="12515950" y="133350"/>
            <a:ext cx="1142901" cy="393700"/>
          </a:xfrm>
          <a:prstGeom prst="rect">
            <a:avLst/>
          </a:prstGeom>
          <a:noFill/>
          <a:ln/>
        </p:spPr>
        <p:txBody>
          <a:bodyPr wrap="non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2</a:t>
            </a:r>
            <a:endParaRPr lang="en-US" sz="2100" dirty="0"/>
          </a:p>
        </p:txBody>
      </p:sp>
      <p:sp>
        <p:nvSpPr>
          <p:cNvPr id="17" name="Shape 17"/>
          <p:cNvSpPr/>
          <p:nvPr/>
        </p:nvSpPr>
        <p:spPr>
          <a:xfrm>
            <a:off x="1657350" y="1219200"/>
            <a:ext cx="11925300" cy="66675"/>
          </a:xfrm>
          <a:prstGeom prst="rect">
            <a:avLst/>
          </a:prstGeom>
          <a:solidFill>
            <a:srgbClr val="000000"/>
          </a:solidFill>
          <a:ln/>
        </p:spPr>
      </p:sp>
      <p:sp>
        <p:nvSpPr>
          <p:cNvPr id="18" name="Text 18"/>
          <p:cNvSpPr txBox="1"/>
          <p:nvPr/>
        </p:nvSpPr>
        <p:spPr>
          <a:xfrm>
            <a:off x="1054418" y="9810750"/>
            <a:ext cx="13264515" cy="342900"/>
          </a:xfrm>
          <a:prstGeom prst="rect">
            <a:avLst/>
          </a:prstGeom>
          <a:noFill/>
          <a:ln/>
        </p:spPr>
        <p:txBody>
          <a:bodyPr wrap="square" lIns="25400" tIns="25400" rIns="25400" bIns="25400" rtlCol="0" anchor="t">
            <a:no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2</a:t>
            </a:r>
            <a:endParaRPr lang="en-US" sz="1800" dirty="0"/>
          </a:p>
        </p:txBody>
      </p:sp>
      <p:sp>
        <p:nvSpPr>
          <p:cNvPr id="19" name="Text 19"/>
          <p:cNvSpPr txBox="1"/>
          <p:nvPr/>
        </p:nvSpPr>
        <p:spPr>
          <a:xfrm>
            <a:off x="13458850" y="9810750"/>
            <a:ext cx="200000" cy="342900"/>
          </a:xfrm>
          <a:prstGeom prst="rect">
            <a:avLst/>
          </a:prstGeom>
          <a:noFill/>
          <a:ln/>
        </p:spPr>
        <p:txBody>
          <a:bodyPr wrap="none" lIns="25400" tIns="25400" rIns="25400" bIns="25400" rtlCol="0" anchor="t">
            <a:no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6</a:t>
            </a:r>
            <a:endParaRPr lang="en-US" sz="1800" dirty="0"/>
          </a:p>
        </p:txBody>
      </p:sp>
      <p:sp>
        <p:nvSpPr>
          <p:cNvPr id="20" name="Shape 20"/>
          <p:cNvSpPr/>
          <p:nvPr/>
        </p:nvSpPr>
        <p:spPr>
          <a:xfrm>
            <a:off x="1810512" y="1572768"/>
            <a:ext cx="2697480" cy="612648"/>
          </a:xfrm>
          <a:prstGeom prst="rect">
            <a:avLst/>
          </a:prstGeom>
          <a:solidFill>
            <a:srgbClr val="152A47"/>
          </a:solidFill>
          <a:ln/>
        </p:spPr>
      </p:sp>
      <p:sp>
        <p:nvSpPr>
          <p:cNvPr id="21" name="Text 21"/>
          <p:cNvSpPr txBox="1"/>
          <p:nvPr/>
        </p:nvSpPr>
        <p:spPr>
          <a:xfrm>
            <a:off x="1984248" y="1705356"/>
            <a:ext cx="2468880" cy="347472"/>
          </a:xfrm>
          <a:prstGeom prst="rect">
            <a:avLst/>
          </a:prstGeom>
          <a:noFill/>
          <a:ln/>
        </p:spPr>
        <p:txBody>
          <a:bodyPr wrap="square" lIns="25400" tIns="25400" rIns="25400" bIns="25400" rtlCol="0" anchor="t">
            <a:noAutofit/>
          </a:bodyPr>
          <a:lstStyle/>
          <a:p>
            <a:pPr algn="l" indent="0" marL="0">
              <a:buNone/>
            </a:pPr>
            <a:r>
              <a:rPr lang="en-US" sz="1725" b="1" dirty="0">
                <a:solidFill>
                  <a:srgbClr val="FFFFFF"/>
                </a:solidFill>
                <a:latin typeface="Segoe UI" pitchFamily="34" charset="0"/>
                <a:ea typeface="Segoe UI" pitchFamily="34" charset="-122"/>
                <a:cs typeface="Segoe UI" pitchFamily="34" charset="-120"/>
              </a:rPr>
              <a:t>Tool</a:t>
            </a:r>
            <a:endParaRPr lang="en-US" sz="1725" dirty="0"/>
          </a:p>
        </p:txBody>
      </p:sp>
      <p:sp>
        <p:nvSpPr>
          <p:cNvPr id="22" name="Shape 22"/>
          <p:cNvSpPr/>
          <p:nvPr/>
        </p:nvSpPr>
        <p:spPr>
          <a:xfrm>
            <a:off x="4507992" y="1572768"/>
            <a:ext cx="3657600" cy="612648"/>
          </a:xfrm>
          <a:prstGeom prst="rect">
            <a:avLst/>
          </a:prstGeom>
          <a:solidFill>
            <a:srgbClr val="152A47"/>
          </a:solidFill>
          <a:ln/>
        </p:spPr>
      </p:sp>
      <p:sp>
        <p:nvSpPr>
          <p:cNvPr id="23" name="Text 23"/>
          <p:cNvSpPr txBox="1"/>
          <p:nvPr/>
        </p:nvSpPr>
        <p:spPr>
          <a:xfrm>
            <a:off x="4681728" y="1705356"/>
            <a:ext cx="3429000" cy="347472"/>
          </a:xfrm>
          <a:prstGeom prst="rect">
            <a:avLst/>
          </a:prstGeom>
          <a:noFill/>
          <a:ln/>
        </p:spPr>
        <p:txBody>
          <a:bodyPr wrap="square" lIns="25400" tIns="25400" rIns="25400" bIns="25400" rtlCol="0" anchor="t">
            <a:noAutofit/>
          </a:bodyPr>
          <a:lstStyle/>
          <a:p>
            <a:pPr algn="l" indent="0" marL="0">
              <a:buNone/>
            </a:pPr>
            <a:r>
              <a:rPr lang="en-US" sz="1725" b="1" dirty="0">
                <a:solidFill>
                  <a:srgbClr val="FFFFFF"/>
                </a:solidFill>
                <a:latin typeface="Segoe UI" pitchFamily="34" charset="0"/>
                <a:ea typeface="Segoe UI" pitchFamily="34" charset="-122"/>
                <a:cs typeface="Segoe UI" pitchFamily="34" charset="-120"/>
              </a:rPr>
              <a:t>Where it runs</a:t>
            </a:r>
            <a:endParaRPr lang="en-US" sz="1725" dirty="0"/>
          </a:p>
        </p:txBody>
      </p:sp>
      <p:sp>
        <p:nvSpPr>
          <p:cNvPr id="24" name="Shape 24"/>
          <p:cNvSpPr/>
          <p:nvPr/>
        </p:nvSpPr>
        <p:spPr>
          <a:xfrm>
            <a:off x="8165592" y="1572768"/>
            <a:ext cx="2743200" cy="612648"/>
          </a:xfrm>
          <a:prstGeom prst="rect">
            <a:avLst/>
          </a:prstGeom>
          <a:solidFill>
            <a:srgbClr val="152A47"/>
          </a:solidFill>
          <a:ln/>
        </p:spPr>
      </p:sp>
      <p:sp>
        <p:nvSpPr>
          <p:cNvPr id="25" name="Text 25"/>
          <p:cNvSpPr txBox="1"/>
          <p:nvPr/>
        </p:nvSpPr>
        <p:spPr>
          <a:xfrm>
            <a:off x="8339328" y="1705356"/>
            <a:ext cx="2514600" cy="347472"/>
          </a:xfrm>
          <a:prstGeom prst="rect">
            <a:avLst/>
          </a:prstGeom>
          <a:noFill/>
          <a:ln/>
        </p:spPr>
        <p:txBody>
          <a:bodyPr wrap="square" lIns="25400" tIns="25400" rIns="25400" bIns="25400" rtlCol="0" anchor="t">
            <a:noAutofit/>
          </a:bodyPr>
          <a:lstStyle/>
          <a:p>
            <a:pPr algn="l" indent="0" marL="0">
              <a:buNone/>
            </a:pPr>
            <a:r>
              <a:rPr lang="en-US" sz="1725" b="1" dirty="0">
                <a:solidFill>
                  <a:srgbClr val="FFFFFF"/>
                </a:solidFill>
                <a:latin typeface="Segoe UI" pitchFamily="34" charset="0"/>
                <a:ea typeface="Segoe UI" pitchFamily="34" charset="-122"/>
                <a:cs typeface="Segoe UI" pitchFamily="34" charset="-120"/>
              </a:rPr>
              <a:t>Access</a:t>
            </a:r>
            <a:endParaRPr lang="en-US" sz="1725" dirty="0"/>
          </a:p>
        </p:txBody>
      </p:sp>
      <p:sp>
        <p:nvSpPr>
          <p:cNvPr id="26" name="Shape 26"/>
          <p:cNvSpPr/>
          <p:nvPr/>
        </p:nvSpPr>
        <p:spPr>
          <a:xfrm>
            <a:off x="10908792" y="1572768"/>
            <a:ext cx="2578608" cy="612648"/>
          </a:xfrm>
          <a:prstGeom prst="rect">
            <a:avLst/>
          </a:prstGeom>
          <a:solidFill>
            <a:srgbClr val="152A47"/>
          </a:solidFill>
          <a:ln/>
        </p:spPr>
      </p:sp>
      <p:sp>
        <p:nvSpPr>
          <p:cNvPr id="27" name="Text 27"/>
          <p:cNvSpPr txBox="1"/>
          <p:nvPr/>
        </p:nvSpPr>
        <p:spPr>
          <a:xfrm>
            <a:off x="11082528" y="1705356"/>
            <a:ext cx="2350008" cy="347472"/>
          </a:xfrm>
          <a:prstGeom prst="rect">
            <a:avLst/>
          </a:prstGeom>
          <a:noFill/>
          <a:ln/>
        </p:spPr>
        <p:txBody>
          <a:bodyPr wrap="square" lIns="25400" tIns="25400" rIns="25400" bIns="25400" rtlCol="0" anchor="t">
            <a:noAutofit/>
          </a:bodyPr>
          <a:lstStyle/>
          <a:p>
            <a:pPr algn="l" indent="0" marL="0">
              <a:buNone/>
            </a:pPr>
            <a:r>
              <a:rPr lang="en-US" sz="1725" b="1" dirty="0">
                <a:solidFill>
                  <a:srgbClr val="FFFFFF"/>
                </a:solidFill>
                <a:latin typeface="Segoe UI" pitchFamily="34" charset="0"/>
                <a:ea typeface="Segoe UI" pitchFamily="34" charset="-122"/>
                <a:cs typeface="Segoe UI" pitchFamily="34" charset="-120"/>
              </a:rPr>
              <a:t>Context file</a:t>
            </a:r>
            <a:endParaRPr lang="en-US" sz="1725" dirty="0"/>
          </a:p>
        </p:txBody>
      </p:sp>
      <p:sp>
        <p:nvSpPr>
          <p:cNvPr id="28" name="Text 28"/>
          <p:cNvSpPr txBox="1"/>
          <p:nvPr/>
        </p:nvSpPr>
        <p:spPr>
          <a:xfrm>
            <a:off x="1984248" y="2313432"/>
            <a:ext cx="2468880" cy="625983"/>
          </a:xfrm>
          <a:prstGeom prst="rect">
            <a:avLst/>
          </a:prstGeom>
          <a:noFill/>
          <a:ln/>
        </p:spPr>
        <p:txBody>
          <a:bodyPr wrap="square" lIns="25400" tIns="25400" rIns="25400" bIns="25400" rtlCol="0" anchor="t">
            <a:noAutofit/>
          </a:bodyPr>
          <a:lstStyle/>
          <a:p>
            <a:pPr algn="l" indent="0" marL="0">
              <a:buNone/>
            </a:pPr>
            <a:r>
              <a:rPr lang="en-US" sz="1725" b="1" dirty="0">
                <a:solidFill>
                  <a:srgbClr val="000000"/>
                </a:solidFill>
                <a:latin typeface="Segoe UI" pitchFamily="34" charset="0"/>
                <a:ea typeface="Segoe UI" pitchFamily="34" charset="-122"/>
                <a:cs typeface="Segoe UI" pitchFamily="34" charset="-120"/>
              </a:rPr>
              <a:t xml:space="preserve">Claude Code on the web </a:t>
            </a:r>
            <a:r>
              <a:rPr lang="en-US" sz="1725" b="1" dirty="0">
                <a:solidFill>
                  <a:srgbClr val="404040"/>
                </a:solidFill>
                <a:latin typeface="Segoe UI" pitchFamily="34" charset="0"/>
                <a:ea typeface="Segoe UI" pitchFamily="34" charset="-122"/>
                <a:cs typeface="Segoe UI" pitchFamily="34" charset="-120"/>
              </a:rPr>
              <a:t>(this lesson)</a:t>
            </a:r>
            <a:endParaRPr lang="en-US" sz="1725" dirty="0"/>
          </a:p>
        </p:txBody>
      </p:sp>
      <p:sp>
        <p:nvSpPr>
          <p:cNvPr id="29" name="Shape 29"/>
          <p:cNvSpPr/>
          <p:nvPr/>
        </p:nvSpPr>
        <p:spPr>
          <a:xfrm>
            <a:off x="1810512" y="3049143"/>
            <a:ext cx="2697480" cy="18288"/>
          </a:xfrm>
          <a:prstGeom prst="rect">
            <a:avLst/>
          </a:prstGeom>
          <a:solidFill>
            <a:srgbClr val="BFBFBF"/>
          </a:solidFill>
          <a:ln/>
        </p:spPr>
      </p:sp>
      <p:sp>
        <p:nvSpPr>
          <p:cNvPr id="30" name="Text 30"/>
          <p:cNvSpPr txBox="1"/>
          <p:nvPr/>
        </p:nvSpPr>
        <p:spPr>
          <a:xfrm>
            <a:off x="4681728" y="2313432"/>
            <a:ext cx="3429000" cy="625983"/>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Segoe UI" pitchFamily="34" charset="0"/>
                <a:ea typeface="Segoe UI" pitchFamily="34" charset="-122"/>
                <a:cs typeface="Segoe UI" pitchFamily="34" charset="-120"/>
              </a:rPr>
              <a:t>Cloud sandbox, working from your GitHub repo</a:t>
            </a:r>
            <a:endParaRPr lang="en-US" sz="1725" dirty="0"/>
          </a:p>
        </p:txBody>
      </p:sp>
      <p:sp>
        <p:nvSpPr>
          <p:cNvPr id="31" name="Shape 31"/>
          <p:cNvSpPr/>
          <p:nvPr/>
        </p:nvSpPr>
        <p:spPr>
          <a:xfrm>
            <a:off x="4507992" y="3049143"/>
            <a:ext cx="3657600" cy="18288"/>
          </a:xfrm>
          <a:prstGeom prst="rect">
            <a:avLst/>
          </a:prstGeom>
          <a:solidFill>
            <a:srgbClr val="BFBFBF"/>
          </a:solidFill>
          <a:ln/>
        </p:spPr>
      </p:sp>
      <p:sp>
        <p:nvSpPr>
          <p:cNvPr id="32" name="Text 32"/>
          <p:cNvSpPr txBox="1"/>
          <p:nvPr/>
        </p:nvSpPr>
        <p:spPr>
          <a:xfrm>
            <a:off x="8339328" y="2313432"/>
            <a:ext cx="2514600" cy="625983"/>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Segoe UI" pitchFamily="34" charset="0"/>
                <a:ea typeface="Segoe UI" pitchFamily="34" charset="-122"/>
                <a:cs typeface="Segoe UI" pitchFamily="34" charset="-120"/>
              </a:rPr>
              <a:t>Claude Pro plan or higher</a:t>
            </a:r>
            <a:endParaRPr lang="en-US" sz="1725" dirty="0"/>
          </a:p>
        </p:txBody>
      </p:sp>
      <p:sp>
        <p:nvSpPr>
          <p:cNvPr id="33" name="Shape 33"/>
          <p:cNvSpPr/>
          <p:nvPr/>
        </p:nvSpPr>
        <p:spPr>
          <a:xfrm>
            <a:off x="8165592" y="3049143"/>
            <a:ext cx="2743200" cy="18288"/>
          </a:xfrm>
          <a:prstGeom prst="rect">
            <a:avLst/>
          </a:prstGeom>
          <a:solidFill>
            <a:srgbClr val="BFBFBF"/>
          </a:solidFill>
          <a:ln/>
        </p:spPr>
      </p:sp>
      <p:sp>
        <p:nvSpPr>
          <p:cNvPr id="34" name="Text 34"/>
          <p:cNvSpPr txBox="1"/>
          <p:nvPr/>
        </p:nvSpPr>
        <p:spPr>
          <a:xfrm>
            <a:off x="11082528" y="2313432"/>
            <a:ext cx="2350008" cy="358711"/>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Segoe UI" pitchFamily="34" charset="0"/>
                <a:ea typeface="Segoe UI" pitchFamily="34" charset="-122"/>
                <a:cs typeface="Segoe UI" pitchFamily="34" charset="-120"/>
              </a:rPr>
              <a:t>CLAUDE.md</a:t>
            </a:r>
            <a:endParaRPr lang="en-US" sz="1725" dirty="0"/>
          </a:p>
        </p:txBody>
      </p:sp>
      <p:sp>
        <p:nvSpPr>
          <p:cNvPr id="35" name="Shape 35"/>
          <p:cNvSpPr/>
          <p:nvPr/>
        </p:nvSpPr>
        <p:spPr>
          <a:xfrm>
            <a:off x="10908792" y="3049143"/>
            <a:ext cx="2578608" cy="18288"/>
          </a:xfrm>
          <a:prstGeom prst="rect">
            <a:avLst/>
          </a:prstGeom>
          <a:solidFill>
            <a:srgbClr val="BFBFBF"/>
          </a:solidFill>
          <a:ln/>
        </p:spPr>
      </p:sp>
      <p:sp>
        <p:nvSpPr>
          <p:cNvPr id="36" name="Text 36"/>
          <p:cNvSpPr txBox="1"/>
          <p:nvPr/>
        </p:nvSpPr>
        <p:spPr>
          <a:xfrm>
            <a:off x="1984248" y="3195447"/>
            <a:ext cx="2468880" cy="358711"/>
          </a:xfrm>
          <a:prstGeom prst="rect">
            <a:avLst/>
          </a:prstGeom>
          <a:noFill/>
          <a:ln/>
        </p:spPr>
        <p:txBody>
          <a:bodyPr wrap="square" lIns="25400" tIns="25400" rIns="25400" bIns="25400" rtlCol="0" anchor="t">
            <a:noAutofit/>
          </a:bodyPr>
          <a:lstStyle/>
          <a:p>
            <a:pPr algn="l" indent="0" marL="0">
              <a:buNone/>
            </a:pPr>
            <a:r>
              <a:rPr lang="en-US" sz="1725" b="1" dirty="0">
                <a:solidFill>
                  <a:srgbClr val="000000"/>
                </a:solidFill>
                <a:latin typeface="Segoe UI" pitchFamily="34" charset="0"/>
                <a:ea typeface="Segoe UI" pitchFamily="34" charset="-122"/>
                <a:cs typeface="Segoe UI" pitchFamily="34" charset="-120"/>
              </a:rPr>
              <a:t>OpenAI Codex</a:t>
            </a:r>
            <a:endParaRPr lang="en-US" sz="1725" dirty="0"/>
          </a:p>
        </p:txBody>
      </p:sp>
      <p:sp>
        <p:nvSpPr>
          <p:cNvPr id="37" name="Shape 37"/>
          <p:cNvSpPr/>
          <p:nvPr/>
        </p:nvSpPr>
        <p:spPr>
          <a:xfrm>
            <a:off x="1810512" y="4198430"/>
            <a:ext cx="2697480" cy="18288"/>
          </a:xfrm>
          <a:prstGeom prst="rect">
            <a:avLst/>
          </a:prstGeom>
          <a:solidFill>
            <a:srgbClr val="BFBFBF"/>
          </a:solidFill>
          <a:ln/>
        </p:spPr>
      </p:sp>
      <p:sp>
        <p:nvSpPr>
          <p:cNvPr id="38" name="Text 38"/>
          <p:cNvSpPr txBox="1"/>
          <p:nvPr/>
        </p:nvSpPr>
        <p:spPr>
          <a:xfrm>
            <a:off x="4681728" y="3195447"/>
            <a:ext cx="3429000" cy="893254"/>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Segoe UI" pitchFamily="34" charset="0"/>
                <a:ea typeface="Segoe UI" pitchFamily="34" charset="-122"/>
                <a:cs typeface="Segoe UI" pitchFamily="34" charset="-120"/>
              </a:rPr>
              <a:t>Cloud tasks from your GitHub repo; also an app, CLI, and VS Code extension</a:t>
            </a:r>
            <a:endParaRPr lang="en-US" sz="1725" dirty="0"/>
          </a:p>
        </p:txBody>
      </p:sp>
      <p:sp>
        <p:nvSpPr>
          <p:cNvPr id="39" name="Shape 39"/>
          <p:cNvSpPr/>
          <p:nvPr/>
        </p:nvSpPr>
        <p:spPr>
          <a:xfrm>
            <a:off x="4507992" y="4198430"/>
            <a:ext cx="3657600" cy="18288"/>
          </a:xfrm>
          <a:prstGeom prst="rect">
            <a:avLst/>
          </a:prstGeom>
          <a:solidFill>
            <a:srgbClr val="BFBFBF"/>
          </a:solidFill>
          <a:ln/>
        </p:spPr>
      </p:sp>
      <p:sp>
        <p:nvSpPr>
          <p:cNvPr id="40" name="Text 40"/>
          <p:cNvSpPr txBox="1"/>
          <p:nvPr/>
        </p:nvSpPr>
        <p:spPr>
          <a:xfrm>
            <a:off x="8339328" y="3195447"/>
            <a:ext cx="2514600" cy="625983"/>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Segoe UI" pitchFamily="34" charset="0"/>
                <a:ea typeface="Segoe UI" pitchFamily="34" charset="-122"/>
                <a:cs typeface="Segoe UI" pitchFamily="34" charset="-120"/>
              </a:rPr>
              <a:t>ChatGPT plans; limits vary by plan</a:t>
            </a:r>
            <a:endParaRPr lang="en-US" sz="1725" dirty="0"/>
          </a:p>
        </p:txBody>
      </p:sp>
      <p:sp>
        <p:nvSpPr>
          <p:cNvPr id="41" name="Shape 41"/>
          <p:cNvSpPr/>
          <p:nvPr/>
        </p:nvSpPr>
        <p:spPr>
          <a:xfrm>
            <a:off x="8165592" y="4198430"/>
            <a:ext cx="2743200" cy="18288"/>
          </a:xfrm>
          <a:prstGeom prst="rect">
            <a:avLst/>
          </a:prstGeom>
          <a:solidFill>
            <a:srgbClr val="BFBFBF"/>
          </a:solidFill>
          <a:ln/>
        </p:spPr>
      </p:sp>
      <p:sp>
        <p:nvSpPr>
          <p:cNvPr id="42" name="Text 42"/>
          <p:cNvSpPr txBox="1"/>
          <p:nvPr/>
        </p:nvSpPr>
        <p:spPr>
          <a:xfrm>
            <a:off x="11082528" y="3195447"/>
            <a:ext cx="2350008" cy="358711"/>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Segoe UI" pitchFamily="34" charset="0"/>
                <a:ea typeface="Segoe UI" pitchFamily="34" charset="-122"/>
                <a:cs typeface="Segoe UI" pitchFamily="34" charset="-120"/>
              </a:rPr>
              <a:t>AGENTS.md</a:t>
            </a:r>
            <a:endParaRPr lang="en-US" sz="1725" dirty="0"/>
          </a:p>
        </p:txBody>
      </p:sp>
      <p:sp>
        <p:nvSpPr>
          <p:cNvPr id="43" name="Shape 43"/>
          <p:cNvSpPr/>
          <p:nvPr/>
        </p:nvSpPr>
        <p:spPr>
          <a:xfrm>
            <a:off x="10908792" y="4198430"/>
            <a:ext cx="2578608" cy="18288"/>
          </a:xfrm>
          <a:prstGeom prst="rect">
            <a:avLst/>
          </a:prstGeom>
          <a:solidFill>
            <a:srgbClr val="BFBFBF"/>
          </a:solidFill>
          <a:ln/>
        </p:spPr>
      </p:sp>
      <p:sp>
        <p:nvSpPr>
          <p:cNvPr id="44" name="Text 44"/>
          <p:cNvSpPr txBox="1"/>
          <p:nvPr/>
        </p:nvSpPr>
        <p:spPr>
          <a:xfrm>
            <a:off x="1984248" y="4344734"/>
            <a:ext cx="2468880" cy="625983"/>
          </a:xfrm>
          <a:prstGeom prst="rect">
            <a:avLst/>
          </a:prstGeom>
          <a:noFill/>
          <a:ln/>
        </p:spPr>
        <p:txBody>
          <a:bodyPr wrap="square" lIns="25400" tIns="25400" rIns="25400" bIns="25400" rtlCol="0" anchor="t">
            <a:noAutofit/>
          </a:bodyPr>
          <a:lstStyle/>
          <a:p>
            <a:pPr algn="l" indent="0" marL="0">
              <a:buNone/>
            </a:pPr>
            <a:r>
              <a:rPr lang="en-US" sz="1725" b="1" dirty="0">
                <a:solidFill>
                  <a:srgbClr val="000000"/>
                </a:solidFill>
                <a:latin typeface="Segoe UI" pitchFamily="34" charset="0"/>
                <a:ea typeface="Segoe UI" pitchFamily="34" charset="-122"/>
                <a:cs typeface="Segoe UI" pitchFamily="34" charset="-120"/>
              </a:rPr>
              <a:t>GitHub Copilot agent mode</a:t>
            </a:r>
            <a:endParaRPr lang="en-US" sz="1725" dirty="0"/>
          </a:p>
        </p:txBody>
      </p:sp>
      <p:sp>
        <p:nvSpPr>
          <p:cNvPr id="45" name="Shape 45"/>
          <p:cNvSpPr/>
          <p:nvPr/>
        </p:nvSpPr>
        <p:spPr>
          <a:xfrm>
            <a:off x="1810512" y="5080445"/>
            <a:ext cx="2697480" cy="18288"/>
          </a:xfrm>
          <a:prstGeom prst="rect">
            <a:avLst/>
          </a:prstGeom>
          <a:solidFill>
            <a:srgbClr val="BFBFBF"/>
          </a:solidFill>
          <a:ln/>
        </p:spPr>
      </p:sp>
      <p:sp>
        <p:nvSpPr>
          <p:cNvPr id="46" name="Text 46"/>
          <p:cNvSpPr txBox="1"/>
          <p:nvPr/>
        </p:nvSpPr>
        <p:spPr>
          <a:xfrm>
            <a:off x="4681728" y="4344734"/>
            <a:ext cx="3429000" cy="625983"/>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Segoe UI" pitchFamily="34" charset="0"/>
                <a:ea typeface="Segoe UI" pitchFamily="34" charset="-122"/>
                <a:cs typeface="Segoe UI" pitchFamily="34" charset="-120"/>
              </a:rPr>
              <a:t>VS Code on your laptop; coding agent on GitHub</a:t>
            </a:r>
            <a:endParaRPr lang="en-US" sz="1725" dirty="0"/>
          </a:p>
        </p:txBody>
      </p:sp>
      <p:sp>
        <p:nvSpPr>
          <p:cNvPr id="47" name="Shape 47"/>
          <p:cNvSpPr/>
          <p:nvPr/>
        </p:nvSpPr>
        <p:spPr>
          <a:xfrm>
            <a:off x="4507992" y="5080445"/>
            <a:ext cx="3657600" cy="18288"/>
          </a:xfrm>
          <a:prstGeom prst="rect">
            <a:avLst/>
          </a:prstGeom>
          <a:solidFill>
            <a:srgbClr val="BFBFBF"/>
          </a:solidFill>
          <a:ln/>
        </p:spPr>
      </p:sp>
      <p:sp>
        <p:nvSpPr>
          <p:cNvPr id="48" name="Text 48"/>
          <p:cNvSpPr txBox="1"/>
          <p:nvPr/>
        </p:nvSpPr>
        <p:spPr>
          <a:xfrm>
            <a:off x="8339328" y="4344734"/>
            <a:ext cx="2514600" cy="625983"/>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Segoe UI" pitchFamily="34" charset="0"/>
                <a:ea typeface="Segoe UI" pitchFamily="34" charset="-122"/>
                <a:cs typeface="Segoe UI" pitchFamily="34" charset="-120"/>
              </a:rPr>
              <a:t>Copilot Free (limited) or paid plans</a:t>
            </a:r>
            <a:endParaRPr lang="en-US" sz="1725" dirty="0"/>
          </a:p>
        </p:txBody>
      </p:sp>
      <p:sp>
        <p:nvSpPr>
          <p:cNvPr id="49" name="Shape 49"/>
          <p:cNvSpPr/>
          <p:nvPr/>
        </p:nvSpPr>
        <p:spPr>
          <a:xfrm>
            <a:off x="8165592" y="5080445"/>
            <a:ext cx="2743200" cy="18288"/>
          </a:xfrm>
          <a:prstGeom prst="rect">
            <a:avLst/>
          </a:prstGeom>
          <a:solidFill>
            <a:srgbClr val="BFBFBF"/>
          </a:solidFill>
          <a:ln/>
        </p:spPr>
      </p:sp>
      <p:sp>
        <p:nvSpPr>
          <p:cNvPr id="50" name="Text 50"/>
          <p:cNvSpPr txBox="1"/>
          <p:nvPr/>
        </p:nvSpPr>
        <p:spPr>
          <a:xfrm>
            <a:off x="11082528" y="4344734"/>
            <a:ext cx="2350008" cy="625983"/>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Segoe UI" pitchFamily="34" charset="0"/>
                <a:ea typeface="Segoe UI" pitchFamily="34" charset="-122"/>
                <a:cs typeface="Segoe UI" pitchFamily="34" charset="-120"/>
              </a:rPr>
              <a:t>.github/copilot-</a:t>
            </a:r>
            <a:endParaRPr lang="en-US" sz="1725" dirty="0"/>
          </a:p>
          <a:p>
            <a:pPr algn="l" indent="0" marL="0">
              <a:buNone/>
            </a:pPr>
            <a:r>
              <a:rPr lang="en-US" sz="1725" dirty="0">
                <a:solidFill>
                  <a:srgbClr val="000000"/>
                </a:solidFill>
                <a:latin typeface="Segoe UI" pitchFamily="34" charset="0"/>
                <a:ea typeface="Segoe UI" pitchFamily="34" charset="-122"/>
                <a:cs typeface="Segoe UI" pitchFamily="34" charset="-120"/>
              </a:rPr>
              <a:t>instructions.md</a:t>
            </a:r>
            <a:endParaRPr lang="en-US" sz="1725" dirty="0"/>
          </a:p>
        </p:txBody>
      </p:sp>
      <p:sp>
        <p:nvSpPr>
          <p:cNvPr id="51" name="Shape 51"/>
          <p:cNvSpPr/>
          <p:nvPr/>
        </p:nvSpPr>
        <p:spPr>
          <a:xfrm>
            <a:off x="10908792" y="5080445"/>
            <a:ext cx="2578608" cy="18288"/>
          </a:xfrm>
          <a:prstGeom prst="rect">
            <a:avLst/>
          </a:prstGeom>
          <a:solidFill>
            <a:srgbClr val="BFBFBF"/>
          </a:solidFill>
          <a:ln/>
        </p:spPr>
      </p:sp>
      <p:sp>
        <p:nvSpPr>
          <p:cNvPr id="52" name="Text 52"/>
          <p:cNvSpPr txBox="1"/>
          <p:nvPr/>
        </p:nvSpPr>
        <p:spPr>
          <a:xfrm>
            <a:off x="1810512" y="5418772"/>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1</a:t>
            </a:r>
            <a:endParaRPr lang="en-US" sz="2250" dirty="0"/>
          </a:p>
        </p:txBody>
      </p:sp>
      <p:sp>
        <p:nvSpPr>
          <p:cNvPr id="53" name="Text 53"/>
          <p:cNvSpPr txBox="1"/>
          <p:nvPr/>
        </p:nvSpPr>
        <p:spPr>
          <a:xfrm>
            <a:off x="2340864" y="5418772"/>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The five workflow steps are the same for every tool.</a:t>
            </a:r>
            <a:endParaRPr lang="en-US" sz="1950" dirty="0"/>
          </a:p>
        </p:txBody>
      </p:sp>
      <p:sp>
        <p:nvSpPr>
          <p:cNvPr id="54" name="Text 54"/>
          <p:cNvSpPr txBox="1"/>
          <p:nvPr/>
        </p:nvSpPr>
        <p:spPr>
          <a:xfrm>
            <a:off x="1810512" y="5953282"/>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2</a:t>
            </a:r>
            <a:endParaRPr lang="en-US" sz="2250" dirty="0"/>
          </a:p>
        </p:txBody>
      </p:sp>
      <p:sp>
        <p:nvSpPr>
          <p:cNvPr id="55" name="Text 55"/>
          <p:cNvSpPr txBox="1"/>
          <p:nvPr/>
        </p:nvSpPr>
        <p:spPr>
          <a:xfrm>
            <a:off x="2340864" y="5953282"/>
            <a:ext cx="11173968" cy="703259"/>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With a local agent, Exercises 2–3 become “open the repo folder in VS Code.” The agent edits your working copy; you review and commit in GitHub Desktop.</a:t>
            </a:r>
            <a:endParaRPr lang="en-US" sz="1950" dirty="0"/>
          </a:p>
        </p:txBody>
      </p:sp>
      <p:sp>
        <p:nvSpPr>
          <p:cNvPr id="56" name="Text 56"/>
          <p:cNvSpPr txBox="1"/>
          <p:nvPr/>
        </p:nvSpPr>
        <p:spPr>
          <a:xfrm>
            <a:off x="1810512" y="7247572"/>
            <a:ext cx="11704320" cy="731520"/>
          </a:xfrm>
          <a:prstGeom prst="rect">
            <a:avLst/>
          </a:prstGeom>
          <a:noFill/>
          <a:ln/>
        </p:spPr>
        <p:txBody>
          <a:bodyPr wrap="square" lIns="25400" tIns="25400" rIns="25400" bIns="25400" rtlCol="0" anchor="t">
            <a:noAutofit/>
          </a:bodyPr>
          <a:lstStyle/>
          <a:p>
            <a:pPr algn="l" indent="0" marL="0">
              <a:buNone/>
            </a:pPr>
            <a:r>
              <a:rPr lang="en-US" sz="1800" i="1" dirty="0">
                <a:solidFill>
                  <a:srgbClr val="404040"/>
                </a:solidFill>
                <a:latin typeface="Segoe UI" pitchFamily="34" charset="0"/>
                <a:ea typeface="Segoe UI" pitchFamily="34" charset="-122"/>
                <a:cs typeface="Segoe UI" pitchFamily="34" charset="-120"/>
              </a:rPr>
              <a:t>Plans and limits change often. Check each tool’s current plan page, and use the tools your organization approves.</a:t>
            </a:r>
            <a:endParaRPr lang="en-US" sz="18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3"/>
          <p:cNvSpPr/>
          <p:nvPr/>
        </p:nvSpPr>
        <p:spPr>
          <a:xfrm>
            <a:off x="0" y="0"/>
            <a:ext cx="1543050" cy="10287000"/>
          </a:xfrm>
          <a:prstGeom prst="rect">
            <a:avLst/>
          </a:prstGeom>
          <a:solidFill>
            <a:srgbClr val="E6E6E6"/>
          </a:solidFill>
          <a:ln/>
        </p:spPr>
      </p:sp>
      <p:pic>
        <p:nvPicPr>
          <p:cNvPr id="3" name="Picture 1" descr="image.png"/>
          <p:cNvPicPr>
            <a:picLocks noChangeAspect="1"/>
          </p:cNvPicPr>
          <p:nvPr/>
        </p:nvPicPr>
        <p:blipFill>
          <a:blip r:embed="rId2"/>
          <a:stretch>
            <a:fillRect/>
          </a:stretch>
        </p:blipFill>
        <p:spPr>
          <a:xfrm>
            <a:off x="200025" y="133350"/>
            <a:ext cx="1143000" cy="1143000"/>
          </a:xfrm>
          <a:prstGeom prst="rect">
            <a:avLst/>
          </a:prstGeom>
        </p:spPr>
      </p:pic>
      <p:sp>
        <p:nvSpPr>
          <p:cNvPr id="4" name="Text 4"/>
          <p:cNvSpPr txBox="1"/>
          <p:nvPr/>
        </p:nvSpPr>
        <p:spPr>
          <a:xfrm>
            <a:off x="133350" y="238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5"/>
          <p:cNvSpPr txBox="1"/>
          <p:nvPr/>
        </p:nvSpPr>
        <p:spPr>
          <a:xfrm>
            <a:off x="133350" y="2762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6"/>
          <p:cNvSpPr txBox="1"/>
          <p:nvPr/>
        </p:nvSpPr>
        <p:spPr>
          <a:xfrm>
            <a:off x="133350" y="3143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Specify</a:t>
            </a:r>
            <a:endParaRPr lang="en-US" sz="1800" dirty="0"/>
          </a:p>
        </p:txBody>
      </p:sp>
      <p:sp>
        <p:nvSpPr>
          <p:cNvPr id="7" name="Text 7"/>
          <p:cNvSpPr txBox="1"/>
          <p:nvPr/>
        </p:nvSpPr>
        <p:spPr>
          <a:xfrm>
            <a:off x="133350" y="3524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8" name="Text 8"/>
          <p:cNvSpPr txBox="1"/>
          <p:nvPr/>
        </p:nvSpPr>
        <p:spPr>
          <a:xfrm>
            <a:off x="133350" y="3905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Generate</a:t>
            </a:r>
            <a:endParaRPr lang="en-US" sz="1800" dirty="0"/>
          </a:p>
        </p:txBody>
      </p:sp>
      <p:sp>
        <p:nvSpPr>
          <p:cNvPr id="9" name="Text 9"/>
          <p:cNvSpPr txBox="1"/>
          <p:nvPr/>
        </p:nvSpPr>
        <p:spPr>
          <a:xfrm>
            <a:off x="133350" y="4286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Adjudicate</a:t>
            </a:r>
            <a:endParaRPr lang="en-US" sz="1800" dirty="0"/>
          </a:p>
        </p:txBody>
      </p:sp>
      <p:sp>
        <p:nvSpPr>
          <p:cNvPr id="10" name="Text 10"/>
          <p:cNvSpPr txBox="1"/>
          <p:nvPr/>
        </p:nvSpPr>
        <p:spPr>
          <a:xfrm>
            <a:off x="133350" y="4667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Pitfalls</a:t>
            </a:r>
            <a:endParaRPr lang="en-US" sz="1800" dirty="0"/>
          </a:p>
        </p:txBody>
      </p:sp>
      <p:sp>
        <p:nvSpPr>
          <p:cNvPr id="11" name="Text 11"/>
          <p:cNvSpPr txBox="1"/>
          <p:nvPr/>
        </p:nvSpPr>
        <p:spPr>
          <a:xfrm>
            <a:off x="133350" y="5048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GenAI Use</a:t>
            </a:r>
            <a:endParaRPr lang="en-US" sz="1800" dirty="0"/>
          </a:p>
        </p:txBody>
      </p:sp>
      <p:sp>
        <p:nvSpPr>
          <p:cNvPr id="12" name="Text 12"/>
          <p:cNvSpPr txBox="1"/>
          <p:nvPr/>
        </p:nvSpPr>
        <p:spPr>
          <a:xfrm>
            <a:off x="133350" y="5429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Your Repo</a:t>
            </a:r>
            <a:endParaRPr lang="en-US" sz="1800" dirty="0"/>
          </a:p>
        </p:txBody>
      </p:sp>
      <p:sp>
        <p:nvSpPr>
          <p:cNvPr id="13" name="Text 13"/>
          <p:cNvSpPr txBox="1"/>
          <p:nvPr/>
        </p:nvSpPr>
        <p:spPr>
          <a:xfrm>
            <a:off x="133350" y="5810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Teaching</a:t>
            </a:r>
            <a:endParaRPr lang="en-US" sz="1800" dirty="0"/>
          </a:p>
        </p:txBody>
      </p:sp>
      <p:sp>
        <p:nvSpPr>
          <p:cNvPr id="14" name="Text 14"/>
          <p:cNvSpPr txBox="1"/>
          <p:nvPr/>
        </p:nvSpPr>
        <p:spPr>
          <a:xfrm>
            <a:off x="133350" y="619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5"/>
          <p:cNvSpPr txBox="1"/>
          <p:nvPr/>
        </p:nvSpPr>
        <p:spPr>
          <a:xfrm>
            <a:off x="1657350" y="200025"/>
            <a:ext cx="10988040" cy="1057275"/>
          </a:xfrm>
          <a:prstGeom prst="rect">
            <a:avLst/>
          </a:prstGeom>
          <a:noFill/>
          <a:ln/>
        </p:spPr>
        <p:txBody>
          <a:bodyPr wrap="square" lIns="25400" tIns="25400" rIns="25400" bIns="25400" rtlCol="0" anchor="ctr">
            <a:no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Example: Distributed Load</a:t>
            </a:r>
            <a:endParaRPr lang="en-US" sz="4800" dirty="0"/>
          </a:p>
        </p:txBody>
      </p:sp>
      <p:sp>
        <p:nvSpPr>
          <p:cNvPr id="16" name="Text 16"/>
          <p:cNvSpPr txBox="1"/>
          <p:nvPr/>
        </p:nvSpPr>
        <p:spPr>
          <a:xfrm>
            <a:off x="12515950" y="133350"/>
            <a:ext cx="1142901" cy="393700"/>
          </a:xfrm>
          <a:prstGeom prst="rect">
            <a:avLst/>
          </a:prstGeom>
          <a:noFill/>
          <a:ln/>
        </p:spPr>
        <p:txBody>
          <a:bodyPr wrap="non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2</a:t>
            </a:r>
            <a:endParaRPr lang="en-US" sz="2100" dirty="0"/>
          </a:p>
        </p:txBody>
      </p:sp>
      <p:sp>
        <p:nvSpPr>
          <p:cNvPr id="17" name="Shape 17"/>
          <p:cNvSpPr/>
          <p:nvPr/>
        </p:nvSpPr>
        <p:spPr>
          <a:xfrm>
            <a:off x="1657350" y="1219200"/>
            <a:ext cx="11925300" cy="66675"/>
          </a:xfrm>
          <a:prstGeom prst="rect">
            <a:avLst/>
          </a:prstGeom>
          <a:solidFill>
            <a:srgbClr val="000000"/>
          </a:solidFill>
          <a:ln/>
        </p:spPr>
      </p:sp>
      <p:sp>
        <p:nvSpPr>
          <p:cNvPr id="18" name="Text 18"/>
          <p:cNvSpPr txBox="1"/>
          <p:nvPr/>
        </p:nvSpPr>
        <p:spPr>
          <a:xfrm>
            <a:off x="1054418" y="9810750"/>
            <a:ext cx="13264515" cy="342900"/>
          </a:xfrm>
          <a:prstGeom prst="rect">
            <a:avLst/>
          </a:prstGeom>
          <a:noFill/>
          <a:ln/>
        </p:spPr>
        <p:txBody>
          <a:bodyPr wrap="square" lIns="25400" tIns="25400" rIns="25400" bIns="25400" rtlCol="0" anchor="t">
            <a:no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2</a:t>
            </a:r>
            <a:endParaRPr lang="en-US" sz="1800" dirty="0"/>
          </a:p>
        </p:txBody>
      </p:sp>
      <p:sp>
        <p:nvSpPr>
          <p:cNvPr id="19" name="Text 19"/>
          <p:cNvSpPr txBox="1"/>
          <p:nvPr/>
        </p:nvSpPr>
        <p:spPr>
          <a:xfrm>
            <a:off x="13458850" y="9810750"/>
            <a:ext cx="200000" cy="342900"/>
          </a:xfrm>
          <a:prstGeom prst="rect">
            <a:avLst/>
          </a:prstGeom>
          <a:noFill/>
          <a:ln/>
        </p:spPr>
        <p:txBody>
          <a:bodyPr wrap="none" lIns="25400" tIns="25400" rIns="25400" bIns="25400" rtlCol="0" anchor="t">
            <a:no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7</a:t>
            </a:r>
            <a:endParaRPr lang="en-US" sz="1800" dirty="0"/>
          </a:p>
        </p:txBody>
      </p:sp>
      <p:sp>
        <p:nvSpPr>
          <p:cNvPr id="20" name="Shape 20"/>
          <p:cNvSpPr/>
          <p:nvPr/>
        </p:nvSpPr>
        <p:spPr>
          <a:xfrm>
            <a:off x="1810512" y="1527048"/>
            <a:ext cx="1220724" cy="381305"/>
          </a:xfrm>
          <a:prstGeom prst="roundRect">
            <a:avLst>
              <a:gd name="adj" fmla="val 15000"/>
            </a:avLst>
          </a:prstGeom>
          <a:solidFill>
            <a:srgbClr val="152A47"/>
          </a:solidFill>
          <a:ln/>
        </p:spPr>
      </p:sp>
      <p:sp>
        <p:nvSpPr>
          <p:cNvPr id="21" name="Text 21"/>
          <p:cNvSpPr txBox="1"/>
          <p:nvPr/>
        </p:nvSpPr>
        <p:spPr>
          <a:xfrm>
            <a:off x="1837944" y="1563624"/>
            <a:ext cx="1165860"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Segoe UI" pitchFamily="34" charset="0"/>
                <a:ea typeface="Segoe UI" pitchFamily="34" charset="-122"/>
                <a:cs typeface="Segoe UI" pitchFamily="34" charset="-120"/>
              </a:rPr>
              <a:t>SPECIFY</a:t>
            </a:r>
            <a:endParaRPr lang="en-US" sz="1800" dirty="0"/>
          </a:p>
        </p:txBody>
      </p:sp>
      <p:sp>
        <p:nvSpPr>
          <p:cNvPr id="22" name="Text 22"/>
          <p:cNvSpPr txBox="1"/>
          <p:nvPr/>
        </p:nvSpPr>
        <p:spPr>
          <a:xfrm>
            <a:off x="1810512" y="2148840"/>
            <a:ext cx="6949440" cy="365760"/>
          </a:xfrm>
          <a:prstGeom prst="rect">
            <a:avLst/>
          </a:prstGeom>
          <a:noFill/>
          <a:ln/>
        </p:spPr>
        <p:txBody>
          <a:bodyPr wrap="square" lIns="25400" tIns="25400" rIns="25400" bIns="25400" rtlCol="0" anchor="t">
            <a:noAutofit/>
          </a:bodyPr>
          <a:lstStyle/>
          <a:p>
            <a:pPr algn="l" indent="0" marL="0">
              <a:buNone/>
            </a:pPr>
            <a:r>
              <a:rPr lang="en-US" sz="1650" b="1" dirty="0">
                <a:solidFill>
                  <a:srgbClr val="404040"/>
                </a:solidFill>
                <a:latin typeface="Segoe UI" pitchFamily="34" charset="0"/>
                <a:ea typeface="Segoe UI" pitchFamily="34" charset="-122"/>
                <a:cs typeface="Segoe UI" pitchFamily="34" charset="-120"/>
              </a:rPr>
              <a:t>STARTING POINT</a:t>
            </a:r>
            <a:endParaRPr lang="en-US" sz="1650" dirty="0"/>
          </a:p>
        </p:txBody>
      </p:sp>
      <p:sp>
        <p:nvSpPr>
          <p:cNvPr id="23" name="Text 23"/>
          <p:cNvSpPr txBox="1"/>
          <p:nvPr/>
        </p:nvSpPr>
        <p:spPr>
          <a:xfrm>
            <a:off x="1810512" y="2514600"/>
            <a:ext cx="6949440" cy="109728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Segoe UI" pitchFamily="34" charset="0"/>
                <a:ea typeface="Segoe UI" pitchFamily="34" charset="-122"/>
                <a:cs typeface="Segoe UI" pitchFamily="34" charset="-120"/>
              </a:rPr>
              <a:t xml:space="preserve">Your </a:t>
            </a:r>
            <a:r>
              <a:rPr lang="en-US" sz="1950" b="1" dirty="0">
                <a:solidFill>
                  <a:srgbClr val="000000"/>
                </a:solidFill>
                <a:latin typeface="Segoe UI" pitchFamily="34" charset="0"/>
                <a:ea typeface="Segoe UI" pitchFamily="34" charset="-122"/>
                <a:cs typeface="Segoe UI" pitchFamily="34" charset="-120"/>
              </a:rPr>
              <a:t>beam-calc</a:t>
            </a:r>
            <a:r>
              <a:rPr lang="en-US" sz="1950" dirty="0">
                <a:solidFill>
                  <a:srgbClr val="000000"/>
                </a:solidFill>
                <a:latin typeface="Segoe UI" pitchFamily="34" charset="0"/>
                <a:ea typeface="Segoe UI" pitchFamily="34" charset="-122"/>
                <a:cs typeface="Segoe UI" pitchFamily="34" charset="-120"/>
              </a:rPr>
              <a:t xml:space="preserve"> repo from Lesson 1. </a:t>
            </a:r>
            <a:r>
              <a:rPr lang="en-US" sz="1950" dirty="0">
                <a:solidFill>
                  <a:srgbClr val="000000"/>
                </a:solidFill>
                <a:latin typeface="Cascadia Mono" pitchFamily="34" charset="0"/>
                <a:ea typeface="Cascadia Mono" pitchFamily="34" charset="-122"/>
                <a:cs typeface="Cascadia Mono" pitchFamily="34" charset="-120"/>
              </a:rPr>
              <a:t>beam.m</a:t>
            </a:r>
            <a:r>
              <a:rPr lang="en-US" sz="1950" dirty="0">
                <a:solidFill>
                  <a:srgbClr val="000000"/>
                </a:solidFill>
                <a:latin typeface="Segoe UI" pitchFamily="34" charset="0"/>
                <a:ea typeface="Segoe UI" pitchFamily="34" charset="-122"/>
                <a:cs typeface="Segoe UI" pitchFamily="34" charset="-120"/>
              </a:rPr>
              <a:t xml:space="preserve"> computes cantilever tip deflection for a point load; </a:t>
            </a:r>
            <a:r>
              <a:rPr lang="en-US" sz="1950" dirty="0">
                <a:solidFill>
                  <a:srgbClr val="000000"/>
                </a:solidFill>
                <a:latin typeface="Cascadia Mono" pitchFamily="34" charset="0"/>
                <a:ea typeface="Cascadia Mono" pitchFamily="34" charset="-122"/>
                <a:cs typeface="Cascadia Mono" pitchFamily="34" charset="-120"/>
              </a:rPr>
              <a:t>tests/testBeam.m</a:t>
            </a:r>
            <a:r>
              <a:rPr lang="en-US" sz="1950" dirty="0">
                <a:solidFill>
                  <a:srgbClr val="000000"/>
                </a:solidFill>
                <a:latin typeface="Segoe UI" pitchFamily="34" charset="0"/>
                <a:ea typeface="Segoe UI" pitchFamily="34" charset="-122"/>
                <a:cs typeface="Segoe UI" pitchFamily="34" charset="-120"/>
              </a:rPr>
              <a:t xml:space="preserve"> checks it.</a:t>
            </a:r>
            <a:endParaRPr lang="en-US" sz="1950" dirty="0"/>
          </a:p>
        </p:txBody>
      </p:sp>
      <p:sp>
        <p:nvSpPr>
          <p:cNvPr id="24" name="Text 24"/>
          <p:cNvSpPr txBox="1"/>
          <p:nvPr/>
        </p:nvSpPr>
        <p:spPr>
          <a:xfrm>
            <a:off x="1810512" y="3657600"/>
            <a:ext cx="6949440" cy="365760"/>
          </a:xfrm>
          <a:prstGeom prst="rect">
            <a:avLst/>
          </a:prstGeom>
          <a:noFill/>
          <a:ln/>
        </p:spPr>
        <p:txBody>
          <a:bodyPr wrap="square" lIns="25400" tIns="25400" rIns="25400" bIns="25400" rtlCol="0" anchor="t">
            <a:noAutofit/>
          </a:bodyPr>
          <a:lstStyle/>
          <a:p>
            <a:pPr algn="l" indent="0" marL="0">
              <a:buNone/>
            </a:pPr>
            <a:r>
              <a:rPr lang="en-US" sz="1650" b="1" dirty="0">
                <a:solidFill>
                  <a:srgbClr val="404040"/>
                </a:solidFill>
                <a:latin typeface="Segoe UI" pitchFamily="34" charset="0"/>
                <a:ea typeface="Segoe UI" pitchFamily="34" charset="-122"/>
                <a:cs typeface="Segoe UI" pitchFamily="34" charset="-120"/>
              </a:rPr>
              <a:t>REQUIREMENT</a:t>
            </a:r>
            <a:endParaRPr lang="en-US" sz="1650" dirty="0"/>
          </a:p>
        </p:txBody>
      </p:sp>
      <p:sp>
        <p:nvSpPr>
          <p:cNvPr id="25" name="Text 25"/>
          <p:cNvSpPr txBox="1"/>
          <p:nvPr/>
        </p:nvSpPr>
        <p:spPr>
          <a:xfrm>
            <a:off x="1810512" y="4023360"/>
            <a:ext cx="6949440" cy="1737360"/>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Segoe UI" pitchFamily="34" charset="0"/>
                <a:ea typeface="Segoe UI" pitchFamily="34" charset="-122"/>
                <a:cs typeface="Segoe UI" pitchFamily="34" charset="-120"/>
              </a:rPr>
              <a:t>beam-calc shall compute the tip deflection for a uniformly distributed load w (N/m) with a function tipDeflectionUDL(w, L, E, I), and beam.m shall print it below the point-load result.</a:t>
            </a:r>
            <a:endParaRPr lang="en-US" sz="1950" dirty="0"/>
          </a:p>
        </p:txBody>
      </p:sp>
      <p:sp>
        <p:nvSpPr>
          <p:cNvPr id="26" name="Text 26"/>
          <p:cNvSpPr txBox="1"/>
          <p:nvPr/>
        </p:nvSpPr>
        <p:spPr>
          <a:xfrm>
            <a:off x="1810512" y="5760720"/>
            <a:ext cx="6949440" cy="365760"/>
          </a:xfrm>
          <a:prstGeom prst="rect">
            <a:avLst/>
          </a:prstGeom>
          <a:noFill/>
          <a:ln/>
        </p:spPr>
        <p:txBody>
          <a:bodyPr wrap="square" lIns="25400" tIns="25400" rIns="25400" bIns="25400" rtlCol="0" anchor="t">
            <a:noAutofit/>
          </a:bodyPr>
          <a:lstStyle/>
          <a:p>
            <a:pPr algn="l" indent="0" marL="0">
              <a:buNone/>
            </a:pPr>
            <a:r>
              <a:rPr lang="en-US" sz="1650" b="1" dirty="0">
                <a:solidFill>
                  <a:srgbClr val="404040"/>
                </a:solidFill>
                <a:latin typeface="Segoe UI" pitchFamily="34" charset="0"/>
                <a:ea typeface="Segoe UI" pitchFamily="34" charset="-122"/>
                <a:cs typeface="Segoe UI" pitchFamily="34" charset="-120"/>
              </a:rPr>
              <a:t>VERIFICATION</a:t>
            </a:r>
            <a:endParaRPr lang="en-US" sz="1650" dirty="0"/>
          </a:p>
        </p:txBody>
      </p:sp>
      <p:sp>
        <p:nvSpPr>
          <p:cNvPr id="27" name="Text 27"/>
          <p:cNvSpPr txBox="1"/>
          <p:nvPr/>
        </p:nvSpPr>
        <p:spPr>
          <a:xfrm>
            <a:off x="1810512" y="6126480"/>
            <a:ext cx="6949440" cy="146304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Segoe UI" pitchFamily="34" charset="0"/>
                <a:ea typeface="Segoe UI" pitchFamily="34" charset="-122"/>
                <a:cs typeface="Segoe UI" pitchFamily="34" charset="-120"/>
              </a:rPr>
              <a:t xml:space="preserve">Test: a new case in </a:t>
            </a:r>
            <a:r>
              <a:rPr lang="en-US" sz="1950" dirty="0">
                <a:solidFill>
                  <a:srgbClr val="000000"/>
                </a:solidFill>
                <a:latin typeface="Cascadia Mono" pitchFamily="34" charset="0"/>
                <a:ea typeface="Cascadia Mono" pitchFamily="34" charset="-122"/>
                <a:cs typeface="Cascadia Mono" pitchFamily="34" charset="-120"/>
              </a:rPr>
              <a:t>tests/testBeam.m</a:t>
            </a:r>
            <a:r>
              <a:rPr lang="en-US" sz="1950" dirty="0">
                <a:solidFill>
                  <a:srgbClr val="000000"/>
                </a:solidFill>
                <a:latin typeface="Segoe UI" pitchFamily="34" charset="0"/>
                <a:ea typeface="Segoe UI" pitchFamily="34" charset="-122"/>
                <a:cs typeface="Segoe UI" pitchFamily="34" charset="-120"/>
              </a:rPr>
              <a:t xml:space="preserve"> matches the hand calculation within 0.1%, and </a:t>
            </a:r>
            <a:r>
              <a:rPr lang="en-US" sz="1950" dirty="0">
                <a:solidFill>
                  <a:srgbClr val="000000"/>
                </a:solidFill>
                <a:latin typeface="Cascadia Mono" pitchFamily="34" charset="0"/>
                <a:ea typeface="Cascadia Mono" pitchFamily="34" charset="-122"/>
                <a:cs typeface="Cascadia Mono" pitchFamily="34" charset="-120"/>
              </a:rPr>
              <a:t>runtests('tests')</a:t>
            </a:r>
            <a:r>
              <a:rPr lang="en-US" sz="1950" dirty="0">
                <a:solidFill>
                  <a:srgbClr val="000000"/>
                </a:solidFill>
                <a:latin typeface="Segoe UI" pitchFamily="34" charset="0"/>
                <a:ea typeface="Segoe UI" pitchFamily="34" charset="-122"/>
                <a:cs typeface="Segoe UI" pitchFamily="34" charset="-120"/>
              </a:rPr>
              <a:t xml:space="preserve"> passes in MATLAB. The point-load result is unchanged.</a:t>
            </a:r>
            <a:endParaRPr lang="en-US" sz="1950" dirty="0"/>
          </a:p>
        </p:txBody>
      </p:sp>
      <p:sp>
        <p:nvSpPr>
          <p:cNvPr id="28" name="Shape 28"/>
          <p:cNvSpPr/>
          <p:nvPr/>
        </p:nvSpPr>
        <p:spPr>
          <a:xfrm>
            <a:off x="9098280" y="1527048"/>
            <a:ext cx="4389120" cy="2926080"/>
          </a:xfrm>
          <a:prstGeom prst="rect">
            <a:avLst/>
          </a:prstGeom>
          <a:solidFill>
            <a:srgbClr val="F2F2F2"/>
          </a:solidFill>
          <a:ln/>
        </p:spPr>
      </p:sp>
      <p:sp>
        <p:nvSpPr>
          <p:cNvPr id="29" name="Text 29"/>
          <p:cNvSpPr txBox="1"/>
          <p:nvPr/>
        </p:nvSpPr>
        <p:spPr>
          <a:xfrm>
            <a:off x="9299448" y="1691640"/>
            <a:ext cx="4023360" cy="384048"/>
          </a:xfrm>
          <a:prstGeom prst="rect">
            <a:avLst/>
          </a:prstGeom>
          <a:noFill/>
          <a:ln/>
        </p:spPr>
        <p:txBody>
          <a:bodyPr wrap="square" lIns="25400" tIns="25400" rIns="25400" bIns="25400" rtlCol="0" anchor="t">
            <a:noAutofit/>
          </a:bodyPr>
          <a:lstStyle/>
          <a:p>
            <a:pPr algn="l" indent="0" marL="0">
              <a:buNone/>
            </a:pPr>
            <a:r>
              <a:rPr lang="en-US" sz="1950" b="1" dirty="0">
                <a:solidFill>
                  <a:srgbClr val="152A47"/>
                </a:solidFill>
                <a:latin typeface="Segoe UI" pitchFamily="34" charset="0"/>
                <a:ea typeface="Segoe UI" pitchFamily="34" charset="-122"/>
                <a:cs typeface="Segoe UI" pitchFamily="34" charset="-120"/>
              </a:rPr>
              <a:t>Theory</a:t>
            </a:r>
            <a:endParaRPr lang="en-US" sz="1950" dirty="0"/>
          </a:p>
        </p:txBody>
      </p:sp>
      <p:sp>
        <p:nvSpPr>
          <p:cNvPr id="30" name="Text 30"/>
          <p:cNvSpPr txBox="1"/>
          <p:nvPr/>
        </p:nvSpPr>
        <p:spPr>
          <a:xfrm>
            <a:off x="9299448" y="2148840"/>
            <a:ext cx="4023360" cy="50292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Segoe UI" pitchFamily="34" charset="0"/>
                <a:ea typeface="Segoe UI" pitchFamily="34" charset="-122"/>
                <a:cs typeface="Segoe UI" pitchFamily="34" charset="-120"/>
              </a:rPr>
              <a:t>Point load:   δ = P L³ / (3 E I)</a:t>
            </a:r>
            <a:endParaRPr lang="en-US" sz="1950" dirty="0"/>
          </a:p>
        </p:txBody>
      </p:sp>
      <p:sp>
        <p:nvSpPr>
          <p:cNvPr id="31" name="Text 31"/>
          <p:cNvSpPr txBox="1"/>
          <p:nvPr/>
        </p:nvSpPr>
        <p:spPr>
          <a:xfrm>
            <a:off x="9299448" y="2670048"/>
            <a:ext cx="4023360" cy="502920"/>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Segoe UI" pitchFamily="34" charset="0"/>
                <a:ea typeface="Segoe UI" pitchFamily="34" charset="-122"/>
                <a:cs typeface="Segoe UI" pitchFamily="34" charset="-120"/>
              </a:rPr>
              <a:t>Distributed:  δ = w L⁴ / (8 E I)</a:t>
            </a:r>
            <a:endParaRPr lang="en-US" sz="1950" dirty="0"/>
          </a:p>
        </p:txBody>
      </p:sp>
      <p:sp>
        <p:nvSpPr>
          <p:cNvPr id="32" name="Text 32"/>
          <p:cNvSpPr txBox="1"/>
          <p:nvPr/>
        </p:nvSpPr>
        <p:spPr>
          <a:xfrm>
            <a:off x="9299448" y="3291840"/>
            <a:ext cx="4023360" cy="1005840"/>
          </a:xfrm>
          <a:prstGeom prst="rect">
            <a:avLst/>
          </a:prstGeom>
          <a:noFill/>
          <a:ln/>
        </p:spPr>
        <p:txBody>
          <a:bodyPr wrap="square" lIns="25400" tIns="25400" rIns="25400" bIns="25400" rtlCol="0" anchor="t">
            <a:noAutofit/>
          </a:bodyPr>
          <a:lstStyle/>
          <a:p>
            <a:pPr algn="l" indent="0" marL="0">
              <a:buNone/>
            </a:pPr>
            <a:r>
              <a:rPr lang="en-US" sz="1725" dirty="0">
                <a:solidFill>
                  <a:srgbClr val="404040"/>
                </a:solidFill>
                <a:latin typeface="Segoe UI" pitchFamily="34" charset="0"/>
                <a:ea typeface="Segoe UI" pitchFamily="34" charset="-122"/>
                <a:cs typeface="Segoe UI" pitchFamily="34" charset="-120"/>
              </a:rPr>
              <a:t>Same beam, P = wL: the distributed result is 3/8 of the point-load result.</a:t>
            </a:r>
            <a:endParaRPr lang="en-US" sz="1725" dirty="0"/>
          </a:p>
        </p:txBody>
      </p:sp>
      <p:sp>
        <p:nvSpPr>
          <p:cNvPr id="33" name="Shape 33"/>
          <p:cNvSpPr/>
          <p:nvPr/>
        </p:nvSpPr>
        <p:spPr>
          <a:xfrm>
            <a:off x="9098280" y="4709160"/>
            <a:ext cx="4389120" cy="2277427"/>
          </a:xfrm>
          <a:prstGeom prst="roundRect">
            <a:avLst>
              <a:gd name="adj" fmla="val 9033"/>
            </a:avLst>
          </a:prstGeom>
          <a:solidFill>
            <a:srgbClr val="1E1E1E"/>
          </a:solidFill>
          <a:ln/>
        </p:spPr>
      </p:sp>
      <p:sp>
        <p:nvSpPr>
          <p:cNvPr id="34" name="Text 34"/>
          <p:cNvSpPr txBox="1"/>
          <p:nvPr/>
        </p:nvSpPr>
        <p:spPr>
          <a:xfrm>
            <a:off x="9326880" y="4937760"/>
            <a:ext cx="3931920" cy="1820227"/>
          </a:xfrm>
          <a:prstGeom prst="rect">
            <a:avLst/>
          </a:prstGeom>
          <a:noFill/>
          <a:ln/>
        </p:spPr>
        <p:txBody>
          <a:bodyPr wrap="none" lIns="25400" tIns="25400" rIns="25400" bIns="25400" rtlCol="0" anchor="t">
            <a:noAutofit/>
          </a:bodyPr>
          <a:lstStyle/>
          <a:p>
            <a:pPr algn="l" indent="0" marL="0">
              <a:lnSpc>
                <a:spcPct val="135000"/>
              </a:lnSpc>
              <a:buNone/>
            </a:pPr>
            <a:r>
              <a:rPr lang="en-US" sz="1725" dirty="0">
                <a:solidFill>
                  <a:srgbClr val="6A9955"/>
                </a:solidFill>
                <a:latin typeface="Cascadia Mono" pitchFamily="34" charset="0"/>
                <a:ea typeface="Cascadia Mono" pitchFamily="34" charset="-122"/>
                <a:cs typeface="Cascadia Mono" pitchFamily="34" charset="-120"/>
              </a:rPr>
              <a:t>% Hand check</a:t>
            </a:r>
            <a:endParaRPr lang="en-US" sz="1725" dirty="0"/>
          </a:p>
          <a:p>
            <a:pPr algn="l" indent="0" marL="0">
              <a:lnSpc>
                <a:spcPct val="135000"/>
              </a:lnSpc>
              <a:buNone/>
            </a:pPr>
            <a:r>
              <a:rPr lang="en-US" sz="1725" dirty="0">
                <a:solidFill>
                  <a:srgbClr val="D4D4D4"/>
                </a:solidFill>
                <a:latin typeface="Cascadia Mono" pitchFamily="34" charset="0"/>
                <a:ea typeface="Cascadia Mono" pitchFamily="34" charset="-122"/>
                <a:cs typeface="Cascadia Mono" pitchFamily="34" charset="-120"/>
              </a:rPr>
              <a:t>w = 1000;  L = 2.0;</a:t>
            </a:r>
            <a:endParaRPr lang="en-US" sz="1725" dirty="0"/>
          </a:p>
          <a:p>
            <a:pPr algn="l" indent="0" marL="0">
              <a:lnSpc>
                <a:spcPct val="135000"/>
              </a:lnSpc>
              <a:buNone/>
            </a:pPr>
            <a:r>
              <a:rPr lang="en-US" sz="1725" dirty="0">
                <a:solidFill>
                  <a:srgbClr val="D4D4D4"/>
                </a:solidFill>
                <a:latin typeface="Cascadia Mono" pitchFamily="34" charset="0"/>
                <a:ea typeface="Cascadia Mono" pitchFamily="34" charset="-122"/>
                <a:cs typeface="Cascadia Mono" pitchFamily="34" charset="-120"/>
              </a:rPr>
              <a:t>E = 200e9;</a:t>
            </a:r>
            <a:endParaRPr lang="en-US" sz="1725" dirty="0"/>
          </a:p>
          <a:p>
            <a:pPr algn="l" indent="0" marL="0">
              <a:lnSpc>
                <a:spcPct val="135000"/>
              </a:lnSpc>
              <a:buNone/>
            </a:pPr>
            <a:r>
              <a:rPr lang="en-US" sz="1725" dirty="0">
                <a:solidFill>
                  <a:srgbClr val="D4D4D4"/>
                </a:solidFill>
                <a:latin typeface="Cascadia Mono" pitchFamily="34" charset="0"/>
                <a:ea typeface="Cascadia Mono" pitchFamily="34" charset="-122"/>
                <a:cs typeface="Cascadia Mono" pitchFamily="34" charset="-120"/>
              </a:rPr>
              <a:t>I = 0.05*0.10^3/12;</a:t>
            </a:r>
            <a:endParaRPr lang="en-US" sz="1725" dirty="0"/>
          </a:p>
          <a:p>
            <a:pPr algn="l" indent="0" marL="0">
              <a:lnSpc>
                <a:spcPct val="135000"/>
              </a:lnSpc>
              <a:buNone/>
            </a:pPr>
            <a:r>
              <a:rPr lang="en-US" sz="1725" dirty="0">
                <a:solidFill>
                  <a:srgbClr val="89D185"/>
                </a:solidFill>
                <a:latin typeface="Cascadia Mono" pitchFamily="34" charset="0"/>
                <a:ea typeface="Cascadia Mono" pitchFamily="34" charset="-122"/>
                <a:cs typeface="Cascadia Mono" pitchFamily="34" charset="-120"/>
              </a:rPr>
              <a:t>% δ = 2.40 mm</a:t>
            </a:r>
            <a:endParaRPr lang="en-US" sz="1725"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3"/>
          <p:cNvSpPr/>
          <p:nvPr/>
        </p:nvSpPr>
        <p:spPr>
          <a:xfrm>
            <a:off x="0" y="0"/>
            <a:ext cx="1543050" cy="10287000"/>
          </a:xfrm>
          <a:prstGeom prst="rect">
            <a:avLst/>
          </a:prstGeom>
          <a:solidFill>
            <a:srgbClr val="E6E6E6"/>
          </a:solidFill>
          <a:ln/>
        </p:spPr>
      </p:sp>
      <p:pic>
        <p:nvPicPr>
          <p:cNvPr id="3" name="Picture 1" descr="image.png"/>
          <p:cNvPicPr>
            <a:picLocks noChangeAspect="1"/>
          </p:cNvPicPr>
          <p:nvPr/>
        </p:nvPicPr>
        <p:blipFill>
          <a:blip r:embed="rId2"/>
          <a:stretch>
            <a:fillRect/>
          </a:stretch>
        </p:blipFill>
        <p:spPr>
          <a:xfrm>
            <a:off x="200025" y="133350"/>
            <a:ext cx="1143000" cy="1143000"/>
          </a:xfrm>
          <a:prstGeom prst="rect">
            <a:avLst/>
          </a:prstGeom>
        </p:spPr>
      </p:pic>
      <p:sp>
        <p:nvSpPr>
          <p:cNvPr id="4" name="Text 4"/>
          <p:cNvSpPr txBox="1"/>
          <p:nvPr/>
        </p:nvSpPr>
        <p:spPr>
          <a:xfrm>
            <a:off x="133350" y="238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5"/>
          <p:cNvSpPr txBox="1"/>
          <p:nvPr/>
        </p:nvSpPr>
        <p:spPr>
          <a:xfrm>
            <a:off x="133350" y="2762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6"/>
          <p:cNvSpPr txBox="1"/>
          <p:nvPr/>
        </p:nvSpPr>
        <p:spPr>
          <a:xfrm>
            <a:off x="133350" y="3143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Specify</a:t>
            </a:r>
            <a:endParaRPr lang="en-US" sz="1800" dirty="0"/>
          </a:p>
        </p:txBody>
      </p:sp>
      <p:sp>
        <p:nvSpPr>
          <p:cNvPr id="7" name="Text 7"/>
          <p:cNvSpPr txBox="1"/>
          <p:nvPr/>
        </p:nvSpPr>
        <p:spPr>
          <a:xfrm>
            <a:off x="133350" y="3524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Setup</a:t>
            </a:r>
            <a:endParaRPr lang="en-US" sz="1800" dirty="0"/>
          </a:p>
        </p:txBody>
      </p:sp>
      <p:sp>
        <p:nvSpPr>
          <p:cNvPr id="8" name="Text 8"/>
          <p:cNvSpPr txBox="1"/>
          <p:nvPr/>
        </p:nvSpPr>
        <p:spPr>
          <a:xfrm>
            <a:off x="133350" y="3905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Generate</a:t>
            </a:r>
            <a:endParaRPr lang="en-US" sz="1800" dirty="0"/>
          </a:p>
        </p:txBody>
      </p:sp>
      <p:sp>
        <p:nvSpPr>
          <p:cNvPr id="9" name="Text 9"/>
          <p:cNvSpPr txBox="1"/>
          <p:nvPr/>
        </p:nvSpPr>
        <p:spPr>
          <a:xfrm>
            <a:off x="133350" y="4286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Adjudicate</a:t>
            </a:r>
            <a:endParaRPr lang="en-US" sz="1800" dirty="0"/>
          </a:p>
        </p:txBody>
      </p:sp>
      <p:sp>
        <p:nvSpPr>
          <p:cNvPr id="10" name="Text 10"/>
          <p:cNvSpPr txBox="1"/>
          <p:nvPr/>
        </p:nvSpPr>
        <p:spPr>
          <a:xfrm>
            <a:off x="133350" y="4667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Pitfalls</a:t>
            </a:r>
            <a:endParaRPr lang="en-US" sz="1800" dirty="0"/>
          </a:p>
        </p:txBody>
      </p:sp>
      <p:sp>
        <p:nvSpPr>
          <p:cNvPr id="11" name="Text 11"/>
          <p:cNvSpPr txBox="1"/>
          <p:nvPr/>
        </p:nvSpPr>
        <p:spPr>
          <a:xfrm>
            <a:off x="133350" y="5048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GenAI Use</a:t>
            </a:r>
            <a:endParaRPr lang="en-US" sz="1800" dirty="0"/>
          </a:p>
        </p:txBody>
      </p:sp>
      <p:sp>
        <p:nvSpPr>
          <p:cNvPr id="12" name="Text 12"/>
          <p:cNvSpPr txBox="1"/>
          <p:nvPr/>
        </p:nvSpPr>
        <p:spPr>
          <a:xfrm>
            <a:off x="133350" y="5429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Your Repo</a:t>
            </a:r>
            <a:endParaRPr lang="en-US" sz="1800" dirty="0"/>
          </a:p>
        </p:txBody>
      </p:sp>
      <p:sp>
        <p:nvSpPr>
          <p:cNvPr id="13" name="Text 13"/>
          <p:cNvSpPr txBox="1"/>
          <p:nvPr/>
        </p:nvSpPr>
        <p:spPr>
          <a:xfrm>
            <a:off x="133350" y="5810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Teaching</a:t>
            </a:r>
            <a:endParaRPr lang="en-US" sz="1800" dirty="0"/>
          </a:p>
        </p:txBody>
      </p:sp>
      <p:sp>
        <p:nvSpPr>
          <p:cNvPr id="14" name="Text 14"/>
          <p:cNvSpPr txBox="1"/>
          <p:nvPr/>
        </p:nvSpPr>
        <p:spPr>
          <a:xfrm>
            <a:off x="133350" y="619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5"/>
          <p:cNvSpPr txBox="1"/>
          <p:nvPr/>
        </p:nvSpPr>
        <p:spPr>
          <a:xfrm>
            <a:off x="1657350" y="200025"/>
            <a:ext cx="10988040" cy="1057275"/>
          </a:xfrm>
          <a:prstGeom prst="rect">
            <a:avLst/>
          </a:prstGeom>
          <a:noFill/>
          <a:ln/>
        </p:spPr>
        <p:txBody>
          <a:bodyPr wrap="square" lIns="25400" tIns="25400" rIns="25400" bIns="25400" rtlCol="0" anchor="ctr">
            <a:no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Exercise 1: Add CLAUDE.md</a:t>
            </a:r>
            <a:endParaRPr lang="en-US" sz="4800" dirty="0"/>
          </a:p>
        </p:txBody>
      </p:sp>
      <p:sp>
        <p:nvSpPr>
          <p:cNvPr id="16" name="Text 16"/>
          <p:cNvSpPr txBox="1"/>
          <p:nvPr/>
        </p:nvSpPr>
        <p:spPr>
          <a:xfrm>
            <a:off x="12515950" y="133350"/>
            <a:ext cx="1142901" cy="393700"/>
          </a:xfrm>
          <a:prstGeom prst="rect">
            <a:avLst/>
          </a:prstGeom>
          <a:noFill/>
          <a:ln/>
        </p:spPr>
        <p:txBody>
          <a:bodyPr wrap="non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2</a:t>
            </a:r>
            <a:endParaRPr lang="en-US" sz="2100" dirty="0"/>
          </a:p>
        </p:txBody>
      </p:sp>
      <p:sp>
        <p:nvSpPr>
          <p:cNvPr id="17" name="Shape 17"/>
          <p:cNvSpPr/>
          <p:nvPr/>
        </p:nvSpPr>
        <p:spPr>
          <a:xfrm>
            <a:off x="1657350" y="1219200"/>
            <a:ext cx="11925300" cy="66675"/>
          </a:xfrm>
          <a:prstGeom prst="rect">
            <a:avLst/>
          </a:prstGeom>
          <a:solidFill>
            <a:srgbClr val="000000"/>
          </a:solidFill>
          <a:ln/>
        </p:spPr>
      </p:sp>
      <p:sp>
        <p:nvSpPr>
          <p:cNvPr id="18" name="Text 18"/>
          <p:cNvSpPr txBox="1"/>
          <p:nvPr/>
        </p:nvSpPr>
        <p:spPr>
          <a:xfrm>
            <a:off x="1054418" y="9810750"/>
            <a:ext cx="13264515" cy="342900"/>
          </a:xfrm>
          <a:prstGeom prst="rect">
            <a:avLst/>
          </a:prstGeom>
          <a:noFill/>
          <a:ln/>
        </p:spPr>
        <p:txBody>
          <a:bodyPr wrap="square" lIns="25400" tIns="25400" rIns="25400" bIns="25400" rtlCol="0" anchor="t">
            <a:no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2</a:t>
            </a:r>
            <a:endParaRPr lang="en-US" sz="1800" dirty="0"/>
          </a:p>
        </p:txBody>
      </p:sp>
      <p:sp>
        <p:nvSpPr>
          <p:cNvPr id="19" name="Text 19"/>
          <p:cNvSpPr txBox="1"/>
          <p:nvPr/>
        </p:nvSpPr>
        <p:spPr>
          <a:xfrm>
            <a:off x="13458850" y="9810750"/>
            <a:ext cx="200000" cy="342900"/>
          </a:xfrm>
          <a:prstGeom prst="rect">
            <a:avLst/>
          </a:prstGeom>
          <a:noFill/>
          <a:ln/>
        </p:spPr>
        <p:txBody>
          <a:bodyPr wrap="none" lIns="25400" tIns="25400" rIns="25400" bIns="25400" rtlCol="0" anchor="t">
            <a:no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8</a:t>
            </a:r>
            <a:endParaRPr lang="en-US" sz="1800" dirty="0"/>
          </a:p>
        </p:txBody>
      </p:sp>
      <p:sp>
        <p:nvSpPr>
          <p:cNvPr id="20" name="Shape 20"/>
          <p:cNvSpPr/>
          <p:nvPr/>
        </p:nvSpPr>
        <p:spPr>
          <a:xfrm>
            <a:off x="1810512" y="1572768"/>
            <a:ext cx="5943600" cy="5843930"/>
          </a:xfrm>
          <a:prstGeom prst="roundRect">
            <a:avLst>
              <a:gd name="adj" fmla="val 3520"/>
            </a:avLst>
          </a:prstGeom>
          <a:solidFill>
            <a:srgbClr val="1E1E1E"/>
          </a:solidFill>
          <a:ln/>
        </p:spPr>
      </p:sp>
      <p:sp>
        <p:nvSpPr>
          <p:cNvPr id="21" name="Text 21"/>
          <p:cNvSpPr txBox="1"/>
          <p:nvPr/>
        </p:nvSpPr>
        <p:spPr>
          <a:xfrm>
            <a:off x="2039112" y="1801368"/>
            <a:ext cx="5486400" cy="5386730"/>
          </a:xfrm>
          <a:prstGeom prst="rect">
            <a:avLst/>
          </a:prstGeom>
          <a:noFill/>
          <a:ln/>
        </p:spPr>
        <p:txBody>
          <a:bodyPr wrap="none" lIns="25400" tIns="25400" rIns="25400" bIns="25400" rtlCol="0" anchor="t">
            <a:noAutofit/>
          </a:bodyPr>
          <a:lstStyle/>
          <a:p>
            <a:pPr algn="l" indent="0" marL="0">
              <a:lnSpc>
                <a:spcPct val="118000"/>
              </a:lnSpc>
              <a:buNone/>
            </a:pPr>
            <a:r>
              <a:rPr lang="en-US" sz="1650" dirty="0">
                <a:solidFill>
                  <a:srgbClr val="00B0F0"/>
                </a:solidFill>
                <a:latin typeface="Cascadia Mono" pitchFamily="34" charset="0"/>
                <a:ea typeface="Cascadia Mono" pitchFamily="34" charset="-122"/>
                <a:cs typeface="Cascadia Mono" pitchFamily="34" charset="-120"/>
              </a:rPr>
              <a:t># beam-calc</a:t>
            </a:r>
            <a:endParaRPr lang="en-US" sz="1650" dirty="0"/>
          </a:p>
          <a:p>
            <a:pPr algn="l" indent="0" marL="0">
              <a:lnSpc>
                <a:spcPct val="118000"/>
              </a:lnSpc>
              <a:buNone/>
            </a:pPr>
            <a:r>
              <a:rPr lang="en-US" sz="1650" dirty="0">
                <a:solidFill>
                  <a:srgbClr val="D4D4D4"/>
                </a:solidFill>
                <a:latin typeface="Cascadia Mono" pitchFamily="34" charset="0"/>
                <a:ea typeface="Cascadia Mono" pitchFamily="34" charset="-122"/>
                <a:cs typeface="Cascadia Mono" pitchFamily="34" charset="-120"/>
              </a:rPr>
              <a:t>@AGENTS.md</a:t>
            </a:r>
            <a:endParaRPr lang="en-US" sz="1650" dirty="0"/>
          </a:p>
          <a:p>
            <a:pPr algn="l" indent="0" marL="0">
              <a:lnSpc>
                <a:spcPct val="118000"/>
              </a:lnSpc>
              <a:buNone/>
            </a:pPr>
            <a:r>
              <a:rPr lang="en-US" sz="1650" dirty="0">
                <a:solidFill>
                  <a:srgbClr val="D4D4D4"/>
                </a:solidFill>
                <a:latin typeface="Cascadia Mono" pitchFamily="34" charset="0"/>
                <a:ea typeface="Cascadia Mono" pitchFamily="34" charset="-122"/>
                <a:cs typeface="Cascadia Mono" pitchFamily="34" charset="-120"/>
              </a:rPr>
              <a:t xml:space="preserve"> </a:t>
            </a:r>
            <a:endParaRPr lang="en-US" sz="1650" dirty="0"/>
          </a:p>
          <a:p>
            <a:pPr algn="l" indent="0" marL="0">
              <a:lnSpc>
                <a:spcPct val="118000"/>
              </a:lnSpc>
              <a:buNone/>
            </a:pPr>
            <a:r>
              <a:rPr lang="en-US" sz="1650" dirty="0">
                <a:solidFill>
                  <a:srgbClr val="00B0F0"/>
                </a:solidFill>
                <a:latin typeface="Cascadia Mono" pitchFamily="34" charset="0"/>
                <a:ea typeface="Cascadia Mono" pitchFamily="34" charset="-122"/>
                <a:cs typeface="Cascadia Mono" pitchFamily="34" charset="-120"/>
              </a:rPr>
              <a:t>## About me</a:t>
            </a:r>
            <a:endParaRPr lang="en-US" sz="1650" dirty="0"/>
          </a:p>
          <a:p>
            <a:pPr algn="l" indent="0" marL="0">
              <a:lnSpc>
                <a:spcPct val="118000"/>
              </a:lnSpc>
              <a:buNone/>
            </a:pPr>
            <a:r>
              <a:rPr lang="en-US" sz="1650" dirty="0">
                <a:solidFill>
                  <a:srgbClr val="D4D4D4"/>
                </a:solidFill>
                <a:latin typeface="Cascadia Mono" pitchFamily="34" charset="0"/>
                <a:ea typeface="Cascadia Mono" pitchFamily="34" charset="-122"/>
                <a:cs typeface="Cascadia Mono" pitchFamily="34" charset="-120"/>
              </a:rPr>
              <a:t>- Instructor. Fluent in MATLAB,</a:t>
            </a:r>
            <a:endParaRPr lang="en-US" sz="1650" dirty="0"/>
          </a:p>
          <a:p>
            <a:pPr algn="l" indent="0" marL="0">
              <a:lnSpc>
                <a:spcPct val="118000"/>
              </a:lnSpc>
              <a:buNone/>
            </a:pPr>
            <a:r>
              <a:rPr lang="en-US" sz="1650" dirty="0">
                <a:solidFill>
                  <a:srgbClr val="D4D4D4"/>
                </a:solidFill>
                <a:latin typeface="Cascadia Mono" pitchFamily="34" charset="0"/>
                <a:ea typeface="Cascadia Mono" pitchFamily="34" charset="-122"/>
                <a:cs typeface="Cascadia Mono" pitchFamily="34" charset="-120"/>
              </a:rPr>
              <a:t xml:space="preserve">  new to coding agents. Explain</a:t>
            </a:r>
            <a:endParaRPr lang="en-US" sz="1650" dirty="0"/>
          </a:p>
          <a:p>
            <a:pPr algn="l" indent="0" marL="0">
              <a:lnSpc>
                <a:spcPct val="118000"/>
              </a:lnSpc>
              <a:buNone/>
            </a:pPr>
            <a:r>
              <a:rPr lang="en-US" sz="1650" dirty="0">
                <a:solidFill>
                  <a:srgbClr val="D4D4D4"/>
                </a:solidFill>
                <a:latin typeface="Cascadia Mono" pitchFamily="34" charset="0"/>
                <a:ea typeface="Cascadia Mono" pitchFamily="34" charset="-122"/>
                <a:cs typeface="Cascadia Mono" pitchFamily="34" charset="-120"/>
              </a:rPr>
              <a:t xml:space="preserve">  each change before coding.</a:t>
            </a:r>
            <a:endParaRPr lang="en-US" sz="1650" dirty="0"/>
          </a:p>
          <a:p>
            <a:pPr algn="l" indent="0" marL="0">
              <a:lnSpc>
                <a:spcPct val="118000"/>
              </a:lnSpc>
              <a:buNone/>
            </a:pPr>
            <a:r>
              <a:rPr lang="en-US" sz="1650" dirty="0">
                <a:solidFill>
                  <a:srgbClr val="D4D4D4"/>
                </a:solidFill>
                <a:latin typeface="Cascadia Mono" pitchFamily="34" charset="0"/>
                <a:ea typeface="Cascadia Mono" pitchFamily="34" charset="-122"/>
                <a:cs typeface="Cascadia Mono" pitchFamily="34" charset="-120"/>
              </a:rPr>
              <a:t>- Prefer simple, readable MATLAB.</a:t>
            </a:r>
            <a:endParaRPr lang="en-US" sz="1650" dirty="0"/>
          </a:p>
          <a:p>
            <a:pPr algn="l" indent="0" marL="0">
              <a:lnSpc>
                <a:spcPct val="118000"/>
              </a:lnSpc>
              <a:buNone/>
            </a:pPr>
            <a:r>
              <a:rPr lang="en-US" sz="1650" dirty="0">
                <a:solidFill>
                  <a:srgbClr val="D4D4D4"/>
                </a:solidFill>
                <a:latin typeface="Cascadia Mono" pitchFamily="34" charset="0"/>
                <a:ea typeface="Cascadia Mono" pitchFamily="34" charset="-122"/>
                <a:cs typeface="Cascadia Mono" pitchFamily="34" charset="-120"/>
              </a:rPr>
              <a:t xml:space="preserve"> </a:t>
            </a:r>
            <a:endParaRPr lang="en-US" sz="1650" dirty="0"/>
          </a:p>
          <a:p>
            <a:pPr algn="l" indent="0" marL="0">
              <a:lnSpc>
                <a:spcPct val="118000"/>
              </a:lnSpc>
              <a:buNone/>
            </a:pPr>
            <a:r>
              <a:rPr lang="en-US" sz="1650" dirty="0">
                <a:solidFill>
                  <a:srgbClr val="00B0F0"/>
                </a:solidFill>
                <a:latin typeface="Cascadia Mono" pitchFamily="34" charset="0"/>
                <a:ea typeface="Cascadia Mono" pitchFamily="34" charset="-122"/>
                <a:cs typeface="Cascadia Mono" pitchFamily="34" charset="-120"/>
              </a:rPr>
              <a:t>## Environment</a:t>
            </a:r>
            <a:endParaRPr lang="en-US" sz="1650" dirty="0"/>
          </a:p>
          <a:p>
            <a:pPr algn="l" indent="0" marL="0">
              <a:lnSpc>
                <a:spcPct val="118000"/>
              </a:lnSpc>
              <a:buNone/>
            </a:pPr>
            <a:r>
              <a:rPr lang="en-US" sz="1650" dirty="0">
                <a:solidFill>
                  <a:srgbClr val="D4D4D4"/>
                </a:solidFill>
                <a:latin typeface="Cascadia Mono" pitchFamily="34" charset="0"/>
                <a:ea typeface="Cascadia Mono" pitchFamily="34" charset="-122"/>
                <a:cs typeface="Cascadia Mono" pitchFamily="34" charset="-120"/>
              </a:rPr>
              <a:t>- You can't run MATLAB in your</a:t>
            </a:r>
            <a:endParaRPr lang="en-US" sz="1650" dirty="0"/>
          </a:p>
          <a:p>
            <a:pPr algn="l" indent="0" marL="0">
              <a:lnSpc>
                <a:spcPct val="118000"/>
              </a:lnSpc>
              <a:buNone/>
            </a:pPr>
            <a:r>
              <a:rPr lang="en-US" sz="1650" dirty="0">
                <a:solidFill>
                  <a:srgbClr val="D4D4D4"/>
                </a:solidFill>
                <a:latin typeface="Cascadia Mono" pitchFamily="34" charset="0"/>
                <a:ea typeface="Cascadia Mono" pitchFamily="34" charset="-122"/>
                <a:cs typeface="Cascadia Mono" pitchFamily="34" charset="-120"/>
              </a:rPr>
              <a:t xml:space="preserve">  sandbox. List the checks I</a:t>
            </a:r>
            <a:endParaRPr lang="en-US" sz="1650" dirty="0"/>
          </a:p>
          <a:p>
            <a:pPr algn="l" indent="0" marL="0">
              <a:lnSpc>
                <a:spcPct val="118000"/>
              </a:lnSpc>
              <a:buNone/>
            </a:pPr>
            <a:r>
              <a:rPr lang="en-US" sz="1650" dirty="0">
                <a:solidFill>
                  <a:srgbClr val="D4D4D4"/>
                </a:solidFill>
                <a:latin typeface="Cascadia Mono" pitchFamily="34" charset="0"/>
                <a:ea typeface="Cascadia Mono" pitchFamily="34" charset="-122"/>
                <a:cs typeface="Cascadia Mono" pitchFamily="34" charset="-120"/>
              </a:rPr>
              <a:t xml:space="preserve">  must run myself.</a:t>
            </a:r>
            <a:endParaRPr lang="en-US" sz="1650" dirty="0"/>
          </a:p>
          <a:p>
            <a:pPr algn="l" indent="0" marL="0">
              <a:lnSpc>
                <a:spcPct val="118000"/>
              </a:lnSpc>
              <a:buNone/>
            </a:pPr>
            <a:r>
              <a:rPr lang="en-US" sz="1650" dirty="0">
                <a:solidFill>
                  <a:srgbClr val="D4D4D4"/>
                </a:solidFill>
                <a:latin typeface="Cascadia Mono" pitchFamily="34" charset="0"/>
                <a:ea typeface="Cascadia Mono" pitchFamily="34" charset="-122"/>
                <a:cs typeface="Cascadia Mono" pitchFamily="34" charset="-120"/>
              </a:rPr>
              <a:t xml:space="preserve"> </a:t>
            </a:r>
            <a:endParaRPr lang="en-US" sz="1650" dirty="0"/>
          </a:p>
          <a:p>
            <a:pPr algn="l" indent="0" marL="0">
              <a:lnSpc>
                <a:spcPct val="118000"/>
              </a:lnSpc>
              <a:buNone/>
            </a:pPr>
            <a:r>
              <a:rPr lang="en-US" sz="1650" dirty="0">
                <a:solidFill>
                  <a:srgbClr val="00B0F0"/>
                </a:solidFill>
                <a:latin typeface="Cascadia Mono" pitchFamily="34" charset="0"/>
                <a:ea typeface="Cascadia Mono" pitchFamily="34" charset="-122"/>
                <a:cs typeface="Cascadia Mono" pitchFamily="34" charset="-120"/>
              </a:rPr>
              <a:t>## Rules</a:t>
            </a:r>
            <a:endParaRPr lang="en-US" sz="1650" dirty="0"/>
          </a:p>
          <a:p>
            <a:pPr algn="l" indent="0" marL="0">
              <a:lnSpc>
                <a:spcPct val="118000"/>
              </a:lnSpc>
              <a:buNone/>
            </a:pPr>
            <a:r>
              <a:rPr lang="en-US" sz="1650" dirty="0">
                <a:solidFill>
                  <a:srgbClr val="D4D4D4"/>
                </a:solidFill>
                <a:latin typeface="Cascadia Mono" pitchFamily="34" charset="0"/>
                <a:ea typeface="Cascadia Mono" pitchFamily="34" charset="-122"/>
                <a:cs typeface="Cascadia Mono" pitchFamily="34" charset="-120"/>
              </a:rPr>
              <a:t>- One function per file.</a:t>
            </a:r>
            <a:endParaRPr lang="en-US" sz="1650" dirty="0"/>
          </a:p>
          <a:p>
            <a:pPr algn="l" indent="0" marL="0">
              <a:lnSpc>
                <a:spcPct val="118000"/>
              </a:lnSpc>
              <a:buNone/>
            </a:pPr>
            <a:r>
              <a:rPr lang="en-US" sz="1650" dirty="0">
                <a:solidFill>
                  <a:srgbClr val="D4D4D4"/>
                </a:solidFill>
                <a:latin typeface="Cascadia Mono" pitchFamily="34" charset="0"/>
                <a:ea typeface="Cascadia Mono" pitchFamily="34" charset="-122"/>
                <a:cs typeface="Cascadia Mono" pitchFamily="34" charset="-120"/>
              </a:rPr>
              <a:t>- Never change an existing</a:t>
            </a:r>
            <a:endParaRPr lang="en-US" sz="1650" dirty="0"/>
          </a:p>
          <a:p>
            <a:pPr algn="l" indent="0" marL="0">
              <a:lnSpc>
                <a:spcPct val="118000"/>
              </a:lnSpc>
              <a:buNone/>
            </a:pPr>
            <a:r>
              <a:rPr lang="en-US" sz="1650" dirty="0">
                <a:solidFill>
                  <a:srgbClr val="D4D4D4"/>
                </a:solidFill>
                <a:latin typeface="Cascadia Mono" pitchFamily="34" charset="0"/>
                <a:ea typeface="Cascadia Mono" pitchFamily="34" charset="-122"/>
                <a:cs typeface="Cascadia Mono" pitchFamily="34" charset="-120"/>
              </a:rPr>
              <a:t xml:space="preserve">  result or test without asking.</a:t>
            </a:r>
            <a:endParaRPr lang="en-US" sz="1650" dirty="0"/>
          </a:p>
        </p:txBody>
      </p:sp>
      <p:sp>
        <p:nvSpPr>
          <p:cNvPr id="22" name="Shape 22"/>
          <p:cNvSpPr/>
          <p:nvPr/>
        </p:nvSpPr>
        <p:spPr>
          <a:xfrm>
            <a:off x="8138160" y="1572768"/>
            <a:ext cx="1353312" cy="381305"/>
          </a:xfrm>
          <a:prstGeom prst="roundRect">
            <a:avLst>
              <a:gd name="adj" fmla="val 15000"/>
            </a:avLst>
          </a:prstGeom>
          <a:solidFill>
            <a:srgbClr val="595959"/>
          </a:solidFill>
          <a:ln/>
        </p:spPr>
      </p:sp>
      <p:sp>
        <p:nvSpPr>
          <p:cNvPr id="23" name="Text 23"/>
          <p:cNvSpPr txBox="1"/>
          <p:nvPr/>
        </p:nvSpPr>
        <p:spPr>
          <a:xfrm>
            <a:off x="8165592" y="160934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Segoe UI" pitchFamily="34" charset="0"/>
                <a:ea typeface="Segoe UI" pitchFamily="34" charset="-122"/>
                <a:cs typeface="Segoe UI" pitchFamily="34" charset="-120"/>
              </a:rPr>
              <a:t>EXERCISE</a:t>
            </a:r>
            <a:endParaRPr lang="en-US" sz="1800" dirty="0"/>
          </a:p>
        </p:txBody>
      </p:sp>
      <p:sp>
        <p:nvSpPr>
          <p:cNvPr id="24" name="Text 24"/>
          <p:cNvSpPr txBox="1"/>
          <p:nvPr/>
        </p:nvSpPr>
        <p:spPr>
          <a:xfrm>
            <a:off x="8138160" y="2194560"/>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1</a:t>
            </a:r>
            <a:endParaRPr lang="en-US" sz="2250" dirty="0"/>
          </a:p>
        </p:txBody>
      </p:sp>
      <p:sp>
        <p:nvSpPr>
          <p:cNvPr id="25" name="Text 25"/>
          <p:cNvSpPr txBox="1"/>
          <p:nvPr/>
        </p:nvSpPr>
        <p:spPr>
          <a:xfrm>
            <a:off x="8668512" y="2194560"/>
            <a:ext cx="4864608" cy="703259"/>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 xml:space="preserve">In VS Code, create </a:t>
            </a:r>
            <a:r>
              <a:rPr lang="en-US" sz="1950" b="1" dirty="0">
                <a:solidFill>
                  <a:srgbClr val="000000"/>
                </a:solidFill>
                <a:latin typeface="Segoe UI" pitchFamily="34" charset="0"/>
                <a:ea typeface="Segoe UI" pitchFamily="34" charset="-122"/>
                <a:cs typeface="Segoe UI" pitchFamily="34" charset="-120"/>
              </a:rPr>
              <a:t>CLAUDE.md</a:t>
            </a:r>
            <a:r>
              <a:rPr lang="en-US" sz="1950" dirty="0">
                <a:solidFill>
                  <a:srgbClr val="000000"/>
                </a:solidFill>
                <a:latin typeface="Segoe UI" pitchFamily="34" charset="0"/>
                <a:ea typeface="Segoe UI" pitchFamily="34" charset="-122"/>
                <a:cs typeface="Segoe UI" pitchFamily="34" charset="-120"/>
              </a:rPr>
              <a:t xml:space="preserve"> at the repo root. Adapt the example to you.</a:t>
            </a:r>
            <a:endParaRPr lang="en-US" sz="1950" dirty="0"/>
          </a:p>
        </p:txBody>
      </p:sp>
      <p:sp>
        <p:nvSpPr>
          <p:cNvPr id="26" name="Text 26"/>
          <p:cNvSpPr txBox="1"/>
          <p:nvPr/>
        </p:nvSpPr>
        <p:spPr>
          <a:xfrm>
            <a:off x="8138160" y="3080699"/>
            <a:ext cx="612648" cy="1009169"/>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2</a:t>
            </a:r>
            <a:endParaRPr lang="en-US" sz="2250" dirty="0"/>
          </a:p>
        </p:txBody>
      </p:sp>
      <p:sp>
        <p:nvSpPr>
          <p:cNvPr id="27" name="Text 27"/>
          <p:cNvSpPr txBox="1"/>
          <p:nvPr/>
        </p:nvSpPr>
        <p:spPr>
          <a:xfrm>
            <a:off x="8668512" y="3080699"/>
            <a:ext cx="4864608" cy="1009169"/>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 xml:space="preserve">Line 2, </a:t>
            </a:r>
            <a:r>
              <a:rPr lang="en-US" sz="1950" b="1" dirty="0">
                <a:solidFill>
                  <a:srgbClr val="000000"/>
                </a:solidFill>
                <a:latin typeface="Segoe UI" pitchFamily="34" charset="0"/>
                <a:ea typeface="Segoe UI" pitchFamily="34" charset="-122"/>
                <a:cs typeface="Segoe UI" pitchFamily="34" charset="-120"/>
              </a:rPr>
              <a:t>@AGENTS.md</a:t>
            </a:r>
            <a:r>
              <a:rPr lang="en-US" sz="1950" dirty="0">
                <a:solidFill>
                  <a:srgbClr val="000000"/>
                </a:solidFill>
                <a:latin typeface="Segoe UI" pitchFamily="34" charset="0"/>
                <a:ea typeface="Segoe UI" pitchFamily="34" charset="-122"/>
                <a:cs typeface="Segoe UI" pitchFamily="34" charset="-120"/>
              </a:rPr>
              <a:t>, imports the rules you wrote in Lesson 1. One set of rules for every agent.</a:t>
            </a:r>
            <a:endParaRPr lang="en-US" sz="1950" dirty="0"/>
          </a:p>
        </p:txBody>
      </p:sp>
      <p:sp>
        <p:nvSpPr>
          <p:cNvPr id="28" name="Text 28"/>
          <p:cNvSpPr txBox="1"/>
          <p:nvPr/>
        </p:nvSpPr>
        <p:spPr>
          <a:xfrm>
            <a:off x="8138160" y="4272748"/>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3</a:t>
            </a:r>
            <a:endParaRPr lang="en-US" sz="2250" dirty="0"/>
          </a:p>
        </p:txBody>
      </p:sp>
      <p:sp>
        <p:nvSpPr>
          <p:cNvPr id="29" name="Text 29"/>
          <p:cNvSpPr txBox="1"/>
          <p:nvPr/>
        </p:nvSpPr>
        <p:spPr>
          <a:xfrm>
            <a:off x="8668512" y="4272748"/>
            <a:ext cx="4864608" cy="703259"/>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 xml:space="preserve">Commit to main: </a:t>
            </a:r>
            <a:r>
              <a:rPr lang="en-US" sz="1950" i="1" dirty="0">
                <a:solidFill>
                  <a:srgbClr val="000000"/>
                </a:solidFill>
                <a:latin typeface="Segoe UI" pitchFamily="34" charset="0"/>
                <a:ea typeface="Segoe UI" pitchFamily="34" charset="-122"/>
                <a:cs typeface="Segoe UI" pitchFamily="34" charset="-120"/>
              </a:rPr>
              <a:t>Add CLAUDE.md</a:t>
            </a:r>
            <a:r>
              <a:rPr lang="en-US" sz="1950" dirty="0">
                <a:solidFill>
                  <a:srgbClr val="000000"/>
                </a:solidFill>
                <a:latin typeface="Segoe UI" pitchFamily="34" charset="0"/>
                <a:ea typeface="Segoe UI" pitchFamily="34" charset="-122"/>
                <a:cs typeface="Segoe UI" pitchFamily="34" charset="-120"/>
              </a:rPr>
              <a:t xml:space="preserve">. </a:t>
            </a:r>
            <a:r>
              <a:rPr lang="en-US" sz="1950" b="1" dirty="0">
                <a:solidFill>
                  <a:srgbClr val="000000"/>
                </a:solidFill>
                <a:latin typeface="Segoe UI" pitchFamily="34" charset="0"/>
                <a:ea typeface="Segoe UI" pitchFamily="34" charset="-122"/>
                <a:cs typeface="Segoe UI" pitchFamily="34" charset="-120"/>
              </a:rPr>
              <a:t>Push origin</a:t>
            </a:r>
            <a:r>
              <a:rPr lang="en-US" sz="1950" dirty="0">
                <a:solidFill>
                  <a:srgbClr val="000000"/>
                </a:solidFill>
                <a:latin typeface="Segoe UI" pitchFamily="34" charset="0"/>
                <a:ea typeface="Segoe UI" pitchFamily="34" charset="-122"/>
                <a:cs typeface="Segoe UI" pitchFamily="34" charset="-120"/>
              </a:rPr>
              <a:t>.</a:t>
            </a:r>
            <a:endParaRPr lang="en-US" sz="1950" dirty="0"/>
          </a:p>
        </p:txBody>
      </p:sp>
      <p:sp>
        <p:nvSpPr>
          <p:cNvPr id="30" name="Text 30"/>
          <p:cNvSpPr txBox="1"/>
          <p:nvPr/>
        </p:nvSpPr>
        <p:spPr>
          <a:xfrm>
            <a:off x="8138160" y="5296048"/>
            <a:ext cx="5394960" cy="1188720"/>
          </a:xfrm>
          <a:prstGeom prst="rect">
            <a:avLst/>
          </a:prstGeom>
          <a:noFill/>
          <a:ln/>
        </p:spPr>
        <p:txBody>
          <a:bodyPr wrap="square" lIns="25400" tIns="25400" rIns="25400" bIns="25400" rtlCol="0" anchor="t">
            <a:noAutofit/>
          </a:bodyPr>
          <a:lstStyle/>
          <a:p>
            <a:pPr algn="l" indent="0" marL="0">
              <a:buNone/>
            </a:pPr>
            <a:r>
              <a:rPr lang="en-US" sz="1800" dirty="0">
                <a:solidFill>
                  <a:srgbClr val="404040"/>
                </a:solidFill>
                <a:latin typeface="Segoe UI" pitchFamily="34" charset="0"/>
                <a:ea typeface="Segoe UI" pitchFamily="34" charset="-122"/>
                <a:cs typeface="Segoe UI" pitchFamily="34" charset="-120"/>
              </a:rPr>
              <a:t>Claude Code reads CLAUDE.md at the start of every session. Include what a new colleague would need.</a:t>
            </a:r>
            <a:endParaRPr lang="en-US" sz="1800" dirty="0"/>
          </a:p>
        </p:txBody>
      </p:sp>
      <p:sp>
        <p:nvSpPr>
          <p:cNvPr id="31" name="Text 31"/>
          <p:cNvSpPr txBox="1"/>
          <p:nvPr/>
        </p:nvSpPr>
        <p:spPr>
          <a:xfrm>
            <a:off x="8138160" y="6484768"/>
            <a:ext cx="5394960" cy="1188720"/>
          </a:xfrm>
          <a:prstGeom prst="rect">
            <a:avLst/>
          </a:prstGeom>
          <a:noFill/>
          <a:ln/>
        </p:spPr>
        <p:txBody>
          <a:bodyPr wrap="square" lIns="25400" tIns="25400" rIns="25400" bIns="25400" rtlCol="0" anchor="t">
            <a:noAutofit/>
          </a:bodyPr>
          <a:lstStyle/>
          <a:p>
            <a:pPr algn="l" indent="0" marL="0">
              <a:buNone/>
            </a:pPr>
            <a:r>
              <a:rPr lang="en-US" sz="1800" dirty="0">
                <a:solidFill>
                  <a:srgbClr val="404040"/>
                </a:solidFill>
                <a:latin typeface="Segoe UI" pitchFamily="34" charset="0"/>
                <a:ea typeface="Segoe UI" pitchFamily="34" charset="-122"/>
                <a:cs typeface="Segoe UI" pitchFamily="34" charset="-120"/>
              </a:rPr>
              <a:t>Keep it short. Add a rule each time the agent repeats a mistake.</a:t>
            </a:r>
            <a:endParaRPr lang="en-US" sz="18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3"/>
          <p:cNvSpPr/>
          <p:nvPr/>
        </p:nvSpPr>
        <p:spPr>
          <a:xfrm>
            <a:off x="0" y="0"/>
            <a:ext cx="1543050" cy="10287000"/>
          </a:xfrm>
          <a:prstGeom prst="rect">
            <a:avLst/>
          </a:prstGeom>
          <a:solidFill>
            <a:srgbClr val="E6E6E6"/>
          </a:solidFill>
          <a:ln/>
        </p:spPr>
      </p:sp>
      <p:pic>
        <p:nvPicPr>
          <p:cNvPr id="3" name="Picture 1" descr="image.png"/>
          <p:cNvPicPr>
            <a:picLocks noChangeAspect="1"/>
          </p:cNvPicPr>
          <p:nvPr/>
        </p:nvPicPr>
        <p:blipFill>
          <a:blip r:embed="rId2"/>
          <a:stretch>
            <a:fillRect/>
          </a:stretch>
        </p:blipFill>
        <p:spPr>
          <a:xfrm>
            <a:off x="200025" y="133350"/>
            <a:ext cx="1143000" cy="1143000"/>
          </a:xfrm>
          <a:prstGeom prst="rect">
            <a:avLst/>
          </a:prstGeom>
        </p:spPr>
      </p:pic>
      <p:sp>
        <p:nvSpPr>
          <p:cNvPr id="4" name="Text 4"/>
          <p:cNvSpPr txBox="1"/>
          <p:nvPr/>
        </p:nvSpPr>
        <p:spPr>
          <a:xfrm>
            <a:off x="133350" y="238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5"/>
          <p:cNvSpPr txBox="1"/>
          <p:nvPr/>
        </p:nvSpPr>
        <p:spPr>
          <a:xfrm>
            <a:off x="133350" y="2762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6"/>
          <p:cNvSpPr txBox="1"/>
          <p:nvPr/>
        </p:nvSpPr>
        <p:spPr>
          <a:xfrm>
            <a:off x="133350" y="3143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Specify</a:t>
            </a:r>
            <a:endParaRPr lang="en-US" sz="1800" dirty="0"/>
          </a:p>
        </p:txBody>
      </p:sp>
      <p:sp>
        <p:nvSpPr>
          <p:cNvPr id="7" name="Text 7"/>
          <p:cNvSpPr txBox="1"/>
          <p:nvPr/>
        </p:nvSpPr>
        <p:spPr>
          <a:xfrm>
            <a:off x="133350" y="3524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Setup</a:t>
            </a:r>
            <a:endParaRPr lang="en-US" sz="1800" dirty="0"/>
          </a:p>
        </p:txBody>
      </p:sp>
      <p:sp>
        <p:nvSpPr>
          <p:cNvPr id="8" name="Text 8"/>
          <p:cNvSpPr txBox="1"/>
          <p:nvPr/>
        </p:nvSpPr>
        <p:spPr>
          <a:xfrm>
            <a:off x="133350" y="3905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Generate</a:t>
            </a:r>
            <a:endParaRPr lang="en-US" sz="1800" dirty="0"/>
          </a:p>
        </p:txBody>
      </p:sp>
      <p:sp>
        <p:nvSpPr>
          <p:cNvPr id="9" name="Text 9"/>
          <p:cNvSpPr txBox="1"/>
          <p:nvPr/>
        </p:nvSpPr>
        <p:spPr>
          <a:xfrm>
            <a:off x="133350" y="4286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Adjudicate</a:t>
            </a:r>
            <a:endParaRPr lang="en-US" sz="1800" dirty="0"/>
          </a:p>
        </p:txBody>
      </p:sp>
      <p:sp>
        <p:nvSpPr>
          <p:cNvPr id="10" name="Text 10"/>
          <p:cNvSpPr txBox="1"/>
          <p:nvPr/>
        </p:nvSpPr>
        <p:spPr>
          <a:xfrm>
            <a:off x="133350" y="4667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Pitfalls</a:t>
            </a:r>
            <a:endParaRPr lang="en-US" sz="1800" dirty="0"/>
          </a:p>
        </p:txBody>
      </p:sp>
      <p:sp>
        <p:nvSpPr>
          <p:cNvPr id="11" name="Text 11"/>
          <p:cNvSpPr txBox="1"/>
          <p:nvPr/>
        </p:nvSpPr>
        <p:spPr>
          <a:xfrm>
            <a:off x="133350" y="5048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GenAI Use</a:t>
            </a:r>
            <a:endParaRPr lang="en-US" sz="1800" dirty="0"/>
          </a:p>
        </p:txBody>
      </p:sp>
      <p:sp>
        <p:nvSpPr>
          <p:cNvPr id="12" name="Text 12"/>
          <p:cNvSpPr txBox="1"/>
          <p:nvPr/>
        </p:nvSpPr>
        <p:spPr>
          <a:xfrm>
            <a:off x="133350" y="5429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Your Repo</a:t>
            </a:r>
            <a:endParaRPr lang="en-US" sz="1800" dirty="0"/>
          </a:p>
        </p:txBody>
      </p:sp>
      <p:sp>
        <p:nvSpPr>
          <p:cNvPr id="13" name="Text 13"/>
          <p:cNvSpPr txBox="1"/>
          <p:nvPr/>
        </p:nvSpPr>
        <p:spPr>
          <a:xfrm>
            <a:off x="133350" y="5810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Teaching</a:t>
            </a:r>
            <a:endParaRPr lang="en-US" sz="1800" dirty="0"/>
          </a:p>
        </p:txBody>
      </p:sp>
      <p:sp>
        <p:nvSpPr>
          <p:cNvPr id="14" name="Text 14"/>
          <p:cNvSpPr txBox="1"/>
          <p:nvPr/>
        </p:nvSpPr>
        <p:spPr>
          <a:xfrm>
            <a:off x="133350" y="619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5"/>
          <p:cNvSpPr txBox="1"/>
          <p:nvPr/>
        </p:nvSpPr>
        <p:spPr>
          <a:xfrm>
            <a:off x="1657350" y="200025"/>
            <a:ext cx="10988040" cy="1057275"/>
          </a:xfrm>
          <a:prstGeom prst="rect">
            <a:avLst/>
          </a:prstGeom>
          <a:noFill/>
          <a:ln/>
        </p:spPr>
        <p:txBody>
          <a:bodyPr wrap="square" lIns="25400" tIns="25400" rIns="25400" bIns="25400" rtlCol="0" anchor="ctr">
            <a:no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Exercise 2: Open a Session</a:t>
            </a:r>
            <a:endParaRPr lang="en-US" sz="4800" dirty="0"/>
          </a:p>
        </p:txBody>
      </p:sp>
      <p:sp>
        <p:nvSpPr>
          <p:cNvPr id="16" name="Text 16"/>
          <p:cNvSpPr txBox="1"/>
          <p:nvPr/>
        </p:nvSpPr>
        <p:spPr>
          <a:xfrm>
            <a:off x="12515950" y="133350"/>
            <a:ext cx="1142901" cy="393700"/>
          </a:xfrm>
          <a:prstGeom prst="rect">
            <a:avLst/>
          </a:prstGeom>
          <a:noFill/>
          <a:ln/>
        </p:spPr>
        <p:txBody>
          <a:bodyPr wrap="non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2</a:t>
            </a:r>
            <a:endParaRPr lang="en-US" sz="2100" dirty="0"/>
          </a:p>
        </p:txBody>
      </p:sp>
      <p:sp>
        <p:nvSpPr>
          <p:cNvPr id="17" name="Shape 17"/>
          <p:cNvSpPr/>
          <p:nvPr/>
        </p:nvSpPr>
        <p:spPr>
          <a:xfrm>
            <a:off x="1657350" y="1219200"/>
            <a:ext cx="11925300" cy="66675"/>
          </a:xfrm>
          <a:prstGeom prst="rect">
            <a:avLst/>
          </a:prstGeom>
          <a:solidFill>
            <a:srgbClr val="000000"/>
          </a:solidFill>
          <a:ln/>
        </p:spPr>
      </p:sp>
      <p:sp>
        <p:nvSpPr>
          <p:cNvPr id="18" name="Text 18"/>
          <p:cNvSpPr txBox="1"/>
          <p:nvPr/>
        </p:nvSpPr>
        <p:spPr>
          <a:xfrm>
            <a:off x="1054418" y="9810750"/>
            <a:ext cx="13264515" cy="342900"/>
          </a:xfrm>
          <a:prstGeom prst="rect">
            <a:avLst/>
          </a:prstGeom>
          <a:noFill/>
          <a:ln/>
        </p:spPr>
        <p:txBody>
          <a:bodyPr wrap="square" lIns="25400" tIns="25400" rIns="25400" bIns="25400" rtlCol="0" anchor="t">
            <a:no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2</a:t>
            </a:r>
            <a:endParaRPr lang="en-US" sz="1800" dirty="0"/>
          </a:p>
        </p:txBody>
      </p:sp>
      <p:sp>
        <p:nvSpPr>
          <p:cNvPr id="19" name="Text 19"/>
          <p:cNvSpPr txBox="1"/>
          <p:nvPr/>
        </p:nvSpPr>
        <p:spPr>
          <a:xfrm>
            <a:off x="13458850" y="9810750"/>
            <a:ext cx="200000" cy="342900"/>
          </a:xfrm>
          <a:prstGeom prst="rect">
            <a:avLst/>
          </a:prstGeom>
          <a:noFill/>
          <a:ln/>
        </p:spPr>
        <p:txBody>
          <a:bodyPr wrap="none" lIns="25400" tIns="25400" rIns="25400" bIns="25400" rtlCol="0" anchor="t">
            <a:no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9</a:t>
            </a:r>
            <a:endParaRPr lang="en-US" sz="1800" dirty="0"/>
          </a:p>
        </p:txBody>
      </p:sp>
      <p:sp>
        <p:nvSpPr>
          <p:cNvPr id="20" name="Shape 20"/>
          <p:cNvSpPr/>
          <p:nvPr/>
        </p:nvSpPr>
        <p:spPr>
          <a:xfrm>
            <a:off x="1810512" y="1572768"/>
            <a:ext cx="3383280" cy="1143000"/>
          </a:xfrm>
          <a:prstGeom prst="roundRect">
            <a:avLst>
              <a:gd name="adj" fmla="val 10995"/>
            </a:avLst>
          </a:prstGeom>
          <a:noFill/>
          <a:ln w="25400">
            <a:solidFill>
              <a:srgbClr val="152A47"/>
            </a:solidFill>
            <a:prstDash val="solid"/>
          </a:ln>
        </p:spPr>
      </p:sp>
      <p:sp>
        <p:nvSpPr>
          <p:cNvPr id="21" name="Text 21"/>
          <p:cNvSpPr txBox="1"/>
          <p:nvPr/>
        </p:nvSpPr>
        <p:spPr>
          <a:xfrm>
            <a:off x="1856232" y="1755648"/>
            <a:ext cx="3291840" cy="420624"/>
          </a:xfrm>
          <a:prstGeom prst="rect">
            <a:avLst/>
          </a:prstGeom>
          <a:noFill/>
          <a:ln/>
        </p:spPr>
        <p:txBody>
          <a:bodyPr wrap="square" lIns="25400" tIns="25400" rIns="25400" bIns="25400" rtlCol="0" anchor="t">
            <a:noAutofit/>
          </a:bodyPr>
          <a:lstStyle/>
          <a:p>
            <a:pPr algn="ctr" indent="0" marL="0">
              <a:buNone/>
            </a:pPr>
            <a:r>
              <a:rPr lang="en-US" sz="2250" b="1" dirty="0">
                <a:solidFill>
                  <a:srgbClr val="000000"/>
                </a:solidFill>
                <a:latin typeface="Segoe UI" pitchFamily="34" charset="0"/>
                <a:ea typeface="Segoe UI" pitchFamily="34" charset="-122"/>
                <a:cs typeface="Segoe UI" pitchFamily="34" charset="-120"/>
              </a:rPr>
              <a:t>Claude Code</a:t>
            </a:r>
            <a:endParaRPr lang="en-US" sz="2250" dirty="0"/>
          </a:p>
        </p:txBody>
      </p:sp>
      <p:sp>
        <p:nvSpPr>
          <p:cNvPr id="22" name="Text 22"/>
          <p:cNvSpPr txBox="1"/>
          <p:nvPr/>
        </p:nvSpPr>
        <p:spPr>
          <a:xfrm>
            <a:off x="1856232" y="2212848"/>
            <a:ext cx="3291840" cy="347472"/>
          </a:xfrm>
          <a:prstGeom prst="rect">
            <a:avLst/>
          </a:prstGeom>
          <a:noFill/>
          <a:ln/>
        </p:spPr>
        <p:txBody>
          <a:bodyPr wrap="square" lIns="25400" tIns="25400" rIns="25400" bIns="25400" rtlCol="0" anchor="t">
            <a:noAutofit/>
          </a:bodyPr>
          <a:lstStyle/>
          <a:p>
            <a:pPr algn="ctr" indent="0" marL="0">
              <a:buNone/>
            </a:pPr>
            <a:r>
              <a:rPr lang="en-US" sz="1800" dirty="0">
                <a:solidFill>
                  <a:srgbClr val="000000"/>
                </a:solidFill>
                <a:latin typeface="Segoe UI" pitchFamily="34" charset="0"/>
                <a:ea typeface="Segoe UI" pitchFamily="34" charset="-122"/>
                <a:cs typeface="Segoe UI" pitchFamily="34" charset="-120"/>
              </a:rPr>
              <a:t>cloud sandbox</a:t>
            </a:r>
            <a:endParaRPr lang="en-US" sz="1800" dirty="0"/>
          </a:p>
        </p:txBody>
      </p:sp>
      <p:sp>
        <p:nvSpPr>
          <p:cNvPr id="23" name="Shape 23"/>
          <p:cNvSpPr/>
          <p:nvPr/>
        </p:nvSpPr>
        <p:spPr>
          <a:xfrm>
            <a:off x="5239512" y="2112264"/>
            <a:ext cx="640080" cy="36576"/>
          </a:xfrm>
          <a:prstGeom prst="rect">
            <a:avLst/>
          </a:prstGeom>
          <a:solidFill>
            <a:srgbClr val="000000"/>
          </a:solidFill>
          <a:ln/>
        </p:spPr>
      </p:sp>
      <p:sp>
        <p:nvSpPr>
          <p:cNvPr id="24" name="Shape 24"/>
          <p:cNvSpPr/>
          <p:nvPr/>
        </p:nvSpPr>
        <p:spPr>
          <a:xfrm>
            <a:off x="5925312" y="1572768"/>
            <a:ext cx="3383280" cy="1143000"/>
          </a:xfrm>
          <a:prstGeom prst="roundRect">
            <a:avLst>
              <a:gd name="adj" fmla="val 10995"/>
            </a:avLst>
          </a:prstGeom>
          <a:noFill/>
          <a:ln w="25400">
            <a:solidFill>
              <a:srgbClr val="152A47"/>
            </a:solidFill>
            <a:prstDash val="solid"/>
          </a:ln>
        </p:spPr>
      </p:sp>
      <p:sp>
        <p:nvSpPr>
          <p:cNvPr id="25" name="Text 25"/>
          <p:cNvSpPr txBox="1"/>
          <p:nvPr/>
        </p:nvSpPr>
        <p:spPr>
          <a:xfrm>
            <a:off x="5971032" y="1755648"/>
            <a:ext cx="3291840" cy="420624"/>
          </a:xfrm>
          <a:prstGeom prst="rect">
            <a:avLst/>
          </a:prstGeom>
          <a:noFill/>
          <a:ln/>
        </p:spPr>
        <p:txBody>
          <a:bodyPr wrap="square" lIns="25400" tIns="25400" rIns="25400" bIns="25400" rtlCol="0" anchor="t">
            <a:noAutofit/>
          </a:bodyPr>
          <a:lstStyle/>
          <a:p>
            <a:pPr algn="ctr" indent="0" marL="0">
              <a:buNone/>
            </a:pPr>
            <a:r>
              <a:rPr lang="en-US" sz="2250" b="1" dirty="0">
                <a:solidFill>
                  <a:srgbClr val="000000"/>
                </a:solidFill>
                <a:latin typeface="Segoe UI" pitchFamily="34" charset="0"/>
                <a:ea typeface="Segoe UI" pitchFamily="34" charset="-122"/>
                <a:cs typeface="Segoe UI" pitchFamily="34" charset="-120"/>
              </a:rPr>
              <a:t>GitHub repo</a:t>
            </a:r>
            <a:endParaRPr lang="en-US" sz="2250" dirty="0"/>
          </a:p>
        </p:txBody>
      </p:sp>
      <p:sp>
        <p:nvSpPr>
          <p:cNvPr id="26" name="Text 26"/>
          <p:cNvSpPr txBox="1"/>
          <p:nvPr/>
        </p:nvSpPr>
        <p:spPr>
          <a:xfrm>
            <a:off x="5971032" y="2212848"/>
            <a:ext cx="3291840" cy="347472"/>
          </a:xfrm>
          <a:prstGeom prst="rect">
            <a:avLst/>
          </a:prstGeom>
          <a:noFill/>
          <a:ln/>
        </p:spPr>
        <p:txBody>
          <a:bodyPr wrap="square" lIns="25400" tIns="25400" rIns="25400" bIns="25400" rtlCol="0" anchor="t">
            <a:noAutofit/>
          </a:bodyPr>
          <a:lstStyle/>
          <a:p>
            <a:pPr algn="ctr" indent="0" marL="0">
              <a:buNone/>
            </a:pPr>
            <a:r>
              <a:rPr lang="en-US" sz="1800" dirty="0">
                <a:solidFill>
                  <a:srgbClr val="000000"/>
                </a:solidFill>
                <a:latin typeface="Segoe UI" pitchFamily="34" charset="0"/>
                <a:ea typeface="Segoe UI" pitchFamily="34" charset="-122"/>
                <a:cs typeface="Segoe UI" pitchFamily="34" charset="-120"/>
              </a:rPr>
              <a:t>shared source</a:t>
            </a:r>
            <a:endParaRPr lang="en-US" sz="1800" dirty="0"/>
          </a:p>
        </p:txBody>
      </p:sp>
      <p:sp>
        <p:nvSpPr>
          <p:cNvPr id="27" name="Shape 27"/>
          <p:cNvSpPr/>
          <p:nvPr/>
        </p:nvSpPr>
        <p:spPr>
          <a:xfrm>
            <a:off x="9354312" y="2112264"/>
            <a:ext cx="640080" cy="36576"/>
          </a:xfrm>
          <a:prstGeom prst="rect">
            <a:avLst/>
          </a:prstGeom>
          <a:solidFill>
            <a:srgbClr val="000000"/>
          </a:solidFill>
          <a:ln/>
        </p:spPr>
      </p:sp>
      <p:sp>
        <p:nvSpPr>
          <p:cNvPr id="28" name="Shape 28"/>
          <p:cNvSpPr/>
          <p:nvPr/>
        </p:nvSpPr>
        <p:spPr>
          <a:xfrm>
            <a:off x="10040112" y="1572768"/>
            <a:ext cx="3383280" cy="1143000"/>
          </a:xfrm>
          <a:prstGeom prst="roundRect">
            <a:avLst>
              <a:gd name="adj" fmla="val 10995"/>
            </a:avLst>
          </a:prstGeom>
          <a:noFill/>
          <a:ln w="25400">
            <a:solidFill>
              <a:srgbClr val="152A47"/>
            </a:solidFill>
            <a:prstDash val="solid"/>
          </a:ln>
        </p:spPr>
      </p:sp>
      <p:sp>
        <p:nvSpPr>
          <p:cNvPr id="29" name="Text 29"/>
          <p:cNvSpPr txBox="1"/>
          <p:nvPr/>
        </p:nvSpPr>
        <p:spPr>
          <a:xfrm>
            <a:off x="10085832" y="1755648"/>
            <a:ext cx="3291840" cy="420624"/>
          </a:xfrm>
          <a:prstGeom prst="rect">
            <a:avLst/>
          </a:prstGeom>
          <a:noFill/>
          <a:ln/>
        </p:spPr>
        <p:txBody>
          <a:bodyPr wrap="square" lIns="25400" tIns="25400" rIns="25400" bIns="25400" rtlCol="0" anchor="t">
            <a:noAutofit/>
          </a:bodyPr>
          <a:lstStyle/>
          <a:p>
            <a:pPr algn="ctr" indent="0" marL="0">
              <a:buNone/>
            </a:pPr>
            <a:r>
              <a:rPr lang="en-US" sz="2250" b="1" dirty="0">
                <a:solidFill>
                  <a:srgbClr val="000000"/>
                </a:solidFill>
                <a:latin typeface="Segoe UI" pitchFamily="34" charset="0"/>
                <a:ea typeface="Segoe UI" pitchFamily="34" charset="-122"/>
                <a:cs typeface="Segoe UI" pitchFamily="34" charset="-120"/>
              </a:rPr>
              <a:t>Your laptop</a:t>
            </a:r>
            <a:endParaRPr lang="en-US" sz="2250" dirty="0"/>
          </a:p>
        </p:txBody>
      </p:sp>
      <p:sp>
        <p:nvSpPr>
          <p:cNvPr id="30" name="Text 30"/>
          <p:cNvSpPr txBox="1"/>
          <p:nvPr/>
        </p:nvSpPr>
        <p:spPr>
          <a:xfrm>
            <a:off x="10085832" y="2212848"/>
            <a:ext cx="3291840" cy="347472"/>
          </a:xfrm>
          <a:prstGeom prst="rect">
            <a:avLst/>
          </a:prstGeom>
          <a:noFill/>
          <a:ln/>
        </p:spPr>
        <p:txBody>
          <a:bodyPr wrap="square" lIns="25400" tIns="25400" rIns="25400" bIns="25400" rtlCol="0" anchor="t">
            <a:noAutofit/>
          </a:bodyPr>
          <a:lstStyle/>
          <a:p>
            <a:pPr algn="ctr" indent="0" marL="0">
              <a:buNone/>
            </a:pPr>
            <a:r>
              <a:rPr lang="en-US" sz="1800" dirty="0">
                <a:solidFill>
                  <a:srgbClr val="000000"/>
                </a:solidFill>
                <a:latin typeface="Segoe UI" pitchFamily="34" charset="0"/>
                <a:ea typeface="Segoe UI" pitchFamily="34" charset="-122"/>
                <a:cs typeface="Segoe UI" pitchFamily="34" charset="-120"/>
              </a:rPr>
              <a:t>Desktop + MATLAB</a:t>
            </a:r>
            <a:endParaRPr lang="en-US" sz="1800" dirty="0"/>
          </a:p>
        </p:txBody>
      </p:sp>
      <p:sp>
        <p:nvSpPr>
          <p:cNvPr id="31" name="Text 31"/>
          <p:cNvSpPr txBox="1"/>
          <p:nvPr/>
        </p:nvSpPr>
        <p:spPr>
          <a:xfrm>
            <a:off x="1810512" y="2926080"/>
            <a:ext cx="11704320" cy="777240"/>
          </a:xfrm>
          <a:prstGeom prst="rect">
            <a:avLst/>
          </a:prstGeom>
          <a:noFill/>
          <a:ln/>
        </p:spPr>
        <p:txBody>
          <a:bodyPr wrap="square" lIns="25400" tIns="25400" rIns="25400" bIns="25400" rtlCol="0" anchor="t">
            <a:noAutofit/>
          </a:bodyPr>
          <a:lstStyle/>
          <a:p>
            <a:pPr algn="l" indent="0" marL="0">
              <a:buNone/>
            </a:pPr>
            <a:r>
              <a:rPr lang="en-US" sz="1950" dirty="0">
                <a:solidFill>
                  <a:srgbClr val="404040"/>
                </a:solidFill>
                <a:latin typeface="Segoe UI" pitchFamily="34" charset="0"/>
                <a:ea typeface="Segoe UI" pitchFamily="34" charset="-122"/>
                <a:cs typeface="Segoe UI" pitchFamily="34" charset="-120"/>
              </a:rPr>
              <a:t>The session can read and change your repo. It cannot reach your laptop, your MATLAB license, or any file outside the repo.</a:t>
            </a:r>
            <a:endParaRPr lang="en-US" sz="1950" dirty="0"/>
          </a:p>
        </p:txBody>
      </p:sp>
      <p:sp>
        <p:nvSpPr>
          <p:cNvPr id="32" name="Shape 32"/>
          <p:cNvSpPr/>
          <p:nvPr/>
        </p:nvSpPr>
        <p:spPr>
          <a:xfrm>
            <a:off x="1810512" y="3840480"/>
            <a:ext cx="1353312" cy="381305"/>
          </a:xfrm>
          <a:prstGeom prst="roundRect">
            <a:avLst>
              <a:gd name="adj" fmla="val 15000"/>
            </a:avLst>
          </a:prstGeom>
          <a:solidFill>
            <a:srgbClr val="595959"/>
          </a:solidFill>
          <a:ln/>
        </p:spPr>
      </p:sp>
      <p:sp>
        <p:nvSpPr>
          <p:cNvPr id="33" name="Text 33"/>
          <p:cNvSpPr txBox="1"/>
          <p:nvPr/>
        </p:nvSpPr>
        <p:spPr>
          <a:xfrm>
            <a:off x="1837944" y="3877056"/>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Segoe UI" pitchFamily="34" charset="0"/>
                <a:ea typeface="Segoe UI" pitchFamily="34" charset="-122"/>
                <a:cs typeface="Segoe UI" pitchFamily="34" charset="-120"/>
              </a:rPr>
              <a:t>EXERCISE</a:t>
            </a:r>
            <a:endParaRPr lang="en-US" sz="1800" dirty="0"/>
          </a:p>
        </p:txBody>
      </p:sp>
      <p:sp>
        <p:nvSpPr>
          <p:cNvPr id="34" name="Text 34"/>
          <p:cNvSpPr txBox="1"/>
          <p:nvPr/>
        </p:nvSpPr>
        <p:spPr>
          <a:xfrm>
            <a:off x="1810512" y="443484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1</a:t>
            </a:r>
            <a:endParaRPr lang="en-US" sz="2250" dirty="0"/>
          </a:p>
        </p:txBody>
      </p:sp>
      <p:sp>
        <p:nvSpPr>
          <p:cNvPr id="35" name="Text 35"/>
          <p:cNvSpPr txBox="1"/>
          <p:nvPr/>
        </p:nvSpPr>
        <p:spPr>
          <a:xfrm>
            <a:off x="2340864" y="4434840"/>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 xml:space="preserve">Go to </a:t>
            </a:r>
            <a:r>
              <a:rPr lang="en-US" sz="1950" b="1" dirty="0">
                <a:solidFill>
                  <a:srgbClr val="000000"/>
                </a:solidFill>
                <a:latin typeface="Segoe UI" pitchFamily="34" charset="0"/>
                <a:ea typeface="Segoe UI" pitchFamily="34" charset="-122"/>
                <a:cs typeface="Segoe UI" pitchFamily="34" charset="-120"/>
              </a:rPr>
              <a:t>claude.ai/code</a:t>
            </a:r>
            <a:r>
              <a:rPr lang="en-US" sz="1950" dirty="0">
                <a:solidFill>
                  <a:srgbClr val="000000"/>
                </a:solidFill>
                <a:latin typeface="Segoe UI" pitchFamily="34" charset="0"/>
                <a:ea typeface="Segoe UI" pitchFamily="34" charset="-122"/>
                <a:cs typeface="Segoe UI" pitchFamily="34" charset="-120"/>
              </a:rPr>
              <a:t xml:space="preserve"> and sign in.</a:t>
            </a:r>
            <a:endParaRPr lang="en-US" sz="1950" dirty="0"/>
          </a:p>
        </p:txBody>
      </p:sp>
      <p:sp>
        <p:nvSpPr>
          <p:cNvPr id="36" name="Text 36"/>
          <p:cNvSpPr txBox="1"/>
          <p:nvPr/>
        </p:nvSpPr>
        <p:spPr>
          <a:xfrm>
            <a:off x="1810512" y="4996782"/>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2</a:t>
            </a:r>
            <a:endParaRPr lang="en-US" sz="2250" dirty="0"/>
          </a:p>
        </p:txBody>
      </p:sp>
      <p:sp>
        <p:nvSpPr>
          <p:cNvPr id="37" name="Text 37"/>
          <p:cNvSpPr txBox="1"/>
          <p:nvPr/>
        </p:nvSpPr>
        <p:spPr>
          <a:xfrm>
            <a:off x="2340864" y="4996782"/>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 xml:space="preserve">Connect GitHub when prompted. Install the Claude GitHub App on </a:t>
            </a:r>
            <a:r>
              <a:rPr lang="en-US" sz="1950" b="1" dirty="0">
                <a:solidFill>
                  <a:srgbClr val="000000"/>
                </a:solidFill>
                <a:latin typeface="Segoe UI" pitchFamily="34" charset="0"/>
                <a:ea typeface="Segoe UI" pitchFamily="34" charset="-122"/>
                <a:cs typeface="Segoe UI" pitchFamily="34" charset="-120"/>
              </a:rPr>
              <a:t>your beam-calc repo only</a:t>
            </a:r>
            <a:r>
              <a:rPr lang="en-US" sz="1950" dirty="0">
                <a:solidFill>
                  <a:srgbClr val="000000"/>
                </a:solidFill>
                <a:latin typeface="Segoe UI" pitchFamily="34" charset="0"/>
                <a:ea typeface="Segoe UI" pitchFamily="34" charset="-122"/>
                <a:cs typeface="Segoe UI" pitchFamily="34" charset="-120"/>
              </a:rPr>
              <a:t>.</a:t>
            </a:r>
            <a:endParaRPr lang="en-US" sz="1950" dirty="0"/>
          </a:p>
        </p:txBody>
      </p:sp>
      <p:sp>
        <p:nvSpPr>
          <p:cNvPr id="38" name="Text 38"/>
          <p:cNvSpPr txBox="1"/>
          <p:nvPr/>
        </p:nvSpPr>
        <p:spPr>
          <a:xfrm>
            <a:off x="1810512" y="5558723"/>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3</a:t>
            </a:r>
            <a:endParaRPr lang="en-US" sz="2250" dirty="0"/>
          </a:p>
        </p:txBody>
      </p:sp>
      <p:sp>
        <p:nvSpPr>
          <p:cNvPr id="39" name="Text 39"/>
          <p:cNvSpPr txBox="1"/>
          <p:nvPr/>
        </p:nvSpPr>
        <p:spPr>
          <a:xfrm>
            <a:off x="2340864" y="5558723"/>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 xml:space="preserve">Accept the </a:t>
            </a:r>
            <a:r>
              <a:rPr lang="en-US" sz="1950" b="1" dirty="0">
                <a:solidFill>
                  <a:srgbClr val="000000"/>
                </a:solidFill>
                <a:latin typeface="Segoe UI" pitchFamily="34" charset="0"/>
                <a:ea typeface="Segoe UI" pitchFamily="34" charset="-122"/>
                <a:cs typeface="Segoe UI" pitchFamily="34" charset="-120"/>
              </a:rPr>
              <a:t>Default</a:t>
            </a:r>
            <a:r>
              <a:rPr lang="en-US" sz="1950" dirty="0">
                <a:solidFill>
                  <a:srgbClr val="000000"/>
                </a:solidFill>
                <a:latin typeface="Segoe UI" pitchFamily="34" charset="0"/>
                <a:ea typeface="Segoe UI" pitchFamily="34" charset="-122"/>
                <a:cs typeface="Segoe UI" pitchFamily="34" charset="-120"/>
              </a:rPr>
              <a:t xml:space="preserve"> environment.</a:t>
            </a:r>
            <a:endParaRPr lang="en-US" sz="1950" dirty="0"/>
          </a:p>
        </p:txBody>
      </p:sp>
      <p:sp>
        <p:nvSpPr>
          <p:cNvPr id="40" name="Text 40"/>
          <p:cNvSpPr txBox="1"/>
          <p:nvPr/>
        </p:nvSpPr>
        <p:spPr>
          <a:xfrm>
            <a:off x="1810512" y="6120665"/>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4</a:t>
            </a:r>
            <a:endParaRPr lang="en-US" sz="2250" dirty="0"/>
          </a:p>
        </p:txBody>
      </p:sp>
      <p:sp>
        <p:nvSpPr>
          <p:cNvPr id="41" name="Text 41"/>
          <p:cNvSpPr txBox="1"/>
          <p:nvPr/>
        </p:nvSpPr>
        <p:spPr>
          <a:xfrm>
            <a:off x="2340864" y="6120665"/>
            <a:ext cx="11173968" cy="703259"/>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 xml:space="preserve">New session: select </a:t>
            </a:r>
            <a:r>
              <a:rPr lang="en-US" sz="1950" b="1" dirty="0">
                <a:solidFill>
                  <a:srgbClr val="000000"/>
                </a:solidFill>
                <a:latin typeface="Segoe UI" pitchFamily="34" charset="0"/>
                <a:ea typeface="Segoe UI" pitchFamily="34" charset="-122"/>
                <a:cs typeface="Segoe UI" pitchFamily="34" charset="-120"/>
              </a:rPr>
              <a:t>beam-calc</a:t>
            </a:r>
            <a:r>
              <a:rPr lang="en-US" sz="1950" dirty="0">
                <a:solidFill>
                  <a:srgbClr val="000000"/>
                </a:solidFill>
                <a:latin typeface="Segoe UI" pitchFamily="34" charset="0"/>
                <a:ea typeface="Segoe UI" pitchFamily="34" charset="-122"/>
                <a:cs typeface="Segoe UI" pitchFamily="34" charset="-120"/>
              </a:rPr>
              <a:t xml:space="preserve"> and the </a:t>
            </a:r>
            <a:r>
              <a:rPr lang="en-US" sz="1950" b="1" dirty="0">
                <a:solidFill>
                  <a:srgbClr val="000000"/>
                </a:solidFill>
                <a:latin typeface="Segoe UI" pitchFamily="34" charset="0"/>
                <a:ea typeface="Segoe UI" pitchFamily="34" charset="-122"/>
                <a:cs typeface="Segoe UI" pitchFamily="34" charset="-120"/>
              </a:rPr>
              <a:t>main</a:t>
            </a:r>
            <a:r>
              <a:rPr lang="en-US" sz="1950" dirty="0">
                <a:solidFill>
                  <a:srgbClr val="000000"/>
                </a:solidFill>
                <a:latin typeface="Segoe UI" pitchFamily="34" charset="0"/>
                <a:ea typeface="Segoe UI" pitchFamily="34" charset="-122"/>
                <a:cs typeface="Segoe UI" pitchFamily="34" charset="-120"/>
              </a:rPr>
              <a:t xml:space="preserve"> branch. The session clones the repo and loads CLAUDE.md.</a:t>
            </a:r>
            <a:endParaRPr lang="en-US" sz="195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3"/>
          <p:cNvSpPr/>
          <p:nvPr/>
        </p:nvSpPr>
        <p:spPr>
          <a:xfrm>
            <a:off x="0" y="0"/>
            <a:ext cx="1543050" cy="10287000"/>
          </a:xfrm>
          <a:prstGeom prst="rect">
            <a:avLst/>
          </a:prstGeom>
          <a:solidFill>
            <a:srgbClr val="E6E6E6"/>
          </a:solidFill>
          <a:ln/>
        </p:spPr>
      </p:sp>
      <p:pic>
        <p:nvPicPr>
          <p:cNvPr id="3" name="Picture 1" descr="image.png"/>
          <p:cNvPicPr>
            <a:picLocks noChangeAspect="1"/>
          </p:cNvPicPr>
          <p:nvPr/>
        </p:nvPicPr>
        <p:blipFill>
          <a:blip r:embed="rId2"/>
          <a:stretch>
            <a:fillRect/>
          </a:stretch>
        </p:blipFill>
        <p:spPr>
          <a:xfrm>
            <a:off x="200025" y="133350"/>
            <a:ext cx="1143000" cy="1143000"/>
          </a:xfrm>
          <a:prstGeom prst="rect">
            <a:avLst/>
          </a:prstGeom>
        </p:spPr>
      </p:pic>
      <p:sp>
        <p:nvSpPr>
          <p:cNvPr id="4" name="Text 4"/>
          <p:cNvSpPr txBox="1"/>
          <p:nvPr/>
        </p:nvSpPr>
        <p:spPr>
          <a:xfrm>
            <a:off x="133350" y="238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5"/>
          <p:cNvSpPr txBox="1"/>
          <p:nvPr/>
        </p:nvSpPr>
        <p:spPr>
          <a:xfrm>
            <a:off x="133350" y="2762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6"/>
          <p:cNvSpPr txBox="1"/>
          <p:nvPr/>
        </p:nvSpPr>
        <p:spPr>
          <a:xfrm>
            <a:off x="133350" y="3143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Specify</a:t>
            </a:r>
            <a:endParaRPr lang="en-US" sz="1800" dirty="0"/>
          </a:p>
        </p:txBody>
      </p:sp>
      <p:sp>
        <p:nvSpPr>
          <p:cNvPr id="7" name="Text 7"/>
          <p:cNvSpPr txBox="1"/>
          <p:nvPr/>
        </p:nvSpPr>
        <p:spPr>
          <a:xfrm>
            <a:off x="133350" y="3524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Setup</a:t>
            </a:r>
            <a:endParaRPr lang="en-US" sz="1800" dirty="0"/>
          </a:p>
        </p:txBody>
      </p:sp>
      <p:sp>
        <p:nvSpPr>
          <p:cNvPr id="8" name="Text 8"/>
          <p:cNvSpPr txBox="1"/>
          <p:nvPr/>
        </p:nvSpPr>
        <p:spPr>
          <a:xfrm>
            <a:off x="133350" y="3905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Generate</a:t>
            </a:r>
            <a:endParaRPr lang="en-US" sz="1800" dirty="0"/>
          </a:p>
        </p:txBody>
      </p:sp>
      <p:sp>
        <p:nvSpPr>
          <p:cNvPr id="9" name="Text 9"/>
          <p:cNvSpPr txBox="1"/>
          <p:nvPr/>
        </p:nvSpPr>
        <p:spPr>
          <a:xfrm>
            <a:off x="133350" y="4286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Adjudicate</a:t>
            </a:r>
            <a:endParaRPr lang="en-US" sz="1800" dirty="0"/>
          </a:p>
        </p:txBody>
      </p:sp>
      <p:sp>
        <p:nvSpPr>
          <p:cNvPr id="10" name="Text 10"/>
          <p:cNvSpPr txBox="1"/>
          <p:nvPr/>
        </p:nvSpPr>
        <p:spPr>
          <a:xfrm>
            <a:off x="133350" y="4667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Pitfalls</a:t>
            </a:r>
            <a:endParaRPr lang="en-US" sz="1800" dirty="0"/>
          </a:p>
        </p:txBody>
      </p:sp>
      <p:sp>
        <p:nvSpPr>
          <p:cNvPr id="11" name="Text 11"/>
          <p:cNvSpPr txBox="1"/>
          <p:nvPr/>
        </p:nvSpPr>
        <p:spPr>
          <a:xfrm>
            <a:off x="133350" y="5048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GenAI Use</a:t>
            </a:r>
            <a:endParaRPr lang="en-US" sz="1800" dirty="0"/>
          </a:p>
        </p:txBody>
      </p:sp>
      <p:sp>
        <p:nvSpPr>
          <p:cNvPr id="12" name="Text 12"/>
          <p:cNvSpPr txBox="1"/>
          <p:nvPr/>
        </p:nvSpPr>
        <p:spPr>
          <a:xfrm>
            <a:off x="133350" y="5429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Your Repo</a:t>
            </a:r>
            <a:endParaRPr lang="en-US" sz="1800" dirty="0"/>
          </a:p>
        </p:txBody>
      </p:sp>
      <p:sp>
        <p:nvSpPr>
          <p:cNvPr id="13" name="Text 13"/>
          <p:cNvSpPr txBox="1"/>
          <p:nvPr/>
        </p:nvSpPr>
        <p:spPr>
          <a:xfrm>
            <a:off x="133350" y="5810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Teaching</a:t>
            </a:r>
            <a:endParaRPr lang="en-US" sz="1800" dirty="0"/>
          </a:p>
        </p:txBody>
      </p:sp>
      <p:sp>
        <p:nvSpPr>
          <p:cNvPr id="14" name="Text 14"/>
          <p:cNvSpPr txBox="1"/>
          <p:nvPr/>
        </p:nvSpPr>
        <p:spPr>
          <a:xfrm>
            <a:off x="133350" y="619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5"/>
          <p:cNvSpPr txBox="1"/>
          <p:nvPr/>
        </p:nvSpPr>
        <p:spPr>
          <a:xfrm>
            <a:off x="1657350" y="200025"/>
            <a:ext cx="10988040" cy="1057275"/>
          </a:xfrm>
          <a:prstGeom prst="rect">
            <a:avLst/>
          </a:prstGeom>
          <a:noFill/>
          <a:ln/>
        </p:spPr>
        <p:txBody>
          <a:bodyPr wrap="square" lIns="25400" tIns="25400" rIns="25400" bIns="25400" rtlCol="0" anchor="ctr">
            <a:no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Exercise 3: Orient the Agent</a:t>
            </a:r>
            <a:endParaRPr lang="en-US" sz="4800" dirty="0"/>
          </a:p>
        </p:txBody>
      </p:sp>
      <p:sp>
        <p:nvSpPr>
          <p:cNvPr id="16" name="Text 16"/>
          <p:cNvSpPr txBox="1"/>
          <p:nvPr/>
        </p:nvSpPr>
        <p:spPr>
          <a:xfrm>
            <a:off x="12515950" y="133350"/>
            <a:ext cx="1142901" cy="393700"/>
          </a:xfrm>
          <a:prstGeom prst="rect">
            <a:avLst/>
          </a:prstGeom>
          <a:noFill/>
          <a:ln/>
        </p:spPr>
        <p:txBody>
          <a:bodyPr wrap="non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2</a:t>
            </a:r>
            <a:endParaRPr lang="en-US" sz="2100" dirty="0"/>
          </a:p>
        </p:txBody>
      </p:sp>
      <p:sp>
        <p:nvSpPr>
          <p:cNvPr id="17" name="Shape 17"/>
          <p:cNvSpPr/>
          <p:nvPr/>
        </p:nvSpPr>
        <p:spPr>
          <a:xfrm>
            <a:off x="1657350" y="1219200"/>
            <a:ext cx="11925300" cy="66675"/>
          </a:xfrm>
          <a:prstGeom prst="rect">
            <a:avLst/>
          </a:prstGeom>
          <a:solidFill>
            <a:srgbClr val="000000"/>
          </a:solidFill>
          <a:ln/>
        </p:spPr>
      </p:sp>
      <p:sp>
        <p:nvSpPr>
          <p:cNvPr id="18" name="Text 18"/>
          <p:cNvSpPr txBox="1"/>
          <p:nvPr/>
        </p:nvSpPr>
        <p:spPr>
          <a:xfrm>
            <a:off x="1054418" y="9810750"/>
            <a:ext cx="13264515" cy="342900"/>
          </a:xfrm>
          <a:prstGeom prst="rect">
            <a:avLst/>
          </a:prstGeom>
          <a:noFill/>
          <a:ln/>
        </p:spPr>
        <p:txBody>
          <a:bodyPr wrap="square" lIns="25400" tIns="25400" rIns="25400" bIns="25400" rtlCol="0" anchor="t">
            <a:no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2</a:t>
            </a:r>
            <a:endParaRPr lang="en-US" sz="1800" dirty="0"/>
          </a:p>
        </p:txBody>
      </p:sp>
      <p:sp>
        <p:nvSpPr>
          <p:cNvPr id="19" name="Text 19"/>
          <p:cNvSpPr txBox="1"/>
          <p:nvPr/>
        </p:nvSpPr>
        <p:spPr>
          <a:xfrm>
            <a:off x="13336850" y="9810750"/>
            <a:ext cx="322000" cy="342900"/>
          </a:xfrm>
          <a:prstGeom prst="rect">
            <a:avLst/>
          </a:prstGeom>
          <a:noFill/>
          <a:ln/>
        </p:spPr>
        <p:txBody>
          <a:bodyPr wrap="none" lIns="25400" tIns="25400" rIns="25400" bIns="25400" rtlCol="0" anchor="t">
            <a:no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10</a:t>
            </a:r>
            <a:endParaRPr lang="en-US" sz="1800" dirty="0"/>
          </a:p>
        </p:txBody>
      </p:sp>
      <p:sp>
        <p:nvSpPr>
          <p:cNvPr id="20" name="Shape 20"/>
          <p:cNvSpPr/>
          <p:nvPr/>
        </p:nvSpPr>
        <p:spPr>
          <a:xfrm>
            <a:off x="1810512" y="1527048"/>
            <a:ext cx="1353312" cy="381305"/>
          </a:xfrm>
          <a:prstGeom prst="roundRect">
            <a:avLst>
              <a:gd name="adj" fmla="val 15000"/>
            </a:avLst>
          </a:prstGeom>
          <a:solidFill>
            <a:srgbClr val="595959"/>
          </a:solidFill>
          <a:ln/>
        </p:spPr>
      </p:sp>
      <p:sp>
        <p:nvSpPr>
          <p:cNvPr id="21" name="Text 21"/>
          <p:cNvSpPr txBox="1"/>
          <p:nvPr/>
        </p:nvSpPr>
        <p:spPr>
          <a:xfrm>
            <a:off x="1837944" y="156362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Segoe UI" pitchFamily="34" charset="0"/>
                <a:ea typeface="Segoe UI" pitchFamily="34" charset="-122"/>
                <a:cs typeface="Segoe UI" pitchFamily="34" charset="-120"/>
              </a:rPr>
              <a:t>EXERCISE</a:t>
            </a:r>
            <a:endParaRPr lang="en-US" sz="1800" dirty="0"/>
          </a:p>
        </p:txBody>
      </p:sp>
      <p:sp>
        <p:nvSpPr>
          <p:cNvPr id="22" name="Text 22"/>
          <p:cNvSpPr txBox="1"/>
          <p:nvPr/>
        </p:nvSpPr>
        <p:spPr>
          <a:xfrm>
            <a:off x="1810512" y="2103120"/>
            <a:ext cx="11704320" cy="41148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Segoe UI" pitchFamily="34" charset="0"/>
                <a:ea typeface="Segoe UI" pitchFamily="34" charset="-122"/>
                <a:cs typeface="Segoe UI" pitchFamily="34" charset="-120"/>
              </a:rPr>
              <a:t>Send an orientation prompt before asking for any change:</a:t>
            </a:r>
            <a:endParaRPr lang="en-US" sz="1950" dirty="0"/>
          </a:p>
        </p:txBody>
      </p:sp>
      <p:sp>
        <p:nvSpPr>
          <p:cNvPr id="23" name="Shape 23"/>
          <p:cNvSpPr/>
          <p:nvPr/>
        </p:nvSpPr>
        <p:spPr>
          <a:xfrm>
            <a:off x="1810512" y="2697480"/>
            <a:ext cx="11676888" cy="1426464"/>
          </a:xfrm>
          <a:prstGeom prst="roundRect">
            <a:avLst>
              <a:gd name="adj" fmla="val 4000"/>
            </a:avLst>
          </a:prstGeom>
          <a:solidFill>
            <a:srgbClr val="F2F2F2"/>
          </a:solidFill>
          <a:ln/>
        </p:spPr>
      </p:sp>
      <p:sp>
        <p:nvSpPr>
          <p:cNvPr id="24" name="Text 24"/>
          <p:cNvSpPr txBox="1"/>
          <p:nvPr/>
        </p:nvSpPr>
        <p:spPr>
          <a:xfrm>
            <a:off x="2011680" y="2834640"/>
            <a:ext cx="11311128"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1F6FB2"/>
                </a:solidFill>
                <a:latin typeface="Segoe UI" pitchFamily="34" charset="0"/>
                <a:ea typeface="Segoe UI" pitchFamily="34" charset="-122"/>
                <a:cs typeface="Segoe UI" pitchFamily="34" charset="-120"/>
              </a:rPr>
              <a:t>YOU</a:t>
            </a:r>
            <a:endParaRPr lang="en-US" sz="1650" dirty="0"/>
          </a:p>
        </p:txBody>
      </p:sp>
      <p:sp>
        <p:nvSpPr>
          <p:cNvPr id="25" name="Text 25"/>
          <p:cNvSpPr txBox="1"/>
          <p:nvPr/>
        </p:nvSpPr>
        <p:spPr>
          <a:xfrm>
            <a:off x="2011680" y="3200400"/>
            <a:ext cx="11311128" cy="832104"/>
          </a:xfrm>
          <a:prstGeom prst="rect">
            <a:avLst/>
          </a:prstGeom>
          <a:noFill/>
          <a:ln/>
        </p:spPr>
        <p:txBody>
          <a:bodyPr wrap="square" lIns="25400" tIns="25400" rIns="25400" bIns="25400" rtlCol="0" anchor="t">
            <a:noAutofit/>
          </a:bodyPr>
          <a:lstStyle/>
          <a:p>
            <a:pPr algn="l" indent="0" marL="0">
              <a:spcAft>
                <a:spcPts val="400"/>
              </a:spcAft>
              <a:buNone/>
            </a:pPr>
            <a:r>
              <a:rPr lang="en-US" sz="1800" dirty="0">
                <a:solidFill>
                  <a:srgbClr val="000000"/>
                </a:solidFill>
                <a:latin typeface="Segoe UI" pitchFamily="34" charset="0"/>
                <a:ea typeface="Segoe UI" pitchFamily="34" charset="-122"/>
                <a:cs typeface="Segoe UI" pitchFamily="34" charset="-120"/>
              </a:rPr>
              <a:t>Read CLAUDE.md, AGENTS.md, beam.m, and tests/testBeam.m. Summarize what the code computes, its units, and how it is tested. Don’t change any files.</a:t>
            </a:r>
            <a:endParaRPr lang="en-US" sz="1800" dirty="0"/>
          </a:p>
        </p:txBody>
      </p:sp>
      <p:sp>
        <p:nvSpPr>
          <p:cNvPr id="26" name="Shape 26"/>
          <p:cNvSpPr/>
          <p:nvPr/>
        </p:nvSpPr>
        <p:spPr>
          <a:xfrm>
            <a:off x="1810512" y="4398264"/>
            <a:ext cx="11676888" cy="1705356"/>
          </a:xfrm>
          <a:prstGeom prst="roundRect">
            <a:avLst>
              <a:gd name="adj" fmla="val 4000"/>
            </a:avLst>
          </a:prstGeom>
          <a:solidFill>
            <a:srgbClr val="152A47"/>
          </a:solidFill>
          <a:ln/>
        </p:spPr>
      </p:sp>
      <p:sp>
        <p:nvSpPr>
          <p:cNvPr id="27" name="Text 27"/>
          <p:cNvSpPr txBox="1"/>
          <p:nvPr/>
        </p:nvSpPr>
        <p:spPr>
          <a:xfrm>
            <a:off x="2011680" y="4535424"/>
            <a:ext cx="11311128"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00B0F0"/>
                </a:solidFill>
                <a:latin typeface="Segoe UI" pitchFamily="34" charset="0"/>
                <a:ea typeface="Segoe UI" pitchFamily="34" charset="-122"/>
                <a:cs typeface="Segoe UI" pitchFamily="34" charset="-120"/>
              </a:rPr>
              <a:t>AGENT</a:t>
            </a:r>
            <a:endParaRPr lang="en-US" sz="1650" dirty="0"/>
          </a:p>
        </p:txBody>
      </p:sp>
      <p:sp>
        <p:nvSpPr>
          <p:cNvPr id="28" name="Text 28"/>
          <p:cNvSpPr txBox="1"/>
          <p:nvPr/>
        </p:nvSpPr>
        <p:spPr>
          <a:xfrm>
            <a:off x="2011680" y="4901184"/>
            <a:ext cx="11311128" cy="1110996"/>
          </a:xfrm>
          <a:prstGeom prst="rect">
            <a:avLst/>
          </a:prstGeom>
          <a:noFill/>
          <a:ln/>
        </p:spPr>
        <p:txBody>
          <a:bodyPr wrap="square" lIns="25400" tIns="25400" rIns="25400" bIns="25400" rtlCol="0" anchor="t">
            <a:noAutofit/>
          </a:bodyPr>
          <a:lstStyle/>
          <a:p>
            <a:pPr algn="l" indent="0" marL="0">
              <a:spcAft>
                <a:spcPts val="400"/>
              </a:spcAft>
              <a:buNone/>
            </a:pPr>
            <a:r>
              <a:rPr lang="en-US" sz="1800" dirty="0">
                <a:solidFill>
                  <a:srgbClr val="FFFFFF"/>
                </a:solidFill>
                <a:latin typeface="Segoe UI" pitchFamily="34" charset="0"/>
                <a:ea typeface="Segoe UI" pitchFamily="34" charset="-122"/>
                <a:cs typeface="Segoe UI" pitchFamily="34" charset="-120"/>
              </a:rPr>
              <a:t>beam.m computes the tip deflection of a cantilever under a point load, δ = PL³/(3EI), in SI units, and prints it in mm. tests/testBeam.m checks that result; run it with runtests('tests'). I can’t run MATLAB here, so I haven’t executed the tests.</a:t>
            </a:r>
            <a:endParaRPr lang="en-US" sz="1800" dirty="0"/>
          </a:p>
        </p:txBody>
      </p:sp>
      <p:sp>
        <p:nvSpPr>
          <p:cNvPr id="29" name="Text 29"/>
          <p:cNvSpPr txBox="1"/>
          <p:nvPr/>
        </p:nvSpPr>
        <p:spPr>
          <a:xfrm>
            <a:off x="1810512" y="6423660"/>
            <a:ext cx="11704320" cy="822960"/>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Segoe UI" pitchFamily="34" charset="0"/>
                <a:ea typeface="Segoe UI" pitchFamily="34" charset="-122"/>
                <a:cs typeface="Segoe UI" pitchFamily="34" charset="-120"/>
              </a:rPr>
              <a:t>Check the summary against the code. If the agent misunderstands the code now, its changes will be wrong too.</a:t>
            </a:r>
            <a:endParaRPr lang="en-US" sz="195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3"/>
          <p:cNvSpPr/>
          <p:nvPr/>
        </p:nvSpPr>
        <p:spPr>
          <a:xfrm>
            <a:off x="0" y="0"/>
            <a:ext cx="1543050" cy="10287000"/>
          </a:xfrm>
          <a:prstGeom prst="rect">
            <a:avLst/>
          </a:prstGeom>
          <a:solidFill>
            <a:srgbClr val="E6E6E6"/>
          </a:solidFill>
          <a:ln/>
        </p:spPr>
      </p:sp>
      <p:pic>
        <p:nvPicPr>
          <p:cNvPr id="3" name="Picture 1" descr="image.png"/>
          <p:cNvPicPr>
            <a:picLocks noChangeAspect="1"/>
          </p:cNvPicPr>
          <p:nvPr/>
        </p:nvPicPr>
        <p:blipFill>
          <a:blip r:embed="rId2"/>
          <a:stretch>
            <a:fillRect/>
          </a:stretch>
        </p:blipFill>
        <p:spPr>
          <a:xfrm>
            <a:off x="200025" y="133350"/>
            <a:ext cx="1143000" cy="1143000"/>
          </a:xfrm>
          <a:prstGeom prst="rect">
            <a:avLst/>
          </a:prstGeom>
        </p:spPr>
      </p:pic>
      <p:sp>
        <p:nvSpPr>
          <p:cNvPr id="4" name="Text 4"/>
          <p:cNvSpPr txBox="1"/>
          <p:nvPr/>
        </p:nvSpPr>
        <p:spPr>
          <a:xfrm>
            <a:off x="133350" y="238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5"/>
          <p:cNvSpPr txBox="1"/>
          <p:nvPr/>
        </p:nvSpPr>
        <p:spPr>
          <a:xfrm>
            <a:off x="133350" y="2762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6"/>
          <p:cNvSpPr txBox="1"/>
          <p:nvPr/>
        </p:nvSpPr>
        <p:spPr>
          <a:xfrm>
            <a:off x="133350" y="3143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Specify</a:t>
            </a:r>
            <a:endParaRPr lang="en-US" sz="1800" dirty="0"/>
          </a:p>
        </p:txBody>
      </p:sp>
      <p:sp>
        <p:nvSpPr>
          <p:cNvPr id="7" name="Text 7"/>
          <p:cNvSpPr txBox="1"/>
          <p:nvPr/>
        </p:nvSpPr>
        <p:spPr>
          <a:xfrm>
            <a:off x="133350" y="3524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8" name="Text 8"/>
          <p:cNvSpPr txBox="1"/>
          <p:nvPr/>
        </p:nvSpPr>
        <p:spPr>
          <a:xfrm>
            <a:off x="133350" y="3905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Generate</a:t>
            </a:r>
            <a:endParaRPr lang="en-US" sz="1800" dirty="0"/>
          </a:p>
        </p:txBody>
      </p:sp>
      <p:sp>
        <p:nvSpPr>
          <p:cNvPr id="9" name="Text 9"/>
          <p:cNvSpPr txBox="1"/>
          <p:nvPr/>
        </p:nvSpPr>
        <p:spPr>
          <a:xfrm>
            <a:off x="133350" y="4286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Adjudicate</a:t>
            </a:r>
            <a:endParaRPr lang="en-US" sz="1800" dirty="0"/>
          </a:p>
        </p:txBody>
      </p:sp>
      <p:sp>
        <p:nvSpPr>
          <p:cNvPr id="10" name="Text 10"/>
          <p:cNvSpPr txBox="1"/>
          <p:nvPr/>
        </p:nvSpPr>
        <p:spPr>
          <a:xfrm>
            <a:off x="133350" y="4667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Pitfalls</a:t>
            </a:r>
            <a:endParaRPr lang="en-US" sz="1800" dirty="0"/>
          </a:p>
        </p:txBody>
      </p:sp>
      <p:sp>
        <p:nvSpPr>
          <p:cNvPr id="11" name="Text 11"/>
          <p:cNvSpPr txBox="1"/>
          <p:nvPr/>
        </p:nvSpPr>
        <p:spPr>
          <a:xfrm>
            <a:off x="133350" y="5048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GenAI Use</a:t>
            </a:r>
            <a:endParaRPr lang="en-US" sz="1800" dirty="0"/>
          </a:p>
        </p:txBody>
      </p:sp>
      <p:sp>
        <p:nvSpPr>
          <p:cNvPr id="12" name="Text 12"/>
          <p:cNvSpPr txBox="1"/>
          <p:nvPr/>
        </p:nvSpPr>
        <p:spPr>
          <a:xfrm>
            <a:off x="133350" y="5429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Your Repo</a:t>
            </a:r>
            <a:endParaRPr lang="en-US" sz="1800" dirty="0"/>
          </a:p>
        </p:txBody>
      </p:sp>
      <p:sp>
        <p:nvSpPr>
          <p:cNvPr id="13" name="Text 13"/>
          <p:cNvSpPr txBox="1"/>
          <p:nvPr/>
        </p:nvSpPr>
        <p:spPr>
          <a:xfrm>
            <a:off x="133350" y="5810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Teaching</a:t>
            </a:r>
            <a:endParaRPr lang="en-US" sz="1800" dirty="0"/>
          </a:p>
        </p:txBody>
      </p:sp>
      <p:sp>
        <p:nvSpPr>
          <p:cNvPr id="14" name="Text 14"/>
          <p:cNvSpPr txBox="1"/>
          <p:nvPr/>
        </p:nvSpPr>
        <p:spPr>
          <a:xfrm>
            <a:off x="133350" y="619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5"/>
          <p:cNvSpPr txBox="1"/>
          <p:nvPr/>
        </p:nvSpPr>
        <p:spPr>
          <a:xfrm>
            <a:off x="1657350" y="200025"/>
            <a:ext cx="10988040" cy="1057275"/>
          </a:xfrm>
          <a:prstGeom prst="rect">
            <a:avLst/>
          </a:prstGeom>
          <a:noFill/>
          <a:ln/>
        </p:spPr>
        <p:txBody>
          <a:bodyPr wrap="square" lIns="25400" tIns="25400" rIns="25400" bIns="25400" rtlCol="0" anchor="ctr">
            <a:no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Exercise 4: Plan Before Code</a:t>
            </a:r>
            <a:endParaRPr lang="en-US" sz="4800" dirty="0"/>
          </a:p>
        </p:txBody>
      </p:sp>
      <p:sp>
        <p:nvSpPr>
          <p:cNvPr id="16" name="Text 16"/>
          <p:cNvSpPr txBox="1"/>
          <p:nvPr/>
        </p:nvSpPr>
        <p:spPr>
          <a:xfrm>
            <a:off x="12515950" y="133350"/>
            <a:ext cx="1142901" cy="393700"/>
          </a:xfrm>
          <a:prstGeom prst="rect">
            <a:avLst/>
          </a:prstGeom>
          <a:noFill/>
          <a:ln/>
        </p:spPr>
        <p:txBody>
          <a:bodyPr wrap="non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2</a:t>
            </a:r>
            <a:endParaRPr lang="en-US" sz="2100" dirty="0"/>
          </a:p>
        </p:txBody>
      </p:sp>
      <p:sp>
        <p:nvSpPr>
          <p:cNvPr id="17" name="Shape 17"/>
          <p:cNvSpPr/>
          <p:nvPr/>
        </p:nvSpPr>
        <p:spPr>
          <a:xfrm>
            <a:off x="1657350" y="1219200"/>
            <a:ext cx="11925300" cy="66675"/>
          </a:xfrm>
          <a:prstGeom prst="rect">
            <a:avLst/>
          </a:prstGeom>
          <a:solidFill>
            <a:srgbClr val="000000"/>
          </a:solidFill>
          <a:ln/>
        </p:spPr>
      </p:sp>
      <p:sp>
        <p:nvSpPr>
          <p:cNvPr id="18" name="Text 18"/>
          <p:cNvSpPr txBox="1"/>
          <p:nvPr/>
        </p:nvSpPr>
        <p:spPr>
          <a:xfrm>
            <a:off x="1054418" y="9810750"/>
            <a:ext cx="13264515" cy="342900"/>
          </a:xfrm>
          <a:prstGeom prst="rect">
            <a:avLst/>
          </a:prstGeom>
          <a:noFill/>
          <a:ln/>
        </p:spPr>
        <p:txBody>
          <a:bodyPr wrap="square" lIns="25400" tIns="25400" rIns="25400" bIns="25400" rtlCol="0" anchor="t">
            <a:no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2</a:t>
            </a:r>
            <a:endParaRPr lang="en-US" sz="1800" dirty="0"/>
          </a:p>
        </p:txBody>
      </p:sp>
      <p:sp>
        <p:nvSpPr>
          <p:cNvPr id="19" name="Text 19"/>
          <p:cNvSpPr txBox="1"/>
          <p:nvPr/>
        </p:nvSpPr>
        <p:spPr>
          <a:xfrm>
            <a:off x="13336850" y="9810750"/>
            <a:ext cx="322000" cy="342900"/>
          </a:xfrm>
          <a:prstGeom prst="rect">
            <a:avLst/>
          </a:prstGeom>
          <a:noFill/>
          <a:ln/>
        </p:spPr>
        <p:txBody>
          <a:bodyPr wrap="none" lIns="25400" tIns="25400" rIns="25400" bIns="25400" rtlCol="0" anchor="t">
            <a:no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11</a:t>
            </a:r>
            <a:endParaRPr lang="en-US" sz="1800" dirty="0"/>
          </a:p>
        </p:txBody>
      </p:sp>
      <p:sp>
        <p:nvSpPr>
          <p:cNvPr id="20" name="Shape 20"/>
          <p:cNvSpPr/>
          <p:nvPr/>
        </p:nvSpPr>
        <p:spPr>
          <a:xfrm>
            <a:off x="1810512" y="1527048"/>
            <a:ext cx="1353312" cy="381305"/>
          </a:xfrm>
          <a:prstGeom prst="roundRect">
            <a:avLst>
              <a:gd name="adj" fmla="val 15000"/>
            </a:avLst>
          </a:prstGeom>
          <a:solidFill>
            <a:srgbClr val="595959"/>
          </a:solidFill>
          <a:ln/>
        </p:spPr>
      </p:sp>
      <p:sp>
        <p:nvSpPr>
          <p:cNvPr id="21" name="Text 21"/>
          <p:cNvSpPr txBox="1"/>
          <p:nvPr/>
        </p:nvSpPr>
        <p:spPr>
          <a:xfrm>
            <a:off x="1837944" y="156362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Segoe UI" pitchFamily="34" charset="0"/>
                <a:ea typeface="Segoe UI" pitchFamily="34" charset="-122"/>
                <a:cs typeface="Segoe UI" pitchFamily="34" charset="-120"/>
              </a:rPr>
              <a:t>EXERCISE</a:t>
            </a:r>
            <a:endParaRPr lang="en-US" sz="1800" dirty="0"/>
          </a:p>
        </p:txBody>
      </p:sp>
      <p:sp>
        <p:nvSpPr>
          <p:cNvPr id="22" name="Shape 22"/>
          <p:cNvSpPr/>
          <p:nvPr/>
        </p:nvSpPr>
        <p:spPr>
          <a:xfrm>
            <a:off x="1810512" y="2103120"/>
            <a:ext cx="5715000" cy="3383280"/>
          </a:xfrm>
          <a:prstGeom prst="roundRect">
            <a:avLst>
              <a:gd name="adj" fmla="val 4000"/>
            </a:avLst>
          </a:prstGeom>
          <a:solidFill>
            <a:srgbClr val="F2F2F2"/>
          </a:solidFill>
          <a:ln/>
        </p:spPr>
      </p:sp>
      <p:sp>
        <p:nvSpPr>
          <p:cNvPr id="23" name="Text 23"/>
          <p:cNvSpPr txBox="1"/>
          <p:nvPr/>
        </p:nvSpPr>
        <p:spPr>
          <a:xfrm>
            <a:off x="2011680" y="2240280"/>
            <a:ext cx="5349240"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1F6FB2"/>
                </a:solidFill>
                <a:latin typeface="Segoe UI" pitchFamily="34" charset="0"/>
                <a:ea typeface="Segoe UI" pitchFamily="34" charset="-122"/>
                <a:cs typeface="Segoe UI" pitchFamily="34" charset="-120"/>
              </a:rPr>
              <a:t>YOU</a:t>
            </a:r>
            <a:endParaRPr lang="en-US" sz="1650" dirty="0"/>
          </a:p>
        </p:txBody>
      </p:sp>
      <p:sp>
        <p:nvSpPr>
          <p:cNvPr id="24" name="Text 24"/>
          <p:cNvSpPr txBox="1"/>
          <p:nvPr/>
        </p:nvSpPr>
        <p:spPr>
          <a:xfrm>
            <a:off x="2011680" y="2606040"/>
            <a:ext cx="5349240" cy="2788920"/>
          </a:xfrm>
          <a:prstGeom prst="rect">
            <a:avLst/>
          </a:prstGeom>
          <a:noFill/>
          <a:ln/>
        </p:spPr>
        <p:txBody>
          <a:bodyPr wrap="square" lIns="25400" tIns="25400" rIns="25400" bIns="25400" rtlCol="0" anchor="t">
            <a:noAutofit/>
          </a:bodyPr>
          <a:lstStyle/>
          <a:p>
            <a:pPr algn="l" indent="0" marL="0">
              <a:spcAft>
                <a:spcPts val="400"/>
              </a:spcAft>
              <a:buNone/>
            </a:pPr>
            <a:r>
              <a:rPr lang="en-US" sz="1800" dirty="0">
                <a:solidFill>
                  <a:srgbClr val="000000"/>
                </a:solidFill>
                <a:latin typeface="Segoe UI" pitchFamily="34" charset="0"/>
                <a:ea typeface="Segoe UI" pitchFamily="34" charset="-122"/>
                <a:cs typeface="Segoe UI" pitchFamily="34" charset="-120"/>
              </a:rPr>
              <a:t>Implement the requirement: add tipDeflectionUDL(w, L, E, I), δ = wL⁴/(8EI), print it from beam.m, and add a test against the hand calculation (2.40 mm).</a:t>
            </a:r>
            <a:endParaRPr lang="en-US" sz="1800" dirty="0"/>
          </a:p>
          <a:p>
            <a:pPr algn="l" indent="0" marL="0">
              <a:spcAft>
                <a:spcPts val="400"/>
              </a:spcAft>
              <a:buNone/>
            </a:pPr>
            <a:r>
              <a:rPr lang="en-US" sz="1800" b="1" dirty="0">
                <a:solidFill>
                  <a:srgbClr val="000000"/>
                </a:solidFill>
                <a:latin typeface="Segoe UI" pitchFamily="34" charset="0"/>
                <a:ea typeface="Segoe UI" pitchFamily="34" charset="-122"/>
                <a:cs typeface="Segoe UI" pitchFamily="34" charset="-120"/>
              </a:rPr>
              <a:t>Don’t write code yet. Give me a plan: files and functions you’ll change, and any questions.</a:t>
            </a:r>
            <a:endParaRPr lang="en-US" sz="1800" dirty="0"/>
          </a:p>
        </p:txBody>
      </p:sp>
      <p:sp>
        <p:nvSpPr>
          <p:cNvPr id="25" name="Shape 25"/>
          <p:cNvSpPr/>
          <p:nvPr/>
        </p:nvSpPr>
        <p:spPr>
          <a:xfrm>
            <a:off x="7772400" y="2103120"/>
            <a:ext cx="5715000" cy="3383280"/>
          </a:xfrm>
          <a:prstGeom prst="roundRect">
            <a:avLst>
              <a:gd name="adj" fmla="val 4000"/>
            </a:avLst>
          </a:prstGeom>
          <a:solidFill>
            <a:srgbClr val="152A47"/>
          </a:solidFill>
          <a:ln/>
        </p:spPr>
      </p:sp>
      <p:sp>
        <p:nvSpPr>
          <p:cNvPr id="26" name="Text 26"/>
          <p:cNvSpPr txBox="1"/>
          <p:nvPr/>
        </p:nvSpPr>
        <p:spPr>
          <a:xfrm>
            <a:off x="7973568" y="2240280"/>
            <a:ext cx="5349240"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00B0F0"/>
                </a:solidFill>
                <a:latin typeface="Segoe UI" pitchFamily="34" charset="0"/>
                <a:ea typeface="Segoe UI" pitchFamily="34" charset="-122"/>
                <a:cs typeface="Segoe UI" pitchFamily="34" charset="-120"/>
              </a:rPr>
              <a:t>AGENT</a:t>
            </a:r>
            <a:endParaRPr lang="en-US" sz="1650" dirty="0"/>
          </a:p>
        </p:txBody>
      </p:sp>
      <p:sp>
        <p:nvSpPr>
          <p:cNvPr id="27" name="Text 27"/>
          <p:cNvSpPr txBox="1"/>
          <p:nvPr/>
        </p:nvSpPr>
        <p:spPr>
          <a:xfrm>
            <a:off x="7973568" y="2606040"/>
            <a:ext cx="5349240" cy="2788920"/>
          </a:xfrm>
          <a:prstGeom prst="rect">
            <a:avLst/>
          </a:prstGeom>
          <a:noFill/>
          <a:ln/>
        </p:spPr>
        <p:txBody>
          <a:bodyPr wrap="square" lIns="25400" tIns="25400" rIns="25400" bIns="25400" rtlCol="0" anchor="t">
            <a:noAutofit/>
          </a:bodyPr>
          <a:lstStyle/>
          <a:p>
            <a:pPr algn="l" indent="0" marL="0">
              <a:spcAft>
                <a:spcPts val="400"/>
              </a:spcAft>
              <a:buNone/>
            </a:pPr>
            <a:r>
              <a:rPr lang="en-US" sz="1800" dirty="0">
                <a:solidFill>
                  <a:srgbClr val="FFFFFF"/>
                </a:solidFill>
                <a:latin typeface="Segoe UI" pitchFamily="34" charset="0"/>
                <a:ea typeface="Segoe UI" pitchFamily="34" charset="-122"/>
                <a:cs typeface="Segoe UI" pitchFamily="34" charset="-120"/>
              </a:rPr>
              <a:t>Plan:</a:t>
            </a:r>
            <a:endParaRPr lang="en-US" sz="1800" dirty="0"/>
          </a:p>
          <a:p>
            <a:pPr algn="l" indent="0" marL="0">
              <a:spcAft>
                <a:spcPts val="400"/>
              </a:spcAft>
              <a:buNone/>
            </a:pPr>
            <a:r>
              <a:rPr lang="en-US" sz="1800" dirty="0">
                <a:solidFill>
                  <a:srgbClr val="FFFFFF"/>
                </a:solidFill>
                <a:latin typeface="Segoe UI" pitchFamily="34" charset="0"/>
                <a:ea typeface="Segoe UI" pitchFamily="34" charset="-122"/>
                <a:cs typeface="Segoe UI" pitchFamily="34" charset="-120"/>
              </a:rPr>
              <a:t>1. New file tipDeflectionUDL.m.</a:t>
            </a:r>
            <a:endParaRPr lang="en-US" sz="1800" dirty="0"/>
          </a:p>
          <a:p>
            <a:pPr algn="l" indent="0" marL="0">
              <a:spcAft>
                <a:spcPts val="400"/>
              </a:spcAft>
              <a:buNone/>
            </a:pPr>
            <a:r>
              <a:rPr lang="en-US" sz="1800" dirty="0">
                <a:solidFill>
                  <a:srgbClr val="FFFFFF"/>
                </a:solidFill>
                <a:latin typeface="Segoe UI" pitchFamily="34" charset="0"/>
                <a:ea typeface="Segoe UI" pitchFamily="34" charset="-122"/>
                <a:cs typeface="Segoe UI" pitchFamily="34" charset="-120"/>
              </a:rPr>
              <a:t>2. beam.m: add w = 1000 N/m; print the result after the point load.</a:t>
            </a:r>
            <a:endParaRPr lang="en-US" sz="1800" dirty="0"/>
          </a:p>
          <a:p>
            <a:pPr algn="l" indent="0" marL="0">
              <a:spcAft>
                <a:spcPts val="400"/>
              </a:spcAft>
              <a:buNone/>
            </a:pPr>
            <a:r>
              <a:rPr lang="en-US" sz="1800" dirty="0">
                <a:solidFill>
                  <a:srgbClr val="FFFFFF"/>
                </a:solidFill>
                <a:latin typeface="Segoe UI" pitchFamily="34" charset="0"/>
                <a:ea typeface="Segoe UI" pitchFamily="34" charset="-122"/>
                <a:cs typeface="Segoe UI" pitchFamily="34" charset="-120"/>
              </a:rPr>
              <a:t>3. tests/testBeam.m: add testUDLHandCalc.</a:t>
            </a:r>
            <a:endParaRPr lang="en-US" sz="1800" dirty="0"/>
          </a:p>
          <a:p>
            <a:pPr algn="l" indent="0" marL="0">
              <a:spcAft>
                <a:spcPts val="400"/>
              </a:spcAft>
              <a:buNone/>
            </a:pPr>
            <a:r>
              <a:rPr lang="en-US" sz="1800" dirty="0">
                <a:solidFill>
                  <a:srgbClr val="FFC000"/>
                </a:solidFill>
                <a:latin typeface="Segoe UI" pitchFamily="34" charset="0"/>
                <a:ea typeface="Segoe UI" pitchFamily="34" charset="-122"/>
                <a:cs typeface="Segoe UI" pitchFamily="34" charset="-120"/>
              </a:rPr>
              <a:t>Question: does w act over the full length?</a:t>
            </a:r>
            <a:endParaRPr lang="en-US" sz="1800" dirty="0"/>
          </a:p>
        </p:txBody>
      </p:sp>
      <p:sp>
        <p:nvSpPr>
          <p:cNvPr id="28" name="Shape 28"/>
          <p:cNvSpPr/>
          <p:nvPr/>
        </p:nvSpPr>
        <p:spPr>
          <a:xfrm>
            <a:off x="1810512" y="5760720"/>
            <a:ext cx="11676888" cy="1051560"/>
          </a:xfrm>
          <a:prstGeom prst="roundRect">
            <a:avLst>
              <a:gd name="adj" fmla="val 4000"/>
            </a:avLst>
          </a:prstGeom>
          <a:solidFill>
            <a:srgbClr val="F2F2F2"/>
          </a:solidFill>
          <a:ln/>
        </p:spPr>
      </p:sp>
      <p:sp>
        <p:nvSpPr>
          <p:cNvPr id="29" name="Text 29"/>
          <p:cNvSpPr txBox="1"/>
          <p:nvPr/>
        </p:nvSpPr>
        <p:spPr>
          <a:xfrm>
            <a:off x="2011680" y="5897880"/>
            <a:ext cx="11311128"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1F6FB2"/>
                </a:solidFill>
                <a:latin typeface="Segoe UI" pitchFamily="34" charset="0"/>
                <a:ea typeface="Segoe UI" pitchFamily="34" charset="-122"/>
                <a:cs typeface="Segoe UI" pitchFamily="34" charset="-120"/>
              </a:rPr>
              <a:t>YOU</a:t>
            </a:r>
            <a:endParaRPr lang="en-US" sz="1650" dirty="0"/>
          </a:p>
        </p:txBody>
      </p:sp>
      <p:sp>
        <p:nvSpPr>
          <p:cNvPr id="30" name="Text 30"/>
          <p:cNvSpPr txBox="1"/>
          <p:nvPr/>
        </p:nvSpPr>
        <p:spPr>
          <a:xfrm>
            <a:off x="2011680" y="6263640"/>
            <a:ext cx="11311128" cy="457200"/>
          </a:xfrm>
          <a:prstGeom prst="rect">
            <a:avLst/>
          </a:prstGeom>
          <a:noFill/>
          <a:ln/>
        </p:spPr>
        <p:txBody>
          <a:bodyPr wrap="square" lIns="25400" tIns="25400" rIns="25400" bIns="25400" rtlCol="0" anchor="t">
            <a:noAutofit/>
          </a:bodyPr>
          <a:lstStyle/>
          <a:p>
            <a:pPr algn="l" indent="0" marL="0">
              <a:spcAft>
                <a:spcPts val="400"/>
              </a:spcAft>
              <a:buNone/>
            </a:pPr>
            <a:r>
              <a:rPr lang="en-US" sz="1800" dirty="0">
                <a:solidFill>
                  <a:srgbClr val="000000"/>
                </a:solidFill>
                <a:latin typeface="Segoe UI" pitchFamily="34" charset="0"/>
                <a:ea typeface="Segoe UI" pitchFamily="34" charset="-122"/>
                <a:cs typeface="Segoe UI" pitchFamily="34" charset="-120"/>
              </a:rPr>
              <a:t>Full length. Plan approved. Implement it and commit.</a:t>
            </a:r>
            <a:endParaRPr lang="en-US" sz="1800" dirty="0"/>
          </a:p>
        </p:txBody>
      </p:sp>
      <p:sp>
        <p:nvSpPr>
          <p:cNvPr id="31" name="Text 31"/>
          <p:cNvSpPr txBox="1"/>
          <p:nvPr/>
        </p:nvSpPr>
        <p:spPr>
          <a:xfrm>
            <a:off x="1810512" y="7086600"/>
            <a:ext cx="11704320" cy="731520"/>
          </a:xfrm>
          <a:prstGeom prst="rect">
            <a:avLst/>
          </a:prstGeom>
          <a:noFill/>
          <a:ln/>
        </p:spPr>
        <p:txBody>
          <a:bodyPr wrap="square" lIns="25400" tIns="25400" rIns="25400" bIns="25400" rtlCol="0" anchor="t">
            <a:noAutofit/>
          </a:bodyPr>
          <a:lstStyle/>
          <a:p>
            <a:pPr algn="l" indent="0" marL="0">
              <a:buNone/>
            </a:pPr>
            <a:r>
              <a:rPr lang="en-US" sz="1800" dirty="0">
                <a:solidFill>
                  <a:srgbClr val="404040"/>
                </a:solidFill>
                <a:latin typeface="Segoe UI" pitchFamily="34" charset="0"/>
                <a:ea typeface="Segoe UI" pitchFamily="34" charset="-122"/>
                <a:cs typeface="Segoe UI" pitchFamily="34" charset="-120"/>
              </a:rPr>
              <a:t>Check the plan for: expected files only · real MATLAB functions · questions answered by you, not guessed.</a:t>
            </a:r>
            <a:endParaRPr lang="en-US" sz="18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3"/>
          <p:cNvSpPr/>
          <p:nvPr/>
        </p:nvSpPr>
        <p:spPr>
          <a:xfrm>
            <a:off x="0" y="0"/>
            <a:ext cx="1543050" cy="10287000"/>
          </a:xfrm>
          <a:prstGeom prst="rect">
            <a:avLst/>
          </a:prstGeom>
          <a:solidFill>
            <a:srgbClr val="E6E6E6"/>
          </a:solidFill>
          <a:ln/>
        </p:spPr>
      </p:sp>
      <p:pic>
        <p:nvPicPr>
          <p:cNvPr id="3" name="Picture 1" descr="image.png"/>
          <p:cNvPicPr>
            <a:picLocks noChangeAspect="1"/>
          </p:cNvPicPr>
          <p:nvPr/>
        </p:nvPicPr>
        <p:blipFill>
          <a:blip r:embed="rId2"/>
          <a:stretch>
            <a:fillRect/>
          </a:stretch>
        </p:blipFill>
        <p:spPr>
          <a:xfrm>
            <a:off x="200025" y="133350"/>
            <a:ext cx="1143000" cy="1143000"/>
          </a:xfrm>
          <a:prstGeom prst="rect">
            <a:avLst/>
          </a:prstGeom>
        </p:spPr>
      </p:pic>
      <p:sp>
        <p:nvSpPr>
          <p:cNvPr id="4" name="Text 4"/>
          <p:cNvSpPr txBox="1"/>
          <p:nvPr/>
        </p:nvSpPr>
        <p:spPr>
          <a:xfrm>
            <a:off x="133350" y="238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5"/>
          <p:cNvSpPr txBox="1"/>
          <p:nvPr/>
        </p:nvSpPr>
        <p:spPr>
          <a:xfrm>
            <a:off x="133350" y="2762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6"/>
          <p:cNvSpPr txBox="1"/>
          <p:nvPr/>
        </p:nvSpPr>
        <p:spPr>
          <a:xfrm>
            <a:off x="133350" y="3143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Specify</a:t>
            </a:r>
            <a:endParaRPr lang="en-US" sz="1800" dirty="0"/>
          </a:p>
        </p:txBody>
      </p:sp>
      <p:sp>
        <p:nvSpPr>
          <p:cNvPr id="7" name="Text 7"/>
          <p:cNvSpPr txBox="1"/>
          <p:nvPr/>
        </p:nvSpPr>
        <p:spPr>
          <a:xfrm>
            <a:off x="133350" y="3524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8" name="Text 8"/>
          <p:cNvSpPr txBox="1"/>
          <p:nvPr/>
        </p:nvSpPr>
        <p:spPr>
          <a:xfrm>
            <a:off x="133350" y="3905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Generate</a:t>
            </a:r>
            <a:endParaRPr lang="en-US" sz="1800" dirty="0"/>
          </a:p>
        </p:txBody>
      </p:sp>
      <p:sp>
        <p:nvSpPr>
          <p:cNvPr id="9" name="Text 9"/>
          <p:cNvSpPr txBox="1"/>
          <p:nvPr/>
        </p:nvSpPr>
        <p:spPr>
          <a:xfrm>
            <a:off x="133350" y="4286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Adjudicate</a:t>
            </a:r>
            <a:endParaRPr lang="en-US" sz="1800" dirty="0"/>
          </a:p>
        </p:txBody>
      </p:sp>
      <p:sp>
        <p:nvSpPr>
          <p:cNvPr id="10" name="Text 10"/>
          <p:cNvSpPr txBox="1"/>
          <p:nvPr/>
        </p:nvSpPr>
        <p:spPr>
          <a:xfrm>
            <a:off x="133350" y="4667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Pitfalls</a:t>
            </a:r>
            <a:endParaRPr lang="en-US" sz="1800" dirty="0"/>
          </a:p>
        </p:txBody>
      </p:sp>
      <p:sp>
        <p:nvSpPr>
          <p:cNvPr id="11" name="Text 11"/>
          <p:cNvSpPr txBox="1"/>
          <p:nvPr/>
        </p:nvSpPr>
        <p:spPr>
          <a:xfrm>
            <a:off x="133350" y="5048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GenAI Use</a:t>
            </a:r>
            <a:endParaRPr lang="en-US" sz="1800" dirty="0"/>
          </a:p>
        </p:txBody>
      </p:sp>
      <p:sp>
        <p:nvSpPr>
          <p:cNvPr id="12" name="Text 12"/>
          <p:cNvSpPr txBox="1"/>
          <p:nvPr/>
        </p:nvSpPr>
        <p:spPr>
          <a:xfrm>
            <a:off x="133350" y="5429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Your Repo</a:t>
            </a:r>
            <a:endParaRPr lang="en-US" sz="1800" dirty="0"/>
          </a:p>
        </p:txBody>
      </p:sp>
      <p:sp>
        <p:nvSpPr>
          <p:cNvPr id="13" name="Text 13"/>
          <p:cNvSpPr txBox="1"/>
          <p:nvPr/>
        </p:nvSpPr>
        <p:spPr>
          <a:xfrm>
            <a:off x="133350" y="5810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Teaching</a:t>
            </a:r>
            <a:endParaRPr lang="en-US" sz="1800" dirty="0"/>
          </a:p>
        </p:txBody>
      </p:sp>
      <p:sp>
        <p:nvSpPr>
          <p:cNvPr id="14" name="Text 14"/>
          <p:cNvSpPr txBox="1"/>
          <p:nvPr/>
        </p:nvSpPr>
        <p:spPr>
          <a:xfrm>
            <a:off x="133350" y="619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5"/>
          <p:cNvSpPr txBox="1"/>
          <p:nvPr/>
        </p:nvSpPr>
        <p:spPr>
          <a:xfrm>
            <a:off x="1657350" y="200025"/>
            <a:ext cx="10988040" cy="1057275"/>
          </a:xfrm>
          <a:prstGeom prst="rect">
            <a:avLst/>
          </a:prstGeom>
          <a:noFill/>
          <a:ln/>
        </p:spPr>
        <p:txBody>
          <a:bodyPr wrap="square" lIns="25400" tIns="25400" rIns="25400" bIns="25400" rtlCol="0" anchor="ctr">
            <a:no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Exercise 5: Review the Diff</a:t>
            </a:r>
            <a:endParaRPr lang="en-US" sz="4800" dirty="0"/>
          </a:p>
        </p:txBody>
      </p:sp>
      <p:sp>
        <p:nvSpPr>
          <p:cNvPr id="16" name="Text 16"/>
          <p:cNvSpPr txBox="1"/>
          <p:nvPr/>
        </p:nvSpPr>
        <p:spPr>
          <a:xfrm>
            <a:off x="12515950" y="133350"/>
            <a:ext cx="1142901" cy="393700"/>
          </a:xfrm>
          <a:prstGeom prst="rect">
            <a:avLst/>
          </a:prstGeom>
          <a:noFill/>
          <a:ln/>
        </p:spPr>
        <p:txBody>
          <a:bodyPr wrap="non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2</a:t>
            </a:r>
            <a:endParaRPr lang="en-US" sz="2100" dirty="0"/>
          </a:p>
        </p:txBody>
      </p:sp>
      <p:sp>
        <p:nvSpPr>
          <p:cNvPr id="17" name="Shape 17"/>
          <p:cNvSpPr/>
          <p:nvPr/>
        </p:nvSpPr>
        <p:spPr>
          <a:xfrm>
            <a:off x="1657350" y="1219200"/>
            <a:ext cx="11925300" cy="66675"/>
          </a:xfrm>
          <a:prstGeom prst="rect">
            <a:avLst/>
          </a:prstGeom>
          <a:solidFill>
            <a:srgbClr val="000000"/>
          </a:solidFill>
          <a:ln/>
        </p:spPr>
      </p:sp>
      <p:sp>
        <p:nvSpPr>
          <p:cNvPr id="18" name="Text 18"/>
          <p:cNvSpPr txBox="1"/>
          <p:nvPr/>
        </p:nvSpPr>
        <p:spPr>
          <a:xfrm>
            <a:off x="1054418" y="9810750"/>
            <a:ext cx="13264515" cy="342900"/>
          </a:xfrm>
          <a:prstGeom prst="rect">
            <a:avLst/>
          </a:prstGeom>
          <a:noFill/>
          <a:ln/>
        </p:spPr>
        <p:txBody>
          <a:bodyPr wrap="square" lIns="25400" tIns="25400" rIns="25400" bIns="25400" rtlCol="0" anchor="t">
            <a:no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2</a:t>
            </a:r>
            <a:endParaRPr lang="en-US" sz="1800" dirty="0"/>
          </a:p>
        </p:txBody>
      </p:sp>
      <p:sp>
        <p:nvSpPr>
          <p:cNvPr id="19" name="Text 19"/>
          <p:cNvSpPr txBox="1"/>
          <p:nvPr/>
        </p:nvSpPr>
        <p:spPr>
          <a:xfrm>
            <a:off x="13336850" y="9810750"/>
            <a:ext cx="322000" cy="342900"/>
          </a:xfrm>
          <a:prstGeom prst="rect">
            <a:avLst/>
          </a:prstGeom>
          <a:noFill/>
          <a:ln/>
        </p:spPr>
        <p:txBody>
          <a:bodyPr wrap="none" lIns="25400" tIns="25400" rIns="25400" bIns="25400" rtlCol="0" anchor="t">
            <a:no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12</a:t>
            </a:r>
            <a:endParaRPr lang="en-US" sz="1800" dirty="0"/>
          </a:p>
        </p:txBody>
      </p:sp>
      <p:sp>
        <p:nvSpPr>
          <p:cNvPr id="20" name="Shape 20"/>
          <p:cNvSpPr/>
          <p:nvPr/>
        </p:nvSpPr>
        <p:spPr>
          <a:xfrm>
            <a:off x="1810512" y="1527048"/>
            <a:ext cx="7543800" cy="5111496"/>
          </a:xfrm>
          <a:prstGeom prst="roundRect">
            <a:avLst>
              <a:gd name="adj" fmla="val 4025"/>
            </a:avLst>
          </a:prstGeom>
          <a:solidFill>
            <a:srgbClr val="1E1E1E"/>
          </a:solidFill>
          <a:ln/>
        </p:spPr>
      </p:sp>
      <p:sp>
        <p:nvSpPr>
          <p:cNvPr id="21" name="Text 21"/>
          <p:cNvSpPr txBox="1"/>
          <p:nvPr/>
        </p:nvSpPr>
        <p:spPr>
          <a:xfrm>
            <a:off x="2011680" y="1728216"/>
            <a:ext cx="7141464" cy="4709160"/>
          </a:xfrm>
          <a:prstGeom prst="rect">
            <a:avLst/>
          </a:prstGeom>
          <a:noFill/>
          <a:ln/>
        </p:spPr>
        <p:txBody>
          <a:bodyPr wrap="none" lIns="25400" tIns="25400" rIns="25400" bIns="25400" rtlCol="0" anchor="t">
            <a:noAutofit/>
          </a:bodyPr>
          <a:lstStyle/>
          <a:p>
            <a:pPr algn="l" indent="0" marL="0">
              <a:lnSpc>
                <a:spcPct val="120000"/>
              </a:lnSpc>
              <a:buNone/>
            </a:pPr>
            <a:r>
              <a:rPr lang="en-US" sz="1500" dirty="0">
                <a:solidFill>
                  <a:srgbClr val="00B0F0"/>
                </a:solidFill>
                <a:latin typeface="Cascadia Mono" pitchFamily="34" charset="0"/>
                <a:ea typeface="Cascadia Mono" pitchFamily="34" charset="-122"/>
                <a:cs typeface="Cascadia Mono" pitchFamily="34" charset="-120"/>
              </a:rPr>
              <a:t>claude/udl-deflection · 3 files  +12 −0</a:t>
            </a:r>
            <a:endParaRPr lang="en-US" sz="1500" dirty="0"/>
          </a:p>
          <a:p>
            <a:pPr algn="l" indent="0" marL="0">
              <a:lnSpc>
                <a:spcPct val="120000"/>
              </a:lnSpc>
              <a:buNone/>
            </a:pPr>
            <a:r>
              <a:rPr lang="en-US" sz="1500" dirty="0">
                <a:solidFill>
                  <a:srgbClr val="8C8C8C"/>
                </a:solidFill>
                <a:latin typeface="Cascadia Mono" pitchFamily="34" charset="0"/>
                <a:ea typeface="Cascadia Mono" pitchFamily="34" charset="-122"/>
                <a:cs typeface="Cascadia Mono" pitchFamily="34" charset="-120"/>
              </a:rPr>
              <a:t>@@ tipDeflectionUDL.m (new) @@</a:t>
            </a:r>
            <a:endParaRPr lang="en-US" sz="1500" dirty="0"/>
          </a:p>
          <a:p>
            <a:pPr algn="l" indent="0" marL="0">
              <a:lnSpc>
                <a:spcPct val="120000"/>
              </a:lnSpc>
              <a:buNone/>
            </a:pPr>
            <a:r>
              <a:rPr lang="en-US" sz="1500" dirty="0">
                <a:solidFill>
                  <a:srgbClr val="89D185"/>
                </a:solidFill>
                <a:latin typeface="Cascadia Mono" pitchFamily="34" charset="0"/>
                <a:ea typeface="Cascadia Mono" pitchFamily="34" charset="-122"/>
                <a:cs typeface="Cascadia Mono" pitchFamily="34" charset="-120"/>
              </a:rPr>
              <a:t>+function d = tipDeflectionUDL(w, L, E, I)</a:t>
            </a:r>
            <a:endParaRPr lang="en-US" sz="1500" dirty="0"/>
          </a:p>
          <a:p>
            <a:pPr algn="l" indent="0" marL="0">
              <a:lnSpc>
                <a:spcPct val="120000"/>
              </a:lnSpc>
              <a:buNone/>
            </a:pPr>
            <a:r>
              <a:rPr lang="en-US" sz="1500" dirty="0">
                <a:solidFill>
                  <a:srgbClr val="89D185"/>
                </a:solidFill>
                <a:latin typeface="Cascadia Mono" pitchFamily="34" charset="0"/>
                <a:ea typeface="Cascadia Mono" pitchFamily="34" charset="-122"/>
                <a:cs typeface="Cascadia Mono" pitchFamily="34" charset="-120"/>
              </a:rPr>
              <a:t>+% Tip deflection, uniform load w (N/m)</a:t>
            </a:r>
            <a:endParaRPr lang="en-US" sz="1500" dirty="0"/>
          </a:p>
          <a:p>
            <a:pPr algn="l" indent="0" marL="0">
              <a:lnSpc>
                <a:spcPct val="120000"/>
              </a:lnSpc>
              <a:buNone/>
            </a:pPr>
            <a:r>
              <a:rPr lang="en-US" sz="1500" dirty="0">
                <a:solidFill>
                  <a:srgbClr val="89D185"/>
                </a:solidFill>
                <a:latin typeface="Cascadia Mono" pitchFamily="34" charset="0"/>
                <a:ea typeface="Cascadia Mono" pitchFamily="34" charset="-122"/>
                <a:cs typeface="Cascadia Mono" pitchFamily="34" charset="-120"/>
              </a:rPr>
              <a:t>+d = w*L^4/(8*E*I);       % m</a:t>
            </a:r>
            <a:endParaRPr lang="en-US" sz="1500" dirty="0"/>
          </a:p>
          <a:p>
            <a:pPr algn="l" indent="0" marL="0">
              <a:lnSpc>
                <a:spcPct val="120000"/>
              </a:lnSpc>
              <a:buNone/>
            </a:pPr>
            <a:r>
              <a:rPr lang="en-US" sz="1500" dirty="0">
                <a:solidFill>
                  <a:srgbClr val="89D185"/>
                </a:solidFill>
                <a:latin typeface="Cascadia Mono" pitchFamily="34" charset="0"/>
                <a:ea typeface="Cascadia Mono" pitchFamily="34" charset="-122"/>
                <a:cs typeface="Cascadia Mono" pitchFamily="34" charset="-120"/>
              </a:rPr>
              <a:t>+end</a:t>
            </a:r>
            <a:endParaRPr lang="en-US" sz="1500" dirty="0"/>
          </a:p>
          <a:p>
            <a:pPr algn="l" indent="0" marL="0">
              <a:lnSpc>
                <a:spcPct val="120000"/>
              </a:lnSpc>
              <a:buNone/>
            </a:pPr>
            <a:r>
              <a:rPr lang="en-US" sz="1500" dirty="0">
                <a:solidFill>
                  <a:srgbClr val="8C8C8C"/>
                </a:solidFill>
                <a:latin typeface="Cascadia Mono" pitchFamily="34" charset="0"/>
                <a:ea typeface="Cascadia Mono" pitchFamily="34" charset="-122"/>
                <a:cs typeface="Cascadia Mono" pitchFamily="34" charset="-120"/>
              </a:rPr>
              <a:t>@@ beam.m @@</a:t>
            </a:r>
            <a:endParaRPr lang="en-US" sz="1500" dirty="0"/>
          </a:p>
          <a:p>
            <a:pPr algn="l" indent="0" marL="0">
              <a:lnSpc>
                <a:spcPct val="120000"/>
              </a:lnSpc>
              <a:buNone/>
            </a:pPr>
            <a:r>
              <a:rPr lang="en-US" sz="1500" dirty="0">
                <a:solidFill>
                  <a:srgbClr val="D4D4D4"/>
                </a:solidFill>
                <a:latin typeface="Cascadia Mono" pitchFamily="34" charset="0"/>
                <a:ea typeface="Cascadia Mono" pitchFamily="34" charset="-122"/>
                <a:cs typeface="Cascadia Mono" pitchFamily="34" charset="-120"/>
              </a:rPr>
              <a:t xml:space="preserve"> fprintf('Tip deflection: %.2f mm\n', ...)</a:t>
            </a:r>
            <a:endParaRPr lang="en-US" sz="1500" dirty="0"/>
          </a:p>
          <a:p>
            <a:pPr algn="l" indent="0" marL="0">
              <a:lnSpc>
                <a:spcPct val="120000"/>
              </a:lnSpc>
              <a:buNone/>
            </a:pPr>
            <a:r>
              <a:rPr lang="en-US" sz="1500" dirty="0">
                <a:solidFill>
                  <a:srgbClr val="89D185"/>
                </a:solidFill>
                <a:latin typeface="Cascadia Mono" pitchFamily="34" charset="0"/>
                <a:ea typeface="Cascadia Mono" pitchFamily="34" charset="-122"/>
                <a:cs typeface="Cascadia Mono" pitchFamily="34" charset="-120"/>
              </a:rPr>
              <a:t>+w = 1000;                % N/m, uniform</a:t>
            </a:r>
            <a:endParaRPr lang="en-US" sz="1500" dirty="0"/>
          </a:p>
          <a:p>
            <a:pPr algn="l" indent="0" marL="0">
              <a:lnSpc>
                <a:spcPct val="120000"/>
              </a:lnSpc>
              <a:buNone/>
            </a:pPr>
            <a:r>
              <a:rPr lang="en-US" sz="1500" dirty="0">
                <a:solidFill>
                  <a:srgbClr val="89D185"/>
                </a:solidFill>
                <a:latin typeface="Cascadia Mono" pitchFamily="34" charset="0"/>
                <a:ea typeface="Cascadia Mono" pitchFamily="34" charset="-122"/>
                <a:cs typeface="Cascadia Mono" pitchFamily="34" charset="-120"/>
              </a:rPr>
              <a:t>+dW = tipDeflectionUDL(w, L, E, I);</a:t>
            </a:r>
            <a:endParaRPr lang="en-US" sz="1500" dirty="0"/>
          </a:p>
          <a:p>
            <a:pPr algn="l" indent="0" marL="0">
              <a:lnSpc>
                <a:spcPct val="120000"/>
              </a:lnSpc>
              <a:buNone/>
            </a:pPr>
            <a:r>
              <a:rPr lang="en-US" sz="1500" dirty="0">
                <a:solidFill>
                  <a:srgbClr val="89D185"/>
                </a:solidFill>
                <a:latin typeface="Cascadia Mono" pitchFamily="34" charset="0"/>
                <a:ea typeface="Cascadia Mono" pitchFamily="34" charset="-122"/>
                <a:cs typeface="Cascadia Mono" pitchFamily="34" charset="-120"/>
              </a:rPr>
              <a:t>+fprintf('UDL deflection: %.2f mm\n', ...)</a:t>
            </a:r>
            <a:endParaRPr lang="en-US" sz="1500" dirty="0"/>
          </a:p>
          <a:p>
            <a:pPr algn="l" indent="0" marL="0">
              <a:lnSpc>
                <a:spcPct val="120000"/>
              </a:lnSpc>
              <a:buNone/>
            </a:pPr>
            <a:r>
              <a:rPr lang="en-US" sz="1500" dirty="0">
                <a:solidFill>
                  <a:srgbClr val="8C8C8C"/>
                </a:solidFill>
                <a:latin typeface="Cascadia Mono" pitchFamily="34" charset="0"/>
                <a:ea typeface="Cascadia Mono" pitchFamily="34" charset="-122"/>
                <a:cs typeface="Cascadia Mono" pitchFamily="34" charset="-120"/>
              </a:rPr>
              <a:t>@@ tests/testBeam.m @@</a:t>
            </a:r>
            <a:endParaRPr lang="en-US" sz="1500" dirty="0"/>
          </a:p>
          <a:p>
            <a:pPr algn="l" indent="0" marL="0">
              <a:lnSpc>
                <a:spcPct val="120000"/>
              </a:lnSpc>
              <a:buNone/>
            </a:pPr>
            <a:r>
              <a:rPr lang="en-US" sz="1500" dirty="0">
                <a:solidFill>
                  <a:srgbClr val="89D185"/>
                </a:solidFill>
                <a:latin typeface="Cascadia Mono" pitchFamily="34" charset="0"/>
                <a:ea typeface="Cascadia Mono" pitchFamily="34" charset="-122"/>
                <a:cs typeface="Cascadia Mono" pitchFamily="34" charset="-120"/>
              </a:rPr>
              <a:t>+function testUDLHandCalc(tc)</a:t>
            </a:r>
            <a:endParaRPr lang="en-US" sz="1500" dirty="0"/>
          </a:p>
          <a:p>
            <a:pPr algn="l" indent="0" marL="0">
              <a:lnSpc>
                <a:spcPct val="120000"/>
              </a:lnSpc>
              <a:buNone/>
            </a:pPr>
            <a:r>
              <a:rPr lang="en-US" sz="1500" dirty="0">
                <a:solidFill>
                  <a:srgbClr val="89D185"/>
                </a:solidFill>
                <a:latin typeface="Cascadia Mono" pitchFamily="34" charset="0"/>
                <a:ea typeface="Cascadia Mono" pitchFamily="34" charset="-122"/>
                <a:cs typeface="Cascadia Mono" pitchFamily="34" charset="-120"/>
              </a:rPr>
              <a:t>+I = 0.05*0.10^3/12;</a:t>
            </a:r>
            <a:endParaRPr lang="en-US" sz="1500" dirty="0"/>
          </a:p>
          <a:p>
            <a:pPr algn="l" indent="0" marL="0">
              <a:lnSpc>
                <a:spcPct val="120000"/>
              </a:lnSpc>
              <a:buNone/>
            </a:pPr>
            <a:r>
              <a:rPr lang="en-US" sz="1500" dirty="0">
                <a:solidFill>
                  <a:srgbClr val="89D185"/>
                </a:solidFill>
                <a:latin typeface="Cascadia Mono" pitchFamily="34" charset="0"/>
                <a:ea typeface="Cascadia Mono" pitchFamily="34" charset="-122"/>
                <a:cs typeface="Cascadia Mono" pitchFamily="34" charset="-120"/>
              </a:rPr>
              <a:t>+d = tipDeflectionUDL(1000, 2.0, 200e9, I);</a:t>
            </a:r>
            <a:endParaRPr lang="en-US" sz="1500" dirty="0"/>
          </a:p>
          <a:p>
            <a:pPr algn="l" indent="0" marL="0">
              <a:lnSpc>
                <a:spcPct val="120000"/>
              </a:lnSpc>
              <a:buNone/>
            </a:pPr>
            <a:r>
              <a:rPr lang="en-US" sz="1500" dirty="0">
                <a:solidFill>
                  <a:srgbClr val="89D185"/>
                </a:solidFill>
                <a:latin typeface="Cascadia Mono" pitchFamily="34" charset="0"/>
                <a:ea typeface="Cascadia Mono" pitchFamily="34" charset="-122"/>
                <a:cs typeface="Cascadia Mono" pitchFamily="34" charset="-120"/>
              </a:rPr>
              <a:t>+verifyEqual(tc, d, 2.40e-3, 'RelTol', 1e-3)</a:t>
            </a:r>
            <a:endParaRPr lang="en-US" sz="1500" dirty="0"/>
          </a:p>
          <a:p>
            <a:pPr algn="l" indent="0" marL="0">
              <a:lnSpc>
                <a:spcPct val="120000"/>
              </a:lnSpc>
              <a:buNone/>
            </a:pPr>
            <a:r>
              <a:rPr lang="en-US" sz="1500" dirty="0">
                <a:solidFill>
                  <a:srgbClr val="89D185"/>
                </a:solidFill>
                <a:latin typeface="Cascadia Mono" pitchFamily="34" charset="0"/>
                <a:ea typeface="Cascadia Mono" pitchFamily="34" charset="-122"/>
                <a:cs typeface="Cascadia Mono" pitchFamily="34" charset="-120"/>
              </a:rPr>
              <a:t>+end</a:t>
            </a:r>
            <a:endParaRPr lang="en-US" sz="1500" dirty="0"/>
          </a:p>
        </p:txBody>
      </p:sp>
      <p:sp>
        <p:nvSpPr>
          <p:cNvPr id="22" name="Shape 22"/>
          <p:cNvSpPr/>
          <p:nvPr/>
        </p:nvSpPr>
        <p:spPr>
          <a:xfrm>
            <a:off x="9646920" y="1527048"/>
            <a:ext cx="1353312" cy="381305"/>
          </a:xfrm>
          <a:prstGeom prst="roundRect">
            <a:avLst>
              <a:gd name="adj" fmla="val 15000"/>
            </a:avLst>
          </a:prstGeom>
          <a:solidFill>
            <a:srgbClr val="595959"/>
          </a:solidFill>
          <a:ln/>
        </p:spPr>
      </p:sp>
      <p:sp>
        <p:nvSpPr>
          <p:cNvPr id="23" name="Text 23"/>
          <p:cNvSpPr txBox="1"/>
          <p:nvPr/>
        </p:nvSpPr>
        <p:spPr>
          <a:xfrm>
            <a:off x="9674352" y="156362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Segoe UI" pitchFamily="34" charset="0"/>
                <a:ea typeface="Segoe UI" pitchFamily="34" charset="-122"/>
                <a:cs typeface="Segoe UI" pitchFamily="34" charset="-120"/>
              </a:rPr>
              <a:t>EXERCISE</a:t>
            </a:r>
            <a:endParaRPr lang="en-US" sz="1800" dirty="0"/>
          </a:p>
        </p:txBody>
      </p:sp>
      <p:sp>
        <p:nvSpPr>
          <p:cNvPr id="24" name="Text 24"/>
          <p:cNvSpPr txBox="1"/>
          <p:nvPr/>
        </p:nvSpPr>
        <p:spPr>
          <a:xfrm>
            <a:off x="9646920" y="2103120"/>
            <a:ext cx="612648" cy="973872"/>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1</a:t>
            </a:r>
            <a:endParaRPr lang="en-US" sz="2250" dirty="0"/>
          </a:p>
        </p:txBody>
      </p:sp>
      <p:sp>
        <p:nvSpPr>
          <p:cNvPr id="25" name="Text 25"/>
          <p:cNvSpPr txBox="1"/>
          <p:nvPr/>
        </p:nvSpPr>
        <p:spPr>
          <a:xfrm>
            <a:off x="10177272" y="2103120"/>
            <a:ext cx="3355848" cy="973872"/>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Segoe UI" pitchFamily="34" charset="0"/>
                <a:ea typeface="Segoe UI" pitchFamily="34" charset="-122"/>
                <a:cs typeface="Segoe UI" pitchFamily="34" charset="-120"/>
              </a:rPr>
              <a:t xml:space="preserve">Read every line. Green </a:t>
            </a:r>
            <a:r>
              <a:rPr lang="en-US" sz="1875" b="1" dirty="0">
                <a:solidFill>
                  <a:srgbClr val="000000"/>
                </a:solidFill>
                <a:latin typeface="Segoe UI" pitchFamily="34" charset="0"/>
                <a:ea typeface="Segoe UI" pitchFamily="34" charset="-122"/>
                <a:cs typeface="Segoe UI" pitchFamily="34" charset="-120"/>
              </a:rPr>
              <a:t>+</a:t>
            </a:r>
            <a:r>
              <a:rPr lang="en-US" sz="1875" dirty="0">
                <a:solidFill>
                  <a:srgbClr val="000000"/>
                </a:solidFill>
                <a:latin typeface="Segoe UI" pitchFamily="34" charset="0"/>
                <a:ea typeface="Segoe UI" pitchFamily="34" charset="-122"/>
                <a:cs typeface="Segoe UI" pitchFamily="34" charset="-120"/>
              </a:rPr>
              <a:t xml:space="preserve"> lines were added; red </a:t>
            </a:r>
            <a:r>
              <a:rPr lang="en-US" sz="1875" b="1" dirty="0">
                <a:solidFill>
                  <a:srgbClr val="000000"/>
                </a:solidFill>
                <a:latin typeface="Segoe UI" pitchFamily="34" charset="0"/>
                <a:ea typeface="Segoe UI" pitchFamily="34" charset="-122"/>
                <a:cs typeface="Segoe UI" pitchFamily="34" charset="-120"/>
              </a:rPr>
              <a:t>−</a:t>
            </a:r>
            <a:r>
              <a:rPr lang="en-US" sz="1875" dirty="0">
                <a:solidFill>
                  <a:srgbClr val="000000"/>
                </a:solidFill>
                <a:latin typeface="Segoe UI" pitchFamily="34" charset="0"/>
                <a:ea typeface="Segoe UI" pitchFamily="34" charset="-122"/>
                <a:cs typeface="Segoe UI" pitchFamily="34" charset="-120"/>
              </a:rPr>
              <a:t xml:space="preserve"> lines were removed.</a:t>
            </a:r>
            <a:endParaRPr lang="en-US" sz="1875" dirty="0"/>
          </a:p>
        </p:txBody>
      </p:sp>
      <p:sp>
        <p:nvSpPr>
          <p:cNvPr id="26" name="Text 26"/>
          <p:cNvSpPr txBox="1"/>
          <p:nvPr/>
        </p:nvSpPr>
        <p:spPr>
          <a:xfrm>
            <a:off x="9646920" y="3241584"/>
            <a:ext cx="612648" cy="679728"/>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2</a:t>
            </a:r>
            <a:endParaRPr lang="en-US" sz="2250" dirty="0"/>
          </a:p>
        </p:txBody>
      </p:sp>
      <p:sp>
        <p:nvSpPr>
          <p:cNvPr id="27" name="Text 27"/>
          <p:cNvSpPr txBox="1"/>
          <p:nvPr/>
        </p:nvSpPr>
        <p:spPr>
          <a:xfrm>
            <a:off x="10177272" y="3241584"/>
            <a:ext cx="3355848" cy="679728"/>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Segoe UI" pitchFamily="34" charset="0"/>
                <a:ea typeface="Segoe UI" pitchFamily="34" charset="-122"/>
                <a:cs typeface="Segoe UI" pitchFamily="34" charset="-120"/>
              </a:rPr>
              <a:t xml:space="preserve">Ask about anything unclear: </a:t>
            </a:r>
            <a:r>
              <a:rPr lang="en-US" sz="1875" i="1" dirty="0">
                <a:solidFill>
                  <a:srgbClr val="000000"/>
                </a:solidFill>
                <a:latin typeface="Segoe UI" pitchFamily="34" charset="0"/>
                <a:ea typeface="Segoe UI" pitchFamily="34" charset="-122"/>
                <a:cs typeface="Segoe UI" pitchFamily="34" charset="-120"/>
              </a:rPr>
              <a:t>Why RelTol 1e-3?</a:t>
            </a:r>
            <a:endParaRPr lang="en-US" sz="1875" dirty="0"/>
          </a:p>
        </p:txBody>
      </p:sp>
      <p:sp>
        <p:nvSpPr>
          <p:cNvPr id="28" name="Text 28"/>
          <p:cNvSpPr txBox="1"/>
          <p:nvPr/>
        </p:nvSpPr>
        <p:spPr>
          <a:xfrm>
            <a:off x="9646920" y="4085904"/>
            <a:ext cx="612648" cy="679728"/>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3</a:t>
            </a:r>
            <a:endParaRPr lang="en-US" sz="2250" dirty="0"/>
          </a:p>
        </p:txBody>
      </p:sp>
      <p:sp>
        <p:nvSpPr>
          <p:cNvPr id="29" name="Text 29"/>
          <p:cNvSpPr txBox="1"/>
          <p:nvPr/>
        </p:nvSpPr>
        <p:spPr>
          <a:xfrm>
            <a:off x="10177272" y="4085904"/>
            <a:ext cx="3355848" cy="679728"/>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Segoe UI" pitchFamily="34" charset="0"/>
                <a:ea typeface="Segoe UI" pitchFamily="34" charset="-122"/>
                <a:cs typeface="Segoe UI" pitchFamily="34" charset="-120"/>
              </a:rPr>
              <a:t xml:space="preserve">Select </a:t>
            </a:r>
            <a:r>
              <a:rPr lang="en-US" sz="1875" b="1" dirty="0">
                <a:solidFill>
                  <a:srgbClr val="000000"/>
                </a:solidFill>
                <a:latin typeface="Segoe UI" pitchFamily="34" charset="0"/>
                <a:ea typeface="Segoe UI" pitchFamily="34" charset="-122"/>
                <a:cs typeface="Segoe UI" pitchFamily="34" charset="-120"/>
              </a:rPr>
              <a:t>Create PR</a:t>
            </a:r>
            <a:r>
              <a:rPr lang="en-US" sz="1875" dirty="0">
                <a:solidFill>
                  <a:srgbClr val="000000"/>
                </a:solidFill>
                <a:latin typeface="Segoe UI" pitchFamily="34" charset="0"/>
                <a:ea typeface="Segoe UI" pitchFamily="34" charset="-122"/>
                <a:cs typeface="Segoe UI" pitchFamily="34" charset="-120"/>
              </a:rPr>
              <a:t xml:space="preserve"> in the session.</a:t>
            </a:r>
            <a:endParaRPr lang="en-US" sz="1875" dirty="0"/>
          </a:p>
        </p:txBody>
      </p:sp>
      <p:sp>
        <p:nvSpPr>
          <p:cNvPr id="30" name="Text 30"/>
          <p:cNvSpPr txBox="1"/>
          <p:nvPr/>
        </p:nvSpPr>
        <p:spPr>
          <a:xfrm>
            <a:off x="9646920" y="5067383"/>
            <a:ext cx="3886200" cy="1463040"/>
          </a:xfrm>
          <a:prstGeom prst="rect">
            <a:avLst/>
          </a:prstGeom>
          <a:noFill/>
          <a:ln/>
        </p:spPr>
        <p:txBody>
          <a:bodyPr wrap="square" lIns="25400" tIns="25400" rIns="25400" bIns="25400" rtlCol="0" anchor="t">
            <a:noAutofit/>
          </a:bodyPr>
          <a:lstStyle/>
          <a:p>
            <a:pPr algn="l" indent="0" marL="0">
              <a:buNone/>
            </a:pPr>
            <a:r>
              <a:rPr lang="en-US" sz="1800" dirty="0">
                <a:solidFill>
                  <a:srgbClr val="404040"/>
                </a:solidFill>
                <a:latin typeface="Segoe UI" pitchFamily="34" charset="0"/>
                <a:ea typeface="Segoe UI" pitchFamily="34" charset="-122"/>
                <a:cs typeface="Segoe UI" pitchFamily="34" charset="-120"/>
              </a:rPr>
              <a:t>You are accountable for every line you merge, as cadets are for every line they submit.</a:t>
            </a:r>
            <a:endParaRPr lang="en-US" sz="18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3"/>
          <p:cNvSpPr/>
          <p:nvPr/>
        </p:nvSpPr>
        <p:spPr>
          <a:xfrm>
            <a:off x="0" y="0"/>
            <a:ext cx="1543050" cy="10287000"/>
          </a:xfrm>
          <a:prstGeom prst="rect">
            <a:avLst/>
          </a:prstGeom>
          <a:solidFill>
            <a:srgbClr val="E6E6E6"/>
          </a:solidFill>
          <a:ln/>
        </p:spPr>
      </p:sp>
      <p:pic>
        <p:nvPicPr>
          <p:cNvPr id="3" name="Picture 1" descr="image.png"/>
          <p:cNvPicPr>
            <a:picLocks noChangeAspect="1"/>
          </p:cNvPicPr>
          <p:nvPr/>
        </p:nvPicPr>
        <p:blipFill>
          <a:blip r:embed="rId2"/>
          <a:stretch>
            <a:fillRect/>
          </a:stretch>
        </p:blipFill>
        <p:spPr>
          <a:xfrm>
            <a:off x="200025" y="133350"/>
            <a:ext cx="1143000" cy="1143000"/>
          </a:xfrm>
          <a:prstGeom prst="rect">
            <a:avLst/>
          </a:prstGeom>
        </p:spPr>
      </p:pic>
      <p:sp>
        <p:nvSpPr>
          <p:cNvPr id="4" name="Text 4"/>
          <p:cNvSpPr txBox="1"/>
          <p:nvPr/>
        </p:nvSpPr>
        <p:spPr>
          <a:xfrm>
            <a:off x="133350" y="238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5"/>
          <p:cNvSpPr txBox="1"/>
          <p:nvPr/>
        </p:nvSpPr>
        <p:spPr>
          <a:xfrm>
            <a:off x="133350" y="2762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6"/>
          <p:cNvSpPr txBox="1"/>
          <p:nvPr/>
        </p:nvSpPr>
        <p:spPr>
          <a:xfrm>
            <a:off x="133350" y="3143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Specify</a:t>
            </a:r>
            <a:endParaRPr lang="en-US" sz="1800" dirty="0"/>
          </a:p>
        </p:txBody>
      </p:sp>
      <p:sp>
        <p:nvSpPr>
          <p:cNvPr id="7" name="Text 7"/>
          <p:cNvSpPr txBox="1"/>
          <p:nvPr/>
        </p:nvSpPr>
        <p:spPr>
          <a:xfrm>
            <a:off x="133350" y="3524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8" name="Text 8"/>
          <p:cNvSpPr txBox="1"/>
          <p:nvPr/>
        </p:nvSpPr>
        <p:spPr>
          <a:xfrm>
            <a:off x="133350" y="3905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Generate</a:t>
            </a:r>
            <a:endParaRPr lang="en-US" sz="1800" dirty="0"/>
          </a:p>
        </p:txBody>
      </p:sp>
      <p:sp>
        <p:nvSpPr>
          <p:cNvPr id="9" name="Text 9"/>
          <p:cNvSpPr txBox="1"/>
          <p:nvPr/>
        </p:nvSpPr>
        <p:spPr>
          <a:xfrm>
            <a:off x="133350" y="4286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Adjudicate</a:t>
            </a:r>
            <a:endParaRPr lang="en-US" sz="1800" dirty="0"/>
          </a:p>
        </p:txBody>
      </p:sp>
      <p:sp>
        <p:nvSpPr>
          <p:cNvPr id="10" name="Text 10"/>
          <p:cNvSpPr txBox="1"/>
          <p:nvPr/>
        </p:nvSpPr>
        <p:spPr>
          <a:xfrm>
            <a:off x="133350" y="4667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Pitfalls</a:t>
            </a:r>
            <a:endParaRPr lang="en-US" sz="1800" dirty="0"/>
          </a:p>
        </p:txBody>
      </p:sp>
      <p:sp>
        <p:nvSpPr>
          <p:cNvPr id="11" name="Text 11"/>
          <p:cNvSpPr txBox="1"/>
          <p:nvPr/>
        </p:nvSpPr>
        <p:spPr>
          <a:xfrm>
            <a:off x="133350" y="5048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GenAI Use</a:t>
            </a:r>
            <a:endParaRPr lang="en-US" sz="1800" dirty="0"/>
          </a:p>
        </p:txBody>
      </p:sp>
      <p:sp>
        <p:nvSpPr>
          <p:cNvPr id="12" name="Text 12"/>
          <p:cNvSpPr txBox="1"/>
          <p:nvPr/>
        </p:nvSpPr>
        <p:spPr>
          <a:xfrm>
            <a:off x="133350" y="5429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Your Repo</a:t>
            </a:r>
            <a:endParaRPr lang="en-US" sz="1800" dirty="0"/>
          </a:p>
        </p:txBody>
      </p:sp>
      <p:sp>
        <p:nvSpPr>
          <p:cNvPr id="13" name="Text 13"/>
          <p:cNvSpPr txBox="1"/>
          <p:nvPr/>
        </p:nvSpPr>
        <p:spPr>
          <a:xfrm>
            <a:off x="133350" y="5810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Teaching</a:t>
            </a:r>
            <a:endParaRPr lang="en-US" sz="1800" dirty="0"/>
          </a:p>
        </p:txBody>
      </p:sp>
      <p:sp>
        <p:nvSpPr>
          <p:cNvPr id="14" name="Text 14"/>
          <p:cNvSpPr txBox="1"/>
          <p:nvPr/>
        </p:nvSpPr>
        <p:spPr>
          <a:xfrm>
            <a:off x="133350" y="619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5"/>
          <p:cNvSpPr txBox="1"/>
          <p:nvPr/>
        </p:nvSpPr>
        <p:spPr>
          <a:xfrm>
            <a:off x="1657350" y="200025"/>
            <a:ext cx="10988040" cy="1057275"/>
          </a:xfrm>
          <a:prstGeom prst="rect">
            <a:avLst/>
          </a:prstGeom>
          <a:noFill/>
          <a:ln/>
        </p:spPr>
        <p:txBody>
          <a:bodyPr wrap="square" lIns="25400" tIns="25400" rIns="25400" bIns="25400" rtlCol="0" anchor="ctr">
            <a:no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Agent Branches &amp; PRs</a:t>
            </a:r>
            <a:endParaRPr lang="en-US" sz="4800" dirty="0"/>
          </a:p>
        </p:txBody>
      </p:sp>
      <p:sp>
        <p:nvSpPr>
          <p:cNvPr id="16" name="Text 16"/>
          <p:cNvSpPr txBox="1"/>
          <p:nvPr/>
        </p:nvSpPr>
        <p:spPr>
          <a:xfrm>
            <a:off x="12515950" y="133350"/>
            <a:ext cx="1142901" cy="393700"/>
          </a:xfrm>
          <a:prstGeom prst="rect">
            <a:avLst/>
          </a:prstGeom>
          <a:noFill/>
          <a:ln/>
        </p:spPr>
        <p:txBody>
          <a:bodyPr wrap="non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2</a:t>
            </a:r>
            <a:endParaRPr lang="en-US" sz="2100" dirty="0"/>
          </a:p>
        </p:txBody>
      </p:sp>
      <p:sp>
        <p:nvSpPr>
          <p:cNvPr id="17" name="Shape 17"/>
          <p:cNvSpPr/>
          <p:nvPr/>
        </p:nvSpPr>
        <p:spPr>
          <a:xfrm>
            <a:off x="1657350" y="1219200"/>
            <a:ext cx="11925300" cy="66675"/>
          </a:xfrm>
          <a:prstGeom prst="rect">
            <a:avLst/>
          </a:prstGeom>
          <a:solidFill>
            <a:srgbClr val="000000"/>
          </a:solidFill>
          <a:ln/>
        </p:spPr>
      </p:sp>
      <p:sp>
        <p:nvSpPr>
          <p:cNvPr id="18" name="Text 18"/>
          <p:cNvSpPr txBox="1"/>
          <p:nvPr/>
        </p:nvSpPr>
        <p:spPr>
          <a:xfrm>
            <a:off x="1054418" y="9810750"/>
            <a:ext cx="13264515" cy="342900"/>
          </a:xfrm>
          <a:prstGeom prst="rect">
            <a:avLst/>
          </a:prstGeom>
          <a:noFill/>
          <a:ln/>
        </p:spPr>
        <p:txBody>
          <a:bodyPr wrap="square" lIns="25400" tIns="25400" rIns="25400" bIns="25400" rtlCol="0" anchor="t">
            <a:no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2</a:t>
            </a:r>
            <a:endParaRPr lang="en-US" sz="1800" dirty="0"/>
          </a:p>
        </p:txBody>
      </p:sp>
      <p:sp>
        <p:nvSpPr>
          <p:cNvPr id="19" name="Text 19"/>
          <p:cNvSpPr txBox="1"/>
          <p:nvPr/>
        </p:nvSpPr>
        <p:spPr>
          <a:xfrm>
            <a:off x="13336850" y="9810750"/>
            <a:ext cx="322000" cy="342900"/>
          </a:xfrm>
          <a:prstGeom prst="rect">
            <a:avLst/>
          </a:prstGeom>
          <a:noFill/>
          <a:ln/>
        </p:spPr>
        <p:txBody>
          <a:bodyPr wrap="none" lIns="25400" tIns="25400" rIns="25400" bIns="25400" rtlCol="0" anchor="t">
            <a:no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13</a:t>
            </a:r>
            <a:endParaRPr lang="en-US" sz="1800" dirty="0"/>
          </a:p>
        </p:txBody>
      </p:sp>
      <p:sp>
        <p:nvSpPr>
          <p:cNvPr id="20" name="Shape 20"/>
          <p:cNvSpPr/>
          <p:nvPr/>
        </p:nvSpPr>
        <p:spPr>
          <a:xfrm>
            <a:off x="2468880" y="3429000"/>
            <a:ext cx="10515600" cy="45720"/>
          </a:xfrm>
          <a:prstGeom prst="rect">
            <a:avLst/>
          </a:prstGeom>
          <a:solidFill>
            <a:srgbClr val="595959"/>
          </a:solidFill>
          <a:ln/>
        </p:spPr>
      </p:sp>
      <p:sp>
        <p:nvSpPr>
          <p:cNvPr id="21" name="Shape 21"/>
          <p:cNvSpPr/>
          <p:nvPr/>
        </p:nvSpPr>
        <p:spPr>
          <a:xfrm>
            <a:off x="3657600" y="2468880"/>
            <a:ext cx="45720" cy="978408"/>
          </a:xfrm>
          <a:prstGeom prst="rect">
            <a:avLst/>
          </a:prstGeom>
          <a:solidFill>
            <a:srgbClr val="1F6FB2"/>
          </a:solidFill>
          <a:ln/>
        </p:spPr>
      </p:sp>
      <p:sp>
        <p:nvSpPr>
          <p:cNvPr id="22" name="Shape 22"/>
          <p:cNvSpPr/>
          <p:nvPr/>
        </p:nvSpPr>
        <p:spPr>
          <a:xfrm>
            <a:off x="3657600" y="2468880"/>
            <a:ext cx="6400800" cy="45720"/>
          </a:xfrm>
          <a:prstGeom prst="rect">
            <a:avLst/>
          </a:prstGeom>
          <a:solidFill>
            <a:srgbClr val="1F6FB2"/>
          </a:solidFill>
          <a:ln/>
        </p:spPr>
      </p:sp>
      <p:sp>
        <p:nvSpPr>
          <p:cNvPr id="23" name="Shape 23"/>
          <p:cNvSpPr/>
          <p:nvPr/>
        </p:nvSpPr>
        <p:spPr>
          <a:xfrm>
            <a:off x="10040112" y="2468880"/>
            <a:ext cx="45720" cy="978408"/>
          </a:xfrm>
          <a:prstGeom prst="rect">
            <a:avLst/>
          </a:prstGeom>
          <a:solidFill>
            <a:srgbClr val="1F6FB2"/>
          </a:solidFill>
          <a:ln/>
        </p:spPr>
      </p:sp>
      <p:sp>
        <p:nvSpPr>
          <p:cNvPr id="24" name="Shape 24"/>
          <p:cNvSpPr/>
          <p:nvPr/>
        </p:nvSpPr>
        <p:spPr>
          <a:xfrm>
            <a:off x="3547872" y="3300984"/>
            <a:ext cx="274320" cy="274320"/>
          </a:xfrm>
          <a:prstGeom prst="ellipse">
            <a:avLst/>
          </a:prstGeom>
          <a:solidFill>
            <a:srgbClr val="FFFFFF"/>
          </a:solidFill>
          <a:ln w="25400">
            <a:solidFill>
              <a:srgbClr val="595959"/>
            </a:solidFill>
            <a:prstDash val="solid"/>
          </a:ln>
        </p:spPr>
      </p:sp>
      <p:sp>
        <p:nvSpPr>
          <p:cNvPr id="25" name="Text 25"/>
          <p:cNvSpPr txBox="1"/>
          <p:nvPr/>
        </p:nvSpPr>
        <p:spPr>
          <a:xfrm>
            <a:off x="2724912" y="3657600"/>
            <a:ext cx="1920240" cy="347472"/>
          </a:xfrm>
          <a:prstGeom prst="rect">
            <a:avLst/>
          </a:prstGeom>
          <a:noFill/>
          <a:ln/>
        </p:spPr>
        <p:txBody>
          <a:bodyPr wrap="square" lIns="25400" tIns="25400" rIns="25400" bIns="25400" rtlCol="0" anchor="t">
            <a:noAutofit/>
          </a:bodyPr>
          <a:lstStyle/>
          <a:p>
            <a:pPr algn="ctr" indent="0" marL="0">
              <a:buNone/>
            </a:pPr>
            <a:r>
              <a:rPr lang="en-US" sz="1650" b="1" dirty="0">
                <a:solidFill>
                  <a:srgbClr val="000000"/>
                </a:solidFill>
                <a:latin typeface="Segoe UI" pitchFamily="34" charset="0"/>
                <a:ea typeface="Segoe UI" pitchFamily="34" charset="-122"/>
                <a:cs typeface="Segoe UI" pitchFamily="34" charset="-120"/>
              </a:rPr>
              <a:t>Lesson 1 work</a:t>
            </a:r>
            <a:endParaRPr lang="en-US" sz="1650" dirty="0"/>
          </a:p>
        </p:txBody>
      </p:sp>
      <p:sp>
        <p:nvSpPr>
          <p:cNvPr id="26" name="Text 26"/>
          <p:cNvSpPr txBox="1"/>
          <p:nvPr/>
        </p:nvSpPr>
        <p:spPr>
          <a:xfrm>
            <a:off x="2724912" y="3977640"/>
            <a:ext cx="1920240" cy="320040"/>
          </a:xfrm>
          <a:prstGeom prst="rect">
            <a:avLst/>
          </a:prstGeom>
          <a:noFill/>
          <a:ln/>
        </p:spPr>
        <p:txBody>
          <a:bodyPr wrap="square" lIns="25400" tIns="25400" rIns="25400" bIns="25400" rtlCol="0" anchor="t">
            <a:noAutofit/>
          </a:bodyPr>
          <a:lstStyle/>
          <a:p>
            <a:pPr algn="ctr" indent="0" marL="0">
              <a:buNone/>
            </a:pPr>
            <a:r>
              <a:rPr lang="en-US" sz="1500" dirty="0">
                <a:solidFill>
                  <a:srgbClr val="404040"/>
                </a:solidFill>
                <a:latin typeface="Segoe UI" pitchFamily="34" charset="0"/>
                <a:ea typeface="Segoe UI" pitchFamily="34" charset="-122"/>
                <a:cs typeface="Segoe UI" pitchFamily="34" charset="-120"/>
              </a:rPr>
              <a:t>main</a:t>
            </a:r>
            <a:endParaRPr lang="en-US" sz="1500" dirty="0"/>
          </a:p>
        </p:txBody>
      </p:sp>
      <p:sp>
        <p:nvSpPr>
          <p:cNvPr id="27" name="Shape 27"/>
          <p:cNvSpPr/>
          <p:nvPr/>
        </p:nvSpPr>
        <p:spPr>
          <a:xfrm>
            <a:off x="9921240" y="3300984"/>
            <a:ext cx="274320" cy="274320"/>
          </a:xfrm>
          <a:prstGeom prst="ellipse">
            <a:avLst/>
          </a:prstGeom>
          <a:solidFill>
            <a:srgbClr val="FFFFFF"/>
          </a:solidFill>
          <a:ln w="25400">
            <a:solidFill>
              <a:srgbClr val="595959"/>
            </a:solidFill>
            <a:prstDash val="solid"/>
          </a:ln>
        </p:spPr>
      </p:sp>
      <p:sp>
        <p:nvSpPr>
          <p:cNvPr id="28" name="Text 28"/>
          <p:cNvSpPr txBox="1"/>
          <p:nvPr/>
        </p:nvSpPr>
        <p:spPr>
          <a:xfrm>
            <a:off x="9098280" y="3657600"/>
            <a:ext cx="1920240" cy="347472"/>
          </a:xfrm>
          <a:prstGeom prst="rect">
            <a:avLst/>
          </a:prstGeom>
          <a:noFill/>
          <a:ln/>
        </p:spPr>
        <p:txBody>
          <a:bodyPr wrap="square" lIns="25400" tIns="25400" rIns="25400" bIns="25400" rtlCol="0" anchor="t">
            <a:noAutofit/>
          </a:bodyPr>
          <a:lstStyle/>
          <a:p>
            <a:pPr algn="ctr" indent="0" marL="0">
              <a:buNone/>
            </a:pPr>
            <a:r>
              <a:rPr lang="en-US" sz="1650" b="1" dirty="0">
                <a:solidFill>
                  <a:srgbClr val="000000"/>
                </a:solidFill>
                <a:latin typeface="Segoe UI" pitchFamily="34" charset="0"/>
                <a:ea typeface="Segoe UI" pitchFamily="34" charset="-122"/>
                <a:cs typeface="Segoe UI" pitchFamily="34" charset="-120"/>
              </a:rPr>
              <a:t>Merge PR</a:t>
            </a:r>
            <a:endParaRPr lang="en-US" sz="1650" dirty="0"/>
          </a:p>
        </p:txBody>
      </p:sp>
      <p:sp>
        <p:nvSpPr>
          <p:cNvPr id="29" name="Text 29"/>
          <p:cNvSpPr txBox="1"/>
          <p:nvPr/>
        </p:nvSpPr>
        <p:spPr>
          <a:xfrm>
            <a:off x="9098280" y="3977640"/>
            <a:ext cx="1920240" cy="320040"/>
          </a:xfrm>
          <a:prstGeom prst="rect">
            <a:avLst/>
          </a:prstGeom>
          <a:noFill/>
          <a:ln/>
        </p:spPr>
        <p:txBody>
          <a:bodyPr wrap="square" lIns="25400" tIns="25400" rIns="25400" bIns="25400" rtlCol="0" anchor="t">
            <a:noAutofit/>
          </a:bodyPr>
          <a:lstStyle/>
          <a:p>
            <a:pPr algn="ctr" indent="0" marL="0">
              <a:buNone/>
            </a:pPr>
            <a:r>
              <a:rPr lang="en-US" sz="1500" dirty="0">
                <a:solidFill>
                  <a:srgbClr val="404040"/>
                </a:solidFill>
                <a:latin typeface="Segoe UI" pitchFamily="34" charset="0"/>
                <a:ea typeface="Segoe UI" pitchFamily="34" charset="-122"/>
                <a:cs typeface="Segoe UI" pitchFamily="34" charset="-120"/>
              </a:rPr>
              <a:t>main</a:t>
            </a:r>
            <a:endParaRPr lang="en-US" sz="1500" dirty="0"/>
          </a:p>
        </p:txBody>
      </p:sp>
      <p:sp>
        <p:nvSpPr>
          <p:cNvPr id="30" name="Shape 30"/>
          <p:cNvSpPr/>
          <p:nvPr/>
        </p:nvSpPr>
        <p:spPr>
          <a:xfrm>
            <a:off x="5943600" y="2350008"/>
            <a:ext cx="274320" cy="274320"/>
          </a:xfrm>
          <a:prstGeom prst="ellipse">
            <a:avLst/>
          </a:prstGeom>
          <a:solidFill>
            <a:srgbClr val="1F6FB2"/>
          </a:solidFill>
          <a:ln/>
        </p:spPr>
      </p:sp>
      <p:sp>
        <p:nvSpPr>
          <p:cNvPr id="31" name="Text 31"/>
          <p:cNvSpPr txBox="1"/>
          <p:nvPr/>
        </p:nvSpPr>
        <p:spPr>
          <a:xfrm>
            <a:off x="4846320" y="1874520"/>
            <a:ext cx="2468880" cy="365760"/>
          </a:xfrm>
          <a:prstGeom prst="rect">
            <a:avLst/>
          </a:prstGeom>
          <a:noFill/>
          <a:ln/>
        </p:spPr>
        <p:txBody>
          <a:bodyPr wrap="square" lIns="25400" tIns="25400" rIns="25400" bIns="25400" rtlCol="0" anchor="t">
            <a:noAutofit/>
          </a:bodyPr>
          <a:lstStyle/>
          <a:p>
            <a:pPr algn="ctr" indent="0" marL="0">
              <a:buNone/>
            </a:pPr>
            <a:r>
              <a:rPr lang="en-US" sz="1650" b="1" dirty="0">
                <a:solidFill>
                  <a:srgbClr val="000000"/>
                </a:solidFill>
                <a:latin typeface="Segoe UI" pitchFamily="34" charset="0"/>
                <a:ea typeface="Segoe UI" pitchFamily="34" charset="-122"/>
                <a:cs typeface="Segoe UI" pitchFamily="34" charset="-120"/>
              </a:rPr>
              <a:t>Add UDL deflection</a:t>
            </a:r>
            <a:endParaRPr lang="en-US" sz="1650" dirty="0"/>
          </a:p>
        </p:txBody>
      </p:sp>
      <p:sp>
        <p:nvSpPr>
          <p:cNvPr id="32" name="Text 32"/>
          <p:cNvSpPr txBox="1"/>
          <p:nvPr/>
        </p:nvSpPr>
        <p:spPr>
          <a:xfrm>
            <a:off x="4846320" y="2679192"/>
            <a:ext cx="2468880" cy="320040"/>
          </a:xfrm>
          <a:prstGeom prst="rect">
            <a:avLst/>
          </a:prstGeom>
          <a:noFill/>
          <a:ln/>
        </p:spPr>
        <p:txBody>
          <a:bodyPr wrap="square" lIns="25400" tIns="25400" rIns="25400" bIns="25400" rtlCol="0" anchor="t">
            <a:noAutofit/>
          </a:bodyPr>
          <a:lstStyle/>
          <a:p>
            <a:pPr algn="ctr" indent="0" marL="0">
              <a:buNone/>
            </a:pPr>
            <a:r>
              <a:rPr lang="en-US" sz="1500" dirty="0">
                <a:solidFill>
                  <a:srgbClr val="404040"/>
                </a:solidFill>
                <a:latin typeface="Segoe UI" pitchFamily="34" charset="0"/>
                <a:ea typeface="Segoe UI" pitchFamily="34" charset="-122"/>
                <a:cs typeface="Segoe UI" pitchFamily="34" charset="-120"/>
              </a:rPr>
              <a:t>a1b2c3d</a:t>
            </a:r>
            <a:endParaRPr lang="en-US" sz="1500" dirty="0"/>
          </a:p>
        </p:txBody>
      </p:sp>
      <p:sp>
        <p:nvSpPr>
          <p:cNvPr id="33" name="Shape 33"/>
          <p:cNvSpPr/>
          <p:nvPr/>
        </p:nvSpPr>
        <p:spPr>
          <a:xfrm>
            <a:off x="8503920" y="2350008"/>
            <a:ext cx="274320" cy="274320"/>
          </a:xfrm>
          <a:prstGeom prst="ellipse">
            <a:avLst/>
          </a:prstGeom>
          <a:solidFill>
            <a:srgbClr val="1F6FB2"/>
          </a:solidFill>
          <a:ln/>
        </p:spPr>
      </p:sp>
      <p:sp>
        <p:nvSpPr>
          <p:cNvPr id="34" name="Text 34"/>
          <p:cNvSpPr txBox="1"/>
          <p:nvPr/>
        </p:nvSpPr>
        <p:spPr>
          <a:xfrm>
            <a:off x="7406640" y="1874520"/>
            <a:ext cx="2468880" cy="365760"/>
          </a:xfrm>
          <a:prstGeom prst="rect">
            <a:avLst/>
          </a:prstGeom>
          <a:noFill/>
          <a:ln/>
        </p:spPr>
        <p:txBody>
          <a:bodyPr wrap="square" lIns="25400" tIns="25400" rIns="25400" bIns="25400" rtlCol="0" anchor="t">
            <a:noAutofit/>
          </a:bodyPr>
          <a:lstStyle/>
          <a:p>
            <a:pPr algn="ctr" indent="0" marL="0">
              <a:buNone/>
            </a:pPr>
            <a:r>
              <a:rPr lang="en-US" sz="1650" b="1" dirty="0">
                <a:solidFill>
                  <a:srgbClr val="000000"/>
                </a:solidFill>
                <a:latin typeface="Segoe UI" pitchFamily="34" charset="0"/>
                <a:ea typeface="Segoe UI" pitchFamily="34" charset="-122"/>
                <a:cs typeface="Segoe UI" pitchFamily="34" charset="-120"/>
              </a:rPr>
              <a:t>Fix test units</a:t>
            </a:r>
            <a:endParaRPr lang="en-US" sz="1650" dirty="0"/>
          </a:p>
        </p:txBody>
      </p:sp>
      <p:sp>
        <p:nvSpPr>
          <p:cNvPr id="35" name="Text 35"/>
          <p:cNvSpPr txBox="1"/>
          <p:nvPr/>
        </p:nvSpPr>
        <p:spPr>
          <a:xfrm>
            <a:off x="7406640" y="2679192"/>
            <a:ext cx="2468880" cy="320040"/>
          </a:xfrm>
          <a:prstGeom prst="rect">
            <a:avLst/>
          </a:prstGeom>
          <a:noFill/>
          <a:ln/>
        </p:spPr>
        <p:txBody>
          <a:bodyPr wrap="square" lIns="25400" tIns="25400" rIns="25400" bIns="25400" rtlCol="0" anchor="t">
            <a:noAutofit/>
          </a:bodyPr>
          <a:lstStyle/>
          <a:p>
            <a:pPr algn="ctr" indent="0" marL="0">
              <a:buNone/>
            </a:pPr>
            <a:r>
              <a:rPr lang="en-US" sz="1500" dirty="0">
                <a:solidFill>
                  <a:srgbClr val="404040"/>
                </a:solidFill>
                <a:latin typeface="Segoe UI" pitchFamily="34" charset="0"/>
                <a:ea typeface="Segoe UI" pitchFamily="34" charset="-122"/>
                <a:cs typeface="Segoe UI" pitchFamily="34" charset="-120"/>
              </a:rPr>
              <a:t>e4f5a6b</a:t>
            </a:r>
            <a:endParaRPr lang="en-US" sz="1500" dirty="0"/>
          </a:p>
        </p:txBody>
      </p:sp>
      <p:sp>
        <p:nvSpPr>
          <p:cNvPr id="36" name="Text 36"/>
          <p:cNvSpPr txBox="1"/>
          <p:nvPr/>
        </p:nvSpPr>
        <p:spPr>
          <a:xfrm>
            <a:off x="3794760" y="2788920"/>
            <a:ext cx="1280160" cy="365760"/>
          </a:xfrm>
          <a:prstGeom prst="rect">
            <a:avLst/>
          </a:prstGeom>
          <a:noFill/>
          <a:ln/>
        </p:spPr>
        <p:txBody>
          <a:bodyPr wrap="square" lIns="25400" tIns="25400" rIns="25400" bIns="25400" rtlCol="0" anchor="t">
            <a:noAutofit/>
          </a:bodyPr>
          <a:lstStyle/>
          <a:p>
            <a:pPr algn="l" indent="0" marL="0">
              <a:buNone/>
            </a:pPr>
            <a:r>
              <a:rPr lang="en-US" sz="1500" b="1" dirty="0">
                <a:solidFill>
                  <a:srgbClr val="1F6FB2"/>
                </a:solidFill>
                <a:latin typeface="Segoe UI" pitchFamily="34" charset="0"/>
                <a:ea typeface="Segoe UI" pitchFamily="34" charset="-122"/>
                <a:cs typeface="Segoe UI" pitchFamily="34" charset="-120"/>
              </a:rPr>
              <a:t>claude/…</a:t>
            </a:r>
            <a:endParaRPr lang="en-US" sz="1500" dirty="0"/>
          </a:p>
        </p:txBody>
      </p:sp>
      <p:sp>
        <p:nvSpPr>
          <p:cNvPr id="37" name="Text 37"/>
          <p:cNvSpPr txBox="1"/>
          <p:nvPr/>
        </p:nvSpPr>
        <p:spPr>
          <a:xfrm>
            <a:off x="1810512" y="3291840"/>
            <a:ext cx="731520" cy="320040"/>
          </a:xfrm>
          <a:prstGeom prst="rect">
            <a:avLst/>
          </a:prstGeom>
          <a:noFill/>
          <a:ln/>
        </p:spPr>
        <p:txBody>
          <a:bodyPr wrap="square" lIns="25400" tIns="25400" rIns="25400" bIns="25400" rtlCol="0" anchor="t">
            <a:noAutofit/>
          </a:bodyPr>
          <a:lstStyle/>
          <a:p>
            <a:pPr algn="l" indent="0" marL="0">
              <a:buNone/>
            </a:pPr>
            <a:r>
              <a:rPr lang="en-US" sz="1500" b="1" dirty="0">
                <a:solidFill>
                  <a:srgbClr val="000000"/>
                </a:solidFill>
                <a:latin typeface="Segoe UI" pitchFamily="34" charset="0"/>
                <a:ea typeface="Segoe UI" pitchFamily="34" charset="-122"/>
                <a:cs typeface="Segoe UI" pitchFamily="34" charset="-120"/>
              </a:rPr>
              <a:t>main</a:t>
            </a:r>
            <a:endParaRPr lang="en-US" sz="1500" dirty="0"/>
          </a:p>
        </p:txBody>
      </p:sp>
      <p:sp>
        <p:nvSpPr>
          <p:cNvPr id="38" name="Text 38"/>
          <p:cNvSpPr txBox="1"/>
          <p:nvPr/>
        </p:nvSpPr>
        <p:spPr>
          <a:xfrm>
            <a:off x="1810512" y="4663440"/>
            <a:ext cx="566928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Branch</a:t>
            </a:r>
            <a:endParaRPr lang="en-US" sz="2100" dirty="0"/>
          </a:p>
        </p:txBody>
      </p:sp>
      <p:sp>
        <p:nvSpPr>
          <p:cNvPr id="39" name="Text 39"/>
          <p:cNvSpPr txBox="1"/>
          <p:nvPr/>
        </p:nvSpPr>
        <p:spPr>
          <a:xfrm>
            <a:off x="1810512" y="5120640"/>
            <a:ext cx="5669280" cy="2286000"/>
          </a:xfrm>
          <a:prstGeom prst="rect">
            <a:avLst/>
          </a:prstGeom>
          <a:noFill/>
          <a:ln/>
        </p:spPr>
        <p:txBody>
          <a:bodyPr wrap="square" lIns="25400" tIns="25400" rIns="25400" bIns="25400" rtlCol="0" anchor="t">
            <a:noAutofit/>
          </a:bodyPr>
          <a:lstStyle/>
          <a:p>
            <a:pPr algn="l" indent="0" marL="0">
              <a:spcAft>
                <a:spcPts val="800"/>
              </a:spcAft>
              <a:buNone/>
            </a:pPr>
            <a:r>
              <a:rPr lang="en-US" sz="1875" dirty="0">
                <a:solidFill>
                  <a:srgbClr val="000000"/>
                </a:solidFill>
                <a:latin typeface="Segoe UI" pitchFamily="34" charset="0"/>
                <a:ea typeface="Segoe UI" pitchFamily="34" charset="-122"/>
                <a:cs typeface="Segoe UI" pitchFamily="34" charset="-120"/>
              </a:rPr>
              <a:t>Each session creates its own claude/… branch and pushes every commit there, including fixes.</a:t>
            </a:r>
            <a:endParaRPr lang="en-US" sz="1875" dirty="0"/>
          </a:p>
          <a:p>
            <a:pPr algn="l" indent="0" marL="0">
              <a:spcAft>
                <a:spcPts val="800"/>
              </a:spcAft>
              <a:buNone/>
            </a:pPr>
            <a:r>
              <a:rPr lang="en-US" sz="1875" dirty="0">
                <a:solidFill>
                  <a:srgbClr val="000000"/>
                </a:solidFill>
                <a:latin typeface="Segoe UI" pitchFamily="34" charset="0"/>
                <a:ea typeface="Segoe UI" pitchFamily="34" charset="-122"/>
                <a:cs typeface="Segoe UI" pitchFamily="34" charset="-120"/>
              </a:rPr>
              <a:t>main is unchanged until you merge.</a:t>
            </a:r>
            <a:endParaRPr lang="en-US" sz="1875" dirty="0"/>
          </a:p>
        </p:txBody>
      </p:sp>
      <p:sp>
        <p:nvSpPr>
          <p:cNvPr id="40" name="Text 40"/>
          <p:cNvSpPr txBox="1"/>
          <p:nvPr/>
        </p:nvSpPr>
        <p:spPr>
          <a:xfrm>
            <a:off x="7818120" y="4663440"/>
            <a:ext cx="566928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Pull request (PR)</a:t>
            </a:r>
            <a:endParaRPr lang="en-US" sz="2100" dirty="0"/>
          </a:p>
        </p:txBody>
      </p:sp>
      <p:sp>
        <p:nvSpPr>
          <p:cNvPr id="41" name="Text 41"/>
          <p:cNvSpPr txBox="1"/>
          <p:nvPr/>
        </p:nvSpPr>
        <p:spPr>
          <a:xfrm>
            <a:off x="7818120" y="516636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1</a:t>
            </a:r>
            <a:endParaRPr lang="en-US" sz="2250" dirty="0"/>
          </a:p>
        </p:txBody>
      </p:sp>
      <p:sp>
        <p:nvSpPr>
          <p:cNvPr id="42" name="Text 42"/>
          <p:cNvSpPr txBox="1"/>
          <p:nvPr/>
        </p:nvSpPr>
        <p:spPr>
          <a:xfrm>
            <a:off x="8348472" y="5166360"/>
            <a:ext cx="5138928" cy="385584"/>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Segoe UI" pitchFamily="34" charset="0"/>
                <a:ea typeface="Segoe UI" pitchFamily="34" charset="-122"/>
                <a:cs typeface="Segoe UI" pitchFamily="34" charset="-120"/>
              </a:rPr>
              <a:t xml:space="preserve">Select </a:t>
            </a:r>
            <a:r>
              <a:rPr lang="en-US" sz="1875" b="1" dirty="0">
                <a:solidFill>
                  <a:srgbClr val="000000"/>
                </a:solidFill>
                <a:latin typeface="Segoe UI" pitchFamily="34" charset="0"/>
                <a:ea typeface="Segoe UI" pitchFamily="34" charset="-122"/>
                <a:cs typeface="Segoe UI" pitchFamily="34" charset="-120"/>
              </a:rPr>
              <a:t>Create PR</a:t>
            </a:r>
            <a:r>
              <a:rPr lang="en-US" sz="1875" dirty="0">
                <a:solidFill>
                  <a:srgbClr val="000000"/>
                </a:solidFill>
                <a:latin typeface="Segoe UI" pitchFamily="34" charset="0"/>
                <a:ea typeface="Segoe UI" pitchFamily="34" charset="-122"/>
                <a:cs typeface="Segoe UI" pitchFamily="34" charset="-120"/>
              </a:rPr>
              <a:t xml:space="preserve"> in the session.</a:t>
            </a:r>
            <a:endParaRPr lang="en-US" sz="1875" dirty="0"/>
          </a:p>
        </p:txBody>
      </p:sp>
      <p:sp>
        <p:nvSpPr>
          <p:cNvPr id="43" name="Text 43"/>
          <p:cNvSpPr txBox="1"/>
          <p:nvPr/>
        </p:nvSpPr>
        <p:spPr>
          <a:xfrm>
            <a:off x="7818120" y="5661672"/>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2</a:t>
            </a:r>
            <a:endParaRPr lang="en-US" sz="2250" dirty="0"/>
          </a:p>
        </p:txBody>
      </p:sp>
      <p:sp>
        <p:nvSpPr>
          <p:cNvPr id="44" name="Text 44"/>
          <p:cNvSpPr txBox="1"/>
          <p:nvPr/>
        </p:nvSpPr>
        <p:spPr>
          <a:xfrm>
            <a:off x="8348472" y="5661672"/>
            <a:ext cx="5138928" cy="385584"/>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Segoe UI" pitchFamily="34" charset="0"/>
                <a:ea typeface="Segoe UI" pitchFamily="34" charset="-122"/>
                <a:cs typeface="Segoe UI" pitchFamily="34" charset="-120"/>
              </a:rPr>
              <a:t xml:space="preserve">On GitHub, read </a:t>
            </a:r>
            <a:r>
              <a:rPr lang="en-US" sz="1875" b="1" dirty="0">
                <a:solidFill>
                  <a:srgbClr val="000000"/>
                </a:solidFill>
                <a:latin typeface="Segoe UI" pitchFamily="34" charset="0"/>
                <a:ea typeface="Segoe UI" pitchFamily="34" charset="-122"/>
                <a:cs typeface="Segoe UI" pitchFamily="34" charset="-120"/>
              </a:rPr>
              <a:t>Files changed</a:t>
            </a:r>
            <a:r>
              <a:rPr lang="en-US" sz="1875" dirty="0">
                <a:solidFill>
                  <a:srgbClr val="000000"/>
                </a:solidFill>
                <a:latin typeface="Segoe UI" pitchFamily="34" charset="0"/>
                <a:ea typeface="Segoe UI" pitchFamily="34" charset="-122"/>
                <a:cs typeface="Segoe UI" pitchFamily="34" charset="-120"/>
              </a:rPr>
              <a:t>.</a:t>
            </a:r>
            <a:endParaRPr lang="en-US" sz="1875" dirty="0"/>
          </a:p>
        </p:txBody>
      </p:sp>
      <p:sp>
        <p:nvSpPr>
          <p:cNvPr id="45" name="Text 45"/>
          <p:cNvSpPr txBox="1"/>
          <p:nvPr/>
        </p:nvSpPr>
        <p:spPr>
          <a:xfrm>
            <a:off x="7818120" y="6156984"/>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3</a:t>
            </a:r>
            <a:endParaRPr lang="en-US" sz="2250" dirty="0"/>
          </a:p>
        </p:txBody>
      </p:sp>
      <p:sp>
        <p:nvSpPr>
          <p:cNvPr id="46" name="Text 46"/>
          <p:cNvSpPr txBox="1"/>
          <p:nvPr/>
        </p:nvSpPr>
        <p:spPr>
          <a:xfrm>
            <a:off x="8348472" y="6156984"/>
            <a:ext cx="5138928" cy="385584"/>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Segoe UI" pitchFamily="34" charset="0"/>
                <a:ea typeface="Segoe UI" pitchFamily="34" charset="-122"/>
                <a:cs typeface="Segoe UI" pitchFamily="34" charset="-120"/>
              </a:rPr>
              <a:t>Test the branch yourself (next).</a:t>
            </a:r>
            <a:endParaRPr lang="en-US" sz="1875" dirty="0"/>
          </a:p>
        </p:txBody>
      </p:sp>
      <p:sp>
        <p:nvSpPr>
          <p:cNvPr id="47" name="Text 47"/>
          <p:cNvSpPr txBox="1"/>
          <p:nvPr/>
        </p:nvSpPr>
        <p:spPr>
          <a:xfrm>
            <a:off x="7818120" y="6652296"/>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4</a:t>
            </a:r>
            <a:endParaRPr lang="en-US" sz="2250" dirty="0"/>
          </a:p>
        </p:txBody>
      </p:sp>
      <p:sp>
        <p:nvSpPr>
          <p:cNvPr id="48" name="Text 48"/>
          <p:cNvSpPr txBox="1"/>
          <p:nvPr/>
        </p:nvSpPr>
        <p:spPr>
          <a:xfrm>
            <a:off x="8348472" y="6652296"/>
            <a:ext cx="5138928" cy="385584"/>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Segoe UI" pitchFamily="34" charset="0"/>
                <a:ea typeface="Segoe UI" pitchFamily="34" charset="-122"/>
                <a:cs typeface="Segoe UI" pitchFamily="34" charset="-120"/>
              </a:rPr>
              <a:t>Merge only after it passes.</a:t>
            </a:r>
            <a:endParaRPr lang="en-US" sz="1875"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3"/>
          <p:cNvSpPr/>
          <p:nvPr/>
        </p:nvSpPr>
        <p:spPr>
          <a:xfrm>
            <a:off x="0" y="0"/>
            <a:ext cx="1543050" cy="10287000"/>
          </a:xfrm>
          <a:prstGeom prst="rect">
            <a:avLst/>
          </a:prstGeom>
          <a:solidFill>
            <a:srgbClr val="E6E6E6"/>
          </a:solidFill>
          <a:ln/>
        </p:spPr>
      </p:sp>
      <p:pic>
        <p:nvPicPr>
          <p:cNvPr id="3" name="Picture 1" descr="image.png"/>
          <p:cNvPicPr>
            <a:picLocks noChangeAspect="1"/>
          </p:cNvPicPr>
          <p:nvPr/>
        </p:nvPicPr>
        <p:blipFill>
          <a:blip r:embed="rId2"/>
          <a:stretch>
            <a:fillRect/>
          </a:stretch>
        </p:blipFill>
        <p:spPr>
          <a:xfrm>
            <a:off x="200025" y="133350"/>
            <a:ext cx="1143000" cy="1143000"/>
          </a:xfrm>
          <a:prstGeom prst="rect">
            <a:avLst/>
          </a:prstGeom>
        </p:spPr>
      </p:pic>
      <p:sp>
        <p:nvSpPr>
          <p:cNvPr id="4" name="Text 4"/>
          <p:cNvSpPr txBox="1"/>
          <p:nvPr/>
        </p:nvSpPr>
        <p:spPr>
          <a:xfrm>
            <a:off x="133350" y="238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5"/>
          <p:cNvSpPr txBox="1"/>
          <p:nvPr/>
        </p:nvSpPr>
        <p:spPr>
          <a:xfrm>
            <a:off x="133350" y="2762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6"/>
          <p:cNvSpPr txBox="1"/>
          <p:nvPr/>
        </p:nvSpPr>
        <p:spPr>
          <a:xfrm>
            <a:off x="133350" y="3143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Specify</a:t>
            </a:r>
            <a:endParaRPr lang="en-US" sz="1800" dirty="0"/>
          </a:p>
        </p:txBody>
      </p:sp>
      <p:sp>
        <p:nvSpPr>
          <p:cNvPr id="7" name="Text 7"/>
          <p:cNvSpPr txBox="1"/>
          <p:nvPr/>
        </p:nvSpPr>
        <p:spPr>
          <a:xfrm>
            <a:off x="133350" y="3524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8" name="Text 8"/>
          <p:cNvSpPr txBox="1"/>
          <p:nvPr/>
        </p:nvSpPr>
        <p:spPr>
          <a:xfrm>
            <a:off x="133350" y="3905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Generate</a:t>
            </a:r>
            <a:endParaRPr lang="en-US" sz="1800" dirty="0"/>
          </a:p>
        </p:txBody>
      </p:sp>
      <p:sp>
        <p:nvSpPr>
          <p:cNvPr id="9" name="Text 9"/>
          <p:cNvSpPr txBox="1"/>
          <p:nvPr/>
        </p:nvSpPr>
        <p:spPr>
          <a:xfrm>
            <a:off x="133350" y="4286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Adjudicate</a:t>
            </a:r>
            <a:endParaRPr lang="en-US" sz="1800" dirty="0"/>
          </a:p>
        </p:txBody>
      </p:sp>
      <p:sp>
        <p:nvSpPr>
          <p:cNvPr id="10" name="Text 10"/>
          <p:cNvSpPr txBox="1"/>
          <p:nvPr/>
        </p:nvSpPr>
        <p:spPr>
          <a:xfrm>
            <a:off x="133350" y="4667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Pitfalls</a:t>
            </a:r>
            <a:endParaRPr lang="en-US" sz="1800" dirty="0"/>
          </a:p>
        </p:txBody>
      </p:sp>
      <p:sp>
        <p:nvSpPr>
          <p:cNvPr id="11" name="Text 11"/>
          <p:cNvSpPr txBox="1"/>
          <p:nvPr/>
        </p:nvSpPr>
        <p:spPr>
          <a:xfrm>
            <a:off x="133350" y="5048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GenAI Use</a:t>
            </a:r>
            <a:endParaRPr lang="en-US" sz="1800" dirty="0"/>
          </a:p>
        </p:txBody>
      </p:sp>
      <p:sp>
        <p:nvSpPr>
          <p:cNvPr id="12" name="Text 12"/>
          <p:cNvSpPr txBox="1"/>
          <p:nvPr/>
        </p:nvSpPr>
        <p:spPr>
          <a:xfrm>
            <a:off x="133350" y="5429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Your Repo</a:t>
            </a:r>
            <a:endParaRPr lang="en-US" sz="1800" dirty="0"/>
          </a:p>
        </p:txBody>
      </p:sp>
      <p:sp>
        <p:nvSpPr>
          <p:cNvPr id="13" name="Text 13"/>
          <p:cNvSpPr txBox="1"/>
          <p:nvPr/>
        </p:nvSpPr>
        <p:spPr>
          <a:xfrm>
            <a:off x="133350" y="5810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Teaching</a:t>
            </a:r>
            <a:endParaRPr lang="en-US" sz="1800" dirty="0"/>
          </a:p>
        </p:txBody>
      </p:sp>
      <p:sp>
        <p:nvSpPr>
          <p:cNvPr id="14" name="Text 14"/>
          <p:cNvSpPr txBox="1"/>
          <p:nvPr/>
        </p:nvSpPr>
        <p:spPr>
          <a:xfrm>
            <a:off x="133350" y="619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5"/>
          <p:cNvSpPr txBox="1"/>
          <p:nvPr/>
        </p:nvSpPr>
        <p:spPr>
          <a:xfrm>
            <a:off x="1657350" y="200025"/>
            <a:ext cx="10988040" cy="1057275"/>
          </a:xfrm>
          <a:prstGeom prst="rect">
            <a:avLst/>
          </a:prstGeom>
          <a:noFill/>
          <a:ln/>
        </p:spPr>
        <p:txBody>
          <a:bodyPr wrap="square" lIns="25400" tIns="25400" rIns="25400" bIns="25400" rtlCol="0" anchor="ctr">
            <a:no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Exercise 6: Test It Yourself</a:t>
            </a:r>
            <a:endParaRPr lang="en-US" sz="4800" dirty="0"/>
          </a:p>
        </p:txBody>
      </p:sp>
      <p:sp>
        <p:nvSpPr>
          <p:cNvPr id="16" name="Text 16"/>
          <p:cNvSpPr txBox="1"/>
          <p:nvPr/>
        </p:nvSpPr>
        <p:spPr>
          <a:xfrm>
            <a:off x="12515950" y="133350"/>
            <a:ext cx="1142901" cy="393700"/>
          </a:xfrm>
          <a:prstGeom prst="rect">
            <a:avLst/>
          </a:prstGeom>
          <a:noFill/>
          <a:ln/>
        </p:spPr>
        <p:txBody>
          <a:bodyPr wrap="non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2</a:t>
            </a:r>
            <a:endParaRPr lang="en-US" sz="2100" dirty="0"/>
          </a:p>
        </p:txBody>
      </p:sp>
      <p:sp>
        <p:nvSpPr>
          <p:cNvPr id="17" name="Shape 17"/>
          <p:cNvSpPr/>
          <p:nvPr/>
        </p:nvSpPr>
        <p:spPr>
          <a:xfrm>
            <a:off x="1657350" y="1219200"/>
            <a:ext cx="11925300" cy="66675"/>
          </a:xfrm>
          <a:prstGeom prst="rect">
            <a:avLst/>
          </a:prstGeom>
          <a:solidFill>
            <a:srgbClr val="000000"/>
          </a:solidFill>
          <a:ln/>
        </p:spPr>
      </p:sp>
      <p:sp>
        <p:nvSpPr>
          <p:cNvPr id="18" name="Text 18"/>
          <p:cNvSpPr txBox="1"/>
          <p:nvPr/>
        </p:nvSpPr>
        <p:spPr>
          <a:xfrm>
            <a:off x="1054418" y="9810750"/>
            <a:ext cx="13264515" cy="342900"/>
          </a:xfrm>
          <a:prstGeom prst="rect">
            <a:avLst/>
          </a:prstGeom>
          <a:noFill/>
          <a:ln/>
        </p:spPr>
        <p:txBody>
          <a:bodyPr wrap="square" lIns="25400" tIns="25400" rIns="25400" bIns="25400" rtlCol="0" anchor="t">
            <a:no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2</a:t>
            </a:r>
            <a:endParaRPr lang="en-US" sz="1800" dirty="0"/>
          </a:p>
        </p:txBody>
      </p:sp>
      <p:sp>
        <p:nvSpPr>
          <p:cNvPr id="19" name="Text 19"/>
          <p:cNvSpPr txBox="1"/>
          <p:nvPr/>
        </p:nvSpPr>
        <p:spPr>
          <a:xfrm>
            <a:off x="13336850" y="9810750"/>
            <a:ext cx="322000" cy="342900"/>
          </a:xfrm>
          <a:prstGeom prst="rect">
            <a:avLst/>
          </a:prstGeom>
          <a:noFill/>
          <a:ln/>
        </p:spPr>
        <p:txBody>
          <a:bodyPr wrap="none" lIns="25400" tIns="25400" rIns="25400" bIns="25400" rtlCol="0" anchor="t">
            <a:no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14</a:t>
            </a:r>
            <a:endParaRPr lang="en-US" sz="1800" dirty="0"/>
          </a:p>
        </p:txBody>
      </p:sp>
      <p:sp>
        <p:nvSpPr>
          <p:cNvPr id="20" name="Shape 20"/>
          <p:cNvSpPr/>
          <p:nvPr/>
        </p:nvSpPr>
        <p:spPr>
          <a:xfrm>
            <a:off x="1810512" y="1527048"/>
            <a:ext cx="1353312" cy="381305"/>
          </a:xfrm>
          <a:prstGeom prst="roundRect">
            <a:avLst>
              <a:gd name="adj" fmla="val 15000"/>
            </a:avLst>
          </a:prstGeom>
          <a:solidFill>
            <a:srgbClr val="595959"/>
          </a:solidFill>
          <a:ln/>
        </p:spPr>
      </p:sp>
      <p:sp>
        <p:nvSpPr>
          <p:cNvPr id="21" name="Text 21"/>
          <p:cNvSpPr txBox="1"/>
          <p:nvPr/>
        </p:nvSpPr>
        <p:spPr>
          <a:xfrm>
            <a:off x="1837944" y="156362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Segoe UI" pitchFamily="34" charset="0"/>
                <a:ea typeface="Segoe UI" pitchFamily="34" charset="-122"/>
                <a:cs typeface="Segoe UI" pitchFamily="34" charset="-120"/>
              </a:rPr>
              <a:t>EXERCISE</a:t>
            </a:r>
            <a:endParaRPr lang="en-US" sz="1800" dirty="0"/>
          </a:p>
        </p:txBody>
      </p:sp>
      <p:sp>
        <p:nvSpPr>
          <p:cNvPr id="22" name="Text 22"/>
          <p:cNvSpPr txBox="1"/>
          <p:nvPr/>
        </p:nvSpPr>
        <p:spPr>
          <a:xfrm>
            <a:off x="1810512" y="210312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1</a:t>
            </a:r>
            <a:endParaRPr lang="en-US" sz="2250" dirty="0"/>
          </a:p>
        </p:txBody>
      </p:sp>
      <p:sp>
        <p:nvSpPr>
          <p:cNvPr id="23" name="Text 23"/>
          <p:cNvSpPr txBox="1"/>
          <p:nvPr/>
        </p:nvSpPr>
        <p:spPr>
          <a:xfrm>
            <a:off x="2340864" y="2103120"/>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 xml:space="preserve">GitHub Desktop: </a:t>
            </a:r>
            <a:r>
              <a:rPr lang="en-US" sz="1950" b="1" dirty="0">
                <a:solidFill>
                  <a:srgbClr val="000000"/>
                </a:solidFill>
                <a:latin typeface="Segoe UI" pitchFamily="34" charset="0"/>
                <a:ea typeface="Segoe UI" pitchFamily="34" charset="-122"/>
                <a:cs typeface="Segoe UI" pitchFamily="34" charset="-120"/>
              </a:rPr>
              <a:t>Fetch origin</a:t>
            </a:r>
            <a:r>
              <a:rPr lang="en-US" sz="1950" dirty="0">
                <a:solidFill>
                  <a:srgbClr val="000000"/>
                </a:solidFill>
                <a:latin typeface="Segoe UI" pitchFamily="34" charset="0"/>
                <a:ea typeface="Segoe UI" pitchFamily="34" charset="-122"/>
                <a:cs typeface="Segoe UI" pitchFamily="34" charset="-120"/>
              </a:rPr>
              <a:t xml:space="preserve">, then switch Current branch to </a:t>
            </a:r>
            <a:r>
              <a:rPr lang="en-US" sz="1950" b="1" dirty="0">
                <a:solidFill>
                  <a:srgbClr val="000000"/>
                </a:solidFill>
                <a:latin typeface="Segoe UI" pitchFamily="34" charset="0"/>
                <a:ea typeface="Segoe UI" pitchFamily="34" charset="-122"/>
                <a:cs typeface="Segoe UI" pitchFamily="34" charset="-120"/>
              </a:rPr>
              <a:t>claude/udl-deflection</a:t>
            </a:r>
            <a:r>
              <a:rPr lang="en-US" sz="1950" dirty="0">
                <a:solidFill>
                  <a:srgbClr val="000000"/>
                </a:solidFill>
                <a:latin typeface="Segoe UI" pitchFamily="34" charset="0"/>
                <a:ea typeface="Segoe UI" pitchFamily="34" charset="-122"/>
                <a:cs typeface="Segoe UI" pitchFamily="34" charset="-120"/>
              </a:rPr>
              <a:t>.</a:t>
            </a:r>
            <a:endParaRPr lang="en-US" sz="1950" dirty="0"/>
          </a:p>
        </p:txBody>
      </p:sp>
      <p:sp>
        <p:nvSpPr>
          <p:cNvPr id="24" name="Text 24"/>
          <p:cNvSpPr txBox="1"/>
          <p:nvPr/>
        </p:nvSpPr>
        <p:spPr>
          <a:xfrm>
            <a:off x="1810512" y="2665062"/>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2</a:t>
            </a:r>
            <a:endParaRPr lang="en-US" sz="2250" dirty="0"/>
          </a:p>
        </p:txBody>
      </p:sp>
      <p:sp>
        <p:nvSpPr>
          <p:cNvPr id="25" name="Text 25"/>
          <p:cNvSpPr txBox="1"/>
          <p:nvPr/>
        </p:nvSpPr>
        <p:spPr>
          <a:xfrm>
            <a:off x="2340864" y="2665062"/>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 xml:space="preserve">MATLAB: open the repo folder. Run </a:t>
            </a:r>
            <a:r>
              <a:rPr lang="en-US" sz="1950" dirty="0">
                <a:solidFill>
                  <a:srgbClr val="000000"/>
                </a:solidFill>
                <a:latin typeface="Cascadia Mono" pitchFamily="34" charset="0"/>
                <a:ea typeface="Cascadia Mono" pitchFamily="34" charset="-122"/>
                <a:cs typeface="Cascadia Mono" pitchFamily="34" charset="-120"/>
              </a:rPr>
              <a:t>beam</a:t>
            </a:r>
            <a:r>
              <a:rPr lang="en-US" sz="1950" dirty="0">
                <a:solidFill>
                  <a:srgbClr val="000000"/>
                </a:solidFill>
                <a:latin typeface="Segoe UI" pitchFamily="34" charset="0"/>
                <a:ea typeface="Segoe UI" pitchFamily="34" charset="-122"/>
                <a:cs typeface="Segoe UI" pitchFamily="34" charset="-120"/>
              </a:rPr>
              <a:t xml:space="preserve">, then </a:t>
            </a:r>
            <a:r>
              <a:rPr lang="en-US" sz="1950" dirty="0">
                <a:solidFill>
                  <a:srgbClr val="000000"/>
                </a:solidFill>
                <a:latin typeface="Cascadia Mono" pitchFamily="34" charset="0"/>
                <a:ea typeface="Cascadia Mono" pitchFamily="34" charset="-122"/>
                <a:cs typeface="Cascadia Mono" pitchFamily="34" charset="-120"/>
              </a:rPr>
              <a:t>runtests('tests')</a:t>
            </a:r>
            <a:r>
              <a:rPr lang="en-US" sz="1950" dirty="0">
                <a:solidFill>
                  <a:srgbClr val="000000"/>
                </a:solidFill>
                <a:latin typeface="Segoe UI" pitchFamily="34" charset="0"/>
                <a:ea typeface="Segoe UI" pitchFamily="34" charset="-122"/>
                <a:cs typeface="Segoe UI" pitchFamily="34" charset="-120"/>
              </a:rPr>
              <a:t>.</a:t>
            </a:r>
            <a:endParaRPr lang="en-US" sz="1950" dirty="0"/>
          </a:p>
        </p:txBody>
      </p:sp>
      <p:sp>
        <p:nvSpPr>
          <p:cNvPr id="26" name="Text 26"/>
          <p:cNvSpPr txBox="1"/>
          <p:nvPr/>
        </p:nvSpPr>
        <p:spPr>
          <a:xfrm>
            <a:off x="1810512" y="3227003"/>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3</a:t>
            </a:r>
            <a:endParaRPr lang="en-US" sz="2250" dirty="0"/>
          </a:p>
        </p:txBody>
      </p:sp>
      <p:sp>
        <p:nvSpPr>
          <p:cNvPr id="27" name="Text 27"/>
          <p:cNvSpPr txBox="1"/>
          <p:nvPr/>
        </p:nvSpPr>
        <p:spPr>
          <a:xfrm>
            <a:off x="2340864" y="3227003"/>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Check the result against your own hand calculation, not the agent’s.</a:t>
            </a:r>
            <a:endParaRPr lang="en-US" sz="1950" dirty="0"/>
          </a:p>
        </p:txBody>
      </p:sp>
      <p:sp>
        <p:nvSpPr>
          <p:cNvPr id="28" name="Text 28"/>
          <p:cNvSpPr txBox="1"/>
          <p:nvPr/>
        </p:nvSpPr>
        <p:spPr>
          <a:xfrm>
            <a:off x="1810512" y="4206240"/>
            <a:ext cx="11704320" cy="365760"/>
          </a:xfrm>
          <a:prstGeom prst="rect">
            <a:avLst/>
          </a:prstGeom>
          <a:noFill/>
          <a:ln/>
        </p:spPr>
        <p:txBody>
          <a:bodyPr wrap="square" lIns="25400" tIns="25400" rIns="25400" bIns="25400" rtlCol="0" anchor="t">
            <a:noAutofit/>
          </a:bodyPr>
          <a:lstStyle/>
          <a:p>
            <a:pPr algn="l" indent="0" marL="0">
              <a:buNone/>
            </a:pPr>
            <a:r>
              <a:rPr lang="en-US" sz="1650" b="1" dirty="0">
                <a:solidFill>
                  <a:srgbClr val="404040"/>
                </a:solidFill>
                <a:latin typeface="Segoe UI" pitchFamily="34" charset="0"/>
                <a:ea typeface="Segoe UI" pitchFamily="34" charset="-122"/>
                <a:cs typeface="Segoe UI" pitchFamily="34" charset="-120"/>
              </a:rPr>
              <a:t>PASS CRITERIA (FROM THE REQUIREMENT)</a:t>
            </a:r>
            <a:endParaRPr lang="en-US" sz="1650" dirty="0"/>
          </a:p>
        </p:txBody>
      </p:sp>
      <p:sp>
        <p:nvSpPr>
          <p:cNvPr id="29" name="Shape 29"/>
          <p:cNvSpPr/>
          <p:nvPr/>
        </p:nvSpPr>
        <p:spPr>
          <a:xfrm>
            <a:off x="1810512" y="4663440"/>
            <a:ext cx="338328" cy="338328"/>
          </a:xfrm>
          <a:prstGeom prst="rect">
            <a:avLst/>
          </a:prstGeom>
          <a:noFill/>
          <a:ln w="25400">
            <a:solidFill>
              <a:srgbClr val="152A47"/>
            </a:solidFill>
            <a:prstDash val="solid"/>
          </a:ln>
        </p:spPr>
      </p:sp>
      <p:sp>
        <p:nvSpPr>
          <p:cNvPr id="30" name="Text 30"/>
          <p:cNvSpPr txBox="1"/>
          <p:nvPr/>
        </p:nvSpPr>
        <p:spPr>
          <a:xfrm>
            <a:off x="2359152" y="4617720"/>
            <a:ext cx="11155680" cy="41148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Segoe UI" pitchFamily="34" charset="0"/>
                <a:ea typeface="Segoe UI" pitchFamily="34" charset="-122"/>
                <a:cs typeface="Segoe UI" pitchFamily="34" charset="-120"/>
              </a:rPr>
              <a:t xml:space="preserve">All tests pass, including </a:t>
            </a:r>
            <a:r>
              <a:rPr lang="en-US" sz="1950" b="1" dirty="0">
                <a:solidFill>
                  <a:srgbClr val="000000"/>
                </a:solidFill>
                <a:latin typeface="Segoe UI" pitchFamily="34" charset="0"/>
                <a:ea typeface="Segoe UI" pitchFamily="34" charset="-122"/>
                <a:cs typeface="Segoe UI" pitchFamily="34" charset="-120"/>
              </a:rPr>
              <a:t>testUDLHandCalc</a:t>
            </a:r>
            <a:r>
              <a:rPr lang="en-US" sz="1950" dirty="0">
                <a:solidFill>
                  <a:srgbClr val="000000"/>
                </a:solidFill>
                <a:latin typeface="Segoe UI" pitchFamily="34" charset="0"/>
                <a:ea typeface="Segoe UI" pitchFamily="34" charset="-122"/>
                <a:cs typeface="Segoe UI" pitchFamily="34" charset="-120"/>
              </a:rPr>
              <a:t>.</a:t>
            </a:r>
            <a:endParaRPr lang="en-US" sz="1950" dirty="0"/>
          </a:p>
        </p:txBody>
      </p:sp>
      <p:sp>
        <p:nvSpPr>
          <p:cNvPr id="31" name="Shape 31"/>
          <p:cNvSpPr/>
          <p:nvPr/>
        </p:nvSpPr>
        <p:spPr>
          <a:xfrm>
            <a:off x="1810512" y="5166360"/>
            <a:ext cx="11676888" cy="18288"/>
          </a:xfrm>
          <a:prstGeom prst="rect">
            <a:avLst/>
          </a:prstGeom>
          <a:solidFill>
            <a:srgbClr val="BFBFBF"/>
          </a:solidFill>
          <a:ln/>
        </p:spPr>
      </p:sp>
      <p:sp>
        <p:nvSpPr>
          <p:cNvPr id="32" name="Shape 32"/>
          <p:cNvSpPr/>
          <p:nvPr/>
        </p:nvSpPr>
        <p:spPr>
          <a:xfrm>
            <a:off x="1810512" y="5349240"/>
            <a:ext cx="338328" cy="338328"/>
          </a:xfrm>
          <a:prstGeom prst="rect">
            <a:avLst/>
          </a:prstGeom>
          <a:noFill/>
          <a:ln w="25400">
            <a:solidFill>
              <a:srgbClr val="152A47"/>
            </a:solidFill>
            <a:prstDash val="solid"/>
          </a:ln>
        </p:spPr>
      </p:sp>
      <p:sp>
        <p:nvSpPr>
          <p:cNvPr id="33" name="Text 33"/>
          <p:cNvSpPr txBox="1"/>
          <p:nvPr/>
        </p:nvSpPr>
        <p:spPr>
          <a:xfrm>
            <a:off x="2359152" y="5303520"/>
            <a:ext cx="11155680" cy="41148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Segoe UI" pitchFamily="34" charset="0"/>
                <a:ea typeface="Segoe UI" pitchFamily="34" charset="-122"/>
                <a:cs typeface="Segoe UI" pitchFamily="34" charset="-120"/>
              </a:rPr>
              <a:t xml:space="preserve">Hand check: w = 1000 N/m, L = 2.0 m, steel, 50 × 100 mm → </a:t>
            </a:r>
            <a:r>
              <a:rPr lang="en-US" sz="1950" b="1" dirty="0">
                <a:solidFill>
                  <a:srgbClr val="000000"/>
                </a:solidFill>
                <a:latin typeface="Segoe UI" pitchFamily="34" charset="0"/>
                <a:ea typeface="Segoe UI" pitchFamily="34" charset="-122"/>
                <a:cs typeface="Segoe UI" pitchFamily="34" charset="-120"/>
              </a:rPr>
              <a:t>δ = 2.40 mm</a:t>
            </a:r>
            <a:r>
              <a:rPr lang="en-US" sz="1950" dirty="0">
                <a:solidFill>
                  <a:srgbClr val="000000"/>
                </a:solidFill>
                <a:latin typeface="Segoe UI" pitchFamily="34" charset="0"/>
                <a:ea typeface="Segoe UI" pitchFamily="34" charset="-122"/>
                <a:cs typeface="Segoe UI" pitchFamily="34" charset="-120"/>
              </a:rPr>
              <a:t>.</a:t>
            </a:r>
            <a:endParaRPr lang="en-US" sz="1950" dirty="0"/>
          </a:p>
        </p:txBody>
      </p:sp>
      <p:sp>
        <p:nvSpPr>
          <p:cNvPr id="34" name="Shape 34"/>
          <p:cNvSpPr/>
          <p:nvPr/>
        </p:nvSpPr>
        <p:spPr>
          <a:xfrm>
            <a:off x="1810512" y="5852160"/>
            <a:ext cx="11676888" cy="18288"/>
          </a:xfrm>
          <a:prstGeom prst="rect">
            <a:avLst/>
          </a:prstGeom>
          <a:solidFill>
            <a:srgbClr val="BFBFBF"/>
          </a:solidFill>
          <a:ln/>
        </p:spPr>
      </p:sp>
      <p:sp>
        <p:nvSpPr>
          <p:cNvPr id="35" name="Shape 35"/>
          <p:cNvSpPr/>
          <p:nvPr/>
        </p:nvSpPr>
        <p:spPr>
          <a:xfrm>
            <a:off x="1810512" y="6035040"/>
            <a:ext cx="338328" cy="338328"/>
          </a:xfrm>
          <a:prstGeom prst="rect">
            <a:avLst/>
          </a:prstGeom>
          <a:noFill/>
          <a:ln w="25400">
            <a:solidFill>
              <a:srgbClr val="152A47"/>
            </a:solidFill>
            <a:prstDash val="solid"/>
          </a:ln>
        </p:spPr>
      </p:sp>
      <p:sp>
        <p:nvSpPr>
          <p:cNvPr id="36" name="Text 36"/>
          <p:cNvSpPr txBox="1"/>
          <p:nvPr/>
        </p:nvSpPr>
        <p:spPr>
          <a:xfrm>
            <a:off x="2359152" y="5989320"/>
            <a:ext cx="11155680" cy="41148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Segoe UI" pitchFamily="34" charset="0"/>
                <a:ea typeface="Segoe UI" pitchFamily="34" charset="-122"/>
                <a:cs typeface="Segoe UI" pitchFamily="34" charset="-120"/>
              </a:rPr>
              <a:t xml:space="preserve">With P = wL, the distributed result is </a:t>
            </a:r>
            <a:r>
              <a:rPr lang="en-US" sz="1950" b="1" dirty="0">
                <a:solidFill>
                  <a:srgbClr val="000000"/>
                </a:solidFill>
                <a:latin typeface="Segoe UI" pitchFamily="34" charset="0"/>
                <a:ea typeface="Segoe UI" pitchFamily="34" charset="-122"/>
                <a:cs typeface="Segoe UI" pitchFamily="34" charset="-120"/>
              </a:rPr>
              <a:t>3/8</a:t>
            </a:r>
            <a:r>
              <a:rPr lang="en-US" sz="1950" dirty="0">
                <a:solidFill>
                  <a:srgbClr val="000000"/>
                </a:solidFill>
                <a:latin typeface="Segoe UI" pitchFamily="34" charset="0"/>
                <a:ea typeface="Segoe UI" pitchFamily="34" charset="-122"/>
                <a:cs typeface="Segoe UI" pitchFamily="34" charset="-120"/>
              </a:rPr>
              <a:t xml:space="preserve"> of the point-load result.</a:t>
            </a:r>
            <a:endParaRPr lang="en-US" sz="1950" dirty="0"/>
          </a:p>
        </p:txBody>
      </p:sp>
      <p:sp>
        <p:nvSpPr>
          <p:cNvPr id="37" name="Shape 37"/>
          <p:cNvSpPr/>
          <p:nvPr/>
        </p:nvSpPr>
        <p:spPr>
          <a:xfrm>
            <a:off x="1810512" y="6537960"/>
            <a:ext cx="11676888" cy="18288"/>
          </a:xfrm>
          <a:prstGeom prst="rect">
            <a:avLst/>
          </a:prstGeom>
          <a:solidFill>
            <a:srgbClr val="BFBFBF"/>
          </a:solidFill>
          <a:ln/>
        </p:spPr>
      </p:sp>
      <p:sp>
        <p:nvSpPr>
          <p:cNvPr id="38" name="Shape 38"/>
          <p:cNvSpPr/>
          <p:nvPr/>
        </p:nvSpPr>
        <p:spPr>
          <a:xfrm>
            <a:off x="1810512" y="6720840"/>
            <a:ext cx="338328" cy="338328"/>
          </a:xfrm>
          <a:prstGeom prst="rect">
            <a:avLst/>
          </a:prstGeom>
          <a:noFill/>
          <a:ln w="25400">
            <a:solidFill>
              <a:srgbClr val="152A47"/>
            </a:solidFill>
            <a:prstDash val="solid"/>
          </a:ln>
        </p:spPr>
      </p:sp>
      <p:sp>
        <p:nvSpPr>
          <p:cNvPr id="39" name="Text 39"/>
          <p:cNvSpPr txBox="1"/>
          <p:nvPr/>
        </p:nvSpPr>
        <p:spPr>
          <a:xfrm>
            <a:off x="2359152" y="6675120"/>
            <a:ext cx="11155680" cy="41148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Segoe UI" pitchFamily="34" charset="0"/>
                <a:ea typeface="Segoe UI" pitchFamily="34" charset="-122"/>
                <a:cs typeface="Segoe UI" pitchFamily="34" charset="-120"/>
              </a:rPr>
              <a:t>The point-load line prints the same value as on main.</a:t>
            </a:r>
            <a:endParaRPr lang="en-US" sz="1950" dirty="0"/>
          </a:p>
        </p:txBody>
      </p:sp>
      <p:sp>
        <p:nvSpPr>
          <p:cNvPr id="40" name="Shape 40"/>
          <p:cNvSpPr/>
          <p:nvPr/>
        </p:nvSpPr>
        <p:spPr>
          <a:xfrm>
            <a:off x="1810512" y="7223760"/>
            <a:ext cx="11676888" cy="18288"/>
          </a:xfrm>
          <a:prstGeom prst="rect">
            <a:avLst/>
          </a:prstGeom>
          <a:solidFill>
            <a:srgbClr val="BFBFBF"/>
          </a:solidFill>
          <a:ln/>
        </p:spPr>
      </p:sp>
      <p:sp>
        <p:nvSpPr>
          <p:cNvPr id="41" name="Shape 41"/>
          <p:cNvSpPr/>
          <p:nvPr/>
        </p:nvSpPr>
        <p:spPr>
          <a:xfrm>
            <a:off x="1810512" y="7543800"/>
            <a:ext cx="11676888" cy="914400"/>
          </a:xfrm>
          <a:prstGeom prst="rect">
            <a:avLst/>
          </a:prstGeom>
          <a:solidFill>
            <a:srgbClr val="152A47"/>
          </a:solidFill>
          <a:ln/>
        </p:spPr>
      </p:sp>
      <p:sp>
        <p:nvSpPr>
          <p:cNvPr id="42" name="Text 42"/>
          <p:cNvSpPr txBox="1"/>
          <p:nvPr/>
        </p:nvSpPr>
        <p:spPr>
          <a:xfrm>
            <a:off x="2057400" y="7543800"/>
            <a:ext cx="11247120" cy="914400"/>
          </a:xfrm>
          <a:prstGeom prst="rect">
            <a:avLst/>
          </a:prstGeom>
          <a:noFill/>
          <a:ln/>
        </p:spPr>
        <p:txBody>
          <a:bodyPr wrap="square" lIns="25400" tIns="25400" rIns="25400" bIns="25400" rtlCol="0" anchor="ctr">
            <a:noAutofit/>
          </a:bodyPr>
          <a:lstStyle/>
          <a:p>
            <a:pPr algn="l" indent="0" marL="0">
              <a:buNone/>
            </a:pPr>
            <a:r>
              <a:rPr lang="en-US" sz="2025" b="1" dirty="0">
                <a:solidFill>
                  <a:srgbClr val="FFFFFF"/>
                </a:solidFill>
                <a:latin typeface="Segoe UI" pitchFamily="34" charset="0"/>
                <a:ea typeface="Segoe UI" pitchFamily="34" charset="-122"/>
                <a:cs typeface="Segoe UI" pitchFamily="34" charset="-120"/>
              </a:rPr>
              <a:t>Until you run it, the agent’s commit is a proposal.</a:t>
            </a:r>
            <a:endParaRPr lang="en-US" sz="2025"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3"/>
          <p:cNvSpPr/>
          <p:nvPr/>
        </p:nvSpPr>
        <p:spPr>
          <a:xfrm>
            <a:off x="0" y="0"/>
            <a:ext cx="1543050" cy="10287000"/>
          </a:xfrm>
          <a:prstGeom prst="rect">
            <a:avLst/>
          </a:prstGeom>
          <a:solidFill>
            <a:srgbClr val="E6E6E6"/>
          </a:solidFill>
          <a:ln/>
        </p:spPr>
      </p:sp>
      <p:pic>
        <p:nvPicPr>
          <p:cNvPr id="3" name="Picture 1" descr="image.png"/>
          <p:cNvPicPr>
            <a:picLocks noChangeAspect="1"/>
          </p:cNvPicPr>
          <p:nvPr/>
        </p:nvPicPr>
        <p:blipFill>
          <a:blip r:embed="rId2"/>
          <a:stretch>
            <a:fillRect/>
          </a:stretch>
        </p:blipFill>
        <p:spPr>
          <a:xfrm>
            <a:off x="200025" y="133350"/>
            <a:ext cx="1143000" cy="1143000"/>
          </a:xfrm>
          <a:prstGeom prst="rect">
            <a:avLst/>
          </a:prstGeom>
        </p:spPr>
      </p:pic>
      <p:sp>
        <p:nvSpPr>
          <p:cNvPr id="4" name="Text 4"/>
          <p:cNvSpPr txBox="1"/>
          <p:nvPr/>
        </p:nvSpPr>
        <p:spPr>
          <a:xfrm>
            <a:off x="133350" y="238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5"/>
          <p:cNvSpPr txBox="1"/>
          <p:nvPr/>
        </p:nvSpPr>
        <p:spPr>
          <a:xfrm>
            <a:off x="133350" y="2762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6"/>
          <p:cNvSpPr txBox="1"/>
          <p:nvPr/>
        </p:nvSpPr>
        <p:spPr>
          <a:xfrm>
            <a:off x="133350" y="3143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Specify</a:t>
            </a:r>
            <a:endParaRPr lang="en-US" sz="1800" dirty="0"/>
          </a:p>
        </p:txBody>
      </p:sp>
      <p:sp>
        <p:nvSpPr>
          <p:cNvPr id="7" name="Text 7"/>
          <p:cNvSpPr txBox="1"/>
          <p:nvPr/>
        </p:nvSpPr>
        <p:spPr>
          <a:xfrm>
            <a:off x="133350" y="3524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8" name="Text 8"/>
          <p:cNvSpPr txBox="1"/>
          <p:nvPr/>
        </p:nvSpPr>
        <p:spPr>
          <a:xfrm>
            <a:off x="133350" y="3905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Generate</a:t>
            </a:r>
            <a:endParaRPr lang="en-US" sz="1800" dirty="0"/>
          </a:p>
        </p:txBody>
      </p:sp>
      <p:sp>
        <p:nvSpPr>
          <p:cNvPr id="9" name="Text 9"/>
          <p:cNvSpPr txBox="1"/>
          <p:nvPr/>
        </p:nvSpPr>
        <p:spPr>
          <a:xfrm>
            <a:off x="133350" y="4286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Adjudicate</a:t>
            </a:r>
            <a:endParaRPr lang="en-US" sz="1800" dirty="0"/>
          </a:p>
        </p:txBody>
      </p:sp>
      <p:sp>
        <p:nvSpPr>
          <p:cNvPr id="10" name="Text 10"/>
          <p:cNvSpPr txBox="1"/>
          <p:nvPr/>
        </p:nvSpPr>
        <p:spPr>
          <a:xfrm>
            <a:off x="133350" y="4667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Pitfalls</a:t>
            </a:r>
            <a:endParaRPr lang="en-US" sz="1800" dirty="0"/>
          </a:p>
        </p:txBody>
      </p:sp>
      <p:sp>
        <p:nvSpPr>
          <p:cNvPr id="11" name="Text 11"/>
          <p:cNvSpPr txBox="1"/>
          <p:nvPr/>
        </p:nvSpPr>
        <p:spPr>
          <a:xfrm>
            <a:off x="133350" y="5048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GenAI Use</a:t>
            </a:r>
            <a:endParaRPr lang="en-US" sz="1800" dirty="0"/>
          </a:p>
        </p:txBody>
      </p:sp>
      <p:sp>
        <p:nvSpPr>
          <p:cNvPr id="12" name="Text 12"/>
          <p:cNvSpPr txBox="1"/>
          <p:nvPr/>
        </p:nvSpPr>
        <p:spPr>
          <a:xfrm>
            <a:off x="133350" y="5429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Your Repo</a:t>
            </a:r>
            <a:endParaRPr lang="en-US" sz="1800" dirty="0"/>
          </a:p>
        </p:txBody>
      </p:sp>
      <p:sp>
        <p:nvSpPr>
          <p:cNvPr id="13" name="Text 13"/>
          <p:cNvSpPr txBox="1"/>
          <p:nvPr/>
        </p:nvSpPr>
        <p:spPr>
          <a:xfrm>
            <a:off x="133350" y="5810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Teaching</a:t>
            </a:r>
            <a:endParaRPr lang="en-US" sz="1800" dirty="0"/>
          </a:p>
        </p:txBody>
      </p:sp>
      <p:sp>
        <p:nvSpPr>
          <p:cNvPr id="14" name="Text 14"/>
          <p:cNvSpPr txBox="1"/>
          <p:nvPr/>
        </p:nvSpPr>
        <p:spPr>
          <a:xfrm>
            <a:off x="133350" y="619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5"/>
          <p:cNvSpPr txBox="1"/>
          <p:nvPr/>
        </p:nvSpPr>
        <p:spPr>
          <a:xfrm>
            <a:off x="1657350" y="200025"/>
            <a:ext cx="10988040" cy="1057275"/>
          </a:xfrm>
          <a:prstGeom prst="rect">
            <a:avLst/>
          </a:prstGeom>
          <a:noFill/>
          <a:ln/>
        </p:spPr>
        <p:txBody>
          <a:bodyPr wrap="square" lIns="25400" tIns="25400" rIns="25400" bIns="25400" rtlCol="0" anchor="ctr">
            <a:no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Iterate &amp; Merge</a:t>
            </a:r>
            <a:endParaRPr lang="en-US" sz="4800" dirty="0"/>
          </a:p>
        </p:txBody>
      </p:sp>
      <p:sp>
        <p:nvSpPr>
          <p:cNvPr id="16" name="Text 16"/>
          <p:cNvSpPr txBox="1"/>
          <p:nvPr/>
        </p:nvSpPr>
        <p:spPr>
          <a:xfrm>
            <a:off x="12515950" y="133350"/>
            <a:ext cx="1142901" cy="393700"/>
          </a:xfrm>
          <a:prstGeom prst="rect">
            <a:avLst/>
          </a:prstGeom>
          <a:noFill/>
          <a:ln/>
        </p:spPr>
        <p:txBody>
          <a:bodyPr wrap="non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2</a:t>
            </a:r>
            <a:endParaRPr lang="en-US" sz="2100" dirty="0"/>
          </a:p>
        </p:txBody>
      </p:sp>
      <p:sp>
        <p:nvSpPr>
          <p:cNvPr id="17" name="Shape 17"/>
          <p:cNvSpPr/>
          <p:nvPr/>
        </p:nvSpPr>
        <p:spPr>
          <a:xfrm>
            <a:off x="1657350" y="1219200"/>
            <a:ext cx="11925300" cy="66675"/>
          </a:xfrm>
          <a:prstGeom prst="rect">
            <a:avLst/>
          </a:prstGeom>
          <a:solidFill>
            <a:srgbClr val="000000"/>
          </a:solidFill>
          <a:ln/>
        </p:spPr>
      </p:sp>
      <p:sp>
        <p:nvSpPr>
          <p:cNvPr id="18" name="Text 18"/>
          <p:cNvSpPr txBox="1"/>
          <p:nvPr/>
        </p:nvSpPr>
        <p:spPr>
          <a:xfrm>
            <a:off x="1054418" y="9810750"/>
            <a:ext cx="13264515" cy="342900"/>
          </a:xfrm>
          <a:prstGeom prst="rect">
            <a:avLst/>
          </a:prstGeom>
          <a:noFill/>
          <a:ln/>
        </p:spPr>
        <p:txBody>
          <a:bodyPr wrap="square" lIns="25400" tIns="25400" rIns="25400" bIns="25400" rtlCol="0" anchor="t">
            <a:no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2</a:t>
            </a:r>
            <a:endParaRPr lang="en-US" sz="1800" dirty="0"/>
          </a:p>
        </p:txBody>
      </p:sp>
      <p:sp>
        <p:nvSpPr>
          <p:cNvPr id="19" name="Text 19"/>
          <p:cNvSpPr txBox="1"/>
          <p:nvPr/>
        </p:nvSpPr>
        <p:spPr>
          <a:xfrm>
            <a:off x="13336850" y="9810750"/>
            <a:ext cx="322000" cy="342900"/>
          </a:xfrm>
          <a:prstGeom prst="rect">
            <a:avLst/>
          </a:prstGeom>
          <a:noFill/>
          <a:ln/>
        </p:spPr>
        <p:txBody>
          <a:bodyPr wrap="none" lIns="25400" tIns="25400" rIns="25400" bIns="25400" rtlCol="0" anchor="t">
            <a:no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15</a:t>
            </a:r>
            <a:endParaRPr lang="en-US" sz="1800" dirty="0"/>
          </a:p>
        </p:txBody>
      </p:sp>
      <p:sp>
        <p:nvSpPr>
          <p:cNvPr id="20" name="Shape 20"/>
          <p:cNvSpPr/>
          <p:nvPr/>
        </p:nvSpPr>
        <p:spPr>
          <a:xfrm>
            <a:off x="1810512" y="1527048"/>
            <a:ext cx="1220724" cy="381305"/>
          </a:xfrm>
          <a:prstGeom prst="roundRect">
            <a:avLst>
              <a:gd name="adj" fmla="val 15000"/>
            </a:avLst>
          </a:prstGeom>
          <a:solidFill>
            <a:srgbClr val="152A47"/>
          </a:solidFill>
          <a:ln/>
        </p:spPr>
      </p:sp>
      <p:sp>
        <p:nvSpPr>
          <p:cNvPr id="21" name="Text 21"/>
          <p:cNvSpPr txBox="1"/>
          <p:nvPr/>
        </p:nvSpPr>
        <p:spPr>
          <a:xfrm>
            <a:off x="1837944" y="1563624"/>
            <a:ext cx="1165860"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Segoe UI" pitchFamily="34" charset="0"/>
                <a:ea typeface="Segoe UI" pitchFamily="34" charset="-122"/>
                <a:cs typeface="Segoe UI" pitchFamily="34" charset="-120"/>
              </a:rPr>
              <a:t>ITERATE</a:t>
            </a:r>
            <a:endParaRPr lang="en-US" sz="1800" dirty="0"/>
          </a:p>
        </p:txBody>
      </p:sp>
      <p:sp>
        <p:nvSpPr>
          <p:cNvPr id="22" name="Text 22"/>
          <p:cNvSpPr txBox="1"/>
          <p:nvPr/>
        </p:nvSpPr>
        <p:spPr>
          <a:xfrm>
            <a:off x="1810512" y="2103120"/>
            <a:ext cx="585216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If it fails</a:t>
            </a:r>
            <a:endParaRPr lang="en-US" sz="2100" dirty="0"/>
          </a:p>
        </p:txBody>
      </p:sp>
      <p:sp>
        <p:nvSpPr>
          <p:cNvPr id="23" name="Text 23"/>
          <p:cNvSpPr txBox="1"/>
          <p:nvPr/>
        </p:nvSpPr>
        <p:spPr>
          <a:xfrm>
            <a:off x="1810512" y="2560320"/>
            <a:ext cx="5852160" cy="777240"/>
          </a:xfrm>
          <a:prstGeom prst="rect">
            <a:avLst/>
          </a:prstGeom>
          <a:noFill/>
          <a:ln/>
        </p:spPr>
        <p:txBody>
          <a:bodyPr wrap="square" lIns="25400" tIns="25400" rIns="25400" bIns="25400" rtlCol="0" anchor="t">
            <a:noAutofit/>
          </a:bodyPr>
          <a:lstStyle/>
          <a:p>
            <a:pPr algn="l" indent="0" marL="0">
              <a:buNone/>
            </a:pPr>
            <a:r>
              <a:rPr lang="en-US" sz="1875" dirty="0">
                <a:solidFill>
                  <a:srgbClr val="000000"/>
                </a:solidFill>
                <a:latin typeface="Segoe UI" pitchFamily="34" charset="0"/>
                <a:ea typeface="Segoe UI" pitchFamily="34" charset="-122"/>
                <a:cs typeface="Segoe UI" pitchFamily="34" charset="-120"/>
              </a:rPr>
              <a:t>Report what you observed and paste the output.</a:t>
            </a:r>
            <a:endParaRPr lang="en-US" sz="1875" dirty="0"/>
          </a:p>
        </p:txBody>
      </p:sp>
      <p:sp>
        <p:nvSpPr>
          <p:cNvPr id="24" name="Shape 24"/>
          <p:cNvSpPr/>
          <p:nvPr/>
        </p:nvSpPr>
        <p:spPr>
          <a:xfrm>
            <a:off x="1810512" y="3291840"/>
            <a:ext cx="5852160" cy="2029206"/>
          </a:xfrm>
          <a:prstGeom prst="roundRect">
            <a:avLst>
              <a:gd name="adj" fmla="val 4000"/>
            </a:avLst>
          </a:prstGeom>
          <a:solidFill>
            <a:srgbClr val="F2F2F2"/>
          </a:solidFill>
          <a:ln/>
        </p:spPr>
      </p:sp>
      <p:sp>
        <p:nvSpPr>
          <p:cNvPr id="25" name="Text 25"/>
          <p:cNvSpPr txBox="1"/>
          <p:nvPr/>
        </p:nvSpPr>
        <p:spPr>
          <a:xfrm>
            <a:off x="2011680" y="3429000"/>
            <a:ext cx="5486400"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1F6FB2"/>
                </a:solidFill>
                <a:latin typeface="Segoe UI" pitchFamily="34" charset="0"/>
                <a:ea typeface="Segoe UI" pitchFamily="34" charset="-122"/>
                <a:cs typeface="Segoe UI" pitchFamily="34" charset="-120"/>
              </a:rPr>
              <a:t>YOU</a:t>
            </a:r>
            <a:endParaRPr lang="en-US" sz="1650" dirty="0"/>
          </a:p>
        </p:txBody>
      </p:sp>
      <p:sp>
        <p:nvSpPr>
          <p:cNvPr id="26" name="Text 26"/>
          <p:cNvSpPr txBox="1"/>
          <p:nvPr/>
        </p:nvSpPr>
        <p:spPr>
          <a:xfrm>
            <a:off x="2011680" y="3794760"/>
            <a:ext cx="5486400" cy="1434846"/>
          </a:xfrm>
          <a:prstGeom prst="rect">
            <a:avLst/>
          </a:prstGeom>
          <a:noFill/>
          <a:ln/>
        </p:spPr>
        <p:txBody>
          <a:bodyPr wrap="square" lIns="25400" tIns="25400" rIns="25400" bIns="25400" rtlCol="0" anchor="t">
            <a:noAutofit/>
          </a:bodyPr>
          <a:lstStyle/>
          <a:p>
            <a:pPr algn="l" indent="0" marL="0">
              <a:spcAft>
                <a:spcPts val="400"/>
              </a:spcAft>
              <a:buNone/>
            </a:pPr>
            <a:r>
              <a:rPr lang="en-US" sz="1725" dirty="0">
                <a:solidFill>
                  <a:srgbClr val="000000"/>
                </a:solidFill>
                <a:latin typeface="Segoe UI" pitchFamily="34" charset="0"/>
                <a:ea typeface="Segoe UI" pitchFamily="34" charset="-122"/>
                <a:cs typeface="Segoe UI" pitchFamily="34" charset="-120"/>
              </a:rPr>
              <a:t>testUDLHandCalc fails: expected 2.4000e-03, got 2.4000e-06. Output below. Find the cause and explain it before changing code.</a:t>
            </a:r>
            <a:endParaRPr lang="en-US" sz="1725" dirty="0"/>
          </a:p>
          <a:p>
            <a:pPr algn="l" indent="0" marL="0">
              <a:spcAft>
                <a:spcPts val="400"/>
              </a:spcAft>
              <a:buNone/>
            </a:pPr>
            <a:r>
              <a:rPr lang="en-US" sz="1725" dirty="0">
                <a:solidFill>
                  <a:srgbClr val="404040"/>
                </a:solidFill>
                <a:latin typeface="Segoe UI" pitchFamily="34" charset="0"/>
                <a:ea typeface="Segoe UI" pitchFamily="34" charset="-122"/>
                <a:cs typeface="Segoe UI" pitchFamily="34" charset="-120"/>
              </a:rPr>
              <a:t>[paste MATLAB output]</a:t>
            </a:r>
            <a:endParaRPr lang="en-US" sz="1725" dirty="0"/>
          </a:p>
        </p:txBody>
      </p:sp>
      <p:sp>
        <p:nvSpPr>
          <p:cNvPr id="27" name="Text 27"/>
          <p:cNvSpPr txBox="1"/>
          <p:nvPr/>
        </p:nvSpPr>
        <p:spPr>
          <a:xfrm>
            <a:off x="1810512" y="5549646"/>
            <a:ext cx="5852160" cy="1097280"/>
          </a:xfrm>
          <a:prstGeom prst="rect">
            <a:avLst/>
          </a:prstGeom>
          <a:noFill/>
          <a:ln/>
        </p:spPr>
        <p:txBody>
          <a:bodyPr wrap="square" lIns="25400" tIns="25400" rIns="25400" bIns="25400" rtlCol="0" anchor="t">
            <a:noAutofit/>
          </a:bodyPr>
          <a:lstStyle/>
          <a:p>
            <a:pPr algn="l" indent="0" marL="0">
              <a:buNone/>
            </a:pPr>
            <a:r>
              <a:rPr lang="en-US" sz="1875" dirty="0">
                <a:solidFill>
                  <a:srgbClr val="404040"/>
                </a:solidFill>
                <a:latin typeface="Segoe UI" pitchFamily="34" charset="0"/>
                <a:ea typeface="Segoe UI" pitchFamily="34" charset="-122"/>
                <a:cs typeface="Segoe UI" pitchFamily="34" charset="-120"/>
              </a:rPr>
              <a:t>The agent pushes a new commit to the same branch. Fetch, rerun, retest.</a:t>
            </a:r>
            <a:endParaRPr lang="en-US" sz="1875" dirty="0"/>
          </a:p>
        </p:txBody>
      </p:sp>
      <p:sp>
        <p:nvSpPr>
          <p:cNvPr id="28" name="Text 28"/>
          <p:cNvSpPr txBox="1"/>
          <p:nvPr/>
        </p:nvSpPr>
        <p:spPr>
          <a:xfrm>
            <a:off x="7818120" y="2103120"/>
            <a:ext cx="566928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If it passes</a:t>
            </a:r>
            <a:endParaRPr lang="en-US" sz="2100" dirty="0"/>
          </a:p>
        </p:txBody>
      </p:sp>
      <p:sp>
        <p:nvSpPr>
          <p:cNvPr id="29" name="Text 29"/>
          <p:cNvSpPr txBox="1"/>
          <p:nvPr/>
        </p:nvSpPr>
        <p:spPr>
          <a:xfrm>
            <a:off x="7818120" y="260604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1</a:t>
            </a:r>
            <a:endParaRPr lang="en-US" sz="2250" dirty="0"/>
          </a:p>
        </p:txBody>
      </p:sp>
      <p:sp>
        <p:nvSpPr>
          <p:cNvPr id="30" name="Text 30"/>
          <p:cNvSpPr txBox="1"/>
          <p:nvPr/>
        </p:nvSpPr>
        <p:spPr>
          <a:xfrm>
            <a:off x="8348472" y="2606040"/>
            <a:ext cx="5138928" cy="385584"/>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Segoe UI" pitchFamily="34" charset="0"/>
                <a:ea typeface="Segoe UI" pitchFamily="34" charset="-122"/>
                <a:cs typeface="Segoe UI" pitchFamily="34" charset="-120"/>
              </a:rPr>
              <a:t>Merge the PR on GitHub.</a:t>
            </a:r>
            <a:endParaRPr lang="en-US" sz="1875" dirty="0"/>
          </a:p>
        </p:txBody>
      </p:sp>
      <p:sp>
        <p:nvSpPr>
          <p:cNvPr id="31" name="Text 31"/>
          <p:cNvSpPr txBox="1"/>
          <p:nvPr/>
        </p:nvSpPr>
        <p:spPr>
          <a:xfrm>
            <a:off x="7818120" y="3128784"/>
            <a:ext cx="612648" cy="679728"/>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2</a:t>
            </a:r>
            <a:endParaRPr lang="en-US" sz="2250" dirty="0"/>
          </a:p>
        </p:txBody>
      </p:sp>
      <p:sp>
        <p:nvSpPr>
          <p:cNvPr id="32" name="Text 32"/>
          <p:cNvSpPr txBox="1"/>
          <p:nvPr/>
        </p:nvSpPr>
        <p:spPr>
          <a:xfrm>
            <a:off x="8348472" y="3128784"/>
            <a:ext cx="5138928" cy="679728"/>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Segoe UI" pitchFamily="34" charset="0"/>
                <a:ea typeface="Segoe UI" pitchFamily="34" charset="-122"/>
                <a:cs typeface="Segoe UI" pitchFamily="34" charset="-120"/>
              </a:rPr>
              <a:t xml:space="preserve">GitHub Desktop: switch to main, </a:t>
            </a:r>
            <a:r>
              <a:rPr lang="en-US" sz="1875" b="1" dirty="0">
                <a:solidFill>
                  <a:srgbClr val="000000"/>
                </a:solidFill>
                <a:latin typeface="Segoe UI" pitchFamily="34" charset="0"/>
                <a:ea typeface="Segoe UI" pitchFamily="34" charset="-122"/>
                <a:cs typeface="Segoe UI" pitchFamily="34" charset="-120"/>
              </a:rPr>
              <a:t>Pull origin</a:t>
            </a:r>
            <a:r>
              <a:rPr lang="en-US" sz="1875" dirty="0">
                <a:solidFill>
                  <a:srgbClr val="000000"/>
                </a:solidFill>
                <a:latin typeface="Segoe UI" pitchFamily="34" charset="0"/>
                <a:ea typeface="Segoe UI" pitchFamily="34" charset="-122"/>
                <a:cs typeface="Segoe UI" pitchFamily="34" charset="-120"/>
              </a:rPr>
              <a:t>.</a:t>
            </a:r>
            <a:endParaRPr lang="en-US" sz="1875" dirty="0"/>
          </a:p>
        </p:txBody>
      </p:sp>
      <p:sp>
        <p:nvSpPr>
          <p:cNvPr id="33" name="Text 33"/>
          <p:cNvSpPr txBox="1"/>
          <p:nvPr/>
        </p:nvSpPr>
        <p:spPr>
          <a:xfrm>
            <a:off x="7818120" y="3945672"/>
            <a:ext cx="612648" cy="679728"/>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3</a:t>
            </a:r>
            <a:endParaRPr lang="en-US" sz="2250" dirty="0"/>
          </a:p>
        </p:txBody>
      </p:sp>
      <p:sp>
        <p:nvSpPr>
          <p:cNvPr id="34" name="Text 34"/>
          <p:cNvSpPr txBox="1"/>
          <p:nvPr/>
        </p:nvSpPr>
        <p:spPr>
          <a:xfrm>
            <a:off x="8348472" y="3945672"/>
            <a:ext cx="5138928" cy="679728"/>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Segoe UI" pitchFamily="34" charset="0"/>
                <a:ea typeface="Segoe UI" pitchFamily="34" charset="-122"/>
                <a:cs typeface="Segoe UI" pitchFamily="34" charset="-120"/>
              </a:rPr>
              <a:t>Start a new session for the next requirement.</a:t>
            </a:r>
            <a:endParaRPr lang="en-US" sz="1875" dirty="0"/>
          </a:p>
        </p:txBody>
      </p:sp>
      <p:sp>
        <p:nvSpPr>
          <p:cNvPr id="35" name="Text 35"/>
          <p:cNvSpPr txBox="1"/>
          <p:nvPr/>
        </p:nvSpPr>
        <p:spPr>
          <a:xfrm>
            <a:off x="7818120" y="4762560"/>
            <a:ext cx="612648" cy="679728"/>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4</a:t>
            </a:r>
            <a:endParaRPr lang="en-US" sz="2250" dirty="0"/>
          </a:p>
        </p:txBody>
      </p:sp>
      <p:sp>
        <p:nvSpPr>
          <p:cNvPr id="36" name="Text 36"/>
          <p:cNvSpPr txBox="1"/>
          <p:nvPr/>
        </p:nvSpPr>
        <p:spPr>
          <a:xfrm>
            <a:off x="8348472" y="4762560"/>
            <a:ext cx="5138928" cy="679728"/>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Segoe UI" pitchFamily="34" charset="0"/>
                <a:ea typeface="Segoe UI" pitchFamily="34" charset="-122"/>
                <a:cs typeface="Segoe UI" pitchFamily="34" charset="-120"/>
              </a:rPr>
              <a:t>Add a rule to CLAUDE.md for any mistake the agent made twice.</a:t>
            </a:r>
            <a:endParaRPr lang="en-US" sz="1875"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3"/>
          <p:cNvSpPr/>
          <p:nvPr/>
        </p:nvSpPr>
        <p:spPr>
          <a:xfrm>
            <a:off x="0" y="0"/>
            <a:ext cx="1543050" cy="10287000"/>
          </a:xfrm>
          <a:prstGeom prst="rect">
            <a:avLst/>
          </a:prstGeom>
          <a:solidFill>
            <a:srgbClr val="E6E6E6"/>
          </a:solidFill>
          <a:ln/>
        </p:spPr>
      </p:sp>
      <p:pic>
        <p:nvPicPr>
          <p:cNvPr id="3" name="Picture 1" descr="image.png"/>
          <p:cNvPicPr>
            <a:picLocks noChangeAspect="1"/>
          </p:cNvPicPr>
          <p:nvPr/>
        </p:nvPicPr>
        <p:blipFill>
          <a:blip r:embed="rId2"/>
          <a:stretch>
            <a:fillRect/>
          </a:stretch>
        </p:blipFill>
        <p:spPr>
          <a:xfrm>
            <a:off x="200025" y="133350"/>
            <a:ext cx="1143000" cy="1143000"/>
          </a:xfrm>
          <a:prstGeom prst="rect">
            <a:avLst/>
          </a:prstGeom>
        </p:spPr>
      </p:pic>
      <p:sp>
        <p:nvSpPr>
          <p:cNvPr id="4" name="Text 4"/>
          <p:cNvSpPr txBox="1"/>
          <p:nvPr/>
        </p:nvSpPr>
        <p:spPr>
          <a:xfrm>
            <a:off x="133350" y="238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5"/>
          <p:cNvSpPr txBox="1"/>
          <p:nvPr/>
        </p:nvSpPr>
        <p:spPr>
          <a:xfrm>
            <a:off x="133350" y="2762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6"/>
          <p:cNvSpPr txBox="1"/>
          <p:nvPr/>
        </p:nvSpPr>
        <p:spPr>
          <a:xfrm>
            <a:off x="133350" y="3143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Specify</a:t>
            </a:r>
            <a:endParaRPr lang="en-US" sz="1800" dirty="0"/>
          </a:p>
        </p:txBody>
      </p:sp>
      <p:sp>
        <p:nvSpPr>
          <p:cNvPr id="7" name="Text 7"/>
          <p:cNvSpPr txBox="1"/>
          <p:nvPr/>
        </p:nvSpPr>
        <p:spPr>
          <a:xfrm>
            <a:off x="133350" y="3524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8" name="Text 8"/>
          <p:cNvSpPr txBox="1"/>
          <p:nvPr/>
        </p:nvSpPr>
        <p:spPr>
          <a:xfrm>
            <a:off x="133350" y="3905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Generate</a:t>
            </a:r>
            <a:endParaRPr lang="en-US" sz="1800" dirty="0"/>
          </a:p>
        </p:txBody>
      </p:sp>
      <p:sp>
        <p:nvSpPr>
          <p:cNvPr id="9" name="Text 9"/>
          <p:cNvSpPr txBox="1"/>
          <p:nvPr/>
        </p:nvSpPr>
        <p:spPr>
          <a:xfrm>
            <a:off x="133350" y="4286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Adjudicate</a:t>
            </a:r>
            <a:endParaRPr lang="en-US" sz="1800" dirty="0"/>
          </a:p>
        </p:txBody>
      </p:sp>
      <p:sp>
        <p:nvSpPr>
          <p:cNvPr id="10" name="Text 10"/>
          <p:cNvSpPr txBox="1"/>
          <p:nvPr/>
        </p:nvSpPr>
        <p:spPr>
          <a:xfrm>
            <a:off x="133350" y="4667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Pitfalls</a:t>
            </a:r>
            <a:endParaRPr lang="en-US" sz="1800" dirty="0"/>
          </a:p>
        </p:txBody>
      </p:sp>
      <p:sp>
        <p:nvSpPr>
          <p:cNvPr id="11" name="Text 11"/>
          <p:cNvSpPr txBox="1"/>
          <p:nvPr/>
        </p:nvSpPr>
        <p:spPr>
          <a:xfrm>
            <a:off x="133350" y="5048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GenAI Use</a:t>
            </a:r>
            <a:endParaRPr lang="en-US" sz="1800" dirty="0"/>
          </a:p>
        </p:txBody>
      </p:sp>
      <p:sp>
        <p:nvSpPr>
          <p:cNvPr id="12" name="Text 12"/>
          <p:cNvSpPr txBox="1"/>
          <p:nvPr/>
        </p:nvSpPr>
        <p:spPr>
          <a:xfrm>
            <a:off x="133350" y="5429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Your Repo</a:t>
            </a:r>
            <a:endParaRPr lang="en-US" sz="1800" dirty="0"/>
          </a:p>
        </p:txBody>
      </p:sp>
      <p:sp>
        <p:nvSpPr>
          <p:cNvPr id="13" name="Text 13"/>
          <p:cNvSpPr txBox="1"/>
          <p:nvPr/>
        </p:nvSpPr>
        <p:spPr>
          <a:xfrm>
            <a:off x="133350" y="5810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Teaching</a:t>
            </a:r>
            <a:endParaRPr lang="en-US" sz="1800" dirty="0"/>
          </a:p>
        </p:txBody>
      </p:sp>
      <p:sp>
        <p:nvSpPr>
          <p:cNvPr id="14" name="Text 14"/>
          <p:cNvSpPr txBox="1"/>
          <p:nvPr/>
        </p:nvSpPr>
        <p:spPr>
          <a:xfrm>
            <a:off x="133350" y="619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5"/>
          <p:cNvSpPr txBox="1"/>
          <p:nvPr/>
        </p:nvSpPr>
        <p:spPr>
          <a:xfrm>
            <a:off x="1657350" y="200025"/>
            <a:ext cx="10988040" cy="1057275"/>
          </a:xfrm>
          <a:prstGeom prst="rect">
            <a:avLst/>
          </a:prstGeom>
          <a:noFill/>
          <a:ln/>
        </p:spPr>
        <p:txBody>
          <a:bodyPr wrap="square" lIns="25400" tIns="25400" rIns="25400" bIns="25400" rtlCol="0" anchor="ctr">
            <a:no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Common Failure Modes</a:t>
            </a:r>
            <a:endParaRPr lang="en-US" sz="4800" dirty="0"/>
          </a:p>
        </p:txBody>
      </p:sp>
      <p:sp>
        <p:nvSpPr>
          <p:cNvPr id="16" name="Text 16"/>
          <p:cNvSpPr txBox="1"/>
          <p:nvPr/>
        </p:nvSpPr>
        <p:spPr>
          <a:xfrm>
            <a:off x="12515950" y="133350"/>
            <a:ext cx="1142901" cy="393700"/>
          </a:xfrm>
          <a:prstGeom prst="rect">
            <a:avLst/>
          </a:prstGeom>
          <a:noFill/>
          <a:ln/>
        </p:spPr>
        <p:txBody>
          <a:bodyPr wrap="non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2</a:t>
            </a:r>
            <a:endParaRPr lang="en-US" sz="2100" dirty="0"/>
          </a:p>
        </p:txBody>
      </p:sp>
      <p:sp>
        <p:nvSpPr>
          <p:cNvPr id="17" name="Shape 17"/>
          <p:cNvSpPr/>
          <p:nvPr/>
        </p:nvSpPr>
        <p:spPr>
          <a:xfrm>
            <a:off x="1657350" y="1219200"/>
            <a:ext cx="11925300" cy="66675"/>
          </a:xfrm>
          <a:prstGeom prst="rect">
            <a:avLst/>
          </a:prstGeom>
          <a:solidFill>
            <a:srgbClr val="000000"/>
          </a:solidFill>
          <a:ln/>
        </p:spPr>
      </p:sp>
      <p:sp>
        <p:nvSpPr>
          <p:cNvPr id="18" name="Text 18"/>
          <p:cNvSpPr txBox="1"/>
          <p:nvPr/>
        </p:nvSpPr>
        <p:spPr>
          <a:xfrm>
            <a:off x="1054418" y="9810750"/>
            <a:ext cx="13264515" cy="342900"/>
          </a:xfrm>
          <a:prstGeom prst="rect">
            <a:avLst/>
          </a:prstGeom>
          <a:noFill/>
          <a:ln/>
        </p:spPr>
        <p:txBody>
          <a:bodyPr wrap="square" lIns="25400" tIns="25400" rIns="25400" bIns="25400" rtlCol="0" anchor="t">
            <a:no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2</a:t>
            </a:r>
            <a:endParaRPr lang="en-US" sz="1800" dirty="0"/>
          </a:p>
        </p:txBody>
      </p:sp>
      <p:sp>
        <p:nvSpPr>
          <p:cNvPr id="19" name="Text 19"/>
          <p:cNvSpPr txBox="1"/>
          <p:nvPr/>
        </p:nvSpPr>
        <p:spPr>
          <a:xfrm>
            <a:off x="13336850" y="9810750"/>
            <a:ext cx="322000" cy="342900"/>
          </a:xfrm>
          <a:prstGeom prst="rect">
            <a:avLst/>
          </a:prstGeom>
          <a:noFill/>
          <a:ln/>
        </p:spPr>
        <p:txBody>
          <a:bodyPr wrap="none" lIns="25400" tIns="25400" rIns="25400" bIns="25400" rtlCol="0" anchor="t">
            <a:no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16</a:t>
            </a:r>
            <a:endParaRPr lang="en-US" sz="1800" dirty="0"/>
          </a:p>
        </p:txBody>
      </p:sp>
      <p:sp>
        <p:nvSpPr>
          <p:cNvPr id="20" name="Shape 20"/>
          <p:cNvSpPr/>
          <p:nvPr/>
        </p:nvSpPr>
        <p:spPr>
          <a:xfrm>
            <a:off x="1810512" y="1572768"/>
            <a:ext cx="2651760" cy="612648"/>
          </a:xfrm>
          <a:prstGeom prst="rect">
            <a:avLst/>
          </a:prstGeom>
          <a:solidFill>
            <a:srgbClr val="152A47"/>
          </a:solidFill>
          <a:ln/>
        </p:spPr>
      </p:sp>
      <p:sp>
        <p:nvSpPr>
          <p:cNvPr id="21" name="Text 21"/>
          <p:cNvSpPr txBox="1"/>
          <p:nvPr/>
        </p:nvSpPr>
        <p:spPr>
          <a:xfrm>
            <a:off x="1984248" y="1705356"/>
            <a:ext cx="2423160"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Failure</a:t>
            </a:r>
            <a:endParaRPr lang="en-US" sz="1800" dirty="0"/>
          </a:p>
        </p:txBody>
      </p:sp>
      <p:sp>
        <p:nvSpPr>
          <p:cNvPr id="22" name="Shape 22"/>
          <p:cNvSpPr/>
          <p:nvPr/>
        </p:nvSpPr>
        <p:spPr>
          <a:xfrm>
            <a:off x="4462272" y="1572768"/>
            <a:ext cx="4846320" cy="612648"/>
          </a:xfrm>
          <a:prstGeom prst="rect">
            <a:avLst/>
          </a:prstGeom>
          <a:solidFill>
            <a:srgbClr val="152A47"/>
          </a:solidFill>
          <a:ln/>
        </p:spPr>
      </p:sp>
      <p:sp>
        <p:nvSpPr>
          <p:cNvPr id="23" name="Text 23"/>
          <p:cNvSpPr txBox="1"/>
          <p:nvPr/>
        </p:nvSpPr>
        <p:spPr>
          <a:xfrm>
            <a:off x="4636008" y="1705356"/>
            <a:ext cx="4617720"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beam-calc example</a:t>
            </a:r>
            <a:endParaRPr lang="en-US" sz="1800" dirty="0"/>
          </a:p>
        </p:txBody>
      </p:sp>
      <p:sp>
        <p:nvSpPr>
          <p:cNvPr id="24" name="Shape 24"/>
          <p:cNvSpPr/>
          <p:nvPr/>
        </p:nvSpPr>
        <p:spPr>
          <a:xfrm>
            <a:off x="9308592" y="1572768"/>
            <a:ext cx="4178808" cy="612648"/>
          </a:xfrm>
          <a:prstGeom prst="rect">
            <a:avLst/>
          </a:prstGeom>
          <a:solidFill>
            <a:srgbClr val="152A47"/>
          </a:solidFill>
          <a:ln/>
        </p:spPr>
      </p:sp>
      <p:sp>
        <p:nvSpPr>
          <p:cNvPr id="25" name="Text 25"/>
          <p:cNvSpPr txBox="1"/>
          <p:nvPr/>
        </p:nvSpPr>
        <p:spPr>
          <a:xfrm>
            <a:off x="9482328" y="1705356"/>
            <a:ext cx="3950208"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How you catch it</a:t>
            </a:r>
            <a:endParaRPr lang="en-US" sz="1800" dirty="0"/>
          </a:p>
        </p:txBody>
      </p:sp>
      <p:sp>
        <p:nvSpPr>
          <p:cNvPr id="26" name="Text 26"/>
          <p:cNvSpPr txBox="1"/>
          <p:nvPr/>
        </p:nvSpPr>
        <p:spPr>
          <a:xfrm>
            <a:off x="1984248" y="2313432"/>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Wrong formula</a:t>
            </a:r>
            <a:endParaRPr lang="en-US" sz="1800" dirty="0"/>
          </a:p>
        </p:txBody>
      </p:sp>
      <p:sp>
        <p:nvSpPr>
          <p:cNvPr id="27" name="Shape 27"/>
          <p:cNvSpPr/>
          <p:nvPr/>
        </p:nvSpPr>
        <p:spPr>
          <a:xfrm>
            <a:off x="1810512" y="3072384"/>
            <a:ext cx="2651760" cy="18288"/>
          </a:xfrm>
          <a:prstGeom prst="rect">
            <a:avLst/>
          </a:prstGeom>
          <a:solidFill>
            <a:srgbClr val="BFBFBF"/>
          </a:solidFill>
          <a:ln/>
        </p:spPr>
      </p:sp>
      <p:sp>
        <p:nvSpPr>
          <p:cNvPr id="28" name="Text 28"/>
          <p:cNvSpPr txBox="1"/>
          <p:nvPr/>
        </p:nvSpPr>
        <p:spPr>
          <a:xfrm>
            <a:off x="4636008" y="2313432"/>
            <a:ext cx="4617720"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w L⁴ / (3 E I): the point-load denominator reused</a:t>
            </a:r>
            <a:endParaRPr lang="en-US" sz="1800" dirty="0"/>
          </a:p>
        </p:txBody>
      </p:sp>
      <p:sp>
        <p:nvSpPr>
          <p:cNvPr id="29" name="Shape 29"/>
          <p:cNvSpPr/>
          <p:nvPr/>
        </p:nvSpPr>
        <p:spPr>
          <a:xfrm>
            <a:off x="4462272" y="3072384"/>
            <a:ext cx="4846320" cy="18288"/>
          </a:xfrm>
          <a:prstGeom prst="rect">
            <a:avLst/>
          </a:prstGeom>
          <a:solidFill>
            <a:srgbClr val="BFBFBF"/>
          </a:solidFill>
          <a:ln/>
        </p:spPr>
      </p:sp>
      <p:sp>
        <p:nvSpPr>
          <p:cNvPr id="30" name="Text 30"/>
          <p:cNvSpPr txBox="1"/>
          <p:nvPr/>
        </p:nvSpPr>
        <p:spPr>
          <a:xfrm>
            <a:off x="9482328" y="2313432"/>
            <a:ext cx="39502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Hand calc; the 3/8 ratio</a:t>
            </a:r>
            <a:endParaRPr lang="en-US" sz="1800" dirty="0"/>
          </a:p>
        </p:txBody>
      </p:sp>
      <p:sp>
        <p:nvSpPr>
          <p:cNvPr id="31" name="Shape 31"/>
          <p:cNvSpPr/>
          <p:nvPr/>
        </p:nvSpPr>
        <p:spPr>
          <a:xfrm>
            <a:off x="9308592" y="3072384"/>
            <a:ext cx="4178808" cy="18288"/>
          </a:xfrm>
          <a:prstGeom prst="rect">
            <a:avLst/>
          </a:prstGeom>
          <a:solidFill>
            <a:srgbClr val="BFBFBF"/>
          </a:solidFill>
          <a:ln/>
        </p:spPr>
      </p:sp>
      <p:sp>
        <p:nvSpPr>
          <p:cNvPr id="32" name="Text 32"/>
          <p:cNvSpPr txBox="1"/>
          <p:nvPr/>
        </p:nvSpPr>
        <p:spPr>
          <a:xfrm>
            <a:off x="1984248" y="3218688"/>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Unit slip</a:t>
            </a:r>
            <a:endParaRPr lang="en-US" sz="1800" dirty="0"/>
          </a:p>
        </p:txBody>
      </p:sp>
      <p:sp>
        <p:nvSpPr>
          <p:cNvPr id="33" name="Shape 33"/>
          <p:cNvSpPr/>
          <p:nvPr/>
        </p:nvSpPr>
        <p:spPr>
          <a:xfrm>
            <a:off x="1810512" y="3698748"/>
            <a:ext cx="2651760" cy="18288"/>
          </a:xfrm>
          <a:prstGeom prst="rect">
            <a:avLst/>
          </a:prstGeom>
          <a:solidFill>
            <a:srgbClr val="BFBFBF"/>
          </a:solidFill>
          <a:ln/>
        </p:spPr>
      </p:sp>
      <p:sp>
        <p:nvSpPr>
          <p:cNvPr id="34" name="Text 34"/>
          <p:cNvSpPr txBox="1"/>
          <p:nvPr/>
        </p:nvSpPr>
        <p:spPr>
          <a:xfrm>
            <a:off x="4636008" y="3218688"/>
            <a:ext cx="46177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Section entered in mm in an SI file</a:t>
            </a:r>
            <a:endParaRPr lang="en-US" sz="1800" dirty="0"/>
          </a:p>
        </p:txBody>
      </p:sp>
      <p:sp>
        <p:nvSpPr>
          <p:cNvPr id="35" name="Shape 35"/>
          <p:cNvSpPr/>
          <p:nvPr/>
        </p:nvSpPr>
        <p:spPr>
          <a:xfrm>
            <a:off x="4462272" y="3698748"/>
            <a:ext cx="4846320" cy="18288"/>
          </a:xfrm>
          <a:prstGeom prst="rect">
            <a:avLst/>
          </a:prstGeom>
          <a:solidFill>
            <a:srgbClr val="BFBFBF"/>
          </a:solidFill>
          <a:ln/>
        </p:spPr>
      </p:sp>
      <p:sp>
        <p:nvSpPr>
          <p:cNvPr id="36" name="Text 36"/>
          <p:cNvSpPr txBox="1"/>
          <p:nvPr/>
        </p:nvSpPr>
        <p:spPr>
          <a:xfrm>
            <a:off x="9482328" y="3218688"/>
            <a:ext cx="39502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Result off by a power of 10</a:t>
            </a:r>
            <a:endParaRPr lang="en-US" sz="1800" dirty="0"/>
          </a:p>
        </p:txBody>
      </p:sp>
      <p:sp>
        <p:nvSpPr>
          <p:cNvPr id="37" name="Shape 37"/>
          <p:cNvSpPr/>
          <p:nvPr/>
        </p:nvSpPr>
        <p:spPr>
          <a:xfrm>
            <a:off x="9308592" y="3698748"/>
            <a:ext cx="4178808" cy="18288"/>
          </a:xfrm>
          <a:prstGeom prst="rect">
            <a:avLst/>
          </a:prstGeom>
          <a:solidFill>
            <a:srgbClr val="BFBFBF"/>
          </a:solidFill>
          <a:ln/>
        </p:spPr>
      </p:sp>
      <p:sp>
        <p:nvSpPr>
          <p:cNvPr id="38" name="Text 38"/>
          <p:cNvSpPr txBox="1"/>
          <p:nvPr/>
        </p:nvSpPr>
        <p:spPr>
          <a:xfrm>
            <a:off x="1984248" y="3845052"/>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Weakened test</a:t>
            </a:r>
            <a:endParaRPr lang="en-US" sz="1800" dirty="0"/>
          </a:p>
        </p:txBody>
      </p:sp>
      <p:sp>
        <p:nvSpPr>
          <p:cNvPr id="39" name="Shape 39"/>
          <p:cNvSpPr/>
          <p:nvPr/>
        </p:nvSpPr>
        <p:spPr>
          <a:xfrm>
            <a:off x="1810512" y="4604004"/>
            <a:ext cx="2651760" cy="18288"/>
          </a:xfrm>
          <a:prstGeom prst="rect">
            <a:avLst/>
          </a:prstGeom>
          <a:solidFill>
            <a:srgbClr val="BFBFBF"/>
          </a:solidFill>
          <a:ln/>
        </p:spPr>
      </p:sp>
      <p:sp>
        <p:nvSpPr>
          <p:cNvPr id="40" name="Text 40"/>
          <p:cNvSpPr txBox="1"/>
          <p:nvPr/>
        </p:nvSpPr>
        <p:spPr>
          <a:xfrm>
            <a:off x="4636008" y="3845052"/>
            <a:ext cx="4617720"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Expected value or tolerance edited until the test passes</a:t>
            </a:r>
            <a:endParaRPr lang="en-US" sz="1800" dirty="0"/>
          </a:p>
        </p:txBody>
      </p:sp>
      <p:sp>
        <p:nvSpPr>
          <p:cNvPr id="41" name="Shape 41"/>
          <p:cNvSpPr/>
          <p:nvPr/>
        </p:nvSpPr>
        <p:spPr>
          <a:xfrm>
            <a:off x="4462272" y="4604004"/>
            <a:ext cx="4846320" cy="18288"/>
          </a:xfrm>
          <a:prstGeom prst="rect">
            <a:avLst/>
          </a:prstGeom>
          <a:solidFill>
            <a:srgbClr val="BFBFBF"/>
          </a:solidFill>
          <a:ln/>
        </p:spPr>
      </p:sp>
      <p:sp>
        <p:nvSpPr>
          <p:cNvPr id="42" name="Text 42"/>
          <p:cNvSpPr txBox="1"/>
          <p:nvPr/>
        </p:nvSpPr>
        <p:spPr>
          <a:xfrm>
            <a:off x="9482328" y="3845052"/>
            <a:ext cx="39502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Read test diffs line by line</a:t>
            </a:r>
            <a:endParaRPr lang="en-US" sz="1800" dirty="0"/>
          </a:p>
        </p:txBody>
      </p:sp>
      <p:sp>
        <p:nvSpPr>
          <p:cNvPr id="43" name="Shape 43"/>
          <p:cNvSpPr/>
          <p:nvPr/>
        </p:nvSpPr>
        <p:spPr>
          <a:xfrm>
            <a:off x="9308592" y="4604004"/>
            <a:ext cx="4178808" cy="18288"/>
          </a:xfrm>
          <a:prstGeom prst="rect">
            <a:avLst/>
          </a:prstGeom>
          <a:solidFill>
            <a:srgbClr val="BFBFBF"/>
          </a:solidFill>
          <a:ln/>
        </p:spPr>
      </p:sp>
      <p:sp>
        <p:nvSpPr>
          <p:cNvPr id="44" name="Text 44"/>
          <p:cNvSpPr txBox="1"/>
          <p:nvPr/>
        </p:nvSpPr>
        <p:spPr>
          <a:xfrm>
            <a:off x="1984248" y="4750308"/>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Missing toolbox</a:t>
            </a:r>
            <a:endParaRPr lang="en-US" sz="1800" dirty="0"/>
          </a:p>
        </p:txBody>
      </p:sp>
      <p:sp>
        <p:nvSpPr>
          <p:cNvPr id="45" name="Shape 45"/>
          <p:cNvSpPr/>
          <p:nvPr/>
        </p:nvSpPr>
        <p:spPr>
          <a:xfrm>
            <a:off x="1810512" y="5509260"/>
            <a:ext cx="2651760" cy="18288"/>
          </a:xfrm>
          <a:prstGeom prst="rect">
            <a:avLst/>
          </a:prstGeom>
          <a:solidFill>
            <a:srgbClr val="BFBFBF"/>
          </a:solidFill>
          <a:ln/>
        </p:spPr>
      </p:sp>
      <p:sp>
        <p:nvSpPr>
          <p:cNvPr id="46" name="Text 46"/>
          <p:cNvSpPr txBox="1"/>
          <p:nvPr/>
        </p:nvSpPr>
        <p:spPr>
          <a:xfrm>
            <a:off x="4636008" y="4750308"/>
            <a:ext cx="4617720"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Calls a function from a toolbox you don’t have</a:t>
            </a:r>
            <a:endParaRPr lang="en-US" sz="1800" dirty="0"/>
          </a:p>
        </p:txBody>
      </p:sp>
      <p:sp>
        <p:nvSpPr>
          <p:cNvPr id="47" name="Shape 47"/>
          <p:cNvSpPr/>
          <p:nvPr/>
        </p:nvSpPr>
        <p:spPr>
          <a:xfrm>
            <a:off x="4462272" y="5509260"/>
            <a:ext cx="4846320" cy="18288"/>
          </a:xfrm>
          <a:prstGeom prst="rect">
            <a:avLst/>
          </a:prstGeom>
          <a:solidFill>
            <a:srgbClr val="BFBFBF"/>
          </a:solidFill>
          <a:ln/>
        </p:spPr>
      </p:sp>
      <p:sp>
        <p:nvSpPr>
          <p:cNvPr id="48" name="Text 48"/>
          <p:cNvSpPr txBox="1"/>
          <p:nvPr/>
        </p:nvSpPr>
        <p:spPr>
          <a:xfrm>
            <a:off x="9482328" y="4750308"/>
            <a:ext cx="39502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Run it; AGENTS.md toolbox rule</a:t>
            </a:r>
            <a:endParaRPr lang="en-US" sz="1800" dirty="0"/>
          </a:p>
        </p:txBody>
      </p:sp>
      <p:sp>
        <p:nvSpPr>
          <p:cNvPr id="49" name="Shape 49"/>
          <p:cNvSpPr/>
          <p:nvPr/>
        </p:nvSpPr>
        <p:spPr>
          <a:xfrm>
            <a:off x="9308592" y="5509260"/>
            <a:ext cx="4178808" cy="18288"/>
          </a:xfrm>
          <a:prstGeom prst="rect">
            <a:avLst/>
          </a:prstGeom>
          <a:solidFill>
            <a:srgbClr val="BFBFBF"/>
          </a:solidFill>
          <a:ln/>
        </p:spPr>
      </p:sp>
      <p:sp>
        <p:nvSpPr>
          <p:cNvPr id="50" name="Text 50"/>
          <p:cNvSpPr txBox="1"/>
          <p:nvPr/>
        </p:nvSpPr>
        <p:spPr>
          <a:xfrm>
            <a:off x="1984248" y="5655564"/>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Scope creep</a:t>
            </a:r>
            <a:endParaRPr lang="en-US" sz="1800" dirty="0"/>
          </a:p>
        </p:txBody>
      </p:sp>
      <p:sp>
        <p:nvSpPr>
          <p:cNvPr id="51" name="Shape 51"/>
          <p:cNvSpPr/>
          <p:nvPr/>
        </p:nvSpPr>
        <p:spPr>
          <a:xfrm>
            <a:off x="1810512" y="6414516"/>
            <a:ext cx="2651760" cy="18288"/>
          </a:xfrm>
          <a:prstGeom prst="rect">
            <a:avLst/>
          </a:prstGeom>
          <a:solidFill>
            <a:srgbClr val="BFBFBF"/>
          </a:solidFill>
          <a:ln/>
        </p:spPr>
      </p:sp>
      <p:sp>
        <p:nvSpPr>
          <p:cNvPr id="52" name="Text 52"/>
          <p:cNvSpPr txBox="1"/>
          <p:nvPr/>
        </p:nvSpPr>
        <p:spPr>
          <a:xfrm>
            <a:off x="4636008" y="5655564"/>
            <a:ext cx="46177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Unrequested “cleanup” of beam.m</a:t>
            </a:r>
            <a:endParaRPr lang="en-US" sz="1800" dirty="0"/>
          </a:p>
        </p:txBody>
      </p:sp>
      <p:sp>
        <p:nvSpPr>
          <p:cNvPr id="53" name="Shape 53"/>
          <p:cNvSpPr/>
          <p:nvPr/>
        </p:nvSpPr>
        <p:spPr>
          <a:xfrm>
            <a:off x="4462272" y="6414516"/>
            <a:ext cx="4846320" cy="18288"/>
          </a:xfrm>
          <a:prstGeom prst="rect">
            <a:avLst/>
          </a:prstGeom>
          <a:solidFill>
            <a:srgbClr val="BFBFBF"/>
          </a:solidFill>
          <a:ln/>
        </p:spPr>
      </p:sp>
      <p:sp>
        <p:nvSpPr>
          <p:cNvPr id="54" name="Text 54"/>
          <p:cNvSpPr txBox="1"/>
          <p:nvPr/>
        </p:nvSpPr>
        <p:spPr>
          <a:xfrm>
            <a:off x="9482328" y="5655564"/>
            <a:ext cx="39502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Diff touches lines you didn’t expect</a:t>
            </a:r>
            <a:endParaRPr lang="en-US" sz="1800" dirty="0"/>
          </a:p>
        </p:txBody>
      </p:sp>
      <p:sp>
        <p:nvSpPr>
          <p:cNvPr id="55" name="Shape 55"/>
          <p:cNvSpPr/>
          <p:nvPr/>
        </p:nvSpPr>
        <p:spPr>
          <a:xfrm>
            <a:off x="9308592" y="6414516"/>
            <a:ext cx="4178808" cy="18288"/>
          </a:xfrm>
          <a:prstGeom prst="rect">
            <a:avLst/>
          </a:prstGeom>
          <a:solidFill>
            <a:srgbClr val="BFBFBF"/>
          </a:solidFill>
          <a:ln/>
        </p:spPr>
      </p:sp>
      <p:sp>
        <p:nvSpPr>
          <p:cNvPr id="56" name="Text 56"/>
          <p:cNvSpPr txBox="1"/>
          <p:nvPr/>
        </p:nvSpPr>
        <p:spPr>
          <a:xfrm>
            <a:off x="1984248" y="6560820"/>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Unverified claim</a:t>
            </a:r>
            <a:endParaRPr lang="en-US" sz="1800" dirty="0"/>
          </a:p>
        </p:txBody>
      </p:sp>
      <p:sp>
        <p:nvSpPr>
          <p:cNvPr id="57" name="Shape 57"/>
          <p:cNvSpPr/>
          <p:nvPr/>
        </p:nvSpPr>
        <p:spPr>
          <a:xfrm>
            <a:off x="1810512" y="7040880"/>
            <a:ext cx="2651760" cy="18288"/>
          </a:xfrm>
          <a:prstGeom prst="rect">
            <a:avLst/>
          </a:prstGeom>
          <a:solidFill>
            <a:srgbClr val="BFBFBF"/>
          </a:solidFill>
          <a:ln/>
        </p:spPr>
      </p:sp>
      <p:sp>
        <p:nvSpPr>
          <p:cNvPr id="58" name="Text 58"/>
          <p:cNvSpPr txBox="1"/>
          <p:nvPr/>
        </p:nvSpPr>
        <p:spPr>
          <a:xfrm>
            <a:off x="4636008" y="6560820"/>
            <a:ext cx="46177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“All tests pass”</a:t>
            </a:r>
            <a:endParaRPr lang="en-US" sz="1800" dirty="0"/>
          </a:p>
        </p:txBody>
      </p:sp>
      <p:sp>
        <p:nvSpPr>
          <p:cNvPr id="59" name="Shape 59"/>
          <p:cNvSpPr/>
          <p:nvPr/>
        </p:nvSpPr>
        <p:spPr>
          <a:xfrm>
            <a:off x="4462272" y="7040880"/>
            <a:ext cx="4846320" cy="18288"/>
          </a:xfrm>
          <a:prstGeom prst="rect">
            <a:avLst/>
          </a:prstGeom>
          <a:solidFill>
            <a:srgbClr val="BFBFBF"/>
          </a:solidFill>
          <a:ln/>
        </p:spPr>
      </p:sp>
      <p:sp>
        <p:nvSpPr>
          <p:cNvPr id="60" name="Text 60"/>
          <p:cNvSpPr txBox="1"/>
          <p:nvPr/>
        </p:nvSpPr>
        <p:spPr>
          <a:xfrm>
            <a:off x="9482328" y="6560820"/>
            <a:ext cx="39502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It can’t run MATLAB; you run them</a:t>
            </a:r>
            <a:endParaRPr lang="en-US" sz="1800" dirty="0"/>
          </a:p>
        </p:txBody>
      </p:sp>
      <p:sp>
        <p:nvSpPr>
          <p:cNvPr id="61" name="Shape 61"/>
          <p:cNvSpPr/>
          <p:nvPr/>
        </p:nvSpPr>
        <p:spPr>
          <a:xfrm>
            <a:off x="9308592" y="7040880"/>
            <a:ext cx="4178808" cy="18288"/>
          </a:xfrm>
          <a:prstGeom prst="rect">
            <a:avLst/>
          </a:prstGeom>
          <a:solidFill>
            <a:srgbClr val="BFBFBF"/>
          </a:solidFill>
          <a:ln/>
        </p:spPr>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3"/>
          <p:cNvSpPr/>
          <p:nvPr/>
        </p:nvSpPr>
        <p:spPr>
          <a:xfrm>
            <a:off x="0" y="0"/>
            <a:ext cx="1543050" cy="10287000"/>
          </a:xfrm>
          <a:prstGeom prst="rect">
            <a:avLst/>
          </a:prstGeom>
          <a:solidFill>
            <a:srgbClr val="E6E6E6"/>
          </a:solidFill>
          <a:ln/>
        </p:spPr>
      </p:sp>
      <p:pic>
        <p:nvPicPr>
          <p:cNvPr id="3" name="Picture 1" descr="image.png"/>
          <p:cNvPicPr>
            <a:picLocks noChangeAspect="1"/>
          </p:cNvPicPr>
          <p:nvPr/>
        </p:nvPicPr>
        <p:blipFill>
          <a:blip r:embed="rId2"/>
          <a:stretch>
            <a:fillRect/>
          </a:stretch>
        </p:blipFill>
        <p:spPr>
          <a:xfrm>
            <a:off x="200025" y="133350"/>
            <a:ext cx="1143000" cy="1143000"/>
          </a:xfrm>
          <a:prstGeom prst="rect">
            <a:avLst/>
          </a:prstGeom>
        </p:spPr>
      </p:pic>
      <p:sp>
        <p:nvSpPr>
          <p:cNvPr id="4" name="Text 4"/>
          <p:cNvSpPr txBox="1"/>
          <p:nvPr/>
        </p:nvSpPr>
        <p:spPr>
          <a:xfrm>
            <a:off x="133350" y="238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5"/>
          <p:cNvSpPr txBox="1"/>
          <p:nvPr/>
        </p:nvSpPr>
        <p:spPr>
          <a:xfrm>
            <a:off x="133350" y="2762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6"/>
          <p:cNvSpPr txBox="1"/>
          <p:nvPr/>
        </p:nvSpPr>
        <p:spPr>
          <a:xfrm>
            <a:off x="133350" y="3143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Specify</a:t>
            </a:r>
            <a:endParaRPr lang="en-US" sz="1800" dirty="0"/>
          </a:p>
        </p:txBody>
      </p:sp>
      <p:sp>
        <p:nvSpPr>
          <p:cNvPr id="7" name="Text 7"/>
          <p:cNvSpPr txBox="1"/>
          <p:nvPr/>
        </p:nvSpPr>
        <p:spPr>
          <a:xfrm>
            <a:off x="133350" y="3524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8" name="Text 8"/>
          <p:cNvSpPr txBox="1"/>
          <p:nvPr/>
        </p:nvSpPr>
        <p:spPr>
          <a:xfrm>
            <a:off x="133350" y="3905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Generate</a:t>
            </a:r>
            <a:endParaRPr lang="en-US" sz="1800" dirty="0"/>
          </a:p>
        </p:txBody>
      </p:sp>
      <p:sp>
        <p:nvSpPr>
          <p:cNvPr id="9" name="Text 9"/>
          <p:cNvSpPr txBox="1"/>
          <p:nvPr/>
        </p:nvSpPr>
        <p:spPr>
          <a:xfrm>
            <a:off x="133350" y="4286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Adjudicate</a:t>
            </a:r>
            <a:endParaRPr lang="en-US" sz="1800" dirty="0"/>
          </a:p>
        </p:txBody>
      </p:sp>
      <p:sp>
        <p:nvSpPr>
          <p:cNvPr id="10" name="Text 10"/>
          <p:cNvSpPr txBox="1"/>
          <p:nvPr/>
        </p:nvSpPr>
        <p:spPr>
          <a:xfrm>
            <a:off x="133350" y="4667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Pitfalls</a:t>
            </a:r>
            <a:endParaRPr lang="en-US" sz="1800" dirty="0"/>
          </a:p>
        </p:txBody>
      </p:sp>
      <p:sp>
        <p:nvSpPr>
          <p:cNvPr id="11" name="Text 11"/>
          <p:cNvSpPr txBox="1"/>
          <p:nvPr/>
        </p:nvSpPr>
        <p:spPr>
          <a:xfrm>
            <a:off x="133350" y="5048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GenAI Use</a:t>
            </a:r>
            <a:endParaRPr lang="en-US" sz="1800" dirty="0"/>
          </a:p>
        </p:txBody>
      </p:sp>
      <p:sp>
        <p:nvSpPr>
          <p:cNvPr id="12" name="Text 12"/>
          <p:cNvSpPr txBox="1"/>
          <p:nvPr/>
        </p:nvSpPr>
        <p:spPr>
          <a:xfrm>
            <a:off x="133350" y="5429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Your Repo</a:t>
            </a:r>
            <a:endParaRPr lang="en-US" sz="1800" dirty="0"/>
          </a:p>
        </p:txBody>
      </p:sp>
      <p:sp>
        <p:nvSpPr>
          <p:cNvPr id="13" name="Text 13"/>
          <p:cNvSpPr txBox="1"/>
          <p:nvPr/>
        </p:nvSpPr>
        <p:spPr>
          <a:xfrm>
            <a:off x="133350" y="5810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Teaching</a:t>
            </a:r>
            <a:endParaRPr lang="en-US" sz="1800" dirty="0"/>
          </a:p>
        </p:txBody>
      </p:sp>
      <p:sp>
        <p:nvSpPr>
          <p:cNvPr id="14" name="Text 14"/>
          <p:cNvSpPr txBox="1"/>
          <p:nvPr/>
        </p:nvSpPr>
        <p:spPr>
          <a:xfrm>
            <a:off x="133350" y="619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5"/>
          <p:cNvSpPr txBox="1"/>
          <p:nvPr/>
        </p:nvSpPr>
        <p:spPr>
          <a:xfrm>
            <a:off x="1657350" y="200025"/>
            <a:ext cx="10988040" cy="1057275"/>
          </a:xfrm>
          <a:prstGeom prst="rect">
            <a:avLst/>
          </a:prstGeom>
          <a:noFill/>
          <a:ln/>
        </p:spPr>
        <p:txBody>
          <a:bodyPr wrap="square" lIns="25400" tIns="25400" rIns="25400" bIns="25400" rtlCol="0" anchor="ctr">
            <a:no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Documenting GenAI Use</a:t>
            </a:r>
            <a:endParaRPr lang="en-US" sz="4800" dirty="0"/>
          </a:p>
        </p:txBody>
      </p:sp>
      <p:sp>
        <p:nvSpPr>
          <p:cNvPr id="16" name="Text 16"/>
          <p:cNvSpPr txBox="1"/>
          <p:nvPr/>
        </p:nvSpPr>
        <p:spPr>
          <a:xfrm>
            <a:off x="12515950" y="133350"/>
            <a:ext cx="1142901" cy="393700"/>
          </a:xfrm>
          <a:prstGeom prst="rect">
            <a:avLst/>
          </a:prstGeom>
          <a:noFill/>
          <a:ln/>
        </p:spPr>
        <p:txBody>
          <a:bodyPr wrap="non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2</a:t>
            </a:r>
            <a:endParaRPr lang="en-US" sz="2100" dirty="0"/>
          </a:p>
        </p:txBody>
      </p:sp>
      <p:sp>
        <p:nvSpPr>
          <p:cNvPr id="17" name="Shape 17"/>
          <p:cNvSpPr/>
          <p:nvPr/>
        </p:nvSpPr>
        <p:spPr>
          <a:xfrm>
            <a:off x="1657350" y="1219200"/>
            <a:ext cx="11925300" cy="66675"/>
          </a:xfrm>
          <a:prstGeom prst="rect">
            <a:avLst/>
          </a:prstGeom>
          <a:solidFill>
            <a:srgbClr val="000000"/>
          </a:solidFill>
          <a:ln/>
        </p:spPr>
      </p:sp>
      <p:sp>
        <p:nvSpPr>
          <p:cNvPr id="18" name="Text 18"/>
          <p:cNvSpPr txBox="1"/>
          <p:nvPr/>
        </p:nvSpPr>
        <p:spPr>
          <a:xfrm>
            <a:off x="1054418" y="9810750"/>
            <a:ext cx="13264515" cy="342900"/>
          </a:xfrm>
          <a:prstGeom prst="rect">
            <a:avLst/>
          </a:prstGeom>
          <a:noFill/>
          <a:ln/>
        </p:spPr>
        <p:txBody>
          <a:bodyPr wrap="square" lIns="25400" tIns="25400" rIns="25400" bIns="25400" rtlCol="0" anchor="t">
            <a:no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2</a:t>
            </a:r>
            <a:endParaRPr lang="en-US" sz="1800" dirty="0"/>
          </a:p>
        </p:txBody>
      </p:sp>
      <p:sp>
        <p:nvSpPr>
          <p:cNvPr id="19" name="Text 19"/>
          <p:cNvSpPr txBox="1"/>
          <p:nvPr/>
        </p:nvSpPr>
        <p:spPr>
          <a:xfrm>
            <a:off x="13336850" y="9810750"/>
            <a:ext cx="322000" cy="342900"/>
          </a:xfrm>
          <a:prstGeom prst="rect">
            <a:avLst/>
          </a:prstGeom>
          <a:noFill/>
          <a:ln/>
        </p:spPr>
        <p:txBody>
          <a:bodyPr wrap="none" lIns="25400" tIns="25400" rIns="25400" bIns="25400" rtlCol="0" anchor="t">
            <a:no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17</a:t>
            </a:r>
            <a:endParaRPr lang="en-US" sz="1800" dirty="0"/>
          </a:p>
        </p:txBody>
      </p:sp>
      <p:sp>
        <p:nvSpPr>
          <p:cNvPr id="20" name="Text 20"/>
          <p:cNvSpPr txBox="1"/>
          <p:nvPr/>
        </p:nvSpPr>
        <p:spPr>
          <a:xfrm>
            <a:off x="1810512" y="1572768"/>
            <a:ext cx="11704320" cy="822960"/>
          </a:xfrm>
          <a:prstGeom prst="rect">
            <a:avLst/>
          </a:prstGeom>
          <a:noFill/>
          <a:ln/>
        </p:spPr>
        <p:txBody>
          <a:bodyPr wrap="square" lIns="25400" tIns="25400" rIns="25400" bIns="25400" rtlCol="0" anchor="t">
            <a:noAutofit/>
          </a:bodyPr>
          <a:lstStyle/>
          <a:p>
            <a:pPr algn="l" indent="0" marL="0">
              <a:buNone/>
            </a:pPr>
            <a:r>
              <a:rPr lang="en-US" sz="2025" dirty="0">
                <a:solidFill>
                  <a:srgbClr val="000000"/>
                </a:solidFill>
                <a:latin typeface="Segoe UI" pitchFamily="34" charset="0"/>
                <a:ea typeface="Segoe UI" pitchFamily="34" charset="-122"/>
                <a:cs typeface="Segoe UI" pitchFamily="34" charset="-120"/>
              </a:rPr>
              <a:t>Model the documentation you require of cadets. Follow current USAFA and department guidance for your course.</a:t>
            </a:r>
            <a:endParaRPr lang="en-US" sz="2025" dirty="0"/>
          </a:p>
        </p:txBody>
      </p:sp>
      <p:sp>
        <p:nvSpPr>
          <p:cNvPr id="21" name="Text 21"/>
          <p:cNvSpPr txBox="1"/>
          <p:nvPr/>
        </p:nvSpPr>
        <p:spPr>
          <a:xfrm>
            <a:off x="1810512" y="2468880"/>
            <a:ext cx="11704320" cy="411480"/>
          </a:xfrm>
          <a:prstGeom prst="rect">
            <a:avLst/>
          </a:prstGeom>
          <a:noFill/>
          <a:ln/>
        </p:spPr>
        <p:txBody>
          <a:bodyPr wrap="square" lIns="25400" tIns="25400" rIns="25400" bIns="25400" rtlCol="0" anchor="t">
            <a:noAutofit/>
          </a:bodyPr>
          <a:lstStyle/>
          <a:p>
            <a:pPr algn="l" indent="0" marL="0">
              <a:buNone/>
            </a:pPr>
            <a:r>
              <a:rPr lang="en-US" sz="2025" dirty="0">
                <a:solidFill>
                  <a:srgbClr val="000000"/>
                </a:solidFill>
                <a:latin typeface="Segoe UI" pitchFamily="34" charset="0"/>
                <a:ea typeface="Segoe UI" pitchFamily="34" charset="-122"/>
                <a:cs typeface="Segoe UI" pitchFamily="34" charset="-120"/>
              </a:rPr>
              <a:t xml:space="preserve">Keep an </a:t>
            </a:r>
            <a:r>
              <a:rPr lang="en-US" sz="2025" b="1" dirty="0">
                <a:solidFill>
                  <a:srgbClr val="000000"/>
                </a:solidFill>
                <a:latin typeface="Segoe UI" pitchFamily="34" charset="0"/>
                <a:ea typeface="Segoe UI" pitchFamily="34" charset="-122"/>
                <a:cs typeface="Segoe UI" pitchFamily="34" charset="-120"/>
              </a:rPr>
              <a:t>AI_LOG.md</a:t>
            </a:r>
            <a:r>
              <a:rPr lang="en-US" sz="2025" dirty="0">
                <a:solidFill>
                  <a:srgbClr val="000000"/>
                </a:solidFill>
                <a:latin typeface="Segoe UI" pitchFamily="34" charset="0"/>
                <a:ea typeface="Segoe UI" pitchFamily="34" charset="-122"/>
                <a:cs typeface="Segoe UI" pitchFamily="34" charset="-120"/>
              </a:rPr>
              <a:t xml:space="preserve"> in the repo, with one entry per session:</a:t>
            </a:r>
            <a:endParaRPr lang="en-US" sz="2025" dirty="0"/>
          </a:p>
        </p:txBody>
      </p:sp>
      <p:sp>
        <p:nvSpPr>
          <p:cNvPr id="22" name="Shape 22"/>
          <p:cNvSpPr/>
          <p:nvPr/>
        </p:nvSpPr>
        <p:spPr>
          <a:xfrm>
            <a:off x="1810512" y="3063240"/>
            <a:ext cx="11676888" cy="2987230"/>
          </a:xfrm>
          <a:prstGeom prst="roundRect">
            <a:avLst>
              <a:gd name="adj" fmla="val 6887"/>
            </a:avLst>
          </a:prstGeom>
          <a:solidFill>
            <a:srgbClr val="1E1E1E"/>
          </a:solidFill>
          <a:ln/>
        </p:spPr>
      </p:sp>
      <p:sp>
        <p:nvSpPr>
          <p:cNvPr id="23" name="Text 23"/>
          <p:cNvSpPr txBox="1"/>
          <p:nvPr/>
        </p:nvSpPr>
        <p:spPr>
          <a:xfrm>
            <a:off x="2039112" y="3291840"/>
            <a:ext cx="11219688" cy="2530030"/>
          </a:xfrm>
          <a:prstGeom prst="rect">
            <a:avLst/>
          </a:prstGeom>
          <a:noFill/>
          <a:ln/>
        </p:spPr>
        <p:txBody>
          <a:bodyPr wrap="none" lIns="25400" tIns="25400" rIns="25400" bIns="25400" rtlCol="0" anchor="t">
            <a:noAutofit/>
          </a:bodyPr>
          <a:lstStyle/>
          <a:p>
            <a:pPr algn="l" indent="0" marL="0">
              <a:lnSpc>
                <a:spcPct val="135000"/>
              </a:lnSpc>
              <a:buNone/>
            </a:pPr>
            <a:r>
              <a:rPr lang="en-US" sz="1725" dirty="0">
                <a:solidFill>
                  <a:srgbClr val="00B0F0"/>
                </a:solidFill>
                <a:latin typeface="Cascadia Mono" pitchFamily="34" charset="0"/>
                <a:ea typeface="Cascadia Mono" pitchFamily="34" charset="-122"/>
                <a:cs typeface="Cascadia Mono" pitchFamily="34" charset="-120"/>
              </a:rPr>
              <a:t>## 2026-10-14 · UDL tip deflection</a:t>
            </a:r>
            <a:endParaRPr lang="en-US" sz="1725" dirty="0"/>
          </a:p>
          <a:p>
            <a:pPr algn="l" indent="0" marL="0">
              <a:lnSpc>
                <a:spcPct val="135000"/>
              </a:lnSpc>
              <a:buNone/>
            </a:pPr>
            <a:r>
              <a:rPr lang="en-US" sz="1725" dirty="0">
                <a:solidFill>
                  <a:srgbClr val="D4D4D4"/>
                </a:solidFill>
                <a:latin typeface="Cascadia Mono" pitchFamily="34" charset="0"/>
                <a:ea typeface="Cascadia Mono" pitchFamily="34" charset="-122"/>
                <a:cs typeface="Cascadia Mono" pitchFamily="34" charset="-120"/>
              </a:rPr>
              <a:t>Session:      claude.ai/code link</a:t>
            </a:r>
            <a:endParaRPr lang="en-US" sz="1725" dirty="0"/>
          </a:p>
          <a:p>
            <a:pPr algn="l" indent="0" marL="0">
              <a:lnSpc>
                <a:spcPct val="135000"/>
              </a:lnSpc>
              <a:buNone/>
            </a:pPr>
            <a:r>
              <a:rPr lang="en-US" sz="1725" dirty="0">
                <a:solidFill>
                  <a:srgbClr val="D4D4D4"/>
                </a:solidFill>
                <a:latin typeface="Cascadia Mono" pitchFamily="34" charset="0"/>
                <a:ea typeface="Cascadia Mono" pitchFamily="34" charset="-122"/>
                <a:cs typeface="Cascadia Mono" pitchFamily="34" charset="-120"/>
              </a:rPr>
              <a:t>Prompts:      orientation, plan, implement, fix test units</a:t>
            </a:r>
            <a:endParaRPr lang="en-US" sz="1725" dirty="0"/>
          </a:p>
          <a:p>
            <a:pPr algn="l" indent="0" marL="0">
              <a:lnSpc>
                <a:spcPct val="135000"/>
              </a:lnSpc>
              <a:buNone/>
            </a:pPr>
            <a:r>
              <a:rPr lang="en-US" sz="1725" dirty="0">
                <a:solidFill>
                  <a:srgbClr val="D4D4D4"/>
                </a:solidFill>
                <a:latin typeface="Cascadia Mono" pitchFamily="34" charset="0"/>
                <a:ea typeface="Cascadia Mono" pitchFamily="34" charset="-122"/>
                <a:cs typeface="Cascadia Mono" pitchFamily="34" charset="-120"/>
              </a:rPr>
              <a:t>Agent made:   commits a1b2c3d, e4f5a6b (PR #2)</a:t>
            </a:r>
            <a:endParaRPr lang="en-US" sz="1725" dirty="0"/>
          </a:p>
          <a:p>
            <a:pPr algn="l" indent="0" marL="0">
              <a:lnSpc>
                <a:spcPct val="135000"/>
              </a:lnSpc>
              <a:buNone/>
            </a:pPr>
            <a:r>
              <a:rPr lang="en-US" sz="1725" dirty="0">
                <a:solidFill>
                  <a:srgbClr val="D4D4D4"/>
                </a:solidFill>
                <a:latin typeface="Cascadia Mono" pitchFamily="34" charset="0"/>
                <a:ea typeface="Cascadia Mono" pitchFamily="34" charset="-122"/>
                <a:cs typeface="Cascadia Mono" pitchFamily="34" charset="-120"/>
              </a:rPr>
              <a:t>I decided:    load acts over the full length</a:t>
            </a:r>
            <a:endParaRPr lang="en-US" sz="1725" dirty="0"/>
          </a:p>
          <a:p>
            <a:pPr algn="l" indent="0" marL="0">
              <a:lnSpc>
                <a:spcPct val="135000"/>
              </a:lnSpc>
              <a:buNone/>
            </a:pPr>
            <a:r>
              <a:rPr lang="en-US" sz="1725" dirty="0">
                <a:solidFill>
                  <a:srgbClr val="D4D4D4"/>
                </a:solidFill>
                <a:latin typeface="Cascadia Mono" pitchFamily="34" charset="0"/>
                <a:ea typeface="Cascadia Mono" pitchFamily="34" charset="-122"/>
                <a:cs typeface="Cascadia Mono" pitchFamily="34" charset="-120"/>
              </a:rPr>
              <a:t>Verified:     runtests passes; hand calc 2.40 mm; 3/8 ratio</a:t>
            </a:r>
            <a:endParaRPr lang="en-US" sz="1725" dirty="0"/>
          </a:p>
          <a:p>
            <a:pPr algn="l" indent="0" marL="0">
              <a:lnSpc>
                <a:spcPct val="135000"/>
              </a:lnSpc>
              <a:buNone/>
            </a:pPr>
            <a:r>
              <a:rPr lang="en-US" sz="1725" dirty="0">
                <a:solidFill>
                  <a:srgbClr val="D4D4D4"/>
                </a:solidFill>
                <a:latin typeface="Cascadia Mono" pitchFamily="34" charset="0"/>
                <a:ea typeface="Cascadia Mono" pitchFamily="34" charset="-122"/>
                <a:cs typeface="Cascadia Mono" pitchFamily="34" charset="-120"/>
              </a:rPr>
              <a:t>Issue found:  test section entered in mm on first try</a:t>
            </a:r>
            <a:endParaRPr lang="en-US" sz="1725" dirty="0"/>
          </a:p>
        </p:txBody>
      </p:sp>
      <p:sp>
        <p:nvSpPr>
          <p:cNvPr id="24" name="Text 24"/>
          <p:cNvSpPr txBox="1"/>
          <p:nvPr/>
        </p:nvSpPr>
        <p:spPr>
          <a:xfrm>
            <a:off x="1810512" y="6400800"/>
            <a:ext cx="11704320" cy="411480"/>
          </a:xfrm>
          <a:prstGeom prst="rect">
            <a:avLst/>
          </a:prstGeom>
          <a:noFill/>
          <a:ln/>
        </p:spPr>
        <p:txBody>
          <a:bodyPr wrap="square" lIns="25400" tIns="25400" rIns="25400" bIns="25400" rtlCol="0" anchor="t">
            <a:noAutofit/>
          </a:bodyPr>
          <a:lstStyle/>
          <a:p>
            <a:pPr algn="l" indent="0" marL="0">
              <a:buNone/>
            </a:pPr>
            <a:r>
              <a:rPr lang="en-US" sz="1950" dirty="0">
                <a:solidFill>
                  <a:srgbClr val="404040"/>
                </a:solidFill>
                <a:latin typeface="Segoe UI" pitchFamily="34" charset="0"/>
                <a:ea typeface="Segoe UI" pitchFamily="34" charset="-122"/>
                <a:cs typeface="Segoe UI" pitchFamily="34" charset="-120"/>
              </a:rPr>
              <a:t>The commit history and PR discussion are also part of the record.</a:t>
            </a:r>
            <a:endParaRPr lang="en-US" sz="195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3"/>
          <p:cNvSpPr/>
          <p:nvPr/>
        </p:nvSpPr>
        <p:spPr>
          <a:xfrm>
            <a:off x="0" y="0"/>
            <a:ext cx="1543050" cy="10287000"/>
          </a:xfrm>
          <a:prstGeom prst="rect">
            <a:avLst/>
          </a:prstGeom>
          <a:solidFill>
            <a:srgbClr val="E6E6E6"/>
          </a:solidFill>
          <a:ln/>
        </p:spPr>
      </p:sp>
      <p:pic>
        <p:nvPicPr>
          <p:cNvPr id="3" name="Picture 1" descr="image.png"/>
          <p:cNvPicPr>
            <a:picLocks noChangeAspect="1"/>
          </p:cNvPicPr>
          <p:nvPr/>
        </p:nvPicPr>
        <p:blipFill>
          <a:blip r:embed="rId2"/>
          <a:stretch>
            <a:fillRect/>
          </a:stretch>
        </p:blipFill>
        <p:spPr>
          <a:xfrm>
            <a:off x="200025" y="133350"/>
            <a:ext cx="1143000" cy="1143000"/>
          </a:xfrm>
          <a:prstGeom prst="rect">
            <a:avLst/>
          </a:prstGeom>
        </p:spPr>
      </p:pic>
      <p:sp>
        <p:nvSpPr>
          <p:cNvPr id="4" name="Text 4"/>
          <p:cNvSpPr txBox="1"/>
          <p:nvPr/>
        </p:nvSpPr>
        <p:spPr>
          <a:xfrm>
            <a:off x="133350" y="238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5"/>
          <p:cNvSpPr txBox="1"/>
          <p:nvPr/>
        </p:nvSpPr>
        <p:spPr>
          <a:xfrm>
            <a:off x="133350" y="2762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6"/>
          <p:cNvSpPr txBox="1"/>
          <p:nvPr/>
        </p:nvSpPr>
        <p:spPr>
          <a:xfrm>
            <a:off x="133350" y="3143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Specify</a:t>
            </a:r>
            <a:endParaRPr lang="en-US" sz="1800" dirty="0"/>
          </a:p>
        </p:txBody>
      </p:sp>
      <p:sp>
        <p:nvSpPr>
          <p:cNvPr id="7" name="Text 7"/>
          <p:cNvSpPr txBox="1"/>
          <p:nvPr/>
        </p:nvSpPr>
        <p:spPr>
          <a:xfrm>
            <a:off x="133350" y="3524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8" name="Text 8"/>
          <p:cNvSpPr txBox="1"/>
          <p:nvPr/>
        </p:nvSpPr>
        <p:spPr>
          <a:xfrm>
            <a:off x="133350" y="3905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Generate</a:t>
            </a:r>
            <a:endParaRPr lang="en-US" sz="1800" dirty="0"/>
          </a:p>
        </p:txBody>
      </p:sp>
      <p:sp>
        <p:nvSpPr>
          <p:cNvPr id="9" name="Text 9"/>
          <p:cNvSpPr txBox="1"/>
          <p:nvPr/>
        </p:nvSpPr>
        <p:spPr>
          <a:xfrm>
            <a:off x="133350" y="4286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Adjudicate</a:t>
            </a:r>
            <a:endParaRPr lang="en-US" sz="1800" dirty="0"/>
          </a:p>
        </p:txBody>
      </p:sp>
      <p:sp>
        <p:nvSpPr>
          <p:cNvPr id="10" name="Text 10"/>
          <p:cNvSpPr txBox="1"/>
          <p:nvPr/>
        </p:nvSpPr>
        <p:spPr>
          <a:xfrm>
            <a:off x="133350" y="4667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Pitfalls</a:t>
            </a:r>
            <a:endParaRPr lang="en-US" sz="1800" dirty="0"/>
          </a:p>
        </p:txBody>
      </p:sp>
      <p:sp>
        <p:nvSpPr>
          <p:cNvPr id="11" name="Text 11"/>
          <p:cNvSpPr txBox="1"/>
          <p:nvPr/>
        </p:nvSpPr>
        <p:spPr>
          <a:xfrm>
            <a:off x="133350" y="5048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GenAI Use</a:t>
            </a:r>
            <a:endParaRPr lang="en-US" sz="1800" dirty="0"/>
          </a:p>
        </p:txBody>
      </p:sp>
      <p:sp>
        <p:nvSpPr>
          <p:cNvPr id="12" name="Text 12"/>
          <p:cNvSpPr txBox="1"/>
          <p:nvPr/>
        </p:nvSpPr>
        <p:spPr>
          <a:xfrm>
            <a:off x="133350" y="5429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Your Repo</a:t>
            </a:r>
            <a:endParaRPr lang="en-US" sz="1800" dirty="0"/>
          </a:p>
        </p:txBody>
      </p:sp>
      <p:sp>
        <p:nvSpPr>
          <p:cNvPr id="13" name="Text 13"/>
          <p:cNvSpPr txBox="1"/>
          <p:nvPr/>
        </p:nvSpPr>
        <p:spPr>
          <a:xfrm>
            <a:off x="133350" y="5810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Teaching</a:t>
            </a:r>
            <a:endParaRPr lang="en-US" sz="1800" dirty="0"/>
          </a:p>
        </p:txBody>
      </p:sp>
      <p:sp>
        <p:nvSpPr>
          <p:cNvPr id="14" name="Text 14"/>
          <p:cNvSpPr txBox="1"/>
          <p:nvPr/>
        </p:nvSpPr>
        <p:spPr>
          <a:xfrm>
            <a:off x="133350" y="619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5"/>
          <p:cNvSpPr txBox="1"/>
          <p:nvPr/>
        </p:nvSpPr>
        <p:spPr>
          <a:xfrm>
            <a:off x="1657350" y="200025"/>
            <a:ext cx="10988040" cy="1057275"/>
          </a:xfrm>
          <a:prstGeom prst="rect">
            <a:avLst/>
          </a:prstGeom>
          <a:noFill/>
          <a:ln/>
        </p:spPr>
        <p:txBody>
          <a:bodyPr wrap="square" lIns="25400" tIns="25400" rIns="25400" bIns="25400" rtlCol="0" anchor="ctr">
            <a:no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Exercise 7: Your Own Repo</a:t>
            </a:r>
            <a:endParaRPr lang="en-US" sz="4800" dirty="0"/>
          </a:p>
        </p:txBody>
      </p:sp>
      <p:sp>
        <p:nvSpPr>
          <p:cNvPr id="16" name="Text 16"/>
          <p:cNvSpPr txBox="1"/>
          <p:nvPr/>
        </p:nvSpPr>
        <p:spPr>
          <a:xfrm>
            <a:off x="12515950" y="133350"/>
            <a:ext cx="1142901" cy="393700"/>
          </a:xfrm>
          <a:prstGeom prst="rect">
            <a:avLst/>
          </a:prstGeom>
          <a:noFill/>
          <a:ln/>
        </p:spPr>
        <p:txBody>
          <a:bodyPr wrap="non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2</a:t>
            </a:r>
            <a:endParaRPr lang="en-US" sz="2100" dirty="0"/>
          </a:p>
        </p:txBody>
      </p:sp>
      <p:sp>
        <p:nvSpPr>
          <p:cNvPr id="17" name="Shape 17"/>
          <p:cNvSpPr/>
          <p:nvPr/>
        </p:nvSpPr>
        <p:spPr>
          <a:xfrm>
            <a:off x="1657350" y="1219200"/>
            <a:ext cx="11925300" cy="66675"/>
          </a:xfrm>
          <a:prstGeom prst="rect">
            <a:avLst/>
          </a:prstGeom>
          <a:solidFill>
            <a:srgbClr val="000000"/>
          </a:solidFill>
          <a:ln/>
        </p:spPr>
      </p:sp>
      <p:sp>
        <p:nvSpPr>
          <p:cNvPr id="18" name="Text 18"/>
          <p:cNvSpPr txBox="1"/>
          <p:nvPr/>
        </p:nvSpPr>
        <p:spPr>
          <a:xfrm>
            <a:off x="1054418" y="9810750"/>
            <a:ext cx="13264515" cy="342900"/>
          </a:xfrm>
          <a:prstGeom prst="rect">
            <a:avLst/>
          </a:prstGeom>
          <a:noFill/>
          <a:ln/>
        </p:spPr>
        <p:txBody>
          <a:bodyPr wrap="square" lIns="25400" tIns="25400" rIns="25400" bIns="25400" rtlCol="0" anchor="t">
            <a:no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2</a:t>
            </a:r>
            <a:endParaRPr lang="en-US" sz="1800" dirty="0"/>
          </a:p>
        </p:txBody>
      </p:sp>
      <p:sp>
        <p:nvSpPr>
          <p:cNvPr id="19" name="Text 19"/>
          <p:cNvSpPr txBox="1"/>
          <p:nvPr/>
        </p:nvSpPr>
        <p:spPr>
          <a:xfrm>
            <a:off x="13336850" y="9810750"/>
            <a:ext cx="322000" cy="342900"/>
          </a:xfrm>
          <a:prstGeom prst="rect">
            <a:avLst/>
          </a:prstGeom>
          <a:noFill/>
          <a:ln/>
        </p:spPr>
        <p:txBody>
          <a:bodyPr wrap="none" lIns="25400" tIns="25400" rIns="25400" bIns="25400" rtlCol="0" anchor="t">
            <a:no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18</a:t>
            </a:r>
            <a:endParaRPr lang="en-US" sz="1800" dirty="0"/>
          </a:p>
        </p:txBody>
      </p:sp>
      <p:sp>
        <p:nvSpPr>
          <p:cNvPr id="20" name="Shape 20"/>
          <p:cNvSpPr/>
          <p:nvPr/>
        </p:nvSpPr>
        <p:spPr>
          <a:xfrm>
            <a:off x="1810512" y="1527048"/>
            <a:ext cx="1353312" cy="381305"/>
          </a:xfrm>
          <a:prstGeom prst="roundRect">
            <a:avLst>
              <a:gd name="adj" fmla="val 15000"/>
            </a:avLst>
          </a:prstGeom>
          <a:solidFill>
            <a:srgbClr val="595959"/>
          </a:solidFill>
          <a:ln/>
        </p:spPr>
      </p:sp>
      <p:sp>
        <p:nvSpPr>
          <p:cNvPr id="21" name="Text 21"/>
          <p:cNvSpPr txBox="1"/>
          <p:nvPr/>
        </p:nvSpPr>
        <p:spPr>
          <a:xfrm>
            <a:off x="1837944" y="156362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Segoe UI" pitchFamily="34" charset="0"/>
                <a:ea typeface="Segoe UI" pitchFamily="34" charset="-122"/>
                <a:cs typeface="Segoe UI" pitchFamily="34" charset="-120"/>
              </a:rPr>
              <a:t>EXERCISE</a:t>
            </a:r>
            <a:endParaRPr lang="en-US" sz="1800" dirty="0"/>
          </a:p>
        </p:txBody>
      </p:sp>
      <p:sp>
        <p:nvSpPr>
          <p:cNvPr id="22" name="Text 22"/>
          <p:cNvSpPr txBox="1"/>
          <p:nvPr/>
        </p:nvSpPr>
        <p:spPr>
          <a:xfrm>
            <a:off x="1810512" y="210312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1</a:t>
            </a:r>
            <a:endParaRPr lang="en-US" sz="2250" dirty="0"/>
          </a:p>
        </p:txBody>
      </p:sp>
      <p:sp>
        <p:nvSpPr>
          <p:cNvPr id="23" name="Text 23"/>
          <p:cNvSpPr txBox="1"/>
          <p:nvPr/>
        </p:nvSpPr>
        <p:spPr>
          <a:xfrm>
            <a:off x="2340864" y="2103120"/>
            <a:ext cx="605332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Open your Agent-Ready repo from Lesson 1.</a:t>
            </a:r>
            <a:endParaRPr lang="en-US" sz="1950" dirty="0"/>
          </a:p>
        </p:txBody>
      </p:sp>
      <p:sp>
        <p:nvSpPr>
          <p:cNvPr id="24" name="Text 24"/>
          <p:cNvSpPr txBox="1"/>
          <p:nvPr/>
        </p:nvSpPr>
        <p:spPr>
          <a:xfrm>
            <a:off x="1810512" y="2646774"/>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2</a:t>
            </a:r>
            <a:endParaRPr lang="en-US" sz="2250" dirty="0"/>
          </a:p>
        </p:txBody>
      </p:sp>
      <p:sp>
        <p:nvSpPr>
          <p:cNvPr id="25" name="Text 25"/>
          <p:cNvSpPr txBox="1"/>
          <p:nvPr/>
        </p:nvSpPr>
        <p:spPr>
          <a:xfrm>
            <a:off x="2340864" y="2646774"/>
            <a:ext cx="6053328" cy="703259"/>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 xml:space="preserve">Write one small requirement </a:t>
            </a:r>
            <a:r>
              <a:rPr lang="en-US" sz="1950" b="1" dirty="0">
                <a:solidFill>
                  <a:srgbClr val="000000"/>
                </a:solidFill>
                <a:latin typeface="Segoe UI" pitchFamily="34" charset="0"/>
                <a:ea typeface="Segoe UI" pitchFamily="34" charset="-122"/>
                <a:cs typeface="Segoe UI" pitchFamily="34" charset="-120"/>
              </a:rPr>
              <a:t>and how you’ll verify it</a:t>
            </a:r>
            <a:r>
              <a:rPr lang="en-US" sz="1950" dirty="0">
                <a:solidFill>
                  <a:srgbClr val="000000"/>
                </a:solidFill>
                <a:latin typeface="Segoe UI" pitchFamily="34" charset="0"/>
                <a:ea typeface="Segoe UI" pitchFamily="34" charset="-122"/>
                <a:cs typeface="Segoe UI" pitchFamily="34" charset="-120"/>
              </a:rPr>
              <a:t>, before opening a session.</a:t>
            </a:r>
            <a:endParaRPr lang="en-US" sz="1950" dirty="0"/>
          </a:p>
        </p:txBody>
      </p:sp>
      <p:sp>
        <p:nvSpPr>
          <p:cNvPr id="26" name="Text 26"/>
          <p:cNvSpPr txBox="1"/>
          <p:nvPr/>
        </p:nvSpPr>
        <p:spPr>
          <a:xfrm>
            <a:off x="1810512" y="3496337"/>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3</a:t>
            </a:r>
            <a:endParaRPr lang="en-US" sz="2250" dirty="0"/>
          </a:p>
        </p:txBody>
      </p:sp>
      <p:sp>
        <p:nvSpPr>
          <p:cNvPr id="27" name="Text 27"/>
          <p:cNvSpPr txBox="1"/>
          <p:nvPr/>
        </p:nvSpPr>
        <p:spPr>
          <a:xfrm>
            <a:off x="2340864" y="3496337"/>
            <a:ext cx="605332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 xml:space="preserve">Add CLAUDE.md, or run </a:t>
            </a:r>
            <a:r>
              <a:rPr lang="en-US" sz="1950" b="1" dirty="0">
                <a:solidFill>
                  <a:srgbClr val="000000"/>
                </a:solidFill>
                <a:latin typeface="Segoe UI" pitchFamily="34" charset="0"/>
                <a:ea typeface="Segoe UI" pitchFamily="34" charset="-122"/>
                <a:cs typeface="Segoe UI" pitchFamily="34" charset="-120"/>
              </a:rPr>
              <a:t>/init</a:t>
            </a:r>
            <a:r>
              <a:rPr lang="en-US" sz="1950" dirty="0">
                <a:solidFill>
                  <a:srgbClr val="000000"/>
                </a:solidFill>
                <a:latin typeface="Segoe UI" pitchFamily="34" charset="0"/>
                <a:ea typeface="Segoe UI" pitchFamily="34" charset="-122"/>
                <a:cs typeface="Segoe UI" pitchFamily="34" charset="-120"/>
              </a:rPr>
              <a:t xml:space="preserve"> and correct it.</a:t>
            </a:r>
            <a:endParaRPr lang="en-US" sz="1950" dirty="0"/>
          </a:p>
        </p:txBody>
      </p:sp>
      <p:sp>
        <p:nvSpPr>
          <p:cNvPr id="28" name="Text 28"/>
          <p:cNvSpPr txBox="1"/>
          <p:nvPr/>
        </p:nvSpPr>
        <p:spPr>
          <a:xfrm>
            <a:off x="1810512" y="4039991"/>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4</a:t>
            </a:r>
            <a:endParaRPr lang="en-US" sz="2250" dirty="0"/>
          </a:p>
        </p:txBody>
      </p:sp>
      <p:sp>
        <p:nvSpPr>
          <p:cNvPr id="29" name="Text 29"/>
          <p:cNvSpPr txBox="1"/>
          <p:nvPr/>
        </p:nvSpPr>
        <p:spPr>
          <a:xfrm>
            <a:off x="2340864" y="4039991"/>
            <a:ext cx="605332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Orient → plan → implement.</a:t>
            </a:r>
            <a:endParaRPr lang="en-US" sz="1950" dirty="0"/>
          </a:p>
        </p:txBody>
      </p:sp>
      <p:sp>
        <p:nvSpPr>
          <p:cNvPr id="30" name="Text 30"/>
          <p:cNvSpPr txBox="1"/>
          <p:nvPr/>
        </p:nvSpPr>
        <p:spPr>
          <a:xfrm>
            <a:off x="1810512" y="4583644"/>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5</a:t>
            </a:r>
            <a:endParaRPr lang="en-US" sz="2250" dirty="0"/>
          </a:p>
        </p:txBody>
      </p:sp>
      <p:sp>
        <p:nvSpPr>
          <p:cNvPr id="31" name="Text 31"/>
          <p:cNvSpPr txBox="1"/>
          <p:nvPr/>
        </p:nvSpPr>
        <p:spPr>
          <a:xfrm>
            <a:off x="2340864" y="4583644"/>
            <a:ext cx="6053328" cy="703259"/>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Review the PR and test it yourself. Merge only if it passes.</a:t>
            </a:r>
            <a:endParaRPr lang="en-US" sz="1950" dirty="0"/>
          </a:p>
        </p:txBody>
      </p:sp>
      <p:sp>
        <p:nvSpPr>
          <p:cNvPr id="32" name="Text 32"/>
          <p:cNvSpPr txBox="1"/>
          <p:nvPr/>
        </p:nvSpPr>
        <p:spPr>
          <a:xfrm>
            <a:off x="1810512" y="5433208"/>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6</a:t>
            </a:r>
            <a:endParaRPr lang="en-US" sz="2250" dirty="0"/>
          </a:p>
        </p:txBody>
      </p:sp>
      <p:sp>
        <p:nvSpPr>
          <p:cNvPr id="33" name="Text 33"/>
          <p:cNvSpPr txBox="1"/>
          <p:nvPr/>
        </p:nvSpPr>
        <p:spPr>
          <a:xfrm>
            <a:off x="2340864" y="5433208"/>
            <a:ext cx="605332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Add an entry to AI_LOG.md.</a:t>
            </a:r>
            <a:endParaRPr lang="en-US" sz="1950" dirty="0"/>
          </a:p>
        </p:txBody>
      </p:sp>
      <p:sp>
        <p:nvSpPr>
          <p:cNvPr id="34" name="Shape 34"/>
          <p:cNvSpPr/>
          <p:nvPr/>
        </p:nvSpPr>
        <p:spPr>
          <a:xfrm>
            <a:off x="8778240" y="1527048"/>
            <a:ext cx="4709160" cy="3429000"/>
          </a:xfrm>
          <a:prstGeom prst="rect">
            <a:avLst/>
          </a:prstGeom>
          <a:solidFill>
            <a:srgbClr val="F2F2F2"/>
          </a:solidFill>
          <a:ln/>
        </p:spPr>
      </p:sp>
      <p:sp>
        <p:nvSpPr>
          <p:cNvPr id="35" name="Text 35"/>
          <p:cNvSpPr txBox="1"/>
          <p:nvPr/>
        </p:nvSpPr>
        <p:spPr>
          <a:xfrm>
            <a:off x="8979408" y="1709928"/>
            <a:ext cx="4343400" cy="384048"/>
          </a:xfrm>
          <a:prstGeom prst="rect">
            <a:avLst/>
          </a:prstGeom>
          <a:noFill/>
          <a:ln/>
        </p:spPr>
        <p:txBody>
          <a:bodyPr wrap="square" lIns="25400" tIns="25400" rIns="25400" bIns="25400" rtlCol="0" anchor="t">
            <a:noAutofit/>
          </a:bodyPr>
          <a:lstStyle/>
          <a:p>
            <a:pPr algn="l" indent="0" marL="0">
              <a:buNone/>
            </a:pPr>
            <a:r>
              <a:rPr lang="en-US" sz="1950" b="1" dirty="0">
                <a:solidFill>
                  <a:srgbClr val="152A47"/>
                </a:solidFill>
                <a:latin typeface="Segoe UI" pitchFamily="34" charset="0"/>
                <a:ea typeface="Segoe UI" pitchFamily="34" charset="-122"/>
                <a:cs typeface="Segoe UI" pitchFamily="34" charset="-120"/>
              </a:rPr>
              <a:t>Good first requests</a:t>
            </a:r>
            <a:endParaRPr lang="en-US" sz="1950" dirty="0"/>
          </a:p>
        </p:txBody>
      </p:sp>
      <p:sp>
        <p:nvSpPr>
          <p:cNvPr id="36" name="Text 36"/>
          <p:cNvSpPr txBox="1"/>
          <p:nvPr/>
        </p:nvSpPr>
        <p:spPr>
          <a:xfrm>
            <a:off x="8979408" y="2167128"/>
            <a:ext cx="4343400" cy="2697480"/>
          </a:xfrm>
          <a:prstGeom prst="rect">
            <a:avLst/>
          </a:prstGeom>
          <a:noFill/>
          <a:ln/>
        </p:spPr>
        <p:txBody>
          <a:bodyPr wrap="square" lIns="25400" tIns="25400" rIns="25400" bIns="25400" rtlCol="0" anchor="t">
            <a:noAutofit/>
          </a:bodyPr>
          <a:lstStyle/>
          <a:p>
            <a:pPr algn="l" indent="0" marL="0">
              <a:spcAft>
                <a:spcPts val="800"/>
              </a:spcAft>
              <a:buNone/>
            </a:pPr>
            <a:r>
              <a:rPr lang="en-US" sz="1725" dirty="0">
                <a:solidFill>
                  <a:srgbClr val="000000"/>
                </a:solidFill>
                <a:latin typeface="Segoe UI" pitchFamily="34" charset="0"/>
                <a:ea typeface="Segoe UI" pitchFamily="34" charset="-122"/>
                <a:cs typeface="Segoe UI" pitchFamily="34" charset="-120"/>
              </a:rPr>
              <a:t>Add a test for an existing function</a:t>
            </a:r>
            <a:endParaRPr lang="en-US" sz="1725" dirty="0"/>
          </a:p>
          <a:p>
            <a:pPr algn="l" indent="0" marL="0">
              <a:spcAft>
                <a:spcPts val="800"/>
              </a:spcAft>
              <a:buNone/>
            </a:pPr>
            <a:r>
              <a:rPr lang="en-US" sz="1725" dirty="0">
                <a:solidFill>
                  <a:srgbClr val="000000"/>
                </a:solidFill>
                <a:latin typeface="Segoe UI" pitchFamily="34" charset="0"/>
                <a:ea typeface="Segoe UI" pitchFamily="34" charset="-122"/>
                <a:cs typeface="Segoe UI" pitchFamily="34" charset="-120"/>
              </a:rPr>
              <a:t>Add input checks with clear errors</a:t>
            </a:r>
            <a:endParaRPr lang="en-US" sz="1725" dirty="0"/>
          </a:p>
          <a:p>
            <a:pPr algn="l" indent="0" marL="0">
              <a:spcAft>
                <a:spcPts val="800"/>
              </a:spcAft>
              <a:buNone/>
            </a:pPr>
            <a:r>
              <a:rPr lang="en-US" sz="1725" dirty="0">
                <a:solidFill>
                  <a:srgbClr val="000000"/>
                </a:solidFill>
                <a:latin typeface="Segoe UI" pitchFamily="34" charset="0"/>
                <a:ea typeface="Segoe UI" pitchFamily="34" charset="-122"/>
                <a:cs typeface="Segoe UI" pitchFamily="34" charset="-120"/>
              </a:rPr>
              <a:t>Explain how to run it in the README</a:t>
            </a:r>
            <a:endParaRPr lang="en-US" sz="1725" dirty="0"/>
          </a:p>
          <a:p>
            <a:pPr algn="l" indent="0" marL="0">
              <a:spcAft>
                <a:spcPts val="800"/>
              </a:spcAft>
              <a:buNone/>
            </a:pPr>
            <a:r>
              <a:rPr lang="en-US" sz="1725" dirty="0">
                <a:solidFill>
                  <a:srgbClr val="000000"/>
                </a:solidFill>
                <a:latin typeface="Segoe UI" pitchFamily="34" charset="0"/>
                <a:ea typeface="Segoe UI" pitchFamily="34" charset="-122"/>
                <a:cs typeface="Segoe UI" pitchFamily="34" charset="-120"/>
              </a:rPr>
              <a:t>Replace hard-coded values with parameters</a:t>
            </a:r>
            <a:endParaRPr lang="en-US" sz="1725" dirty="0"/>
          </a:p>
        </p:txBody>
      </p:sp>
      <p:sp>
        <p:nvSpPr>
          <p:cNvPr id="37" name="Shape 37"/>
          <p:cNvSpPr/>
          <p:nvPr/>
        </p:nvSpPr>
        <p:spPr>
          <a:xfrm>
            <a:off x="8778240" y="5184648"/>
            <a:ext cx="4709160" cy="2377440"/>
          </a:xfrm>
          <a:prstGeom prst="rect">
            <a:avLst/>
          </a:prstGeom>
          <a:solidFill>
            <a:srgbClr val="F2F2F2"/>
          </a:solidFill>
          <a:ln/>
        </p:spPr>
      </p:sp>
      <p:sp>
        <p:nvSpPr>
          <p:cNvPr id="38" name="Text 38"/>
          <p:cNvSpPr txBox="1"/>
          <p:nvPr/>
        </p:nvSpPr>
        <p:spPr>
          <a:xfrm>
            <a:off x="8979408" y="5367528"/>
            <a:ext cx="4343400" cy="384048"/>
          </a:xfrm>
          <a:prstGeom prst="rect">
            <a:avLst/>
          </a:prstGeom>
          <a:noFill/>
          <a:ln/>
        </p:spPr>
        <p:txBody>
          <a:bodyPr wrap="square" lIns="25400" tIns="25400" rIns="25400" bIns="25400" rtlCol="0" anchor="t">
            <a:noAutofit/>
          </a:bodyPr>
          <a:lstStyle/>
          <a:p>
            <a:pPr algn="l" indent="0" marL="0">
              <a:buNone/>
            </a:pPr>
            <a:r>
              <a:rPr lang="en-US" sz="1950" b="1" dirty="0">
                <a:solidFill>
                  <a:srgbClr val="152A47"/>
                </a:solidFill>
                <a:latin typeface="Segoe UI" pitchFamily="34" charset="0"/>
                <a:ea typeface="Segoe UI" pitchFamily="34" charset="-122"/>
                <a:cs typeface="Segoe UI" pitchFamily="34" charset="-120"/>
              </a:rPr>
              <a:t>Avoid for now</a:t>
            </a:r>
            <a:endParaRPr lang="en-US" sz="1950" dirty="0"/>
          </a:p>
        </p:txBody>
      </p:sp>
      <p:sp>
        <p:nvSpPr>
          <p:cNvPr id="39" name="Text 39"/>
          <p:cNvSpPr txBox="1"/>
          <p:nvPr/>
        </p:nvSpPr>
        <p:spPr>
          <a:xfrm>
            <a:off x="8979408" y="5824728"/>
            <a:ext cx="4343400" cy="1645920"/>
          </a:xfrm>
          <a:prstGeom prst="rect">
            <a:avLst/>
          </a:prstGeom>
          <a:noFill/>
          <a:ln/>
        </p:spPr>
        <p:txBody>
          <a:bodyPr wrap="square" lIns="25400" tIns="25400" rIns="25400" bIns="25400" rtlCol="0" anchor="t">
            <a:noAutofit/>
          </a:bodyPr>
          <a:lstStyle/>
          <a:p>
            <a:pPr algn="l" indent="0" marL="0">
              <a:spcAft>
                <a:spcPts val="800"/>
              </a:spcAft>
              <a:buNone/>
            </a:pPr>
            <a:r>
              <a:rPr lang="en-US" sz="1725" dirty="0">
                <a:solidFill>
                  <a:srgbClr val="000000"/>
                </a:solidFill>
                <a:latin typeface="Segoe UI" pitchFamily="34" charset="0"/>
                <a:ea typeface="Segoe UI" pitchFamily="34" charset="-122"/>
                <a:cs typeface="Segoe UI" pitchFamily="34" charset="-120"/>
              </a:rPr>
              <a:t>“Rewrite the whole project”</a:t>
            </a:r>
            <a:endParaRPr lang="en-US" sz="1725" dirty="0"/>
          </a:p>
          <a:p>
            <a:pPr algn="l" indent="0" marL="0">
              <a:spcAft>
                <a:spcPts val="800"/>
              </a:spcAft>
              <a:buNone/>
            </a:pPr>
            <a:r>
              <a:rPr lang="en-US" sz="1725" dirty="0">
                <a:solidFill>
                  <a:srgbClr val="000000"/>
                </a:solidFill>
                <a:latin typeface="Segoe UI" pitchFamily="34" charset="0"/>
                <a:ea typeface="Segoe UI" pitchFamily="34" charset="-122"/>
                <a:cs typeface="Segoe UI" pitchFamily="34" charset="-120"/>
              </a:rPr>
              <a:t>Anything you can’t check yourself</a:t>
            </a:r>
            <a:endParaRPr lang="en-US" sz="1725"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3"/>
          <p:cNvSpPr/>
          <p:nvPr/>
        </p:nvSpPr>
        <p:spPr>
          <a:xfrm>
            <a:off x="0" y="0"/>
            <a:ext cx="1543050" cy="10287000"/>
          </a:xfrm>
          <a:prstGeom prst="rect">
            <a:avLst/>
          </a:prstGeom>
          <a:solidFill>
            <a:srgbClr val="E6E6E6"/>
          </a:solidFill>
          <a:ln/>
        </p:spPr>
      </p:sp>
      <p:pic>
        <p:nvPicPr>
          <p:cNvPr id="3" name="Picture 1" descr="image.png"/>
          <p:cNvPicPr>
            <a:picLocks noChangeAspect="1"/>
          </p:cNvPicPr>
          <p:nvPr/>
        </p:nvPicPr>
        <p:blipFill>
          <a:blip r:embed="rId2"/>
          <a:stretch>
            <a:fillRect/>
          </a:stretch>
        </p:blipFill>
        <p:spPr>
          <a:xfrm>
            <a:off x="200025" y="133350"/>
            <a:ext cx="1143000" cy="1143000"/>
          </a:xfrm>
          <a:prstGeom prst="rect">
            <a:avLst/>
          </a:prstGeom>
        </p:spPr>
      </p:pic>
      <p:sp>
        <p:nvSpPr>
          <p:cNvPr id="4" name="Text 4"/>
          <p:cNvSpPr txBox="1"/>
          <p:nvPr/>
        </p:nvSpPr>
        <p:spPr>
          <a:xfrm>
            <a:off x="133350" y="238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5"/>
          <p:cNvSpPr txBox="1"/>
          <p:nvPr/>
        </p:nvSpPr>
        <p:spPr>
          <a:xfrm>
            <a:off x="133350" y="2762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6"/>
          <p:cNvSpPr txBox="1"/>
          <p:nvPr/>
        </p:nvSpPr>
        <p:spPr>
          <a:xfrm>
            <a:off x="133350" y="3143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Specify</a:t>
            </a:r>
            <a:endParaRPr lang="en-US" sz="1800" dirty="0"/>
          </a:p>
        </p:txBody>
      </p:sp>
      <p:sp>
        <p:nvSpPr>
          <p:cNvPr id="7" name="Text 7"/>
          <p:cNvSpPr txBox="1"/>
          <p:nvPr/>
        </p:nvSpPr>
        <p:spPr>
          <a:xfrm>
            <a:off x="133350" y="3524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8" name="Text 8"/>
          <p:cNvSpPr txBox="1"/>
          <p:nvPr/>
        </p:nvSpPr>
        <p:spPr>
          <a:xfrm>
            <a:off x="133350" y="3905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Generate</a:t>
            </a:r>
            <a:endParaRPr lang="en-US" sz="1800" dirty="0"/>
          </a:p>
        </p:txBody>
      </p:sp>
      <p:sp>
        <p:nvSpPr>
          <p:cNvPr id="9" name="Text 9"/>
          <p:cNvSpPr txBox="1"/>
          <p:nvPr/>
        </p:nvSpPr>
        <p:spPr>
          <a:xfrm>
            <a:off x="133350" y="4286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Adjudicate</a:t>
            </a:r>
            <a:endParaRPr lang="en-US" sz="1800" dirty="0"/>
          </a:p>
        </p:txBody>
      </p:sp>
      <p:sp>
        <p:nvSpPr>
          <p:cNvPr id="10" name="Text 10"/>
          <p:cNvSpPr txBox="1"/>
          <p:nvPr/>
        </p:nvSpPr>
        <p:spPr>
          <a:xfrm>
            <a:off x="133350" y="4667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Pitfalls</a:t>
            </a:r>
            <a:endParaRPr lang="en-US" sz="1800" dirty="0"/>
          </a:p>
        </p:txBody>
      </p:sp>
      <p:sp>
        <p:nvSpPr>
          <p:cNvPr id="11" name="Text 11"/>
          <p:cNvSpPr txBox="1"/>
          <p:nvPr/>
        </p:nvSpPr>
        <p:spPr>
          <a:xfrm>
            <a:off x="133350" y="5048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GenAI Use</a:t>
            </a:r>
            <a:endParaRPr lang="en-US" sz="1800" dirty="0"/>
          </a:p>
        </p:txBody>
      </p:sp>
      <p:sp>
        <p:nvSpPr>
          <p:cNvPr id="12" name="Text 12"/>
          <p:cNvSpPr txBox="1"/>
          <p:nvPr/>
        </p:nvSpPr>
        <p:spPr>
          <a:xfrm>
            <a:off x="133350" y="5429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Your Repo</a:t>
            </a:r>
            <a:endParaRPr lang="en-US" sz="1800" dirty="0"/>
          </a:p>
        </p:txBody>
      </p:sp>
      <p:sp>
        <p:nvSpPr>
          <p:cNvPr id="13" name="Text 13"/>
          <p:cNvSpPr txBox="1"/>
          <p:nvPr/>
        </p:nvSpPr>
        <p:spPr>
          <a:xfrm>
            <a:off x="133350" y="5810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Teaching</a:t>
            </a:r>
            <a:endParaRPr lang="en-US" sz="1800" dirty="0"/>
          </a:p>
        </p:txBody>
      </p:sp>
      <p:sp>
        <p:nvSpPr>
          <p:cNvPr id="14" name="Text 14"/>
          <p:cNvSpPr txBox="1"/>
          <p:nvPr/>
        </p:nvSpPr>
        <p:spPr>
          <a:xfrm>
            <a:off x="133350" y="619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5"/>
          <p:cNvSpPr txBox="1"/>
          <p:nvPr/>
        </p:nvSpPr>
        <p:spPr>
          <a:xfrm>
            <a:off x="1657350" y="200025"/>
            <a:ext cx="10988040" cy="1057275"/>
          </a:xfrm>
          <a:prstGeom prst="rect">
            <a:avLst/>
          </a:prstGeom>
          <a:noFill/>
          <a:ln/>
        </p:spPr>
        <p:txBody>
          <a:bodyPr wrap="square" lIns="25400" tIns="25400" rIns="25400" bIns="25400" rtlCol="0" anchor="ctr">
            <a:no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Cadet Teams &amp; Agents</a:t>
            </a:r>
            <a:endParaRPr lang="en-US" sz="4800" dirty="0"/>
          </a:p>
        </p:txBody>
      </p:sp>
      <p:sp>
        <p:nvSpPr>
          <p:cNvPr id="16" name="Text 16"/>
          <p:cNvSpPr txBox="1"/>
          <p:nvPr/>
        </p:nvSpPr>
        <p:spPr>
          <a:xfrm>
            <a:off x="12515950" y="133350"/>
            <a:ext cx="1142901" cy="393700"/>
          </a:xfrm>
          <a:prstGeom prst="rect">
            <a:avLst/>
          </a:prstGeom>
          <a:noFill/>
          <a:ln/>
        </p:spPr>
        <p:txBody>
          <a:bodyPr wrap="non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2</a:t>
            </a:r>
            <a:endParaRPr lang="en-US" sz="2100" dirty="0"/>
          </a:p>
        </p:txBody>
      </p:sp>
      <p:sp>
        <p:nvSpPr>
          <p:cNvPr id="17" name="Shape 17"/>
          <p:cNvSpPr/>
          <p:nvPr/>
        </p:nvSpPr>
        <p:spPr>
          <a:xfrm>
            <a:off x="1657350" y="1219200"/>
            <a:ext cx="11925300" cy="66675"/>
          </a:xfrm>
          <a:prstGeom prst="rect">
            <a:avLst/>
          </a:prstGeom>
          <a:solidFill>
            <a:srgbClr val="000000"/>
          </a:solidFill>
          <a:ln/>
        </p:spPr>
      </p:sp>
      <p:sp>
        <p:nvSpPr>
          <p:cNvPr id="18" name="Text 18"/>
          <p:cNvSpPr txBox="1"/>
          <p:nvPr/>
        </p:nvSpPr>
        <p:spPr>
          <a:xfrm>
            <a:off x="1054418" y="9810750"/>
            <a:ext cx="13264515" cy="342900"/>
          </a:xfrm>
          <a:prstGeom prst="rect">
            <a:avLst/>
          </a:prstGeom>
          <a:noFill/>
          <a:ln/>
        </p:spPr>
        <p:txBody>
          <a:bodyPr wrap="square" lIns="25400" tIns="25400" rIns="25400" bIns="25400" rtlCol="0" anchor="t">
            <a:no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2</a:t>
            </a:r>
            <a:endParaRPr lang="en-US" sz="1800" dirty="0"/>
          </a:p>
        </p:txBody>
      </p:sp>
      <p:sp>
        <p:nvSpPr>
          <p:cNvPr id="19" name="Text 19"/>
          <p:cNvSpPr txBox="1"/>
          <p:nvPr/>
        </p:nvSpPr>
        <p:spPr>
          <a:xfrm>
            <a:off x="13336850" y="9810750"/>
            <a:ext cx="322000" cy="342900"/>
          </a:xfrm>
          <a:prstGeom prst="rect">
            <a:avLst/>
          </a:prstGeom>
          <a:noFill/>
          <a:ln/>
        </p:spPr>
        <p:txBody>
          <a:bodyPr wrap="none" lIns="25400" tIns="25400" rIns="25400" bIns="25400" rtlCol="0" anchor="t">
            <a:no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19</a:t>
            </a:r>
            <a:endParaRPr lang="en-US" sz="1800" dirty="0"/>
          </a:p>
        </p:txBody>
      </p:sp>
      <p:sp>
        <p:nvSpPr>
          <p:cNvPr id="20" name="Text 20"/>
          <p:cNvSpPr txBox="1"/>
          <p:nvPr/>
        </p:nvSpPr>
        <p:spPr>
          <a:xfrm>
            <a:off x="1810512" y="1572768"/>
            <a:ext cx="11704320" cy="822960"/>
          </a:xfrm>
          <a:prstGeom prst="rect">
            <a:avLst/>
          </a:prstGeom>
          <a:noFill/>
          <a:ln/>
        </p:spPr>
        <p:txBody>
          <a:bodyPr wrap="square" lIns="25400" tIns="25400" rIns="25400" bIns="25400" rtlCol="0" anchor="t">
            <a:noAutofit/>
          </a:bodyPr>
          <a:lstStyle/>
          <a:p>
            <a:pPr algn="l" indent="0" marL="0">
              <a:buNone/>
            </a:pPr>
            <a:r>
              <a:rPr lang="en-US" sz="2025" dirty="0">
                <a:solidFill>
                  <a:srgbClr val="000000"/>
                </a:solidFill>
                <a:latin typeface="Segoe UI" pitchFamily="34" charset="0"/>
                <a:ea typeface="Segoe UI" pitchFamily="34" charset="-122"/>
                <a:cs typeface="Segoe UI" pitchFamily="34" charset="-120"/>
              </a:rPr>
              <a:t>An agent session belongs to one account; teammates can’t join it. The GitHub repo is the team’s shared workspace.</a:t>
            </a:r>
            <a:endParaRPr lang="en-US" sz="2025" dirty="0"/>
          </a:p>
        </p:txBody>
      </p:sp>
      <p:sp>
        <p:nvSpPr>
          <p:cNvPr id="21" name="Shape 21"/>
          <p:cNvSpPr/>
          <p:nvPr/>
        </p:nvSpPr>
        <p:spPr>
          <a:xfrm>
            <a:off x="1810512" y="2606040"/>
            <a:ext cx="5669280" cy="3520440"/>
          </a:xfrm>
          <a:prstGeom prst="rect">
            <a:avLst/>
          </a:prstGeom>
          <a:solidFill>
            <a:srgbClr val="F2F2F2"/>
          </a:solidFill>
          <a:ln/>
        </p:spPr>
      </p:sp>
      <p:sp>
        <p:nvSpPr>
          <p:cNvPr id="22" name="Text 22"/>
          <p:cNvSpPr txBox="1"/>
          <p:nvPr/>
        </p:nvSpPr>
        <p:spPr>
          <a:xfrm>
            <a:off x="2011680" y="2743200"/>
            <a:ext cx="5303520"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404040"/>
                </a:solidFill>
                <a:latin typeface="Segoe UI" pitchFamily="34" charset="0"/>
                <a:ea typeface="Segoe UI" pitchFamily="34" charset="-122"/>
                <a:cs typeface="Segoe UI" pitchFamily="34" charset="-120"/>
              </a:rPr>
              <a:t>OPTION A</a:t>
            </a:r>
            <a:endParaRPr lang="en-US" sz="1650" dirty="0"/>
          </a:p>
        </p:txBody>
      </p:sp>
      <p:sp>
        <p:nvSpPr>
          <p:cNvPr id="23" name="Text 23"/>
          <p:cNvSpPr txBox="1"/>
          <p:nvPr/>
        </p:nvSpPr>
        <p:spPr>
          <a:xfrm>
            <a:off x="2011680" y="3090672"/>
            <a:ext cx="5303520" cy="438912"/>
          </a:xfrm>
          <a:prstGeom prst="rect">
            <a:avLst/>
          </a:prstGeom>
          <a:noFill/>
          <a:ln/>
        </p:spPr>
        <p:txBody>
          <a:bodyPr wrap="square" lIns="25400" tIns="25400" rIns="25400" bIns="25400" rtlCol="0" anchor="t">
            <a:noAutofit/>
          </a:bodyPr>
          <a:lstStyle/>
          <a:p>
            <a:pPr algn="l" indent="0" marL="0">
              <a:buNone/>
            </a:pPr>
            <a:r>
              <a:rPr lang="en-US" sz="2250" b="1" dirty="0">
                <a:solidFill>
                  <a:srgbClr val="152A47"/>
                </a:solidFill>
                <a:latin typeface="Segoe UI" pitchFamily="34" charset="0"/>
                <a:ea typeface="Segoe UI" pitchFamily="34" charset="-122"/>
                <a:cs typeface="Segoe UI" pitchFamily="34" charset="-120"/>
              </a:rPr>
              <a:t>One driver</a:t>
            </a:r>
            <a:endParaRPr lang="en-US" sz="2250" dirty="0"/>
          </a:p>
        </p:txBody>
      </p:sp>
      <p:sp>
        <p:nvSpPr>
          <p:cNvPr id="24" name="Text 24"/>
          <p:cNvSpPr txBox="1"/>
          <p:nvPr/>
        </p:nvSpPr>
        <p:spPr>
          <a:xfrm>
            <a:off x="2011680" y="3657600"/>
            <a:ext cx="5303520" cy="2377440"/>
          </a:xfrm>
          <a:prstGeom prst="rect">
            <a:avLst/>
          </a:prstGeom>
          <a:noFill/>
          <a:ln/>
        </p:spPr>
        <p:txBody>
          <a:bodyPr wrap="square" lIns="25400" tIns="25400" rIns="25400" bIns="25400" rtlCol="0" anchor="t">
            <a:noAutofit/>
          </a:bodyPr>
          <a:lstStyle/>
          <a:p>
            <a:pPr algn="l" indent="0" marL="0">
              <a:spcAft>
                <a:spcPts val="800"/>
              </a:spcAft>
              <a:buNone/>
            </a:pPr>
            <a:r>
              <a:rPr lang="en-US" sz="1800" dirty="0">
                <a:solidFill>
                  <a:srgbClr val="000000"/>
                </a:solidFill>
                <a:latin typeface="Segoe UI" pitchFamily="34" charset="0"/>
                <a:ea typeface="Segoe UI" pitchFamily="34" charset="-122"/>
                <a:cs typeface="Segoe UI" pitchFamily="34" charset="-120"/>
              </a:rPr>
              <a:t>One cadet with agent access runs the sessions.</a:t>
            </a:r>
            <a:endParaRPr lang="en-US" sz="1800" dirty="0"/>
          </a:p>
          <a:p>
            <a:pPr algn="l" indent="0" marL="0">
              <a:spcAft>
                <a:spcPts val="800"/>
              </a:spcAft>
              <a:buNone/>
            </a:pPr>
            <a:r>
              <a:rPr lang="en-US" sz="1800" dirty="0">
                <a:solidFill>
                  <a:srgbClr val="000000"/>
                </a:solidFill>
                <a:latin typeface="Segoe UI" pitchFamily="34" charset="0"/>
                <a:ea typeface="Segoe UI" pitchFamily="34" charset="-122"/>
                <a:cs typeface="Segoe UI" pitchFamily="34" charset="-120"/>
              </a:rPr>
              <a:t>The others review plans and PRs, and test.</a:t>
            </a:r>
            <a:endParaRPr lang="en-US" sz="1800" dirty="0"/>
          </a:p>
          <a:p>
            <a:pPr algn="l" indent="0" marL="0">
              <a:spcAft>
                <a:spcPts val="800"/>
              </a:spcAft>
              <a:buNone/>
            </a:pPr>
            <a:r>
              <a:rPr lang="en-US" sz="1800" dirty="0">
                <a:solidFill>
                  <a:srgbClr val="000000"/>
                </a:solidFill>
                <a:latin typeface="Segoe UI" pitchFamily="34" charset="0"/>
                <a:ea typeface="Segoe UI" pitchFamily="34" charset="-122"/>
                <a:cs typeface="Segoe UI" pitchFamily="34" charset="-120"/>
              </a:rPr>
              <a:t>Rotate the driver each requirement.</a:t>
            </a:r>
            <a:endParaRPr lang="en-US" sz="1800" dirty="0"/>
          </a:p>
        </p:txBody>
      </p:sp>
      <p:sp>
        <p:nvSpPr>
          <p:cNvPr id="25" name="Shape 25"/>
          <p:cNvSpPr/>
          <p:nvPr/>
        </p:nvSpPr>
        <p:spPr>
          <a:xfrm>
            <a:off x="7818120" y="2606040"/>
            <a:ext cx="5669280" cy="3520440"/>
          </a:xfrm>
          <a:prstGeom prst="rect">
            <a:avLst/>
          </a:prstGeom>
          <a:solidFill>
            <a:srgbClr val="F2F2F2"/>
          </a:solidFill>
          <a:ln/>
        </p:spPr>
      </p:sp>
      <p:sp>
        <p:nvSpPr>
          <p:cNvPr id="26" name="Text 26"/>
          <p:cNvSpPr txBox="1"/>
          <p:nvPr/>
        </p:nvSpPr>
        <p:spPr>
          <a:xfrm>
            <a:off x="8019288" y="2743200"/>
            <a:ext cx="5303520"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404040"/>
                </a:solidFill>
                <a:latin typeface="Segoe UI" pitchFamily="34" charset="0"/>
                <a:ea typeface="Segoe UI" pitchFamily="34" charset="-122"/>
                <a:cs typeface="Segoe UI" pitchFamily="34" charset="-120"/>
              </a:rPr>
              <a:t>OPTION B</a:t>
            </a:r>
            <a:endParaRPr lang="en-US" sz="1650" dirty="0"/>
          </a:p>
        </p:txBody>
      </p:sp>
      <p:sp>
        <p:nvSpPr>
          <p:cNvPr id="27" name="Text 27"/>
          <p:cNvSpPr txBox="1"/>
          <p:nvPr/>
        </p:nvSpPr>
        <p:spPr>
          <a:xfrm>
            <a:off x="8019288" y="3090672"/>
            <a:ext cx="5303520" cy="438912"/>
          </a:xfrm>
          <a:prstGeom prst="rect">
            <a:avLst/>
          </a:prstGeom>
          <a:noFill/>
          <a:ln/>
        </p:spPr>
        <p:txBody>
          <a:bodyPr wrap="square" lIns="25400" tIns="25400" rIns="25400" bIns="25400" rtlCol="0" anchor="t">
            <a:noAutofit/>
          </a:bodyPr>
          <a:lstStyle/>
          <a:p>
            <a:pPr algn="l" indent="0" marL="0">
              <a:buNone/>
            </a:pPr>
            <a:r>
              <a:rPr lang="en-US" sz="2250" b="1" dirty="0">
                <a:solidFill>
                  <a:srgbClr val="152A47"/>
                </a:solidFill>
                <a:latin typeface="Segoe UI" pitchFamily="34" charset="0"/>
                <a:ea typeface="Segoe UI" pitchFamily="34" charset="-122"/>
                <a:cs typeface="Segoe UI" pitchFamily="34" charset="-120"/>
              </a:rPr>
              <a:t>Parallel drivers</a:t>
            </a:r>
            <a:endParaRPr lang="en-US" sz="2250" dirty="0"/>
          </a:p>
        </p:txBody>
      </p:sp>
      <p:sp>
        <p:nvSpPr>
          <p:cNvPr id="28" name="Text 28"/>
          <p:cNvSpPr txBox="1"/>
          <p:nvPr/>
        </p:nvSpPr>
        <p:spPr>
          <a:xfrm>
            <a:off x="8019288" y="3657600"/>
            <a:ext cx="5303520" cy="2377440"/>
          </a:xfrm>
          <a:prstGeom prst="rect">
            <a:avLst/>
          </a:prstGeom>
          <a:noFill/>
          <a:ln/>
        </p:spPr>
        <p:txBody>
          <a:bodyPr wrap="square" lIns="25400" tIns="25400" rIns="25400" bIns="25400" rtlCol="0" anchor="t">
            <a:noAutofit/>
          </a:bodyPr>
          <a:lstStyle/>
          <a:p>
            <a:pPr algn="l" indent="0" marL="0">
              <a:spcAft>
                <a:spcPts val="800"/>
              </a:spcAft>
              <a:buNone/>
            </a:pPr>
            <a:r>
              <a:rPr lang="en-US" sz="1800" dirty="0">
                <a:solidFill>
                  <a:srgbClr val="000000"/>
                </a:solidFill>
                <a:latin typeface="Segoe UI" pitchFamily="34" charset="0"/>
                <a:ea typeface="Segoe UI" pitchFamily="34" charset="-122"/>
                <a:cs typeface="Segoe UI" pitchFamily="34" charset="-120"/>
              </a:rPr>
              <a:t>Each cadet runs sessions on their own requirement and branch.</a:t>
            </a:r>
            <a:endParaRPr lang="en-US" sz="1800" dirty="0"/>
          </a:p>
          <a:p>
            <a:pPr algn="l" indent="0" marL="0">
              <a:spcAft>
                <a:spcPts val="800"/>
              </a:spcAft>
              <a:buNone/>
            </a:pPr>
            <a:r>
              <a:rPr lang="en-US" sz="1800" dirty="0">
                <a:solidFill>
                  <a:srgbClr val="000000"/>
                </a:solidFill>
                <a:latin typeface="Segoe UI" pitchFamily="34" charset="0"/>
                <a:ea typeface="Segoe UI" pitchFamily="34" charset="-122"/>
                <a:cs typeface="Segoe UI" pitchFamily="34" charset="-120"/>
              </a:rPr>
              <a:t>Merge through PRs.</a:t>
            </a:r>
            <a:endParaRPr lang="en-US" sz="1800" dirty="0"/>
          </a:p>
          <a:p>
            <a:pPr algn="l" indent="0" marL="0">
              <a:spcAft>
                <a:spcPts val="800"/>
              </a:spcAft>
              <a:buNone/>
            </a:pPr>
            <a:r>
              <a:rPr lang="en-US" sz="1800" dirty="0">
                <a:solidFill>
                  <a:srgbClr val="000000"/>
                </a:solidFill>
                <a:latin typeface="Segoe UI" pitchFamily="34" charset="0"/>
                <a:ea typeface="Segoe UI" pitchFamily="34" charset="-122"/>
                <a:cs typeface="Segoe UI" pitchFamily="34" charset="-120"/>
              </a:rPr>
              <a:t>Don’t let two sessions edit the same function.</a:t>
            </a:r>
            <a:endParaRPr lang="en-US" sz="1800" dirty="0"/>
          </a:p>
        </p:txBody>
      </p:sp>
      <p:sp>
        <p:nvSpPr>
          <p:cNvPr id="29" name="Shape 29"/>
          <p:cNvSpPr/>
          <p:nvPr/>
        </p:nvSpPr>
        <p:spPr>
          <a:xfrm>
            <a:off x="1810512" y="6355080"/>
            <a:ext cx="11676888" cy="1371600"/>
          </a:xfrm>
          <a:prstGeom prst="rect">
            <a:avLst/>
          </a:prstGeom>
          <a:solidFill>
            <a:srgbClr val="152A47"/>
          </a:solidFill>
          <a:ln/>
        </p:spPr>
      </p:sp>
      <p:sp>
        <p:nvSpPr>
          <p:cNvPr id="30" name="Text 30"/>
          <p:cNvSpPr txBox="1"/>
          <p:nvPr/>
        </p:nvSpPr>
        <p:spPr>
          <a:xfrm>
            <a:off x="2057400" y="6355080"/>
            <a:ext cx="11247120" cy="1371600"/>
          </a:xfrm>
          <a:prstGeom prst="rect">
            <a:avLst/>
          </a:prstGeom>
          <a:noFill/>
          <a:ln/>
        </p:spPr>
        <p:txBody>
          <a:bodyPr wrap="square" lIns="25400" tIns="25400" rIns="25400" bIns="25400" rtlCol="0" anchor="ctr">
            <a:noAutofit/>
          </a:bodyPr>
          <a:lstStyle/>
          <a:p>
            <a:pPr algn="l" indent="0" marL="0">
              <a:spcAft>
                <a:spcPts val="600"/>
              </a:spcAft>
              <a:buNone/>
            </a:pPr>
            <a:r>
              <a:rPr lang="en-US" sz="1875" b="1" dirty="0">
                <a:solidFill>
                  <a:srgbClr val="FFFFFF"/>
                </a:solidFill>
                <a:latin typeface="Segoe UI" pitchFamily="34" charset="0"/>
                <a:ea typeface="Segoe UI" pitchFamily="34" charset="-122"/>
                <a:cs typeface="Segoe UI" pitchFamily="34" charset="-120"/>
              </a:rPr>
              <a:t>Grade the process:</a:t>
            </a:r>
            <a:r>
              <a:rPr lang="en-US" sz="1875" dirty="0">
                <a:solidFill>
                  <a:srgbClr val="FFFFFF"/>
                </a:solidFill>
                <a:latin typeface="Segoe UI" pitchFamily="34" charset="0"/>
                <a:ea typeface="Segoe UI" pitchFamily="34" charset="-122"/>
                <a:cs typeface="Segoe UI" pitchFamily="34" charset="-120"/>
              </a:rPr>
              <a:t xml:space="preserve"> requirement, plan, PR review, test evidence, AI_LOG.md.</a:t>
            </a:r>
            <a:endParaRPr lang="en-US" sz="1875" dirty="0"/>
          </a:p>
          <a:p>
            <a:pPr algn="l" indent="0" marL="0">
              <a:spcAft>
                <a:spcPts val="600"/>
              </a:spcAft>
              <a:buNone/>
            </a:pPr>
            <a:r>
              <a:rPr lang="en-US" sz="1875" dirty="0">
                <a:solidFill>
                  <a:srgbClr val="FFFFFF"/>
                </a:solidFill>
                <a:latin typeface="Segoe UI" pitchFamily="34" charset="0"/>
                <a:ea typeface="Segoe UI" pitchFamily="34" charset="-122"/>
                <a:cs typeface="Segoe UI" pitchFamily="34" charset="-120"/>
              </a:rPr>
              <a:t>Add every teammate as a repo collaborator. Never share agent account logins.</a:t>
            </a:r>
            <a:endParaRPr lang="en-US" sz="1875"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3"/>
          <p:cNvSpPr/>
          <p:nvPr/>
        </p:nvSpPr>
        <p:spPr>
          <a:xfrm>
            <a:off x="0" y="0"/>
            <a:ext cx="1543050" cy="10287000"/>
          </a:xfrm>
          <a:prstGeom prst="rect">
            <a:avLst/>
          </a:prstGeom>
          <a:solidFill>
            <a:srgbClr val="E6E6E6"/>
          </a:solidFill>
          <a:ln/>
        </p:spPr>
      </p:sp>
      <p:pic>
        <p:nvPicPr>
          <p:cNvPr id="3" name="Picture 1" descr="image.png"/>
          <p:cNvPicPr>
            <a:picLocks noChangeAspect="1"/>
          </p:cNvPicPr>
          <p:nvPr/>
        </p:nvPicPr>
        <p:blipFill>
          <a:blip r:embed="rId2"/>
          <a:stretch>
            <a:fillRect/>
          </a:stretch>
        </p:blipFill>
        <p:spPr>
          <a:xfrm>
            <a:off x="200025" y="133350"/>
            <a:ext cx="1143000" cy="1143000"/>
          </a:xfrm>
          <a:prstGeom prst="rect">
            <a:avLst/>
          </a:prstGeom>
        </p:spPr>
      </p:pic>
      <p:sp>
        <p:nvSpPr>
          <p:cNvPr id="4" name="Text 4"/>
          <p:cNvSpPr txBox="1"/>
          <p:nvPr/>
        </p:nvSpPr>
        <p:spPr>
          <a:xfrm>
            <a:off x="133350" y="238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5"/>
          <p:cNvSpPr txBox="1"/>
          <p:nvPr/>
        </p:nvSpPr>
        <p:spPr>
          <a:xfrm>
            <a:off x="133350" y="2762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6"/>
          <p:cNvSpPr txBox="1"/>
          <p:nvPr/>
        </p:nvSpPr>
        <p:spPr>
          <a:xfrm>
            <a:off x="133350" y="3143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Specify</a:t>
            </a:r>
            <a:endParaRPr lang="en-US" sz="1800" dirty="0"/>
          </a:p>
        </p:txBody>
      </p:sp>
      <p:sp>
        <p:nvSpPr>
          <p:cNvPr id="7" name="Text 7"/>
          <p:cNvSpPr txBox="1"/>
          <p:nvPr/>
        </p:nvSpPr>
        <p:spPr>
          <a:xfrm>
            <a:off x="133350" y="3524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8" name="Text 8"/>
          <p:cNvSpPr txBox="1"/>
          <p:nvPr/>
        </p:nvSpPr>
        <p:spPr>
          <a:xfrm>
            <a:off x="133350" y="3905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Generate</a:t>
            </a:r>
            <a:endParaRPr lang="en-US" sz="1800" dirty="0"/>
          </a:p>
        </p:txBody>
      </p:sp>
      <p:sp>
        <p:nvSpPr>
          <p:cNvPr id="9" name="Text 9"/>
          <p:cNvSpPr txBox="1"/>
          <p:nvPr/>
        </p:nvSpPr>
        <p:spPr>
          <a:xfrm>
            <a:off x="133350" y="4286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Adjudicate</a:t>
            </a:r>
            <a:endParaRPr lang="en-US" sz="1800" dirty="0"/>
          </a:p>
        </p:txBody>
      </p:sp>
      <p:sp>
        <p:nvSpPr>
          <p:cNvPr id="10" name="Text 10"/>
          <p:cNvSpPr txBox="1"/>
          <p:nvPr/>
        </p:nvSpPr>
        <p:spPr>
          <a:xfrm>
            <a:off x="133350" y="4667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Pitfalls</a:t>
            </a:r>
            <a:endParaRPr lang="en-US" sz="1800" dirty="0"/>
          </a:p>
        </p:txBody>
      </p:sp>
      <p:sp>
        <p:nvSpPr>
          <p:cNvPr id="11" name="Text 11"/>
          <p:cNvSpPr txBox="1"/>
          <p:nvPr/>
        </p:nvSpPr>
        <p:spPr>
          <a:xfrm>
            <a:off x="133350" y="5048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GenAI Use</a:t>
            </a:r>
            <a:endParaRPr lang="en-US" sz="1800" dirty="0"/>
          </a:p>
        </p:txBody>
      </p:sp>
      <p:sp>
        <p:nvSpPr>
          <p:cNvPr id="12" name="Text 12"/>
          <p:cNvSpPr txBox="1"/>
          <p:nvPr/>
        </p:nvSpPr>
        <p:spPr>
          <a:xfrm>
            <a:off x="133350" y="5429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Your Repo</a:t>
            </a:r>
            <a:endParaRPr lang="en-US" sz="1800" dirty="0"/>
          </a:p>
        </p:txBody>
      </p:sp>
      <p:sp>
        <p:nvSpPr>
          <p:cNvPr id="13" name="Text 13"/>
          <p:cNvSpPr txBox="1"/>
          <p:nvPr/>
        </p:nvSpPr>
        <p:spPr>
          <a:xfrm>
            <a:off x="133350" y="5810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Teaching</a:t>
            </a:r>
            <a:endParaRPr lang="en-US" sz="1800" dirty="0"/>
          </a:p>
        </p:txBody>
      </p:sp>
      <p:sp>
        <p:nvSpPr>
          <p:cNvPr id="14" name="Text 14"/>
          <p:cNvSpPr txBox="1"/>
          <p:nvPr/>
        </p:nvSpPr>
        <p:spPr>
          <a:xfrm>
            <a:off x="133350" y="619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Review</a:t>
            </a:r>
            <a:endParaRPr lang="en-US" sz="1800" dirty="0"/>
          </a:p>
        </p:txBody>
      </p:sp>
      <p:sp>
        <p:nvSpPr>
          <p:cNvPr id="15" name="Text 15"/>
          <p:cNvSpPr txBox="1"/>
          <p:nvPr/>
        </p:nvSpPr>
        <p:spPr>
          <a:xfrm>
            <a:off x="1657350" y="200025"/>
            <a:ext cx="10988040" cy="1057275"/>
          </a:xfrm>
          <a:prstGeom prst="rect">
            <a:avLst/>
          </a:prstGeom>
          <a:noFill/>
          <a:ln/>
        </p:spPr>
        <p:txBody>
          <a:bodyPr wrap="square" lIns="25400" tIns="25400" rIns="25400" bIns="25400" rtlCol="0" anchor="ctr">
            <a:no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Troubleshooting</a:t>
            </a:r>
            <a:endParaRPr lang="en-US" sz="4800" dirty="0"/>
          </a:p>
        </p:txBody>
      </p:sp>
      <p:sp>
        <p:nvSpPr>
          <p:cNvPr id="16" name="Text 16"/>
          <p:cNvSpPr txBox="1"/>
          <p:nvPr/>
        </p:nvSpPr>
        <p:spPr>
          <a:xfrm>
            <a:off x="12515950" y="133350"/>
            <a:ext cx="1142901" cy="393700"/>
          </a:xfrm>
          <a:prstGeom prst="rect">
            <a:avLst/>
          </a:prstGeom>
          <a:noFill/>
          <a:ln/>
        </p:spPr>
        <p:txBody>
          <a:bodyPr wrap="non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2</a:t>
            </a:r>
            <a:endParaRPr lang="en-US" sz="2100" dirty="0"/>
          </a:p>
        </p:txBody>
      </p:sp>
      <p:sp>
        <p:nvSpPr>
          <p:cNvPr id="17" name="Shape 17"/>
          <p:cNvSpPr/>
          <p:nvPr/>
        </p:nvSpPr>
        <p:spPr>
          <a:xfrm>
            <a:off x="1657350" y="1219200"/>
            <a:ext cx="11925300" cy="66675"/>
          </a:xfrm>
          <a:prstGeom prst="rect">
            <a:avLst/>
          </a:prstGeom>
          <a:solidFill>
            <a:srgbClr val="000000"/>
          </a:solidFill>
          <a:ln/>
        </p:spPr>
      </p:sp>
      <p:sp>
        <p:nvSpPr>
          <p:cNvPr id="18" name="Text 18"/>
          <p:cNvSpPr txBox="1"/>
          <p:nvPr/>
        </p:nvSpPr>
        <p:spPr>
          <a:xfrm>
            <a:off x="1054418" y="9810750"/>
            <a:ext cx="13264515" cy="342900"/>
          </a:xfrm>
          <a:prstGeom prst="rect">
            <a:avLst/>
          </a:prstGeom>
          <a:noFill/>
          <a:ln/>
        </p:spPr>
        <p:txBody>
          <a:bodyPr wrap="square" lIns="25400" tIns="25400" rIns="25400" bIns="25400" rtlCol="0" anchor="t">
            <a:no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2</a:t>
            </a:r>
            <a:endParaRPr lang="en-US" sz="1800" dirty="0"/>
          </a:p>
        </p:txBody>
      </p:sp>
      <p:sp>
        <p:nvSpPr>
          <p:cNvPr id="19" name="Text 19"/>
          <p:cNvSpPr txBox="1"/>
          <p:nvPr/>
        </p:nvSpPr>
        <p:spPr>
          <a:xfrm>
            <a:off x="13336850" y="9810750"/>
            <a:ext cx="322000" cy="342900"/>
          </a:xfrm>
          <a:prstGeom prst="rect">
            <a:avLst/>
          </a:prstGeom>
          <a:noFill/>
          <a:ln/>
        </p:spPr>
        <p:txBody>
          <a:bodyPr wrap="none" lIns="25400" tIns="25400" rIns="25400" bIns="25400" rtlCol="0" anchor="t">
            <a:no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20</a:t>
            </a:r>
            <a:endParaRPr lang="en-US" sz="1800" dirty="0"/>
          </a:p>
        </p:txBody>
      </p:sp>
      <p:sp>
        <p:nvSpPr>
          <p:cNvPr id="20" name="Shape 20"/>
          <p:cNvSpPr/>
          <p:nvPr/>
        </p:nvSpPr>
        <p:spPr>
          <a:xfrm>
            <a:off x="1810512" y="1572768"/>
            <a:ext cx="4572000" cy="612648"/>
          </a:xfrm>
          <a:prstGeom prst="rect">
            <a:avLst/>
          </a:prstGeom>
          <a:solidFill>
            <a:srgbClr val="152A47"/>
          </a:solidFill>
          <a:ln/>
        </p:spPr>
      </p:sp>
      <p:sp>
        <p:nvSpPr>
          <p:cNvPr id="21" name="Text 21"/>
          <p:cNvSpPr txBox="1"/>
          <p:nvPr/>
        </p:nvSpPr>
        <p:spPr>
          <a:xfrm>
            <a:off x="1984248" y="1705356"/>
            <a:ext cx="4343400"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Symptom</a:t>
            </a:r>
            <a:endParaRPr lang="en-US" sz="1800" dirty="0"/>
          </a:p>
        </p:txBody>
      </p:sp>
      <p:sp>
        <p:nvSpPr>
          <p:cNvPr id="22" name="Shape 22"/>
          <p:cNvSpPr/>
          <p:nvPr/>
        </p:nvSpPr>
        <p:spPr>
          <a:xfrm>
            <a:off x="6382512" y="1572768"/>
            <a:ext cx="7104888" cy="612648"/>
          </a:xfrm>
          <a:prstGeom prst="rect">
            <a:avLst/>
          </a:prstGeom>
          <a:solidFill>
            <a:srgbClr val="152A47"/>
          </a:solidFill>
          <a:ln/>
        </p:spPr>
      </p:sp>
      <p:sp>
        <p:nvSpPr>
          <p:cNvPr id="23" name="Text 23"/>
          <p:cNvSpPr txBox="1"/>
          <p:nvPr/>
        </p:nvSpPr>
        <p:spPr>
          <a:xfrm>
            <a:off x="6556248" y="1705356"/>
            <a:ext cx="6876288"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Fix</a:t>
            </a:r>
            <a:endParaRPr lang="en-US" sz="1800" dirty="0"/>
          </a:p>
        </p:txBody>
      </p:sp>
      <p:sp>
        <p:nvSpPr>
          <p:cNvPr id="24" name="Text 24"/>
          <p:cNvSpPr txBox="1"/>
          <p:nvPr/>
        </p:nvSpPr>
        <p:spPr>
          <a:xfrm>
            <a:off x="1984248" y="2304288"/>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Repo missing from the session list</a:t>
            </a:r>
            <a:endParaRPr lang="en-US" sz="1800" dirty="0"/>
          </a:p>
        </p:txBody>
      </p:sp>
      <p:sp>
        <p:nvSpPr>
          <p:cNvPr id="25" name="Shape 25"/>
          <p:cNvSpPr/>
          <p:nvPr/>
        </p:nvSpPr>
        <p:spPr>
          <a:xfrm>
            <a:off x="1810512" y="3054096"/>
            <a:ext cx="4572000" cy="18288"/>
          </a:xfrm>
          <a:prstGeom prst="rect">
            <a:avLst/>
          </a:prstGeom>
          <a:solidFill>
            <a:srgbClr val="BFBFBF"/>
          </a:solidFill>
          <a:ln/>
        </p:spPr>
      </p:sp>
      <p:sp>
        <p:nvSpPr>
          <p:cNvPr id="26" name="Text 26"/>
          <p:cNvSpPr txBox="1"/>
          <p:nvPr/>
        </p:nvSpPr>
        <p:spPr>
          <a:xfrm>
            <a:off x="6556248" y="2304288"/>
            <a:ext cx="687628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Grant the Claude GitHub App access to that repo (GitHub › Settings › Applications).</a:t>
            </a:r>
            <a:endParaRPr lang="en-US" sz="1800" dirty="0"/>
          </a:p>
        </p:txBody>
      </p:sp>
      <p:sp>
        <p:nvSpPr>
          <p:cNvPr id="27" name="Shape 27"/>
          <p:cNvSpPr/>
          <p:nvPr/>
        </p:nvSpPr>
        <p:spPr>
          <a:xfrm>
            <a:off x="6382512" y="3054096"/>
            <a:ext cx="7104888" cy="18288"/>
          </a:xfrm>
          <a:prstGeom prst="rect">
            <a:avLst/>
          </a:prstGeom>
          <a:solidFill>
            <a:srgbClr val="BFBFBF"/>
          </a:solidFill>
          <a:ln/>
        </p:spPr>
      </p:sp>
      <p:sp>
        <p:nvSpPr>
          <p:cNvPr id="28" name="Text 28"/>
          <p:cNvSpPr txBox="1"/>
          <p:nvPr/>
        </p:nvSpPr>
        <p:spPr>
          <a:xfrm>
            <a:off x="1984248" y="3191256"/>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Agent ignores your rules</a:t>
            </a:r>
            <a:endParaRPr lang="en-US" sz="1800" dirty="0"/>
          </a:p>
        </p:txBody>
      </p:sp>
      <p:sp>
        <p:nvSpPr>
          <p:cNvPr id="29" name="Shape 29"/>
          <p:cNvSpPr/>
          <p:nvPr/>
        </p:nvSpPr>
        <p:spPr>
          <a:xfrm>
            <a:off x="1810512" y="3941064"/>
            <a:ext cx="4572000" cy="18288"/>
          </a:xfrm>
          <a:prstGeom prst="rect">
            <a:avLst/>
          </a:prstGeom>
          <a:solidFill>
            <a:srgbClr val="BFBFBF"/>
          </a:solidFill>
          <a:ln/>
        </p:spPr>
      </p:sp>
      <p:sp>
        <p:nvSpPr>
          <p:cNvPr id="30" name="Text 30"/>
          <p:cNvSpPr txBox="1"/>
          <p:nvPr/>
        </p:nvSpPr>
        <p:spPr>
          <a:xfrm>
            <a:off x="6556248" y="3191256"/>
            <a:ext cx="687628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Check CLAUDE.md is at the repo root on the branch the session uses. Shorten it.</a:t>
            </a:r>
            <a:endParaRPr lang="en-US" sz="1800" dirty="0"/>
          </a:p>
        </p:txBody>
      </p:sp>
      <p:sp>
        <p:nvSpPr>
          <p:cNvPr id="31" name="Shape 31"/>
          <p:cNvSpPr/>
          <p:nvPr/>
        </p:nvSpPr>
        <p:spPr>
          <a:xfrm>
            <a:off x="6382512" y="3941064"/>
            <a:ext cx="7104888" cy="18288"/>
          </a:xfrm>
          <a:prstGeom prst="rect">
            <a:avLst/>
          </a:prstGeom>
          <a:solidFill>
            <a:srgbClr val="BFBFBF"/>
          </a:solidFill>
          <a:ln/>
        </p:spPr>
      </p:sp>
      <p:sp>
        <p:nvSpPr>
          <p:cNvPr id="32" name="Text 32"/>
          <p:cNvSpPr txBox="1"/>
          <p:nvPr/>
        </p:nvSpPr>
        <p:spPr>
          <a:xfrm>
            <a:off x="1984248" y="4078224"/>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Agent’s branch not in GitHub Desktop</a:t>
            </a:r>
            <a:endParaRPr lang="en-US" sz="1800" dirty="0"/>
          </a:p>
        </p:txBody>
      </p:sp>
      <p:sp>
        <p:nvSpPr>
          <p:cNvPr id="33" name="Shape 33"/>
          <p:cNvSpPr/>
          <p:nvPr/>
        </p:nvSpPr>
        <p:spPr>
          <a:xfrm>
            <a:off x="1810512" y="4549140"/>
            <a:ext cx="4572000" cy="18288"/>
          </a:xfrm>
          <a:prstGeom prst="rect">
            <a:avLst/>
          </a:prstGeom>
          <a:solidFill>
            <a:srgbClr val="BFBFBF"/>
          </a:solidFill>
          <a:ln/>
        </p:spPr>
      </p:sp>
      <p:sp>
        <p:nvSpPr>
          <p:cNvPr id="34" name="Text 34"/>
          <p:cNvSpPr txBox="1"/>
          <p:nvPr/>
        </p:nvSpPr>
        <p:spPr>
          <a:xfrm>
            <a:off x="6556248" y="4078224"/>
            <a:ext cx="687628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Fetch origin first, then open the Current branch menu.</a:t>
            </a:r>
            <a:endParaRPr lang="en-US" sz="1800" dirty="0"/>
          </a:p>
        </p:txBody>
      </p:sp>
      <p:sp>
        <p:nvSpPr>
          <p:cNvPr id="35" name="Shape 35"/>
          <p:cNvSpPr/>
          <p:nvPr/>
        </p:nvSpPr>
        <p:spPr>
          <a:xfrm>
            <a:off x="6382512" y="4549140"/>
            <a:ext cx="7104888" cy="18288"/>
          </a:xfrm>
          <a:prstGeom prst="rect">
            <a:avLst/>
          </a:prstGeom>
          <a:solidFill>
            <a:srgbClr val="BFBFBF"/>
          </a:solidFill>
          <a:ln/>
        </p:spPr>
      </p:sp>
      <p:sp>
        <p:nvSpPr>
          <p:cNvPr id="36" name="Text 36"/>
          <p:cNvSpPr txBox="1"/>
          <p:nvPr/>
        </p:nvSpPr>
        <p:spPr>
          <a:xfrm>
            <a:off x="1984248" y="4686300"/>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Agent says tests pass</a:t>
            </a:r>
            <a:endParaRPr lang="en-US" sz="1800" dirty="0"/>
          </a:p>
        </p:txBody>
      </p:sp>
      <p:sp>
        <p:nvSpPr>
          <p:cNvPr id="37" name="Shape 37"/>
          <p:cNvSpPr/>
          <p:nvPr/>
        </p:nvSpPr>
        <p:spPr>
          <a:xfrm>
            <a:off x="1810512" y="5157216"/>
            <a:ext cx="4572000" cy="18288"/>
          </a:xfrm>
          <a:prstGeom prst="rect">
            <a:avLst/>
          </a:prstGeom>
          <a:solidFill>
            <a:srgbClr val="BFBFBF"/>
          </a:solidFill>
          <a:ln/>
        </p:spPr>
      </p:sp>
      <p:sp>
        <p:nvSpPr>
          <p:cNvPr id="38" name="Text 38"/>
          <p:cNvSpPr txBox="1"/>
          <p:nvPr/>
        </p:nvSpPr>
        <p:spPr>
          <a:xfrm>
            <a:off x="6556248" y="4686300"/>
            <a:ext cx="687628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It can’t run MATLAB. Run runtests('tests') yourself.</a:t>
            </a:r>
            <a:endParaRPr lang="en-US" sz="1800" dirty="0"/>
          </a:p>
        </p:txBody>
      </p:sp>
      <p:sp>
        <p:nvSpPr>
          <p:cNvPr id="39" name="Shape 39"/>
          <p:cNvSpPr/>
          <p:nvPr/>
        </p:nvSpPr>
        <p:spPr>
          <a:xfrm>
            <a:off x="6382512" y="5157216"/>
            <a:ext cx="7104888" cy="18288"/>
          </a:xfrm>
          <a:prstGeom prst="rect">
            <a:avLst/>
          </a:prstGeom>
          <a:solidFill>
            <a:srgbClr val="BFBFBF"/>
          </a:solidFill>
          <a:ln/>
        </p:spPr>
      </p:sp>
      <p:sp>
        <p:nvSpPr>
          <p:cNvPr id="40" name="Text 40"/>
          <p:cNvSpPr txBox="1"/>
          <p:nvPr/>
        </p:nvSpPr>
        <p:spPr>
          <a:xfrm>
            <a:off x="1984248" y="5294376"/>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PR changes lines you didn’t ask for</a:t>
            </a:r>
            <a:endParaRPr lang="en-US" sz="1800" dirty="0"/>
          </a:p>
        </p:txBody>
      </p:sp>
      <p:sp>
        <p:nvSpPr>
          <p:cNvPr id="41" name="Shape 41"/>
          <p:cNvSpPr/>
          <p:nvPr/>
        </p:nvSpPr>
        <p:spPr>
          <a:xfrm>
            <a:off x="1810512" y="6044184"/>
            <a:ext cx="4572000" cy="18288"/>
          </a:xfrm>
          <a:prstGeom prst="rect">
            <a:avLst/>
          </a:prstGeom>
          <a:solidFill>
            <a:srgbClr val="BFBFBF"/>
          </a:solidFill>
          <a:ln/>
        </p:spPr>
      </p:sp>
      <p:sp>
        <p:nvSpPr>
          <p:cNvPr id="42" name="Text 42"/>
          <p:cNvSpPr txBox="1"/>
          <p:nvPr/>
        </p:nvSpPr>
        <p:spPr>
          <a:xfrm>
            <a:off x="6556248" y="5294376"/>
            <a:ext cx="687628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Comment on those lines in the PR, or ask the agent to revert them.</a:t>
            </a:r>
            <a:endParaRPr lang="en-US" sz="1800" dirty="0"/>
          </a:p>
        </p:txBody>
      </p:sp>
      <p:sp>
        <p:nvSpPr>
          <p:cNvPr id="43" name="Shape 43"/>
          <p:cNvSpPr/>
          <p:nvPr/>
        </p:nvSpPr>
        <p:spPr>
          <a:xfrm>
            <a:off x="6382512" y="6044184"/>
            <a:ext cx="7104888" cy="18288"/>
          </a:xfrm>
          <a:prstGeom prst="rect">
            <a:avLst/>
          </a:prstGeom>
          <a:solidFill>
            <a:srgbClr val="BFBFBF"/>
          </a:solidFill>
          <a:ln/>
        </p:spPr>
      </p:sp>
      <p:sp>
        <p:nvSpPr>
          <p:cNvPr id="44" name="Text 44"/>
          <p:cNvSpPr txBox="1"/>
          <p:nvPr/>
        </p:nvSpPr>
        <p:spPr>
          <a:xfrm>
            <a:off x="1984248" y="6181344"/>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Answers drift in a long session</a:t>
            </a:r>
            <a:endParaRPr lang="en-US" sz="1800" dirty="0"/>
          </a:p>
        </p:txBody>
      </p:sp>
      <p:sp>
        <p:nvSpPr>
          <p:cNvPr id="45" name="Shape 45"/>
          <p:cNvSpPr/>
          <p:nvPr/>
        </p:nvSpPr>
        <p:spPr>
          <a:xfrm>
            <a:off x="1810512" y="6652260"/>
            <a:ext cx="4572000" cy="18288"/>
          </a:xfrm>
          <a:prstGeom prst="rect">
            <a:avLst/>
          </a:prstGeom>
          <a:solidFill>
            <a:srgbClr val="BFBFBF"/>
          </a:solidFill>
          <a:ln/>
        </p:spPr>
      </p:sp>
      <p:sp>
        <p:nvSpPr>
          <p:cNvPr id="46" name="Text 46"/>
          <p:cNvSpPr txBox="1"/>
          <p:nvPr/>
        </p:nvSpPr>
        <p:spPr>
          <a:xfrm>
            <a:off x="6556248" y="6181344"/>
            <a:ext cx="687628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Merge what works, then start a new session per requirement.</a:t>
            </a:r>
            <a:endParaRPr lang="en-US" sz="1800" dirty="0"/>
          </a:p>
        </p:txBody>
      </p:sp>
      <p:sp>
        <p:nvSpPr>
          <p:cNvPr id="47" name="Shape 47"/>
          <p:cNvSpPr/>
          <p:nvPr/>
        </p:nvSpPr>
        <p:spPr>
          <a:xfrm>
            <a:off x="6382512" y="6652260"/>
            <a:ext cx="7104888" cy="18288"/>
          </a:xfrm>
          <a:prstGeom prst="rect">
            <a:avLst/>
          </a:prstGeom>
          <a:solidFill>
            <a:srgbClr val="BFBFBF"/>
          </a:solidFill>
          <a:ln/>
        </p:spPr>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3"/>
          <p:cNvSpPr/>
          <p:nvPr/>
        </p:nvSpPr>
        <p:spPr>
          <a:xfrm>
            <a:off x="0" y="0"/>
            <a:ext cx="1543050" cy="10287000"/>
          </a:xfrm>
          <a:prstGeom prst="rect">
            <a:avLst/>
          </a:prstGeom>
          <a:solidFill>
            <a:srgbClr val="E6E6E6"/>
          </a:solidFill>
          <a:ln/>
        </p:spPr>
      </p:sp>
      <p:pic>
        <p:nvPicPr>
          <p:cNvPr id="3" name="Picture 1" descr="image.png"/>
          <p:cNvPicPr>
            <a:picLocks noChangeAspect="1"/>
          </p:cNvPicPr>
          <p:nvPr/>
        </p:nvPicPr>
        <p:blipFill>
          <a:blip r:embed="rId2"/>
          <a:stretch>
            <a:fillRect/>
          </a:stretch>
        </p:blipFill>
        <p:spPr>
          <a:xfrm>
            <a:off x="200025" y="133350"/>
            <a:ext cx="1143000" cy="1143000"/>
          </a:xfrm>
          <a:prstGeom prst="rect">
            <a:avLst/>
          </a:prstGeom>
        </p:spPr>
      </p:pic>
      <p:sp>
        <p:nvSpPr>
          <p:cNvPr id="4" name="Text 4"/>
          <p:cNvSpPr txBox="1"/>
          <p:nvPr/>
        </p:nvSpPr>
        <p:spPr>
          <a:xfrm>
            <a:off x="133350" y="238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5"/>
          <p:cNvSpPr txBox="1"/>
          <p:nvPr/>
        </p:nvSpPr>
        <p:spPr>
          <a:xfrm>
            <a:off x="133350" y="2762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6"/>
          <p:cNvSpPr txBox="1"/>
          <p:nvPr/>
        </p:nvSpPr>
        <p:spPr>
          <a:xfrm>
            <a:off x="133350" y="3143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Specify</a:t>
            </a:r>
            <a:endParaRPr lang="en-US" sz="1800" dirty="0"/>
          </a:p>
        </p:txBody>
      </p:sp>
      <p:sp>
        <p:nvSpPr>
          <p:cNvPr id="7" name="Text 7"/>
          <p:cNvSpPr txBox="1"/>
          <p:nvPr/>
        </p:nvSpPr>
        <p:spPr>
          <a:xfrm>
            <a:off x="133350" y="3524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8" name="Text 8"/>
          <p:cNvSpPr txBox="1"/>
          <p:nvPr/>
        </p:nvSpPr>
        <p:spPr>
          <a:xfrm>
            <a:off x="133350" y="3905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Generate</a:t>
            </a:r>
            <a:endParaRPr lang="en-US" sz="1800" dirty="0"/>
          </a:p>
        </p:txBody>
      </p:sp>
      <p:sp>
        <p:nvSpPr>
          <p:cNvPr id="9" name="Text 9"/>
          <p:cNvSpPr txBox="1"/>
          <p:nvPr/>
        </p:nvSpPr>
        <p:spPr>
          <a:xfrm>
            <a:off x="133350" y="4286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Adjudicate</a:t>
            </a:r>
            <a:endParaRPr lang="en-US" sz="1800" dirty="0"/>
          </a:p>
        </p:txBody>
      </p:sp>
      <p:sp>
        <p:nvSpPr>
          <p:cNvPr id="10" name="Text 10"/>
          <p:cNvSpPr txBox="1"/>
          <p:nvPr/>
        </p:nvSpPr>
        <p:spPr>
          <a:xfrm>
            <a:off x="133350" y="4667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Pitfalls</a:t>
            </a:r>
            <a:endParaRPr lang="en-US" sz="1800" dirty="0"/>
          </a:p>
        </p:txBody>
      </p:sp>
      <p:sp>
        <p:nvSpPr>
          <p:cNvPr id="11" name="Text 11"/>
          <p:cNvSpPr txBox="1"/>
          <p:nvPr/>
        </p:nvSpPr>
        <p:spPr>
          <a:xfrm>
            <a:off x="133350" y="5048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GenAI Use</a:t>
            </a:r>
            <a:endParaRPr lang="en-US" sz="1800" dirty="0"/>
          </a:p>
        </p:txBody>
      </p:sp>
      <p:sp>
        <p:nvSpPr>
          <p:cNvPr id="12" name="Text 12"/>
          <p:cNvSpPr txBox="1"/>
          <p:nvPr/>
        </p:nvSpPr>
        <p:spPr>
          <a:xfrm>
            <a:off x="133350" y="5429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Your Repo</a:t>
            </a:r>
            <a:endParaRPr lang="en-US" sz="1800" dirty="0"/>
          </a:p>
        </p:txBody>
      </p:sp>
      <p:sp>
        <p:nvSpPr>
          <p:cNvPr id="13" name="Text 13"/>
          <p:cNvSpPr txBox="1"/>
          <p:nvPr/>
        </p:nvSpPr>
        <p:spPr>
          <a:xfrm>
            <a:off x="133350" y="5810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Teaching</a:t>
            </a:r>
            <a:endParaRPr lang="en-US" sz="1800" dirty="0"/>
          </a:p>
        </p:txBody>
      </p:sp>
      <p:sp>
        <p:nvSpPr>
          <p:cNvPr id="14" name="Text 14"/>
          <p:cNvSpPr txBox="1"/>
          <p:nvPr/>
        </p:nvSpPr>
        <p:spPr>
          <a:xfrm>
            <a:off x="133350" y="619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Review</a:t>
            </a:r>
            <a:endParaRPr lang="en-US" sz="1800" dirty="0"/>
          </a:p>
        </p:txBody>
      </p:sp>
      <p:sp>
        <p:nvSpPr>
          <p:cNvPr id="15" name="Text 15"/>
          <p:cNvSpPr txBox="1"/>
          <p:nvPr/>
        </p:nvSpPr>
        <p:spPr>
          <a:xfrm>
            <a:off x="1657350" y="200025"/>
            <a:ext cx="10988040" cy="1057275"/>
          </a:xfrm>
          <a:prstGeom prst="rect">
            <a:avLst/>
          </a:prstGeom>
          <a:noFill/>
          <a:ln/>
        </p:spPr>
        <p:txBody>
          <a:bodyPr wrap="square" lIns="25400" tIns="25400" rIns="25400" bIns="25400" rtlCol="0" anchor="ctr">
            <a:no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Quick Reference</a:t>
            </a:r>
            <a:endParaRPr lang="en-US" sz="4800" dirty="0"/>
          </a:p>
        </p:txBody>
      </p:sp>
      <p:sp>
        <p:nvSpPr>
          <p:cNvPr id="16" name="Text 16"/>
          <p:cNvSpPr txBox="1"/>
          <p:nvPr/>
        </p:nvSpPr>
        <p:spPr>
          <a:xfrm>
            <a:off x="12515950" y="133350"/>
            <a:ext cx="1142901" cy="393700"/>
          </a:xfrm>
          <a:prstGeom prst="rect">
            <a:avLst/>
          </a:prstGeom>
          <a:noFill/>
          <a:ln/>
        </p:spPr>
        <p:txBody>
          <a:bodyPr wrap="non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2</a:t>
            </a:r>
            <a:endParaRPr lang="en-US" sz="2100" dirty="0"/>
          </a:p>
        </p:txBody>
      </p:sp>
      <p:sp>
        <p:nvSpPr>
          <p:cNvPr id="17" name="Shape 17"/>
          <p:cNvSpPr/>
          <p:nvPr/>
        </p:nvSpPr>
        <p:spPr>
          <a:xfrm>
            <a:off x="1657350" y="1219200"/>
            <a:ext cx="11925300" cy="66675"/>
          </a:xfrm>
          <a:prstGeom prst="rect">
            <a:avLst/>
          </a:prstGeom>
          <a:solidFill>
            <a:srgbClr val="000000"/>
          </a:solidFill>
          <a:ln/>
        </p:spPr>
      </p:sp>
      <p:sp>
        <p:nvSpPr>
          <p:cNvPr id="18" name="Text 18"/>
          <p:cNvSpPr txBox="1"/>
          <p:nvPr/>
        </p:nvSpPr>
        <p:spPr>
          <a:xfrm>
            <a:off x="1054418" y="9810750"/>
            <a:ext cx="13264515" cy="342900"/>
          </a:xfrm>
          <a:prstGeom prst="rect">
            <a:avLst/>
          </a:prstGeom>
          <a:noFill/>
          <a:ln/>
        </p:spPr>
        <p:txBody>
          <a:bodyPr wrap="square" lIns="25400" tIns="25400" rIns="25400" bIns="25400" rtlCol="0" anchor="t">
            <a:no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2</a:t>
            </a:r>
            <a:endParaRPr lang="en-US" sz="1800" dirty="0"/>
          </a:p>
        </p:txBody>
      </p:sp>
      <p:sp>
        <p:nvSpPr>
          <p:cNvPr id="19" name="Text 19"/>
          <p:cNvSpPr txBox="1"/>
          <p:nvPr/>
        </p:nvSpPr>
        <p:spPr>
          <a:xfrm>
            <a:off x="13336850" y="9810750"/>
            <a:ext cx="322000" cy="342900"/>
          </a:xfrm>
          <a:prstGeom prst="rect">
            <a:avLst/>
          </a:prstGeom>
          <a:noFill/>
          <a:ln/>
        </p:spPr>
        <p:txBody>
          <a:bodyPr wrap="none" lIns="25400" tIns="25400" rIns="25400" bIns="25400" rtlCol="0" anchor="t">
            <a:no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21</a:t>
            </a:r>
            <a:endParaRPr lang="en-US" sz="1800" dirty="0"/>
          </a:p>
        </p:txBody>
      </p:sp>
      <p:sp>
        <p:nvSpPr>
          <p:cNvPr id="20" name="Shape 20"/>
          <p:cNvSpPr/>
          <p:nvPr/>
        </p:nvSpPr>
        <p:spPr>
          <a:xfrm>
            <a:off x="1810512" y="1572768"/>
            <a:ext cx="3383280" cy="612648"/>
          </a:xfrm>
          <a:prstGeom prst="rect">
            <a:avLst/>
          </a:prstGeom>
          <a:solidFill>
            <a:srgbClr val="152A47"/>
          </a:solidFill>
          <a:ln/>
        </p:spPr>
      </p:sp>
      <p:sp>
        <p:nvSpPr>
          <p:cNvPr id="21" name="Text 21"/>
          <p:cNvSpPr txBox="1"/>
          <p:nvPr/>
        </p:nvSpPr>
        <p:spPr>
          <a:xfrm>
            <a:off x="1984248" y="1705356"/>
            <a:ext cx="3154680"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To…</a:t>
            </a:r>
            <a:endParaRPr lang="en-US" sz="1800" dirty="0"/>
          </a:p>
        </p:txBody>
      </p:sp>
      <p:sp>
        <p:nvSpPr>
          <p:cNvPr id="22" name="Shape 22"/>
          <p:cNvSpPr/>
          <p:nvPr/>
        </p:nvSpPr>
        <p:spPr>
          <a:xfrm>
            <a:off x="5193792" y="1572768"/>
            <a:ext cx="8293608" cy="612648"/>
          </a:xfrm>
          <a:prstGeom prst="rect">
            <a:avLst/>
          </a:prstGeom>
          <a:solidFill>
            <a:srgbClr val="152A47"/>
          </a:solidFill>
          <a:ln/>
        </p:spPr>
      </p:sp>
      <p:sp>
        <p:nvSpPr>
          <p:cNvPr id="23" name="Text 23"/>
          <p:cNvSpPr txBox="1"/>
          <p:nvPr/>
        </p:nvSpPr>
        <p:spPr>
          <a:xfrm>
            <a:off x="5367528" y="1705356"/>
            <a:ext cx="8065008"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Prompt or action</a:t>
            </a:r>
            <a:endParaRPr lang="en-US" sz="1800" dirty="0"/>
          </a:p>
        </p:txBody>
      </p:sp>
      <p:sp>
        <p:nvSpPr>
          <p:cNvPr id="24" name="Text 24"/>
          <p:cNvSpPr txBox="1"/>
          <p:nvPr/>
        </p:nvSpPr>
        <p:spPr>
          <a:xfrm>
            <a:off x="1984248" y="2295144"/>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Orient the agent</a:t>
            </a:r>
            <a:endParaRPr lang="en-US" sz="1800" dirty="0"/>
          </a:p>
        </p:txBody>
      </p:sp>
      <p:sp>
        <p:nvSpPr>
          <p:cNvPr id="25" name="Shape 25"/>
          <p:cNvSpPr/>
          <p:nvPr/>
        </p:nvSpPr>
        <p:spPr>
          <a:xfrm>
            <a:off x="1810512" y="2756916"/>
            <a:ext cx="3383280" cy="18288"/>
          </a:xfrm>
          <a:prstGeom prst="rect">
            <a:avLst/>
          </a:prstGeom>
          <a:solidFill>
            <a:srgbClr val="BFBFBF"/>
          </a:solidFill>
          <a:ln/>
        </p:spPr>
      </p:sp>
      <p:sp>
        <p:nvSpPr>
          <p:cNvPr id="26" name="Text 26"/>
          <p:cNvSpPr txBox="1"/>
          <p:nvPr/>
        </p:nvSpPr>
        <p:spPr>
          <a:xfrm>
            <a:off x="5367528" y="2295144"/>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“Read CLAUDE.md and … Summarize … Don’t change any files.”</a:t>
            </a:r>
            <a:endParaRPr lang="en-US" sz="1800" dirty="0"/>
          </a:p>
        </p:txBody>
      </p:sp>
      <p:sp>
        <p:nvSpPr>
          <p:cNvPr id="27" name="Shape 27"/>
          <p:cNvSpPr/>
          <p:nvPr/>
        </p:nvSpPr>
        <p:spPr>
          <a:xfrm>
            <a:off x="5193792" y="2756916"/>
            <a:ext cx="8293608" cy="18288"/>
          </a:xfrm>
          <a:prstGeom prst="rect">
            <a:avLst/>
          </a:prstGeom>
          <a:solidFill>
            <a:srgbClr val="BFBFBF"/>
          </a:solidFill>
          <a:ln/>
        </p:spPr>
      </p:sp>
      <p:sp>
        <p:nvSpPr>
          <p:cNvPr id="28" name="Text 28"/>
          <p:cNvSpPr txBox="1"/>
          <p:nvPr/>
        </p:nvSpPr>
        <p:spPr>
          <a:xfrm>
            <a:off x="1984248" y="2884932"/>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Get a plan</a:t>
            </a:r>
            <a:endParaRPr lang="en-US" sz="1800" dirty="0"/>
          </a:p>
        </p:txBody>
      </p:sp>
      <p:sp>
        <p:nvSpPr>
          <p:cNvPr id="29" name="Shape 29"/>
          <p:cNvSpPr/>
          <p:nvPr/>
        </p:nvSpPr>
        <p:spPr>
          <a:xfrm>
            <a:off x="1810512" y="3625596"/>
            <a:ext cx="3383280" cy="18288"/>
          </a:xfrm>
          <a:prstGeom prst="rect">
            <a:avLst/>
          </a:prstGeom>
          <a:solidFill>
            <a:srgbClr val="BFBFBF"/>
          </a:solidFill>
          <a:ln/>
        </p:spPr>
      </p:sp>
      <p:sp>
        <p:nvSpPr>
          <p:cNvPr id="30" name="Text 30"/>
          <p:cNvSpPr txBox="1"/>
          <p:nvPr/>
        </p:nvSpPr>
        <p:spPr>
          <a:xfrm>
            <a:off x="5367528" y="2884932"/>
            <a:ext cx="80650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“Don’t write code yet. Give me a plan: files, functions, and questions.”</a:t>
            </a:r>
            <a:endParaRPr lang="en-US" sz="1800" dirty="0"/>
          </a:p>
        </p:txBody>
      </p:sp>
      <p:sp>
        <p:nvSpPr>
          <p:cNvPr id="31" name="Shape 31"/>
          <p:cNvSpPr/>
          <p:nvPr/>
        </p:nvSpPr>
        <p:spPr>
          <a:xfrm>
            <a:off x="5193792" y="3625596"/>
            <a:ext cx="8293608" cy="18288"/>
          </a:xfrm>
          <a:prstGeom prst="rect">
            <a:avLst/>
          </a:prstGeom>
          <a:solidFill>
            <a:srgbClr val="BFBFBF"/>
          </a:solidFill>
          <a:ln/>
        </p:spPr>
      </p:sp>
      <p:sp>
        <p:nvSpPr>
          <p:cNvPr id="32" name="Text 32"/>
          <p:cNvSpPr txBox="1"/>
          <p:nvPr/>
        </p:nvSpPr>
        <p:spPr>
          <a:xfrm>
            <a:off x="1984248" y="3753612"/>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Approve the plan</a:t>
            </a:r>
            <a:endParaRPr lang="en-US" sz="1800" dirty="0"/>
          </a:p>
        </p:txBody>
      </p:sp>
      <p:sp>
        <p:nvSpPr>
          <p:cNvPr id="33" name="Shape 33"/>
          <p:cNvSpPr/>
          <p:nvPr/>
        </p:nvSpPr>
        <p:spPr>
          <a:xfrm>
            <a:off x="1810512" y="4215384"/>
            <a:ext cx="3383280" cy="18288"/>
          </a:xfrm>
          <a:prstGeom prst="rect">
            <a:avLst/>
          </a:prstGeom>
          <a:solidFill>
            <a:srgbClr val="BFBFBF"/>
          </a:solidFill>
          <a:ln/>
        </p:spPr>
      </p:sp>
      <p:sp>
        <p:nvSpPr>
          <p:cNvPr id="34" name="Text 34"/>
          <p:cNvSpPr txBox="1"/>
          <p:nvPr/>
        </p:nvSpPr>
        <p:spPr>
          <a:xfrm>
            <a:off x="5367528" y="3753612"/>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“Plan approved. Implement it and commit.”</a:t>
            </a:r>
            <a:endParaRPr lang="en-US" sz="1800" dirty="0"/>
          </a:p>
        </p:txBody>
      </p:sp>
      <p:sp>
        <p:nvSpPr>
          <p:cNvPr id="35" name="Shape 35"/>
          <p:cNvSpPr/>
          <p:nvPr/>
        </p:nvSpPr>
        <p:spPr>
          <a:xfrm>
            <a:off x="5193792" y="4215384"/>
            <a:ext cx="8293608" cy="18288"/>
          </a:xfrm>
          <a:prstGeom prst="rect">
            <a:avLst/>
          </a:prstGeom>
          <a:solidFill>
            <a:srgbClr val="BFBFBF"/>
          </a:solidFill>
          <a:ln/>
        </p:spPr>
      </p:sp>
      <p:sp>
        <p:nvSpPr>
          <p:cNvPr id="36" name="Text 36"/>
          <p:cNvSpPr txBox="1"/>
          <p:nvPr/>
        </p:nvSpPr>
        <p:spPr>
          <a:xfrm>
            <a:off x="1984248" y="4343400"/>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Report a failure</a:t>
            </a:r>
            <a:endParaRPr lang="en-US" sz="1800" dirty="0"/>
          </a:p>
        </p:txBody>
      </p:sp>
      <p:sp>
        <p:nvSpPr>
          <p:cNvPr id="37" name="Shape 37"/>
          <p:cNvSpPr/>
          <p:nvPr/>
        </p:nvSpPr>
        <p:spPr>
          <a:xfrm>
            <a:off x="1810512" y="5084064"/>
            <a:ext cx="3383280" cy="18288"/>
          </a:xfrm>
          <a:prstGeom prst="rect">
            <a:avLst/>
          </a:prstGeom>
          <a:solidFill>
            <a:srgbClr val="BFBFBF"/>
          </a:solidFill>
          <a:ln/>
        </p:spPr>
      </p:sp>
      <p:sp>
        <p:nvSpPr>
          <p:cNvPr id="38" name="Text 38"/>
          <p:cNvSpPr txBox="1"/>
          <p:nvPr/>
        </p:nvSpPr>
        <p:spPr>
          <a:xfrm>
            <a:off x="5367528" y="4343400"/>
            <a:ext cx="80650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“Observed …; expected …. Output below. Find the cause and explain it before changing code.”</a:t>
            </a:r>
            <a:endParaRPr lang="en-US" sz="1800" dirty="0"/>
          </a:p>
        </p:txBody>
      </p:sp>
      <p:sp>
        <p:nvSpPr>
          <p:cNvPr id="39" name="Shape 39"/>
          <p:cNvSpPr/>
          <p:nvPr/>
        </p:nvSpPr>
        <p:spPr>
          <a:xfrm>
            <a:off x="5193792" y="5084064"/>
            <a:ext cx="8293608" cy="18288"/>
          </a:xfrm>
          <a:prstGeom prst="rect">
            <a:avLst/>
          </a:prstGeom>
          <a:solidFill>
            <a:srgbClr val="BFBFBF"/>
          </a:solidFill>
          <a:ln/>
        </p:spPr>
      </p:sp>
      <p:sp>
        <p:nvSpPr>
          <p:cNvPr id="40" name="Text 40"/>
          <p:cNvSpPr txBox="1"/>
          <p:nvPr/>
        </p:nvSpPr>
        <p:spPr>
          <a:xfrm>
            <a:off x="1984248" y="5212080"/>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Draft CLAUDE.md</a:t>
            </a:r>
            <a:endParaRPr lang="en-US" sz="1800" dirty="0"/>
          </a:p>
        </p:txBody>
      </p:sp>
      <p:sp>
        <p:nvSpPr>
          <p:cNvPr id="41" name="Shape 41"/>
          <p:cNvSpPr/>
          <p:nvPr/>
        </p:nvSpPr>
        <p:spPr>
          <a:xfrm>
            <a:off x="1810512" y="5673852"/>
            <a:ext cx="3383280" cy="18288"/>
          </a:xfrm>
          <a:prstGeom prst="rect">
            <a:avLst/>
          </a:prstGeom>
          <a:solidFill>
            <a:srgbClr val="BFBFBF"/>
          </a:solidFill>
          <a:ln/>
        </p:spPr>
      </p:sp>
      <p:sp>
        <p:nvSpPr>
          <p:cNvPr id="42" name="Text 42"/>
          <p:cNvSpPr txBox="1"/>
          <p:nvPr/>
        </p:nvSpPr>
        <p:spPr>
          <a:xfrm>
            <a:off x="5367528" y="5212080"/>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/init in a session, then correct it</a:t>
            </a:r>
            <a:endParaRPr lang="en-US" sz="1800" dirty="0"/>
          </a:p>
        </p:txBody>
      </p:sp>
      <p:sp>
        <p:nvSpPr>
          <p:cNvPr id="43" name="Shape 43"/>
          <p:cNvSpPr/>
          <p:nvPr/>
        </p:nvSpPr>
        <p:spPr>
          <a:xfrm>
            <a:off x="5193792" y="5673852"/>
            <a:ext cx="8293608" cy="18288"/>
          </a:xfrm>
          <a:prstGeom prst="rect">
            <a:avLst/>
          </a:prstGeom>
          <a:solidFill>
            <a:srgbClr val="BFBFBF"/>
          </a:solidFill>
          <a:ln/>
        </p:spPr>
      </p:sp>
      <p:sp>
        <p:nvSpPr>
          <p:cNvPr id="44" name="Text 44"/>
          <p:cNvSpPr txBox="1"/>
          <p:nvPr/>
        </p:nvSpPr>
        <p:spPr>
          <a:xfrm>
            <a:off x="1984248" y="5801868"/>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Open a PR</a:t>
            </a:r>
            <a:endParaRPr lang="en-US" sz="1800" dirty="0"/>
          </a:p>
        </p:txBody>
      </p:sp>
      <p:sp>
        <p:nvSpPr>
          <p:cNvPr id="45" name="Shape 45"/>
          <p:cNvSpPr/>
          <p:nvPr/>
        </p:nvSpPr>
        <p:spPr>
          <a:xfrm>
            <a:off x="1810512" y="6263640"/>
            <a:ext cx="3383280" cy="18288"/>
          </a:xfrm>
          <a:prstGeom prst="rect">
            <a:avLst/>
          </a:prstGeom>
          <a:solidFill>
            <a:srgbClr val="BFBFBF"/>
          </a:solidFill>
          <a:ln/>
        </p:spPr>
      </p:sp>
      <p:sp>
        <p:nvSpPr>
          <p:cNvPr id="46" name="Text 46"/>
          <p:cNvSpPr txBox="1"/>
          <p:nvPr/>
        </p:nvSpPr>
        <p:spPr>
          <a:xfrm>
            <a:off x="5367528" y="5801868"/>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Create PR in the session</a:t>
            </a:r>
            <a:endParaRPr lang="en-US" sz="1800" dirty="0"/>
          </a:p>
        </p:txBody>
      </p:sp>
      <p:sp>
        <p:nvSpPr>
          <p:cNvPr id="47" name="Shape 47"/>
          <p:cNvSpPr/>
          <p:nvPr/>
        </p:nvSpPr>
        <p:spPr>
          <a:xfrm>
            <a:off x="5193792" y="6263640"/>
            <a:ext cx="8293608" cy="18288"/>
          </a:xfrm>
          <a:prstGeom prst="rect">
            <a:avLst/>
          </a:prstGeom>
          <a:solidFill>
            <a:srgbClr val="BFBFBF"/>
          </a:solidFill>
          <a:ln/>
        </p:spPr>
      </p:sp>
      <p:sp>
        <p:nvSpPr>
          <p:cNvPr id="48" name="Text 48"/>
          <p:cNvSpPr txBox="1"/>
          <p:nvPr/>
        </p:nvSpPr>
        <p:spPr>
          <a:xfrm>
            <a:off x="1984248" y="6391656"/>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Test the agent’s branch</a:t>
            </a:r>
            <a:endParaRPr lang="en-US" sz="1800" dirty="0"/>
          </a:p>
        </p:txBody>
      </p:sp>
      <p:sp>
        <p:nvSpPr>
          <p:cNvPr id="49" name="Shape 49"/>
          <p:cNvSpPr/>
          <p:nvPr/>
        </p:nvSpPr>
        <p:spPr>
          <a:xfrm>
            <a:off x="1810512" y="6853428"/>
            <a:ext cx="3383280" cy="18288"/>
          </a:xfrm>
          <a:prstGeom prst="rect">
            <a:avLst/>
          </a:prstGeom>
          <a:solidFill>
            <a:srgbClr val="BFBFBF"/>
          </a:solidFill>
          <a:ln/>
        </p:spPr>
      </p:sp>
      <p:sp>
        <p:nvSpPr>
          <p:cNvPr id="50" name="Text 50"/>
          <p:cNvSpPr txBox="1"/>
          <p:nvPr/>
        </p:nvSpPr>
        <p:spPr>
          <a:xfrm>
            <a:off x="5367528" y="6391656"/>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Fetch origin › Current branch › claude/…</a:t>
            </a:r>
            <a:endParaRPr lang="en-US" sz="1800" dirty="0"/>
          </a:p>
        </p:txBody>
      </p:sp>
      <p:sp>
        <p:nvSpPr>
          <p:cNvPr id="51" name="Shape 51"/>
          <p:cNvSpPr/>
          <p:nvPr/>
        </p:nvSpPr>
        <p:spPr>
          <a:xfrm>
            <a:off x="5193792" y="6853428"/>
            <a:ext cx="8293608" cy="18288"/>
          </a:xfrm>
          <a:prstGeom prst="rect">
            <a:avLst/>
          </a:prstGeom>
          <a:solidFill>
            <a:srgbClr val="BFBFBF"/>
          </a:solidFill>
          <a:ln/>
        </p:spPr>
      </p:sp>
      <p:sp>
        <p:nvSpPr>
          <p:cNvPr id="52" name="Text 52"/>
          <p:cNvSpPr txBox="1"/>
          <p:nvPr/>
        </p:nvSpPr>
        <p:spPr>
          <a:xfrm>
            <a:off x="1984248" y="6981444"/>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Segoe UI" pitchFamily="34" charset="0"/>
                <a:ea typeface="Segoe UI" pitchFamily="34" charset="-122"/>
                <a:cs typeface="Segoe UI" pitchFamily="34" charset="-120"/>
              </a:rPr>
              <a:t>Finish</a:t>
            </a:r>
            <a:endParaRPr lang="en-US" sz="1800" dirty="0"/>
          </a:p>
        </p:txBody>
      </p:sp>
      <p:sp>
        <p:nvSpPr>
          <p:cNvPr id="53" name="Shape 53"/>
          <p:cNvSpPr/>
          <p:nvPr/>
        </p:nvSpPr>
        <p:spPr>
          <a:xfrm>
            <a:off x="1810512" y="7443216"/>
            <a:ext cx="3383280" cy="18288"/>
          </a:xfrm>
          <a:prstGeom prst="rect">
            <a:avLst/>
          </a:prstGeom>
          <a:solidFill>
            <a:srgbClr val="BFBFBF"/>
          </a:solidFill>
          <a:ln/>
        </p:spPr>
      </p:sp>
      <p:sp>
        <p:nvSpPr>
          <p:cNvPr id="54" name="Text 54"/>
          <p:cNvSpPr txBox="1"/>
          <p:nvPr/>
        </p:nvSpPr>
        <p:spPr>
          <a:xfrm>
            <a:off x="5367528" y="6981444"/>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Segoe UI" pitchFamily="34" charset="0"/>
                <a:ea typeface="Segoe UI" pitchFamily="34" charset="-122"/>
                <a:cs typeface="Segoe UI" pitchFamily="34" charset="-120"/>
              </a:rPr>
              <a:t>Merge the PR, switch to main, Pull origin</a:t>
            </a:r>
            <a:endParaRPr lang="en-US" sz="1800" dirty="0"/>
          </a:p>
        </p:txBody>
      </p:sp>
      <p:sp>
        <p:nvSpPr>
          <p:cNvPr id="55" name="Shape 55"/>
          <p:cNvSpPr/>
          <p:nvPr/>
        </p:nvSpPr>
        <p:spPr>
          <a:xfrm>
            <a:off x="5193792" y="7443216"/>
            <a:ext cx="8293608" cy="18288"/>
          </a:xfrm>
          <a:prstGeom prst="rect">
            <a:avLst/>
          </a:prstGeom>
          <a:solidFill>
            <a:srgbClr val="BFBFBF"/>
          </a:solidFill>
          <a:ln/>
        </p:spPr>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3"/>
          <p:cNvSpPr/>
          <p:nvPr/>
        </p:nvSpPr>
        <p:spPr>
          <a:xfrm>
            <a:off x="0" y="0"/>
            <a:ext cx="1543050" cy="10287000"/>
          </a:xfrm>
          <a:prstGeom prst="rect">
            <a:avLst/>
          </a:prstGeom>
          <a:solidFill>
            <a:srgbClr val="E6E6E6"/>
          </a:solidFill>
          <a:ln/>
        </p:spPr>
      </p:sp>
      <p:pic>
        <p:nvPicPr>
          <p:cNvPr id="3" name="Picture 1" descr="image.png"/>
          <p:cNvPicPr>
            <a:picLocks noChangeAspect="1"/>
          </p:cNvPicPr>
          <p:nvPr/>
        </p:nvPicPr>
        <p:blipFill>
          <a:blip r:embed="rId2"/>
          <a:stretch>
            <a:fillRect/>
          </a:stretch>
        </p:blipFill>
        <p:spPr>
          <a:xfrm>
            <a:off x="200025" y="133350"/>
            <a:ext cx="1143000" cy="1143000"/>
          </a:xfrm>
          <a:prstGeom prst="rect">
            <a:avLst/>
          </a:prstGeom>
        </p:spPr>
      </p:pic>
      <p:sp>
        <p:nvSpPr>
          <p:cNvPr id="4" name="Text 4"/>
          <p:cNvSpPr txBox="1"/>
          <p:nvPr/>
        </p:nvSpPr>
        <p:spPr>
          <a:xfrm>
            <a:off x="133350" y="238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5"/>
          <p:cNvSpPr txBox="1"/>
          <p:nvPr/>
        </p:nvSpPr>
        <p:spPr>
          <a:xfrm>
            <a:off x="133350" y="2762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6"/>
          <p:cNvSpPr txBox="1"/>
          <p:nvPr/>
        </p:nvSpPr>
        <p:spPr>
          <a:xfrm>
            <a:off x="133350" y="3143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Specify</a:t>
            </a:r>
            <a:endParaRPr lang="en-US" sz="1800" dirty="0"/>
          </a:p>
        </p:txBody>
      </p:sp>
      <p:sp>
        <p:nvSpPr>
          <p:cNvPr id="7" name="Text 7"/>
          <p:cNvSpPr txBox="1"/>
          <p:nvPr/>
        </p:nvSpPr>
        <p:spPr>
          <a:xfrm>
            <a:off x="133350" y="3524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8" name="Text 8"/>
          <p:cNvSpPr txBox="1"/>
          <p:nvPr/>
        </p:nvSpPr>
        <p:spPr>
          <a:xfrm>
            <a:off x="133350" y="3905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Generate</a:t>
            </a:r>
            <a:endParaRPr lang="en-US" sz="1800" dirty="0"/>
          </a:p>
        </p:txBody>
      </p:sp>
      <p:sp>
        <p:nvSpPr>
          <p:cNvPr id="9" name="Text 9"/>
          <p:cNvSpPr txBox="1"/>
          <p:nvPr/>
        </p:nvSpPr>
        <p:spPr>
          <a:xfrm>
            <a:off x="133350" y="4286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Adjudicate</a:t>
            </a:r>
            <a:endParaRPr lang="en-US" sz="1800" dirty="0"/>
          </a:p>
        </p:txBody>
      </p:sp>
      <p:sp>
        <p:nvSpPr>
          <p:cNvPr id="10" name="Text 10"/>
          <p:cNvSpPr txBox="1"/>
          <p:nvPr/>
        </p:nvSpPr>
        <p:spPr>
          <a:xfrm>
            <a:off x="133350" y="4667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Pitfalls</a:t>
            </a:r>
            <a:endParaRPr lang="en-US" sz="1800" dirty="0"/>
          </a:p>
        </p:txBody>
      </p:sp>
      <p:sp>
        <p:nvSpPr>
          <p:cNvPr id="11" name="Text 11"/>
          <p:cNvSpPr txBox="1"/>
          <p:nvPr/>
        </p:nvSpPr>
        <p:spPr>
          <a:xfrm>
            <a:off x="133350" y="5048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GenAI Use</a:t>
            </a:r>
            <a:endParaRPr lang="en-US" sz="1800" dirty="0"/>
          </a:p>
        </p:txBody>
      </p:sp>
      <p:sp>
        <p:nvSpPr>
          <p:cNvPr id="12" name="Text 12"/>
          <p:cNvSpPr txBox="1"/>
          <p:nvPr/>
        </p:nvSpPr>
        <p:spPr>
          <a:xfrm>
            <a:off x="133350" y="5429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Your Repo</a:t>
            </a:r>
            <a:endParaRPr lang="en-US" sz="1800" dirty="0"/>
          </a:p>
        </p:txBody>
      </p:sp>
      <p:sp>
        <p:nvSpPr>
          <p:cNvPr id="13" name="Text 13"/>
          <p:cNvSpPr txBox="1"/>
          <p:nvPr/>
        </p:nvSpPr>
        <p:spPr>
          <a:xfrm>
            <a:off x="133350" y="5810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Teaching</a:t>
            </a:r>
            <a:endParaRPr lang="en-US" sz="1800" dirty="0"/>
          </a:p>
        </p:txBody>
      </p:sp>
      <p:sp>
        <p:nvSpPr>
          <p:cNvPr id="14" name="Text 14"/>
          <p:cNvSpPr txBox="1"/>
          <p:nvPr/>
        </p:nvSpPr>
        <p:spPr>
          <a:xfrm>
            <a:off x="133350" y="6191250"/>
            <a:ext cx="1442184" cy="323850"/>
          </a:xfrm>
          <a:prstGeom prst="rect">
            <a:avLst/>
          </a:prstGeom>
          <a:noFill/>
          <a:ln/>
        </p:spPr>
        <p:txBody>
          <a:bodyPr wrap="square" lIns="25400" tIns="25400" rIns="25400" bIns="25400" rtlCol="0" anchor="t">
            <a:no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Review</a:t>
            </a:r>
            <a:endParaRPr lang="en-US" sz="1800" dirty="0"/>
          </a:p>
        </p:txBody>
      </p:sp>
      <p:sp>
        <p:nvSpPr>
          <p:cNvPr id="15" name="Text 15"/>
          <p:cNvSpPr txBox="1"/>
          <p:nvPr/>
        </p:nvSpPr>
        <p:spPr>
          <a:xfrm>
            <a:off x="1657350" y="200025"/>
            <a:ext cx="10988040" cy="1057275"/>
          </a:xfrm>
          <a:prstGeom prst="rect">
            <a:avLst/>
          </a:prstGeom>
          <a:noFill/>
          <a:ln/>
        </p:spPr>
        <p:txBody>
          <a:bodyPr wrap="square" lIns="25400" tIns="25400" rIns="25400" bIns="25400" rtlCol="0" anchor="ctr">
            <a:no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Knowledge Check</a:t>
            </a:r>
            <a:endParaRPr lang="en-US" sz="4800" dirty="0"/>
          </a:p>
        </p:txBody>
      </p:sp>
      <p:sp>
        <p:nvSpPr>
          <p:cNvPr id="16" name="Text 16"/>
          <p:cNvSpPr txBox="1"/>
          <p:nvPr/>
        </p:nvSpPr>
        <p:spPr>
          <a:xfrm>
            <a:off x="12515950" y="133350"/>
            <a:ext cx="1142901" cy="393700"/>
          </a:xfrm>
          <a:prstGeom prst="rect">
            <a:avLst/>
          </a:prstGeom>
          <a:noFill/>
          <a:ln/>
        </p:spPr>
        <p:txBody>
          <a:bodyPr wrap="none" lIns="25400" tIns="25400" rIns="25400" bIns="25400" rtlCol="0" anchor="t">
            <a:no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2</a:t>
            </a:r>
            <a:endParaRPr lang="en-US" sz="2100" dirty="0"/>
          </a:p>
        </p:txBody>
      </p:sp>
      <p:sp>
        <p:nvSpPr>
          <p:cNvPr id="17" name="Shape 17"/>
          <p:cNvSpPr/>
          <p:nvPr/>
        </p:nvSpPr>
        <p:spPr>
          <a:xfrm>
            <a:off x="1657350" y="1219200"/>
            <a:ext cx="11925300" cy="66675"/>
          </a:xfrm>
          <a:prstGeom prst="rect">
            <a:avLst/>
          </a:prstGeom>
          <a:solidFill>
            <a:srgbClr val="000000"/>
          </a:solidFill>
          <a:ln/>
        </p:spPr>
      </p:sp>
      <p:sp>
        <p:nvSpPr>
          <p:cNvPr id="18" name="Text 18"/>
          <p:cNvSpPr txBox="1"/>
          <p:nvPr/>
        </p:nvSpPr>
        <p:spPr>
          <a:xfrm>
            <a:off x="1054418" y="9810750"/>
            <a:ext cx="13264515" cy="342900"/>
          </a:xfrm>
          <a:prstGeom prst="rect">
            <a:avLst/>
          </a:prstGeom>
          <a:noFill/>
          <a:ln/>
        </p:spPr>
        <p:txBody>
          <a:bodyPr wrap="square" lIns="25400" tIns="25400" rIns="25400" bIns="25400" rtlCol="0" anchor="t">
            <a:no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2</a:t>
            </a:r>
            <a:endParaRPr lang="en-US" sz="1800" dirty="0"/>
          </a:p>
        </p:txBody>
      </p:sp>
      <p:sp>
        <p:nvSpPr>
          <p:cNvPr id="19" name="Text 19"/>
          <p:cNvSpPr txBox="1"/>
          <p:nvPr/>
        </p:nvSpPr>
        <p:spPr>
          <a:xfrm>
            <a:off x="13336850" y="9810750"/>
            <a:ext cx="322000" cy="342900"/>
          </a:xfrm>
          <a:prstGeom prst="rect">
            <a:avLst/>
          </a:prstGeom>
          <a:noFill/>
          <a:ln/>
        </p:spPr>
        <p:txBody>
          <a:bodyPr wrap="none" lIns="25400" tIns="25400" rIns="25400" bIns="25400" rtlCol="0" anchor="t">
            <a:no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22</a:t>
            </a:r>
            <a:endParaRPr lang="en-US" sz="1800" dirty="0"/>
          </a:p>
        </p:txBody>
      </p:sp>
      <p:sp>
        <p:nvSpPr>
          <p:cNvPr id="20" name="Text 20"/>
          <p:cNvSpPr txBox="1"/>
          <p:nvPr/>
        </p:nvSpPr>
        <p:spPr>
          <a:xfrm>
            <a:off x="1810512" y="1719072"/>
            <a:ext cx="612648" cy="466344"/>
          </a:xfrm>
          <a:prstGeom prst="rect">
            <a:avLst/>
          </a:prstGeom>
          <a:noFill/>
          <a:ln/>
        </p:spPr>
        <p:txBody>
          <a:bodyPr wrap="square" lIns="25400" tIns="25400" rIns="25400" bIns="25400" rtlCol="0" anchor="t">
            <a:noAutofit/>
          </a:bodyPr>
          <a:lstStyle/>
          <a:p>
            <a:pPr algn="l" indent="0" marL="0">
              <a:buNone/>
            </a:pPr>
            <a:r>
              <a:rPr lang="en-US" sz="2400" b="1" dirty="0">
                <a:solidFill>
                  <a:srgbClr val="1F6FB2"/>
                </a:solidFill>
                <a:latin typeface="Segoe UI" pitchFamily="34" charset="0"/>
                <a:ea typeface="Segoe UI" pitchFamily="34" charset="-122"/>
                <a:cs typeface="Segoe UI" pitchFamily="34" charset="-120"/>
              </a:rPr>
              <a:t>1</a:t>
            </a:r>
            <a:endParaRPr lang="en-US" sz="2400" dirty="0"/>
          </a:p>
        </p:txBody>
      </p:sp>
      <p:sp>
        <p:nvSpPr>
          <p:cNvPr id="21" name="Text 21"/>
          <p:cNvSpPr txBox="1"/>
          <p:nvPr/>
        </p:nvSpPr>
        <p:spPr>
          <a:xfrm>
            <a:off x="2340864" y="1719072"/>
            <a:ext cx="11155680" cy="765429"/>
          </a:xfrm>
          <a:prstGeom prst="rect">
            <a:avLst/>
          </a:prstGeom>
          <a:noFill/>
          <a:ln/>
        </p:spPr>
        <p:txBody>
          <a:bodyPr wrap="square" lIns="25400" tIns="25400" rIns="25400" bIns="25400" rtlCol="0" anchor="t">
            <a:noAutofit/>
          </a:bodyPr>
          <a:lstStyle/>
          <a:p>
            <a:pPr algn="l" indent="0" marL="0">
              <a:buNone/>
            </a:pPr>
            <a:r>
              <a:rPr lang="en-US" sz="2175" dirty="0">
                <a:solidFill>
                  <a:srgbClr val="000000"/>
                </a:solidFill>
                <a:latin typeface="Segoe UI" pitchFamily="34" charset="0"/>
                <a:ea typeface="Segoe UI" pitchFamily="34" charset="-122"/>
                <a:cs typeface="Segoe UI" pitchFamily="34" charset="-120"/>
              </a:rPr>
              <a:t>What can a coding agent do that a chat LLM can’t, and how does that change your role?</a:t>
            </a:r>
            <a:endParaRPr lang="en-US" sz="2175" dirty="0"/>
          </a:p>
        </p:txBody>
      </p:sp>
      <p:sp>
        <p:nvSpPr>
          <p:cNvPr id="22" name="Text 22"/>
          <p:cNvSpPr txBox="1"/>
          <p:nvPr/>
        </p:nvSpPr>
        <p:spPr>
          <a:xfrm>
            <a:off x="1810512" y="2822829"/>
            <a:ext cx="612648" cy="466344"/>
          </a:xfrm>
          <a:prstGeom prst="rect">
            <a:avLst/>
          </a:prstGeom>
          <a:noFill/>
          <a:ln/>
        </p:spPr>
        <p:txBody>
          <a:bodyPr wrap="square" lIns="25400" tIns="25400" rIns="25400" bIns="25400" rtlCol="0" anchor="t">
            <a:noAutofit/>
          </a:bodyPr>
          <a:lstStyle/>
          <a:p>
            <a:pPr algn="l" indent="0" marL="0">
              <a:buNone/>
            </a:pPr>
            <a:r>
              <a:rPr lang="en-US" sz="2400" b="1" dirty="0">
                <a:solidFill>
                  <a:srgbClr val="1F6FB2"/>
                </a:solidFill>
                <a:latin typeface="Segoe UI" pitchFamily="34" charset="0"/>
                <a:ea typeface="Segoe UI" pitchFamily="34" charset="-122"/>
                <a:cs typeface="Segoe UI" pitchFamily="34" charset="-120"/>
              </a:rPr>
              <a:t>2</a:t>
            </a:r>
            <a:endParaRPr lang="en-US" sz="2400" dirty="0"/>
          </a:p>
        </p:txBody>
      </p:sp>
      <p:sp>
        <p:nvSpPr>
          <p:cNvPr id="23" name="Text 23"/>
          <p:cNvSpPr txBox="1"/>
          <p:nvPr/>
        </p:nvSpPr>
        <p:spPr>
          <a:xfrm>
            <a:off x="2340864" y="2822829"/>
            <a:ext cx="11155680" cy="428434"/>
          </a:xfrm>
          <a:prstGeom prst="rect">
            <a:avLst/>
          </a:prstGeom>
          <a:noFill/>
          <a:ln/>
        </p:spPr>
        <p:txBody>
          <a:bodyPr wrap="square" lIns="25400" tIns="25400" rIns="25400" bIns="25400" rtlCol="0" anchor="t">
            <a:noAutofit/>
          </a:bodyPr>
          <a:lstStyle/>
          <a:p>
            <a:pPr algn="l" indent="0" marL="0">
              <a:buNone/>
            </a:pPr>
            <a:r>
              <a:rPr lang="en-US" sz="2175" dirty="0">
                <a:solidFill>
                  <a:srgbClr val="000000"/>
                </a:solidFill>
                <a:latin typeface="Segoe UI" pitchFamily="34" charset="0"/>
                <a:ea typeface="Segoe UI" pitchFamily="34" charset="-122"/>
                <a:cs typeface="Segoe UI" pitchFamily="34" charset="-120"/>
              </a:rPr>
              <a:t>What belongs in CLAUDE.md, and how does it relate to AGENTS.md?</a:t>
            </a:r>
            <a:endParaRPr lang="en-US" sz="2175" dirty="0"/>
          </a:p>
        </p:txBody>
      </p:sp>
      <p:sp>
        <p:nvSpPr>
          <p:cNvPr id="24" name="Text 24"/>
          <p:cNvSpPr txBox="1"/>
          <p:nvPr/>
        </p:nvSpPr>
        <p:spPr>
          <a:xfrm>
            <a:off x="1810512" y="3627501"/>
            <a:ext cx="612648" cy="466344"/>
          </a:xfrm>
          <a:prstGeom prst="rect">
            <a:avLst/>
          </a:prstGeom>
          <a:noFill/>
          <a:ln/>
        </p:spPr>
        <p:txBody>
          <a:bodyPr wrap="square" lIns="25400" tIns="25400" rIns="25400" bIns="25400" rtlCol="0" anchor="t">
            <a:noAutofit/>
          </a:bodyPr>
          <a:lstStyle/>
          <a:p>
            <a:pPr algn="l" indent="0" marL="0">
              <a:buNone/>
            </a:pPr>
            <a:r>
              <a:rPr lang="en-US" sz="2400" b="1" dirty="0">
                <a:solidFill>
                  <a:srgbClr val="1F6FB2"/>
                </a:solidFill>
                <a:latin typeface="Segoe UI" pitchFamily="34" charset="0"/>
                <a:ea typeface="Segoe UI" pitchFamily="34" charset="-122"/>
                <a:cs typeface="Segoe UI" pitchFamily="34" charset="-120"/>
              </a:rPr>
              <a:t>3</a:t>
            </a:r>
            <a:endParaRPr lang="en-US" sz="2400" dirty="0"/>
          </a:p>
        </p:txBody>
      </p:sp>
      <p:sp>
        <p:nvSpPr>
          <p:cNvPr id="25" name="Text 25"/>
          <p:cNvSpPr txBox="1"/>
          <p:nvPr/>
        </p:nvSpPr>
        <p:spPr>
          <a:xfrm>
            <a:off x="2340864" y="3627501"/>
            <a:ext cx="11155680" cy="428434"/>
          </a:xfrm>
          <a:prstGeom prst="rect">
            <a:avLst/>
          </a:prstGeom>
          <a:noFill/>
          <a:ln/>
        </p:spPr>
        <p:txBody>
          <a:bodyPr wrap="square" lIns="25400" tIns="25400" rIns="25400" bIns="25400" rtlCol="0" anchor="t">
            <a:noAutofit/>
          </a:bodyPr>
          <a:lstStyle/>
          <a:p>
            <a:pPr algn="l" indent="0" marL="0">
              <a:buNone/>
            </a:pPr>
            <a:r>
              <a:rPr lang="en-US" sz="2175" dirty="0">
                <a:solidFill>
                  <a:srgbClr val="000000"/>
                </a:solidFill>
                <a:latin typeface="Segoe UI" pitchFamily="34" charset="0"/>
                <a:ea typeface="Segoe UI" pitchFamily="34" charset="-122"/>
                <a:cs typeface="Segoe UI" pitchFamily="34" charset="-120"/>
              </a:rPr>
              <a:t>Why ask for a plan before any code is written?</a:t>
            </a:r>
            <a:endParaRPr lang="en-US" sz="2175" dirty="0"/>
          </a:p>
        </p:txBody>
      </p:sp>
      <p:sp>
        <p:nvSpPr>
          <p:cNvPr id="26" name="Text 26"/>
          <p:cNvSpPr txBox="1"/>
          <p:nvPr/>
        </p:nvSpPr>
        <p:spPr>
          <a:xfrm>
            <a:off x="1810512" y="4432173"/>
            <a:ext cx="612648" cy="466344"/>
          </a:xfrm>
          <a:prstGeom prst="rect">
            <a:avLst/>
          </a:prstGeom>
          <a:noFill/>
          <a:ln/>
        </p:spPr>
        <p:txBody>
          <a:bodyPr wrap="square" lIns="25400" tIns="25400" rIns="25400" bIns="25400" rtlCol="0" anchor="t">
            <a:noAutofit/>
          </a:bodyPr>
          <a:lstStyle/>
          <a:p>
            <a:pPr algn="l" indent="0" marL="0">
              <a:buNone/>
            </a:pPr>
            <a:r>
              <a:rPr lang="en-US" sz="2400" b="1" dirty="0">
                <a:solidFill>
                  <a:srgbClr val="1F6FB2"/>
                </a:solidFill>
                <a:latin typeface="Segoe UI" pitchFamily="34" charset="0"/>
                <a:ea typeface="Segoe UI" pitchFamily="34" charset="-122"/>
                <a:cs typeface="Segoe UI" pitchFamily="34" charset="-120"/>
              </a:rPr>
              <a:t>4</a:t>
            </a:r>
            <a:endParaRPr lang="en-US" sz="2400" dirty="0"/>
          </a:p>
        </p:txBody>
      </p:sp>
      <p:sp>
        <p:nvSpPr>
          <p:cNvPr id="27" name="Text 27"/>
          <p:cNvSpPr txBox="1"/>
          <p:nvPr/>
        </p:nvSpPr>
        <p:spPr>
          <a:xfrm>
            <a:off x="2340864" y="4432173"/>
            <a:ext cx="11155680" cy="428434"/>
          </a:xfrm>
          <a:prstGeom prst="rect">
            <a:avLst/>
          </a:prstGeom>
          <a:noFill/>
          <a:ln/>
        </p:spPr>
        <p:txBody>
          <a:bodyPr wrap="square" lIns="25400" tIns="25400" rIns="25400" bIns="25400" rtlCol="0" anchor="t">
            <a:noAutofit/>
          </a:bodyPr>
          <a:lstStyle/>
          <a:p>
            <a:pPr algn="l" indent="0" marL="0">
              <a:buNone/>
            </a:pPr>
            <a:r>
              <a:rPr lang="en-US" sz="2175" dirty="0">
                <a:solidFill>
                  <a:srgbClr val="000000"/>
                </a:solidFill>
                <a:latin typeface="Segoe UI" pitchFamily="34" charset="0"/>
                <a:ea typeface="Segoe UI" pitchFamily="34" charset="-122"/>
                <a:cs typeface="Segoe UI" pitchFamily="34" charset="-120"/>
              </a:rPr>
              <a:t>The agent reports “All tests pass.” What do you do?</a:t>
            </a:r>
            <a:endParaRPr lang="en-US" sz="2175" dirty="0"/>
          </a:p>
        </p:txBody>
      </p:sp>
      <p:sp>
        <p:nvSpPr>
          <p:cNvPr id="28" name="Text 28"/>
          <p:cNvSpPr txBox="1"/>
          <p:nvPr/>
        </p:nvSpPr>
        <p:spPr>
          <a:xfrm>
            <a:off x="1810512" y="5236845"/>
            <a:ext cx="612648" cy="466344"/>
          </a:xfrm>
          <a:prstGeom prst="rect">
            <a:avLst/>
          </a:prstGeom>
          <a:noFill/>
          <a:ln/>
        </p:spPr>
        <p:txBody>
          <a:bodyPr wrap="square" lIns="25400" tIns="25400" rIns="25400" bIns="25400" rtlCol="0" anchor="t">
            <a:noAutofit/>
          </a:bodyPr>
          <a:lstStyle/>
          <a:p>
            <a:pPr algn="l" indent="0" marL="0">
              <a:buNone/>
            </a:pPr>
            <a:r>
              <a:rPr lang="en-US" sz="2400" b="1" dirty="0">
                <a:solidFill>
                  <a:srgbClr val="1F6FB2"/>
                </a:solidFill>
                <a:latin typeface="Segoe UI" pitchFamily="34" charset="0"/>
                <a:ea typeface="Segoe UI" pitchFamily="34" charset="-122"/>
                <a:cs typeface="Segoe UI" pitchFamily="34" charset="-120"/>
              </a:rPr>
              <a:t>5</a:t>
            </a:r>
            <a:endParaRPr lang="en-US" sz="2400" dirty="0"/>
          </a:p>
        </p:txBody>
      </p:sp>
      <p:sp>
        <p:nvSpPr>
          <p:cNvPr id="29" name="Text 29"/>
          <p:cNvSpPr txBox="1"/>
          <p:nvPr/>
        </p:nvSpPr>
        <p:spPr>
          <a:xfrm>
            <a:off x="2340864" y="5236845"/>
            <a:ext cx="11155680" cy="428434"/>
          </a:xfrm>
          <a:prstGeom prst="rect">
            <a:avLst/>
          </a:prstGeom>
          <a:noFill/>
          <a:ln/>
        </p:spPr>
        <p:txBody>
          <a:bodyPr wrap="square" lIns="25400" tIns="25400" rIns="25400" bIns="25400" rtlCol="0" anchor="t">
            <a:noAutofit/>
          </a:bodyPr>
          <a:lstStyle/>
          <a:p>
            <a:pPr algn="l" indent="0" marL="0">
              <a:buNone/>
            </a:pPr>
            <a:r>
              <a:rPr lang="en-US" sz="2175" dirty="0">
                <a:solidFill>
                  <a:srgbClr val="000000"/>
                </a:solidFill>
                <a:latin typeface="Segoe UI" pitchFamily="34" charset="0"/>
                <a:ea typeface="Segoe UI" pitchFamily="34" charset="-122"/>
                <a:cs typeface="Segoe UI" pitchFamily="34" charset="-120"/>
              </a:rPr>
              <a:t>A PR changes a test’s expected value so the test passes. Merge it?</a:t>
            </a:r>
            <a:endParaRPr lang="en-US" sz="2175" dirty="0"/>
          </a:p>
        </p:txBody>
      </p:sp>
      <p:sp>
        <p:nvSpPr>
          <p:cNvPr id="30" name="Shape 30"/>
          <p:cNvSpPr/>
          <p:nvPr/>
        </p:nvSpPr>
        <p:spPr>
          <a:xfrm>
            <a:off x="1810512" y="6217920"/>
            <a:ext cx="11676888" cy="1143000"/>
          </a:xfrm>
          <a:prstGeom prst="rect">
            <a:avLst/>
          </a:prstGeom>
          <a:solidFill>
            <a:srgbClr val="152A47"/>
          </a:solidFill>
          <a:ln/>
        </p:spPr>
      </p:sp>
      <p:sp>
        <p:nvSpPr>
          <p:cNvPr id="31" name="Text 31"/>
          <p:cNvSpPr txBox="1"/>
          <p:nvPr/>
        </p:nvSpPr>
        <p:spPr>
          <a:xfrm>
            <a:off x="2057400" y="6217920"/>
            <a:ext cx="11338560" cy="1143000"/>
          </a:xfrm>
          <a:prstGeom prst="rect">
            <a:avLst/>
          </a:prstGeom>
          <a:noFill/>
          <a:ln/>
        </p:spPr>
        <p:txBody>
          <a:bodyPr wrap="square" lIns="25400" tIns="25400" rIns="25400" bIns="25400" rtlCol="0" anchor="ctr">
            <a:noAutofit/>
          </a:bodyPr>
          <a:lstStyle/>
          <a:p>
            <a:pPr algn="l" indent="0" marL="0">
              <a:buNone/>
            </a:pPr>
            <a:r>
              <a:rPr lang="en-US" sz="2025" b="1" dirty="0">
                <a:solidFill>
                  <a:srgbClr val="FFFFFF"/>
                </a:solidFill>
                <a:latin typeface="Segoe UI" pitchFamily="34" charset="0"/>
                <a:ea typeface="Segoe UI" pitchFamily="34" charset="-122"/>
                <a:cs typeface="Segoe UI" pitchFamily="34" charset="-120"/>
              </a:rPr>
              <a:t>Next: Lesson 3</a:t>
            </a:r>
            <a:r>
              <a:rPr lang="en-US" sz="2025" dirty="0">
                <a:solidFill>
                  <a:srgbClr val="FFFFFF"/>
                </a:solidFill>
                <a:latin typeface="Segoe UI" pitchFamily="34" charset="0"/>
                <a:ea typeface="Segoe UI" pitchFamily="34" charset="-122"/>
                <a:cs typeface="Segoe UI" pitchFamily="34" charset="-120"/>
              </a:rPr>
              <a:t xml:space="preserve"> · Agentic AI for course app development using GitHub Pages.</a:t>
            </a:r>
            <a:endParaRPr lang="en-US" sz="202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2026-10-22T21:14:36Z</dcterms:created>
  <dcterms:modified xsi:type="dcterms:W3CDTF">2026-10-22T21:14:36Z</dcterms:modified>
</cp:coreProperties>
</file>