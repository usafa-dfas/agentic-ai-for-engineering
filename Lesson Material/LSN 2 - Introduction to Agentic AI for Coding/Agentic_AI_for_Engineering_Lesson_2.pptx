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M"/>
  </p:sldMasterIdLst>
  <p:notesMasterIdLst>
    <p:notesMasterId r:id="rIdN"/>
  </p:notesMasterIdLst>
  <p:sldIdLst>
    <p:sldId id="256" r:id="rIdS1"/>
    <p:sldId id="257" r:id="rIdS2"/>
    <p:sldId id="258" r:id="rIdS3"/>
    <p:sldId id="259" r:id="rIdS4"/>
    <p:sldId id="260" r:id="rIdS5"/>
    <p:sldId id="261" r:id="rIdS6"/>
    <p:sldId id="262" r:id="rIdS7"/>
    <p:sldId id="263" r:id="rIdS8"/>
    <p:sldId id="264" r:id="rIdS9"/>
    <p:sldId id="265" r:id="rIdS10"/>
    <p:sldId id="266" r:id="rIdS11"/>
    <p:sldId id="267" r:id="rIdS12"/>
    <p:sldId id="268" r:id="rIdS13"/>
    <p:sldId id="269" r:id="rIdS14"/>
    <p:sldId id="270" r:id="rIdS15"/>
    <p:sldId id="271" r:id="rIdS16"/>
    <p:sldId id="272" r:id="rIdS17"/>
    <p:sldId id="273" r:id="rIdS18"/>
    <p:sldId id="274" r:id="rIdS19"/>
    <p:sldId id="275" r:id="rIdS20"/>
    <p:sldId id="276" r:id="rIdS21"/>
    <p:sldId id="277" r:id="rIdS22"/>
  </p:sldIdLst>
  <p:sldSz cx="13716000" cy="10287000"/>
  <p:notesSz cx="10287000" cy="13716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M" Type="http://schemas.openxmlformats.org/officeDocument/2006/relationships/slideMaster" Target="slideMasters/slideMaster1.xml"/><Relationship Id="rIdN" Type="http://schemas.openxmlformats.org/officeDocument/2006/relationships/notesMaster" Target="notesMasters/notesMaster1.xml"/><Relationship Id="rIdP" Type="http://schemas.openxmlformats.org/officeDocument/2006/relationships/presProps" Target="presProps.xml"/><Relationship Id="rIdS1" Type="http://schemas.openxmlformats.org/officeDocument/2006/relationships/slide" Target="slides/slide1.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 Id="rIdS13" Type="http://schemas.openxmlformats.org/officeDocument/2006/relationships/slide" Target="slides/slide13.xml"/><Relationship Id="rIdS14" Type="http://schemas.openxmlformats.org/officeDocument/2006/relationships/slide" Target="slides/slide14.xml"/><Relationship Id="rIdS15" Type="http://schemas.openxmlformats.org/officeDocument/2006/relationships/slide" Target="slides/slide15.xml"/><Relationship Id="rIdS16" Type="http://schemas.openxmlformats.org/officeDocument/2006/relationships/slide" Target="slides/slide16.xml"/><Relationship Id="rIdS17" Type="http://schemas.openxmlformats.org/officeDocument/2006/relationships/slide" Target="slides/slide17.xml"/><Relationship Id="rIdS18" Type="http://schemas.openxmlformats.org/officeDocument/2006/relationships/slide" Target="slides/slide18.xml"/><Relationship Id="rIdS19" Type="http://schemas.openxmlformats.org/officeDocument/2006/relationships/slide" Target="slides/slide19.xml"/><Relationship Id="rIdS2" Type="http://schemas.openxmlformats.org/officeDocument/2006/relationships/slide" Target="slides/slide2.xml"/><Relationship Id="rIdS20" Type="http://schemas.openxmlformats.org/officeDocument/2006/relationships/slide" Target="slides/slide20.xml"/><Relationship Id="rIdS21" Type="http://schemas.openxmlformats.org/officeDocument/2006/relationships/slide" Target="slides/slide21.xml"/><Relationship Id="rIdS22" Type="http://schemas.openxmlformats.org/officeDocument/2006/relationships/slide" Target="slides/slide2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T" Type="http://schemas.openxmlformats.org/officeDocument/2006/relationships/theme" Target="theme/theme1.xml"/><Relationship Id="rIdTS" Type="http://schemas.openxmlformats.org/officeDocument/2006/relationships/tableStyles" Target="tableStyles.xml"/><Relationship Id="rIdV"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Lesson 2 connects the repo from Lesson 1 to a coding agent, ChatGPT Codex. The goal is a repeatable loop: specify a verifiable change, let the agent generate it on a branch, and verify it yourself before it reaches main. Everything we do today with beam-calc applies to your own course code in Exercise 7.</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 gave everyone a repo on GitHub and the habit of working through branches and pull requests. This lesson puts a coding agent on the other side of that loop. The worked example continues with beam-calc so nobody is debugging unfamiliar code; the last exercise moves to each instructor’s own project. Emphasize objective 4: the engineer, not the agent, owns verification.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agent account is the usual blocker; sort it out before class. Codex cloud comes with ChatGPT Plus and higher, including Business, Edu, and Enterprise workspaces; use whatever account type your organization directs. MATLAB is optional but strongly recommended: the agent cannot run MATLAB in its cloud environment, so the instructor is the only one who can execute the tests. That gap is the point of the Adjudicate step.</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instructors have used chat LLMs. The shift is that the agent works directly in the repo, so the human job moves from integrating code to specifying and verifying it. That is the same shift we ask of cadets when they move from writing every line to engineering a system.</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Specify, Generate, Implement, Adjudicate, then Iterate. The agent is good at Generate. Specify and Adjudicate stay with the engineer; Implement means trusted tools (MATLAB, the compiler, test suites, hardware) turn the proposal into evidence. The five steps are the mechanics; every remaining slide maps to one of them.</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Codex cloud is the worked example because it runs entirely from a GitHub repo, which is what Lesson 1 set up, and because it reads AGENTS.md, which the beam-calc repo already has. The method transfers to any agent: Claude Code reads CLAUDE.md, which can import AGENTS.md with an @AGENTS.md line; Copilot reads its own instructions file. Lesson 4 uses Codex locally, in the VS Code extension. Verify current plans before recommending a tool to colleagues or cadets.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small feature carried through every exercise. The requirement is written so it can be verified before any code exists: a named function, units, and a test with a tolerance. The hand check uses the Lesson 1 section (50 × 100 mm steel, L = 2 m), so it does not depend on what instructors changed in beam.m during Lesson 1. Point out the 3/8 ratio: an independent sanity check the agent did not write.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AGENTS.md is the most effective single thing you can do to improve agent output. It is plain Markdown at the repo root, and instructors already wrote a first draft in Lesson 1; today they make it useful. About me sets the explanation level. The Environment and checks section matters most: Codex cannot run MATLAB in its cloud environment, so it should say what it could not verify instead of claiming the tests pass. Claude Code users can add a one-line CLAUDE.md containing @AGENTS.md to share the same rules.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Emphasize the architecture: the agent never touches the laptop. GitHub is the hand-off point between the Codex cloud environment and your machine, which is why Lesson 1 spent so long on push, fetch, and pull. Grant the GitHub connection access to selected repositories only, not your whole account. The Codex interface changes often; check the labels before class, but the steps stay the same: sign in, connect GitHub, set up an environment for the repo, start a task.</a:t>
            </a:r>
          </a:p>
          <a:p>
            <a:r>
              <a:t>Screenshot to add: Codex cloud: environment setup for beam-calc, repository selected and agent internet access off (Replace the gray placeholder: right-click › Change Picture › From a File.)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orientation prompt costs one message and tells you whether the agent understands the code. If the Codex interface offers an Ask (question-only) mode, use it here. A good answer names the formula, the units, the test, and its own limits. If the summary is wrong, fix AGENTS.md before going further.</a:t>
            </a:r>
          </a:p>
          <a:p>
            <a:r>
              <a:t>Screenshot to add: Codex task showing the orientation prompt and the agent’s summary (Replace the gray placeholder: right-click › Change Picture › From a File.)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Asking for a plan first is cheap and catches wrong assumptions before code is written. Good plans name files, functions, and open questions. The engineer answers the questions; the agent should not guess. Here the load extent is a real modeling decision that belongs to the instructor.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Codex works on its own branch, never directly on main. Codex names the branch when you create the pull request, so yours will differ from codex/udl-deflection. Walk through the diff line by line. Look hardest at the test: an agent that writes both the code and its test can make them agree with each other and still be wrong. Here the expected value 2.40e-3 m comes from our hand calculation, not from the code. The ... in the fprintf lines is shortened for the slide.</a:t>
            </a:r>
          </a:p>
          <a:p>
            <a:r>
              <a:t>Screenshot to add: Codex task diff view with the control that creates the pull request (Replace the gray placeholder: right-click › Change Picture › From a File.)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Same branches and pull requests as Lesson 1, with the agent as the other contributor. Codex never commits to main. The pull request is where the review happens, and where the change is merged after the test passes. To get a fix onto the same pull request, comment on it with @codex and the request; Codex starts a task with the PR as context and can push to its branch. Follow-ups inside the original task may or may not update the PR, depending on the current Codex interface.</a:t>
            </a:r>
          </a:p>
          <a:p>
            <a:r>
              <a:t>Screenshot to add: GitHub pull request for the codex/… branch: Files changed and the commit list (Replace the gray placeholder: right-click › Change Picture › From a File.)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step that tests the requirement. MATLAB and the test suite are the trusted tools; the hand calculation and the 3/8 ratio are independent checks the agent did not produce. If an instructor has no MATLAB, they can still review the test logic and the hand calculation, but should record the change as unverified.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Failure reports should contain observations and logs, not just ‘it doesn’t work’. Commenting @codex on the pull request keeps the fix on the same branch and the discussion on the PR, where reviewers can see it. Asking for an explanation before a fix keeps the engineer in the loop and often exposes a wrong assumption (here, a section dimension entered in mm). One requirement per task keeps context small and commits easy to review.</a:t>
            </a:r>
          </a:p>
          <a:p>
            <a:r>
              <a:t>Screenshot to add: GitHub pull request comment box with an @codex failure report (Replace the gray placeholder: right-click › Change Picture › From a File.)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row is a pattern seen with engineering code. Agents produce plausible code; plausible is not the same as correct. The weakened test is the most dangerous because the green check mark looks like evidence. The independent checks (hand calculation, units, running the suite yourself) are what catch these.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Instructors who document their own agent use are better placed to set and grade the same expectation for cadets. An AI_LOG.md, one entry per Codex task, records how GenAI contributed and what the human did to evaluate it. Check the current USAFA and department GenAI policy for the exact wording your course requires.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Move from the shared example to each instructor’s own project. Coach toward small, checkable requirements; the first task is about learning the loop, not shipping a large feature. Walk the room and look at requirements before people start tasks: a requirement with no verification is the most common problem.</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When you bring this to a course, decide the team model up front. A Codex task belongs to one ChatGPT account; teammates cannot join it, so the repo is where collaboration happens. Grading the artifacts of the process (requirement, plan, review, verification, log) rewards the engineering judgment we care about rather than the volume of generated code.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problems instructors hit most often in a first Codex task. Most come back to two ideas: GitHub is the hand-off point, so the agent’s work only reaches your laptop after it is on a branch and you fetch; and the agent cannot run MATLAB, so verification is always yours.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one-page summary of the prompts and actions from today. Suggest instructors keep it open during Exercise 7 and when they first use an agent on their own.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Expected answers. 1: it reads the repo, edits files, runs commands, and commits; you move from integrator to specifier, reviewer, and tester. 2: project context, environment limits, conventions, and rules; short because Codex reads it every task and long files bury the rules that matter. 3: it catches wrong assumptions and open questions cheaply, before code exists. 4: verify it yourself; the agent cannot run MATLAB. 5: not without an independent reason the old value was wrong; a test edited to pass is not evidence.</a:t>
            </a:r>
          </a:p>
        </p:txBody>
      </p:sp>
    </p:spTree>
  </p:cSld>
  <p:clrMapOvr>
    <a:masterClrMapping/>
  </p:clrMapOvr>
</p:notes>
</file>

<file path=ppt/slideLayouts/_rels/slideLayout1.xml.rels><?xml version='1.0' encoding='UTF-8' standalone='yes'?>
<Relationships xmlns="http://schemas.openxmlformats.org/package/2006/relationships"><Relationship Id="rIdLogo" Type="http://schemas.openxmlformats.org/officeDocument/2006/relationships/image" Target="../media/image1.png"/><Relationship Id="rIdMaster"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Master"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Master"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Master"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Master"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p:spTree>
      <p:nvGrpSpPr>
        <p:cNvPr id="1" name=""/>
        <p:cNvGrpSpPr/>
        <p:nvPr/>
      </p:nvGrpSpPr>
      <p:grpSpPr>
        <a:xfrm>
          <a:off x="0" y="0"/>
          <a:ext cx="0" cy="0"/>
          <a:chOff x="0" y="0"/>
          <a:chExt cx="0" cy="0"/>
        </a:xfrm>
      </p:grpSpPr>
      <p:sp>
        <p:nvSpPr>
          <p:cNvPr id="2" name="Sidebar"/>
          <p:cNvSpPr/>
          <p:nvPr userDrawn="1"/>
        </p:nvSpPr>
        <p:spPr>
          <a:xfrm>
            <a:off x="0" y="0"/>
            <a:ext cx="1543050" cy="10287000"/>
          </a:xfrm>
          <a:prstGeom prst="rect">
            <a:avLst/>
          </a:prstGeom>
          <a:solidFill>
            <a:srgbClr val="E6E6E6"/>
          </a:solidFill>
          <a:ln>
            <a:noFill/>
          </a:ln>
        </p:spPr>
      </p:sp>
      <p:pic>
        <p:nvPicPr>
          <p:cNvPr id="3" name="Logo" descr="U.S. Air Force Academy logo"/>
          <p:cNvPicPr>
            <a:picLocks noChangeAspect="1"/>
          </p:cNvPicPr>
          <p:nvPr userDrawn="1"/>
        </p:nvPicPr>
        <p:blipFill>
          <a:blip r:embed="rIdLogo"/>
          <a:stretch>
            <a:fillRect/>
          </a:stretch>
        </p:blipFill>
        <p:spPr>
          <a:xfrm>
            <a:off x="200025" y="133350"/>
            <a:ext cx="1143000" cy="1143000"/>
          </a:xfrm>
          <a:prstGeom prst="rect">
            <a:avLst/>
          </a:prstGeom>
        </p:spPr>
      </p:pic>
      <p:sp>
        <p:nvSpPr>
          <p:cNvPr id="4" name="Title rule"/>
          <p:cNvSpPr/>
          <p:nvPr userDrawn="1"/>
        </p:nvSpPr>
        <p:spPr>
          <a:xfrm>
            <a:off x="1657350" y="1219200"/>
            <a:ext cx="11925300" cy="66675"/>
          </a:xfrm>
          <a:prstGeom prst="rect">
            <a:avLst/>
          </a:prstGeom>
          <a:solidFill>
            <a:srgbClr val="000000"/>
          </a:solidFill>
          <a:ln>
            <a:noFill/>
          </a:ln>
        </p:spPr>
      </p:sp>
      <p:sp>
        <p:nvSpPr>
          <p:cNvPr id="5" name="Course title"/>
          <p:cNvSpPr>
            <a:spLocks noGrp="1"/>
          </p:cNvSpPr>
          <p:nvPr>
            <p:ph type="title"/>
          </p:nvPr>
        </p:nvSpPr>
        <p:spPr>
          <a:xfrm>
            <a:off x="1673225" y="155575"/>
            <a:ext cx="11523663" cy="1106488"/>
          </a:xfrm>
        </p:spPr>
        <p:txBody>
          <a:bodyPr wrap="square" lIns="25400" tIns="25400" rIns="25400" bIns="25400" anchor="ctr">
            <a:normAutofit/>
          </a:bodyPr>
          <a:lstStyle>
            <a:lvl1pPr>
              <a:defRPr sz="5400"/>
            </a:lvl1pPr>
          </a:lstStyle>
          <a:p>
            <a:r>
              <a:rPr lang="en-US" dirty="0"/>
              <a:t>Agentic AI for Engineering</a:t>
            </a:r>
            <a:endParaRPr lang="en-US" dirty="0"/>
          </a:p>
        </p:txBody>
      </p:sp>
      <p:sp>
        <p:nvSpPr>
          <p:cNvPr id="6" name="Lesson number"/>
          <p:cNvSpPr>
            <a:spLocks noGrp="1"/>
          </p:cNvSpPr>
          <p:nvPr>
            <p:ph type="body" idx="1"/>
          </p:nvPr>
        </p:nvSpPr>
        <p:spPr>
          <a:xfrm>
            <a:off x="1657350" y="2286000"/>
            <a:ext cx="11925300" cy="1371600"/>
          </a:xfrm>
        </p:spPr>
        <p:txBody>
          <a:bodyPr wrap="square" lIns="25400" tIns="25400" rIns="25400" bIns="25400">
            <a:noAutofit/>
          </a:bodyPr>
          <a:lstStyle>
            <a:lvl1pPr marL="0" indent="0" algn="ctr">
              <a:spcAft>
                <a:spcPts val="0"/>
              </a:spcAft>
              <a:buNone/>
              <a:defRPr sz="9000" b="1">
                <a:solidFill>
                  <a:schemeClr val="tx1"/>
                </a:solidFill>
              </a:defRPr>
            </a:lvl1pPr>
          </a:lstStyle>
          <a:p>
            <a:r>
              <a:rPr lang="en-US" dirty="0"/>
              <a:t>Lesson N</a:t>
            </a:r>
            <a:endParaRPr lang="en-US" dirty="0"/>
          </a:p>
        </p:txBody>
      </p:sp>
      <p:sp>
        <p:nvSpPr>
          <p:cNvPr id="7" name="Lesson title"/>
          <p:cNvSpPr>
            <a:spLocks noGrp="1"/>
          </p:cNvSpPr>
          <p:nvPr>
            <p:ph type="body" idx="2"/>
          </p:nvPr>
        </p:nvSpPr>
        <p:spPr>
          <a:xfrm>
            <a:off x="1657350" y="3771900"/>
            <a:ext cx="11925300" cy="990600"/>
          </a:xfrm>
        </p:spPr>
        <p:txBody>
          <a:bodyPr wrap="square" lIns="25400" tIns="25400" rIns="25400" bIns="25400">
            <a:noAutofit/>
          </a:bodyPr>
          <a:lstStyle>
            <a:lvl1pPr marL="0" indent="0" algn="ctr">
              <a:spcAft>
                <a:spcPts val="0"/>
              </a:spcAft>
              <a:buNone/>
              <a:defRPr sz="4400" b="1">
                <a:solidFill>
                  <a:schemeClr val="tx1"/>
                </a:solidFill>
              </a:defRPr>
            </a:lvl1pPr>
          </a:lstStyle>
          <a:p>
            <a:r>
              <a:rPr lang="en-US" dirty="0"/>
              <a:t>Lesson title</a:t>
            </a:r>
            <a:endParaRPr lang="en-US" dirty="0"/>
          </a:p>
        </p:txBody>
      </p:sp>
      <p:sp>
        <p:nvSpPr>
          <p:cNvPr id="8" name="Subtitle"/>
          <p:cNvSpPr>
            <a:spLocks noGrp="1"/>
          </p:cNvSpPr>
          <p:nvPr>
            <p:ph type="body" idx="3"/>
          </p:nvPr>
        </p:nvSpPr>
        <p:spPr>
          <a:xfrm>
            <a:off x="1657350" y="4838700"/>
            <a:ext cx="11925300" cy="685800"/>
          </a:xfrm>
        </p:spPr>
        <p:txBody>
          <a:bodyPr wrap="square" lIns="25400" tIns="25400" rIns="25400" bIns="25400">
            <a:noAutofit/>
          </a:bodyPr>
          <a:lstStyle>
            <a:lvl1pPr marL="0" indent="0" algn="ctr">
              <a:spcAft>
                <a:spcPts val="0"/>
              </a:spcAft>
              <a:buNone/>
              <a:defRPr sz="3200" b="1">
                <a:solidFill>
                  <a:schemeClr val="tx1"/>
                </a:solidFill>
              </a:defRPr>
            </a:lvl1pPr>
          </a:lstStyle>
          <a:p>
            <a:r>
              <a:rPr lang="en-US" dirty="0"/>
              <a:t>Subtitle</a:t>
            </a:r>
            <a:endParaRPr lang="en-US" dirty="0"/>
          </a:p>
        </p:txBody>
      </p:sp>
      <p:sp>
        <p:nvSpPr>
          <p:cNvPr id="9" name="Tagline"/>
          <p:cNvSpPr>
            <a:spLocks noGrp="1"/>
          </p:cNvSpPr>
          <p:nvPr>
            <p:ph type="body" idx="4"/>
          </p:nvPr>
        </p:nvSpPr>
        <p:spPr>
          <a:xfrm>
            <a:off x="1657350" y="5600700"/>
            <a:ext cx="11925300" cy="609600"/>
          </a:xfrm>
        </p:spPr>
        <p:txBody>
          <a:bodyPr wrap="square" lIns="25400" tIns="25400" rIns="25400" bIns="25400">
            <a:noAutofit/>
          </a:bodyPr>
          <a:lstStyle>
            <a:lvl1pPr marL="0" indent="0" algn="ctr">
              <a:spcAft>
                <a:spcPts val="0"/>
              </a:spcAft>
              <a:buNone/>
              <a:defRPr sz="2700">
                <a:solidFill>
                  <a:schemeClr val="accent6"/>
                </a:solidFill>
              </a:defRPr>
            </a:lvl1pPr>
          </a:lstStyle>
          <a:p>
            <a:r>
              <a:rPr lang="en-US" dirty="0"/>
              <a:t>One-line description</a:t>
            </a:r>
            <a:endParaRPr lang="en-US" dirty="0"/>
          </a:p>
        </p:txBody>
      </p:sp>
      <p:sp>
        <p:nvSpPr>
          <p:cNvPr id="10" name="Course line"/>
          <p:cNvSpPr>
            <a:spLocks noGrp="1"/>
          </p:cNvSpPr>
          <p:nvPr>
            <p:ph type="body" idx="5"/>
          </p:nvPr>
        </p:nvSpPr>
        <p:spPr>
          <a:xfrm>
            <a:off x="1657350" y="9334500"/>
            <a:ext cx="11925300" cy="609600"/>
          </a:xfrm>
        </p:spPr>
        <p:txBody>
          <a:bodyPr wrap="square" lIns="25400" tIns="25400" rIns="25400" bIns="25400">
            <a:noAutofit/>
          </a:bodyPr>
          <a:lstStyle>
            <a:lvl1pPr marL="0" indent="0" algn="ctr">
              <a:spcAft>
                <a:spcPts val="0"/>
              </a:spcAft>
              <a:buNone/>
              <a:defRPr sz="3000" b="1">
                <a:solidFill>
                  <a:schemeClr val="tx1"/>
                </a:solidFill>
              </a:defRPr>
            </a:lvl1pPr>
          </a:lstStyle>
          <a:p>
            <a:r>
              <a:rPr lang="en-US" dirty="0"/>
              <a:t>USAFA Instructor Short Course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Click to edit title</a:t>
            </a:r>
            <a:endParaRPr lang="en-US" dirty="0"/>
          </a:p>
        </p:txBody>
      </p:sp>
      <p:sp>
        <p:nvSpPr>
          <p:cNvPr id="3" name="Content"/>
          <p:cNvSpPr>
            <a:spLocks noGrp="1"/>
          </p:cNvSpPr>
          <p:nvPr>
            <p:ph type="body" idx="1"/>
          </p:nvPr>
        </p:nvSpPr>
        <p:spPr/>
        <p:txBody>
          <a:bodyPr wrap="square" lIns="25400" tIns="25400" rIns="25400" bIns="25400">
            <a:noAutofit/>
          </a:bodyPr>
          <a:lstStyle/>
          <a:p>
            <a:endParaRPr lang="en-US" dirty="0"/>
          </a:p>
        </p:txBody>
      </p:sp>
      <p:sp>
        <p:nvSpPr>
          <p:cNvPr id="4" name="Footer"/>
          <p:cNvSpPr>
            <a:spLocks noGrp="1"/>
          </p:cNvSpPr>
          <p:nvPr>
            <p:ph type="ftr" sz="quarter" idx="11"/>
          </p:nvPr>
        </p:nvSpPr>
        <p:spPr/>
        <p:txBody>
          <a:bodyPr/>
          <a:lstStyle/>
          <a:p>
            <a:endParaRPr lang="en-US" dirty="0"/>
          </a:p>
        </p:txBody>
      </p:sp>
      <p:sp>
        <p:nvSpPr>
          <p:cNvPr id="5" name="Slide Numb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Click to edit title</a:t>
            </a:r>
            <a:endParaRPr lang="en-US" dirty="0"/>
          </a:p>
        </p:txBody>
      </p:sp>
      <p:sp>
        <p:nvSpPr>
          <p:cNvPr id="3" name="Left content"/>
          <p:cNvSpPr>
            <a:spLocks noGrp="1"/>
          </p:cNvSpPr>
          <p:nvPr>
            <p:ph type="body" idx="1"/>
          </p:nvPr>
        </p:nvSpPr>
        <p:spPr>
          <a:xfrm>
            <a:off x="1809750" y="1600200"/>
            <a:ext cx="5715000" cy="7962900"/>
          </a:xfrm>
        </p:spPr>
        <p:txBody>
          <a:bodyPr wrap="square" lIns="25400" tIns="25400" rIns="25400" bIns="25400">
            <a:noAutofit/>
          </a:bodyPr>
          <a:lstStyle/>
          <a:p>
            <a:endParaRPr lang="en-US" dirty="0"/>
          </a:p>
        </p:txBody>
      </p:sp>
      <p:sp>
        <p:nvSpPr>
          <p:cNvPr id="4" name="Right content"/>
          <p:cNvSpPr>
            <a:spLocks noGrp="1"/>
          </p:cNvSpPr>
          <p:nvPr>
            <p:ph type="body" idx="2"/>
          </p:nvPr>
        </p:nvSpPr>
        <p:spPr>
          <a:xfrm>
            <a:off x="7867650" y="1600200"/>
            <a:ext cx="5715000" cy="7962900"/>
          </a:xfrm>
        </p:spPr>
        <p:txBody>
          <a:bodyPr wrap="square" lIns="25400" tIns="25400" rIns="25400" bIns="25400">
            <a:noAutofit/>
          </a:bodyPr>
          <a:lstStyle/>
          <a:p>
            <a:endParaRPr lang="en-US" dirty="0"/>
          </a:p>
        </p:txBody>
      </p:sp>
      <p:sp>
        <p:nvSpPr>
          <p:cNvPr id="5" name="Footer"/>
          <p:cNvSpPr>
            <a:spLocks noGrp="1"/>
          </p:cNvSpPr>
          <p:nvPr>
            <p:ph type="ftr" sz="quarter" idx="11"/>
          </p:nvPr>
        </p:nvSpPr>
        <p:spPr/>
        <p:txBody>
          <a:bodyPr/>
          <a:lstStyle/>
          <a:p>
            <a:endParaRPr lang="en-US" dirty="0"/>
          </a:p>
        </p:txBody>
      </p:sp>
      <p:sp>
        <p:nvSpPr>
          <p:cNvPr id="6" name="Slide Numb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cust" preserve="1">
  <p:cSld name="Chip and Conten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Click to edit title</a:t>
            </a:r>
            <a:endParaRPr lang="en-US" dirty="0"/>
          </a:p>
        </p:txBody>
      </p:sp>
      <p:sp>
        <p:nvSpPr>
          <p:cNvPr id="3" name="Chip"/>
          <p:cNvSpPr>
            <a:spLocks noGrp="1"/>
          </p:cNvSpPr>
          <p:nvPr>
            <p:ph type="body" idx="13"/>
          </p:nvPr>
        </p:nvSpPr>
        <p:spPr>
          <a:xfrm>
            <a:off x="1809750" y="1524000"/>
            <a:ext cx="1314450" cy="381000"/>
          </a:xfrm>
          <a:prstGeom prst="roundRect">
            <a:avLst>
              <a:gd name="adj" fmla="val 15000"/>
            </a:avLst>
          </a:prstGeom>
          <a:solidFill>
            <a:srgbClr val="595959"/>
          </a:solidFill>
          <a:ln>
            <a:noFill/>
          </a:ln>
        </p:spPr>
        <p:txBody>
          <a:bodyPr wrap="none" lIns="91440" tIns="25400" rIns="91440" bIns="25400" anchor="ctr">
            <a:spAutoFit/>
          </a:bodyPr>
          <a:lstStyle>
            <a:lvl1pPr marL="0" indent="0" algn="ctr">
              <a:spcAft>
                <a:spcPts val="0"/>
              </a:spcAft>
              <a:buNone/>
              <a:defRPr sz="1800" b="1">
                <a:solidFill>
                  <a:schemeClr val="bg1"/>
                </a:solidFill>
              </a:defRPr>
            </a:lvl1pPr>
          </a:lstStyle>
          <a:p>
            <a:r>
              <a:rPr lang="en-US" dirty="0"/>
              <a:t>EXERCISE</a:t>
            </a:r>
            <a:endParaRPr lang="en-US" dirty="0"/>
          </a:p>
        </p:txBody>
      </p:sp>
      <p:sp>
        <p:nvSpPr>
          <p:cNvPr id="4" name="Steps"/>
          <p:cNvSpPr>
            <a:spLocks noGrp="1"/>
          </p:cNvSpPr>
          <p:nvPr>
            <p:ph type="body" idx="1"/>
          </p:nvPr>
        </p:nvSpPr>
        <p:spPr>
          <a:xfrm>
            <a:off x="1809750" y="2133600"/>
            <a:ext cx="11772900" cy="7429500"/>
          </a:xfrm>
        </p:spPr>
        <p:txBody>
          <a:bodyPr wrap="square" lIns="25400" tIns="25400" rIns="25400" bIns="25400">
            <a:noAutofit/>
          </a:bodyPr>
          <a:lstStyle>
            <a:lvl1pPr marL="571500" indent="-571500">
              <a:spcAft>
                <a:spcPts val="1200"/>
              </a:spcAft>
              <a:buClr>
                <a:schemeClr val="accent1"/>
              </a:buClr>
              <a:buSzPct val="110000"/>
              <a:buFont typeface="+mj-lt"/>
              <a:buAutoNum type="arabicPlain"/>
              <a:defRPr sz="2000"/>
            </a:lvl1pPr>
          </a:lstStyle>
          <a:p>
            <a:r>
              <a:rPr lang="en-US" dirty="0"/>
              <a:t>Numbered step</a:t>
            </a:r>
            <a:endParaRPr lang="en-US" dirty="0"/>
          </a:p>
        </p:txBody>
      </p:sp>
      <p:sp>
        <p:nvSpPr>
          <p:cNvPr id="5" name="Footer"/>
          <p:cNvSpPr>
            <a:spLocks noGrp="1"/>
          </p:cNvSpPr>
          <p:nvPr>
            <p:ph type="ftr" sz="quarter" idx="11"/>
          </p:nvPr>
        </p:nvSpPr>
        <p:spPr/>
        <p:txBody>
          <a:bodyPr/>
          <a:lstStyle/>
          <a:p>
            <a:endParaRPr lang="en-US" dirty="0"/>
          </a:p>
        </p:txBody>
      </p:sp>
      <p:sp>
        <p:nvSpPr>
          <p:cNvPr id="6" name="Slide Numb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cust" preserve="1">
  <p:cSld name="Chip, Steps, and Code">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Click to edit title</a:t>
            </a:r>
            <a:endParaRPr lang="en-US" dirty="0"/>
          </a:p>
        </p:txBody>
      </p:sp>
      <p:sp>
        <p:nvSpPr>
          <p:cNvPr id="3" name="Chip"/>
          <p:cNvSpPr>
            <a:spLocks noGrp="1"/>
          </p:cNvSpPr>
          <p:nvPr>
            <p:ph type="body" idx="13"/>
          </p:nvPr>
        </p:nvSpPr>
        <p:spPr>
          <a:xfrm>
            <a:off x="1809750" y="1524000"/>
            <a:ext cx="1314450" cy="381000"/>
          </a:xfrm>
          <a:prstGeom prst="roundRect">
            <a:avLst>
              <a:gd name="adj" fmla="val 15000"/>
            </a:avLst>
          </a:prstGeom>
          <a:solidFill>
            <a:srgbClr val="595959"/>
          </a:solidFill>
          <a:ln>
            <a:noFill/>
          </a:ln>
        </p:spPr>
        <p:txBody>
          <a:bodyPr wrap="none" lIns="91440" tIns="25400" rIns="91440" bIns="25400" anchor="ctr">
            <a:spAutoFit/>
          </a:bodyPr>
          <a:lstStyle>
            <a:lvl1pPr marL="0" indent="0" algn="ctr">
              <a:spcAft>
                <a:spcPts val="0"/>
              </a:spcAft>
              <a:buNone/>
              <a:defRPr sz="1800" b="1">
                <a:solidFill>
                  <a:schemeClr val="bg1"/>
                </a:solidFill>
              </a:defRPr>
            </a:lvl1pPr>
          </a:lstStyle>
          <a:p>
            <a:r>
              <a:rPr lang="en-US" dirty="0"/>
              <a:t>EXERCISE</a:t>
            </a:r>
            <a:endParaRPr lang="en-US" dirty="0"/>
          </a:p>
        </p:txBody>
      </p:sp>
      <p:sp>
        <p:nvSpPr>
          <p:cNvPr id="4" name="Steps"/>
          <p:cNvSpPr>
            <a:spLocks noGrp="1"/>
          </p:cNvSpPr>
          <p:nvPr>
            <p:ph type="body" idx="1"/>
          </p:nvPr>
        </p:nvSpPr>
        <p:spPr>
          <a:xfrm>
            <a:off x="1809750" y="2133600"/>
            <a:ext cx="6096000" cy="7429500"/>
          </a:xfrm>
        </p:spPr>
        <p:txBody>
          <a:bodyPr wrap="square" lIns="25400" tIns="25400" rIns="25400" bIns="25400">
            <a:noAutofit/>
          </a:bodyPr>
          <a:lstStyle>
            <a:lvl1pPr marL="571500" indent="-571500">
              <a:spcAft>
                <a:spcPts val="1200"/>
              </a:spcAft>
              <a:buClr>
                <a:schemeClr val="accent1"/>
              </a:buClr>
              <a:buSzPct val="110000"/>
              <a:buFont typeface="+mj-lt"/>
              <a:buAutoNum type="arabicPlain"/>
              <a:defRPr sz="2000"/>
            </a:lvl1pPr>
          </a:lstStyle>
          <a:p>
            <a:r>
              <a:rPr lang="en-US" dirty="0"/>
              <a:t>Numbered step</a:t>
            </a:r>
            <a:endParaRPr lang="en-US" dirty="0"/>
          </a:p>
        </p:txBody>
      </p:sp>
      <p:sp>
        <p:nvSpPr>
          <p:cNvPr id="5" name="Code"/>
          <p:cNvSpPr>
            <a:spLocks noGrp="1"/>
          </p:cNvSpPr>
          <p:nvPr>
            <p:ph type="body" idx="14"/>
          </p:nvPr>
        </p:nvSpPr>
        <p:spPr>
          <a:xfrm>
            <a:off x="8153400" y="1524000"/>
            <a:ext cx="5429250" cy="8039100"/>
          </a:xfrm>
          <a:prstGeom prst="roundRect">
            <a:avLst>
              <a:gd name="adj" fmla="val 3000"/>
            </a:avLst>
          </a:prstGeom>
          <a:solidFill>
            <a:srgbClr val="1E1E1E"/>
          </a:solidFill>
          <a:ln>
            <a:noFill/>
          </a:ln>
        </p:spPr>
        <p:txBody>
          <a:bodyPr wrap="square" lIns="228600" tIns="228600" rIns="228600" bIns="228600">
            <a:noAutofit/>
          </a:bodyPr>
          <a:lstStyle>
            <a:lvl1pPr marL="0" indent="0">
              <a:lnSpc>
                <a:spcPct val="115000"/>
              </a:lnSpc>
              <a:spcAft>
                <a:spcPts val="0"/>
              </a:spcAft>
              <a:buNone/>
              <a:defRPr sz="1600">
                <a:solidFill>
                  <a:srgbClr val="D4D4D4"/>
                </a:solidFill>
                <a:latin typeface="Consolas"/>
                <a:ea typeface="Consolas"/>
                <a:cs typeface="Consolas"/>
              </a:defRPr>
            </a:lvl1pPr>
          </a:lstStyle>
          <a:p>
            <a:r>
              <a:rPr lang="en-US" dirty="0"/>
              <a:t>% code or file contents</a:t>
            </a:r>
            <a:endParaRPr lang="en-US" dirty="0"/>
          </a:p>
        </p:txBody>
      </p:sp>
      <p:sp>
        <p:nvSpPr>
          <p:cNvPr id="6" name="Footer"/>
          <p:cNvSpPr>
            <a:spLocks noGrp="1"/>
          </p:cNvSpPr>
          <p:nvPr>
            <p:ph type="ftr" sz="quarter" idx="11"/>
          </p:nvPr>
        </p:nvSpPr>
        <p:spPr/>
        <p:txBody>
          <a:bodyPr/>
          <a:lstStyle/>
          <a:p>
            <a:endParaRPr lang="en-US" dirty="0"/>
          </a:p>
        </p:txBody>
      </p:sp>
      <p:sp>
        <p:nvSpPr>
          <p:cNvPr id="7" name="Slide Numb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Click to edit title</a:t>
            </a:r>
            <a:endParaRPr lang="en-US" dirty="0"/>
          </a:p>
        </p:txBody>
      </p:sp>
      <p:sp>
        <p:nvSpPr>
          <p:cNvPr id="3" name="Footer"/>
          <p:cNvSpPr>
            <a:spLocks noGrp="1"/>
          </p:cNvSpPr>
          <p:nvPr>
            <p:ph type="ftr" sz="quarter" idx="11"/>
          </p:nvPr>
        </p:nvSpPr>
        <p:spPr/>
        <p:txBody>
          <a:bodyPr/>
          <a:lstStyle/>
          <a:p>
            <a:endParaRPr lang="en-US" dirty="0"/>
          </a:p>
        </p:txBody>
      </p:sp>
      <p:sp>
        <p:nvSpPr>
          <p:cNvPr id="4" name="Slide Numb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Logo" Type="http://schemas.openxmlformats.org/officeDocument/2006/relationships/image" Target="../media/image1.png"/><Relationship Id="rIdTheme"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idebar"/>
          <p:cNvSpPr/>
          <p:nvPr userDrawn="1"/>
        </p:nvSpPr>
        <p:spPr>
          <a:xfrm>
            <a:off x="0" y="0"/>
            <a:ext cx="1543050" cy="10287000"/>
          </a:xfrm>
          <a:prstGeom prst="rect">
            <a:avLst/>
          </a:prstGeom>
          <a:solidFill>
            <a:srgbClr val="E6E6E6"/>
          </a:solidFill>
          <a:ln>
            <a:noFill/>
          </a:ln>
        </p:spPr>
      </p:sp>
      <p:pic>
        <p:nvPicPr>
          <p:cNvPr id="3" name="Logo" descr="U.S. Air Force Academy logo"/>
          <p:cNvPicPr>
            <a:picLocks noChangeAspect="1"/>
          </p:cNvPicPr>
          <p:nvPr userDrawn="1"/>
        </p:nvPicPr>
        <p:blipFill>
          <a:blip r:embed="rIdLogo"/>
          <a:stretch>
            <a:fillRect/>
          </a:stretch>
        </p:blipFill>
        <p:spPr>
          <a:xfrm>
            <a:off x="200025" y="133350"/>
            <a:ext cx="1143000" cy="1143000"/>
          </a:xfrm>
          <a:prstGeom prst="rect">
            <a:avLst/>
          </a:prstGeom>
        </p:spPr>
      </p:pic>
      <p:sp>
        <p:nvSpPr>
          <p:cNvPr id="4" name="Title rule"/>
          <p:cNvSpPr/>
          <p:nvPr userDrawn="1"/>
        </p:nvSpPr>
        <p:spPr>
          <a:xfrm>
            <a:off x="1657350" y="1219200"/>
            <a:ext cx="11925300" cy="66675"/>
          </a:xfrm>
          <a:prstGeom prst="rect">
            <a:avLst/>
          </a:prstGeom>
          <a:solidFill>
            <a:srgbClr val="000000"/>
          </a:solidFill>
          <a:ln>
            <a:noFill/>
          </a:ln>
        </p:spPr>
      </p:sp>
      <p:sp>
        <p:nvSpPr>
          <p:cNvPr id="5" name="Title Placeholder"/>
          <p:cNvSpPr>
            <a:spLocks noGrp="1"/>
          </p:cNvSpPr>
          <p:nvPr>
            <p:ph type="title"/>
          </p:nvPr>
        </p:nvSpPr>
        <p:spPr>
          <a:xfrm>
            <a:off x="1657350" y="200025"/>
            <a:ext cx="10858500" cy="1057275"/>
          </a:xfrm>
        </p:spPr>
        <p:txBody>
          <a:bodyPr vert="horz" wrap="square" lIns="25400" tIns="25400" rIns="25400" bIns="25400" anchor="ctr">
            <a:normAutofit/>
          </a:bodyPr>
          <a:lstStyle/>
          <a:p>
            <a:r>
              <a:rPr lang="en-US" dirty="0"/>
              <a:t>Click to edit title</a:t>
            </a:r>
            <a:endParaRPr lang="en-US" dirty="0"/>
          </a:p>
        </p:txBody>
      </p:sp>
      <p:sp>
        <p:nvSpPr>
          <p:cNvPr id="6" name="Text Placeholder"/>
          <p:cNvSpPr>
            <a:spLocks noGrp="1"/>
          </p:cNvSpPr>
          <p:nvPr>
            <p:ph type="body" idx="1"/>
          </p:nvPr>
        </p:nvSpPr>
        <p:spPr>
          <a:xfrm>
            <a:off x="1809750" y="1600200"/>
            <a:ext cx="11772900" cy="7962900"/>
          </a:xfrm>
        </p:spPr>
        <p:txBody>
          <a:bodyPr vert="horz" wrap="square" lIns="25400" tIns="25400" rIns="25400" bIns="25400">
            <a:noAutofit/>
          </a:bodyPr>
          <a:lstStyle/>
          <a:p>
            <a:r>
              <a:rPr lang="en-US" dirty="0"/>
              <a:t>Body text: plain paragraphs</a:t>
            </a:r>
            <a:endParaRPr lang="en-US" dirty="0"/>
          </a:p>
          <a:p>
            <a:pPr lvl="1"/>
            <a:r>
              <a:rPr lang="en-US"/>
              <a:t>Second level: bullets</a:t>
            </a:r>
          </a:p>
        </p:txBody>
      </p:sp>
      <p:sp>
        <p:nvSpPr>
          <p:cNvPr id="7" name="Footer Placeholder"/>
          <p:cNvSpPr>
            <a:spLocks noGrp="1"/>
          </p:cNvSpPr>
          <p:nvPr>
            <p:ph type="ftr" sz="quarter" idx="11"/>
          </p:nvPr>
        </p:nvSpPr>
        <p:spPr>
          <a:xfrm>
            <a:off x="1054418" y="9810750"/>
            <a:ext cx="13264515" cy="342900"/>
          </a:xfrm>
        </p:spPr>
        <p:txBody>
          <a:bodyPr wrap="square" lIns="25400" tIns="25400" rIns="25400" bIns="25400" anchor="t"/>
          <a:lstStyle>
            <a:lvl1pPr algn="ctr">
              <a:defRPr sz="1800">
                <a:solidFill>
                  <a:srgbClr val="2E2E2E"/>
                </a:solidFill>
                <a:latin typeface="+mn-lt"/>
                <a:ea typeface="+mn-ea"/>
                <a:cs typeface="+mn-cs"/>
              </a:defRPr>
            </a:lvl1pPr>
          </a:lstStyle>
          <a:p>
            <a:endParaRPr lang="en-US" dirty="0"/>
          </a:p>
        </p:txBody>
      </p:sp>
      <p:sp>
        <p:nvSpPr>
          <p:cNvPr id="8" name="Slide Number Placeholder"/>
          <p:cNvSpPr>
            <a:spLocks noGrp="1"/>
          </p:cNvSpPr>
          <p:nvPr>
            <p:ph type="sldNum" sz="quarter" idx="12"/>
          </p:nvPr>
        </p:nvSpPr>
        <p:spPr>
          <a:xfrm>
            <a:off x="12900000" y="9810750"/>
            <a:ext cx="758850" cy="342900"/>
          </a:xfrm>
        </p:spPr>
        <p:txBody>
          <a:bodyPr wrap="square" lIns="25400" tIns="25400" rIns="25400" bIns="25400" anchor="t"/>
          <a:lstStyle>
            <a:lvl1pPr algn="r">
              <a:defRPr sz="1800">
                <a:solidFill>
                  <a:srgbClr val="2E2E2E"/>
                </a:solidFill>
                <a:latin typeface="+mn-lt"/>
                <a:ea typeface="+mn-ea"/>
                <a:cs typeface="+mn-cs"/>
              </a:defRPr>
            </a:lvl1pPr>
          </a:lstStyle>
          <a:p>
            <a:fld id="{B6F15528-21DE-4FAA-801E-634DDDAF4B2B}" type="slidenum">
              <a:rPr lang="en-US"/>
              <a:t>‹#›</a:t>
            </a:fld>
            <a:endParaRPr lang="en-US"/>
          </a:p>
        </p:txBody>
      </p:sp>
      <p:sp>
        <p:nvSpPr>
          <p:cNvPr id="9" name="Lesson tag"/>
          <p:cNvSpPr txBox="1"/>
          <p:nvPr userDrawn="1"/>
        </p:nvSpPr>
        <p:spPr>
          <a:xfrm>
            <a:off x="11658600" y="133350"/>
            <a:ext cx="2000250" cy="393700"/>
          </a:xfrm>
          <a:prstGeom prst="rect">
            <a:avLst/>
          </a:prstGeom>
          <a:noFill/>
        </p:spPr>
        <p:txBody>
          <a:bodyPr wrap="square" lIns="25400" tIns="25400" rIns="25400" bIns="25400" rtlCol="0" anchor="t">
            <a:noAutofit/>
          </a:bodyPr>
          <a:lstStyle/>
          <a:p>
            <a:pPr algn="r"/>
            <a:r>
              <a:rPr lang="en-US" sz="2100" b="1" dirty="0"/>
              <a:t>Lesson 2</a:t>
            </a:r>
            <a:endParaRPr lang="en-US" sz="2100" b="1" dirty="0"/>
          </a:p>
        </p:txBody>
      </p:sp>
      <p:sp>
        <p:nvSpPr>
          <p:cNvPr id="10" name="Section list"/>
          <p:cNvSpPr txBox="1"/>
          <p:nvPr userDrawn="1"/>
        </p:nvSpPr>
        <p:spPr>
          <a:xfrm>
            <a:off x="133350" y="2381250"/>
            <a:ext cx="1409700" cy="4191000"/>
          </a:xfrm>
          <a:prstGeom prst="rect">
            <a:avLst/>
          </a:prstGeom>
          <a:noFill/>
        </p:spPr>
        <p:txBody>
          <a:bodyPr wrap="square" lIns="25400" tIns="0" rIns="0" bIns="0" rtlCol="0" anchor="t">
            <a:noAutofit/>
          </a:bodyPr>
          <a:lstStyle/>
          <a:p>
            <a:pPr>
              <a:lnSpc>
                <a:spcPts val="3000"/>
              </a:lnSpc>
            </a:pPr>
            <a:r>
              <a:rPr lang="en-US" sz="1800" dirty="0"/>
              <a:t>Overview</a:t>
            </a:r>
            <a:endParaRPr lang="en-US" sz="1800" dirty="0"/>
          </a:p>
          <a:p>
            <a:pPr>
              <a:lnSpc>
                <a:spcPts val="3000"/>
              </a:lnSpc>
            </a:pPr>
            <a:r>
              <a:rPr lang="en-US" sz="1800" dirty="0"/>
              <a:t>Concepts</a:t>
            </a:r>
            <a:endParaRPr lang="en-US" sz="1800" dirty="0"/>
          </a:p>
          <a:p>
            <a:pPr>
              <a:lnSpc>
                <a:spcPts val="3000"/>
              </a:lnSpc>
            </a:pPr>
            <a:r>
              <a:rPr lang="en-US" sz="1800" dirty="0"/>
              <a:t>Specify</a:t>
            </a:r>
            <a:endParaRPr lang="en-US" sz="1800" dirty="0"/>
          </a:p>
          <a:p>
            <a:pPr>
              <a:lnSpc>
                <a:spcPts val="3000"/>
              </a:lnSpc>
            </a:pPr>
            <a:r>
              <a:rPr lang="en-US" sz="1800" dirty="0"/>
              <a:t>Setup</a:t>
            </a:r>
            <a:endParaRPr lang="en-US" sz="1800" dirty="0"/>
          </a:p>
          <a:p>
            <a:pPr>
              <a:lnSpc>
                <a:spcPts val="3000"/>
              </a:lnSpc>
            </a:pPr>
            <a:r>
              <a:rPr lang="en-US" sz="1800" dirty="0"/>
              <a:t>Generate</a:t>
            </a:r>
            <a:endParaRPr lang="en-US" sz="1800" dirty="0"/>
          </a:p>
          <a:p>
            <a:pPr>
              <a:lnSpc>
                <a:spcPts val="3000"/>
              </a:lnSpc>
            </a:pPr>
            <a:r>
              <a:rPr lang="en-US" sz="1800" dirty="0"/>
              <a:t>Adjudicate</a:t>
            </a:r>
            <a:endParaRPr lang="en-US" sz="1800" dirty="0"/>
          </a:p>
          <a:p>
            <a:pPr>
              <a:lnSpc>
                <a:spcPts val="3000"/>
              </a:lnSpc>
            </a:pPr>
            <a:r>
              <a:rPr lang="en-US" sz="1800" dirty="0"/>
              <a:t>Pitfalls</a:t>
            </a:r>
            <a:endParaRPr lang="en-US" sz="1800" dirty="0"/>
          </a:p>
          <a:p>
            <a:pPr>
              <a:lnSpc>
                <a:spcPts val="3000"/>
              </a:lnSpc>
            </a:pPr>
            <a:r>
              <a:rPr lang="en-US" sz="1800" dirty="0"/>
              <a:t>GenAI Use</a:t>
            </a:r>
            <a:endParaRPr lang="en-US" sz="1800" dirty="0"/>
          </a:p>
          <a:p>
            <a:pPr>
              <a:lnSpc>
                <a:spcPts val="3000"/>
              </a:lnSpc>
            </a:pPr>
            <a:r>
              <a:rPr lang="en-US" sz="1800" dirty="0"/>
              <a:t>Your Repo</a:t>
            </a:r>
            <a:endParaRPr lang="en-US" sz="1800" dirty="0"/>
          </a:p>
          <a:p>
            <a:pPr>
              <a:lnSpc>
                <a:spcPts val="3000"/>
              </a:lnSpc>
            </a:pPr>
            <a:r>
              <a:rPr lang="en-US" sz="1800" dirty="0"/>
              <a:t>Teaching</a:t>
            </a:r>
            <a:endParaRPr lang="en-US" sz="1800" dirty="0"/>
          </a:p>
          <a:p>
            <a:pPr>
              <a:lnSpc>
                <a:spcPts val="3000"/>
              </a:lnSpc>
            </a:pPr>
            <a:r>
              <a:rPr lang="en-US" sz="1800" dirty="0"/>
              <a:t>Review</a:t>
            </a:r>
            <a:endParaRPr lang="en-US" sz="18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lnSpc>
          <a:spcPct val="90000"/>
        </a:lnSpc>
        <a:spcBef>
          <a:spcPct val="0"/>
        </a:spcBef>
        <a:buNone/>
        <a:defRPr sz="4800" b="1" kern="1200">
          <a:solidFill>
            <a:schemeClr val="tx1"/>
          </a:solidFill>
          <a:latin typeface="+mj-lt"/>
          <a:ea typeface="+mj-ea"/>
          <a:cs typeface="+mj-cs"/>
        </a:defRPr>
      </a:lvl1pPr>
    </p:titleStyle>
    <p:bodyStyle>
      <a:lvl1pPr marL="0" indent="0" algn="l" defTabSz="914400" rtl="0" eaLnBrk="1" latinLnBrk="0" hangingPunct="1">
        <a:spcBef>
          <a:spcPts val="0"/>
        </a:spcBef>
        <a:spcAft>
          <a:spcPts val="600"/>
        </a:spcAft>
        <a:buNone/>
        <a:defRPr sz="2100" kern="1200">
          <a:solidFill>
            <a:schemeClr val="tx1"/>
          </a:solidFill>
          <a:latin typeface="+mn-lt"/>
          <a:ea typeface="+mn-ea"/>
          <a:cs typeface="+mn-cs"/>
        </a:defRPr>
      </a:lvl1pPr>
      <a:lvl2pPr marL="342900" indent="-342900" algn="l" defTabSz="914400" rtl="0" eaLnBrk="1" latinLnBrk="0" hangingPunct="1">
        <a:spcBef>
          <a:spcPts val="0"/>
        </a:spcBef>
        <a:spcAft>
          <a:spcPts val="600"/>
        </a:spcAft>
        <a:buClr>
          <a:schemeClr val="tx2"/>
        </a:buClr>
        <a:buFont typeface="Arial"/>
        <a:buChar char="•"/>
        <a:defRPr sz="1900" kern="1200">
          <a:solidFill>
            <a:schemeClr val="tx1"/>
          </a:solidFill>
          <a:latin typeface="+mn-lt"/>
          <a:ea typeface="+mn-ea"/>
          <a:cs typeface="+mn-cs"/>
        </a:defRPr>
      </a:lvl2pPr>
      <a:lvl3pPr marL="685800" indent="-342900" algn="l" defTabSz="914400" rtl="0" eaLnBrk="1" latinLnBrk="0" hangingPunct="1">
        <a:spcBef>
          <a:spcPts val="0"/>
        </a:spcBef>
        <a:spcAft>
          <a:spcPts val="600"/>
        </a:spcAft>
        <a:buClr>
          <a:schemeClr val="tx2"/>
        </a:buClr>
        <a:buFont typeface="Arial"/>
        <a:buChar char="–"/>
        <a:defRPr sz="1800" kern="1200">
          <a:solidFill>
            <a:schemeClr val="tx1"/>
          </a:solidFill>
          <a:latin typeface="+mn-lt"/>
          <a:ea typeface="+mn-ea"/>
          <a:cs typeface="+mn-cs"/>
        </a:defRPr>
      </a:lvl3pPr>
      <a:lvl4pPr marL="1028700" indent="-342900" algn="l" defTabSz="914400" rtl="0" eaLnBrk="1" latinLnBrk="0" hangingPunct="1">
        <a:spcBef>
          <a:spcPts val="0"/>
        </a:spcBef>
        <a:spcAft>
          <a:spcPts val="600"/>
        </a:spcAft>
        <a:buClr>
          <a:schemeClr val="tx2"/>
        </a:buClr>
        <a:buFont typeface="Arial"/>
        <a:buChar char="–"/>
        <a:defRPr sz="1800" kern="1200">
          <a:solidFill>
            <a:schemeClr val="tx1"/>
          </a:solidFill>
          <a:latin typeface="+mn-lt"/>
          <a:ea typeface="+mn-ea"/>
          <a:cs typeface="+mn-cs"/>
        </a:defRPr>
      </a:lvl4pPr>
      <a:lvl5pPr marL="1371600" indent="-342900" algn="l" defTabSz="914400" rtl="0" eaLnBrk="1" latinLnBrk="0" hangingPunct="1">
        <a:spcBef>
          <a:spcPts val="0"/>
        </a:spcBef>
        <a:spcAft>
          <a:spcPts val="600"/>
        </a:spcAft>
        <a:buClr>
          <a:schemeClr val="tx2"/>
        </a:buClr>
        <a:buFont typeface="Arial"/>
        <a:buChar char="–"/>
        <a:defRPr sz="1800" kern="1200">
          <a:solidFill>
            <a:schemeClr val="tx1"/>
          </a:solidFill>
          <a:latin typeface="+mn-lt"/>
          <a:ea typeface="+mn-ea"/>
          <a:cs typeface="+mn-cs"/>
        </a:defRPr>
      </a:lvl5pPr>
      <a:lvl6pPr marL="1714500" indent="-342900" algn="l" defTabSz="914400" rtl="0" eaLnBrk="1" latinLnBrk="0" hangingPunct="1">
        <a:spcBef>
          <a:spcPts val="0"/>
        </a:spcBef>
        <a:spcAft>
          <a:spcPts val="600"/>
        </a:spcAft>
        <a:buClr>
          <a:schemeClr val="tx2"/>
        </a:buClr>
        <a:buFont typeface="Arial"/>
        <a:buChar char="–"/>
        <a:defRPr sz="1800" kern="1200">
          <a:solidFill>
            <a:schemeClr val="tx1"/>
          </a:solidFill>
          <a:latin typeface="+mn-lt"/>
          <a:ea typeface="+mn-ea"/>
          <a:cs typeface="+mn-cs"/>
        </a:defRPr>
      </a:lvl6pPr>
      <a:lvl7pPr marL="2057400" indent="-342900" algn="l" defTabSz="914400" rtl="0" eaLnBrk="1" latinLnBrk="0" hangingPunct="1">
        <a:spcBef>
          <a:spcPts val="0"/>
        </a:spcBef>
        <a:spcAft>
          <a:spcPts val="600"/>
        </a:spcAft>
        <a:buClr>
          <a:schemeClr val="tx2"/>
        </a:buClr>
        <a:buFont typeface="Arial"/>
        <a:buChar char="–"/>
        <a:defRPr sz="1800" kern="1200">
          <a:solidFill>
            <a:schemeClr val="tx1"/>
          </a:solidFill>
          <a:latin typeface="+mn-lt"/>
          <a:ea typeface="+mn-ea"/>
          <a:cs typeface="+mn-cs"/>
        </a:defRPr>
      </a:lvl7pPr>
      <a:lvl8pPr marL="2400300" indent="-342900" algn="l" defTabSz="914400" rtl="0" eaLnBrk="1" latinLnBrk="0" hangingPunct="1">
        <a:spcBef>
          <a:spcPts val="0"/>
        </a:spcBef>
        <a:spcAft>
          <a:spcPts val="600"/>
        </a:spcAft>
        <a:buClr>
          <a:schemeClr val="tx2"/>
        </a:buClr>
        <a:buFont typeface="Arial"/>
        <a:buChar char="–"/>
        <a:defRPr sz="1800" kern="1200">
          <a:solidFill>
            <a:schemeClr val="tx1"/>
          </a:solidFill>
          <a:latin typeface="+mn-lt"/>
          <a:ea typeface="+mn-ea"/>
          <a:cs typeface="+mn-cs"/>
        </a:defRPr>
      </a:lvl8pPr>
      <a:lvl9pPr marL="2743200" indent="-342900" algn="l" defTabSz="914400" rtl="0" eaLnBrk="1" latinLnBrk="0" hangingPunct="1">
        <a:spcBef>
          <a:spcPts val="0"/>
        </a:spcBef>
        <a:spcAft>
          <a:spcPts val="600"/>
        </a:spcAft>
        <a:buClr>
          <a:schemeClr val="tx2"/>
        </a:buClr>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Layout" Type="http://schemas.openxmlformats.org/officeDocument/2006/relationships/slideLayout" Target="../slideLayouts/slideLayout6.xml"/><Relationship Id="rIdNotes"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Layout" Type="http://schemas.openxmlformats.org/officeDocument/2006/relationships/slideLayout" Target="../slideLayouts/slideLayout6.xml"/><Relationship Id="rIdNotes"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Layout" Type="http://schemas.openxmlformats.org/officeDocument/2006/relationships/slideLayout" Target="../slideLayouts/slideLayout6.xml"/><Relationship Id="rIdNotes"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Layout" Type="http://schemas.openxmlformats.org/officeDocument/2006/relationships/slideLayout" Target="../slideLayouts/slideLayout6.xml"/><Relationship Id="rIdNotes"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Layout" Type="http://schemas.openxmlformats.org/officeDocument/2006/relationships/slideLayout" Target="../slideLayouts/slideLayout6.xml"/><Relationship Id="rIdNotes"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Layout" Type="http://schemas.openxmlformats.org/officeDocument/2006/relationships/slideLayout" Target="../slideLayouts/slideLayout6.xml"/><Relationship Id="rIdNotes"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Layout" Type="http://schemas.openxmlformats.org/officeDocument/2006/relationships/slideLayout" Target="../slideLayouts/slideLayout6.xml"/><Relationship Id="rIdNotes"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Layout" Type="http://schemas.openxmlformats.org/officeDocument/2006/relationships/slideLayout" Target="../slideLayouts/slideLayout6.xml"/><Relationship Id="rIdNotes"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Layout" Type="http://schemas.openxmlformats.org/officeDocument/2006/relationships/slideLayout" Target="../slideLayouts/slideLayout6.xml"/><Relationship Id="rIdNotes"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Layout" Type="http://schemas.openxmlformats.org/officeDocument/2006/relationships/slideLayout" Target="../slideLayouts/slideLayout6.xml"/><Relationship Id="rIdNotes"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Layout" Type="http://schemas.openxmlformats.org/officeDocument/2006/relationships/slideLayout" Target="../slideLayouts/slideLayout6.xml"/><Relationship Id="rIdNotes"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Layout" Type="http://schemas.openxmlformats.org/officeDocument/2006/relationships/slideLayout" Target="../slideLayouts/slideLayout6.xml"/><Relationship Id="rIdNotes"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Layout" Type="http://schemas.openxmlformats.org/officeDocument/2006/relationships/slideLayout" Target="../slideLayouts/slideLayout6.xml"/><Relationship Id="rIdNotes"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Layout" Type="http://schemas.openxmlformats.org/officeDocument/2006/relationships/slideLayout" Target="../slideLayouts/slideLayout6.xml"/><Relationship Id="rIdNotes"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Layout" Type="http://schemas.openxmlformats.org/officeDocument/2006/relationships/slideLayout" Target="../slideLayouts/slideLayout6.xml"/><Relationship Id="rIdNotes"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Layout" Type="http://schemas.openxmlformats.org/officeDocument/2006/relationships/slideLayout" Target="../slideLayouts/slideLayout6.xml"/><Relationship Id="rIdNotes"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Layout" Type="http://schemas.openxmlformats.org/officeDocument/2006/relationships/slideLayout" Target="../slideLayouts/slideLayout6.xml"/><Relationship Id="rIdNotes"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Layout" Type="http://schemas.openxmlformats.org/officeDocument/2006/relationships/slideLayout" Target="../slideLayouts/slideLayout6.xml"/><Relationship Id="rIdNotes"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Layout" Type="http://schemas.openxmlformats.org/officeDocument/2006/relationships/slideLayout" Target="../slideLayouts/slideLayout6.xml"/><Relationship Id="rIdNotes"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Layout" Type="http://schemas.openxmlformats.org/officeDocument/2006/relationships/slideLayout" Target="../slideLayouts/slideLayout6.xml"/><Relationship Id="rIdNotes"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Layout" Type="http://schemas.openxmlformats.org/officeDocument/2006/relationships/slideLayout" Target="../slideLayouts/slideLayout6.xml"/><Relationship Id="rIdNotes"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urse title"/>
          <p:cNvSpPr>
            <a:spLocks noGrp="1"/>
          </p:cNvSpPr>
          <p:nvPr>
            <p:ph type="title"/>
          </p:nvPr>
        </p:nvSpPr>
        <p:spPr/>
        <p:txBody>
          <a:bodyPr/>
          <a:lstStyle/>
          <a:p>
            <a:r>
              <a:rPr lang="en-US" dirty="0"/>
              <a:t>Agentic AI for Engineering</a:t>
            </a:r>
            <a:endParaRPr lang="en-US" dirty="0"/>
          </a:p>
        </p:txBody>
      </p:sp>
      <p:sp>
        <p:nvSpPr>
          <p:cNvPr id="3" name="Text 1"/>
          <p:cNvSpPr>
            <a:spLocks noGrp="1"/>
          </p:cNvSpPr>
          <p:nvPr>
            <p:ph type="body" idx="1"/>
          </p:nvPr>
        </p:nvSpPr>
        <p:spPr/>
        <p:txBody>
          <a:bodyPr/>
          <a:lstStyle/>
          <a:p>
            <a:r>
              <a:rPr lang="en-US" dirty="0"/>
              <a:t>Lesson 2</a:t>
            </a:r>
            <a:endParaRPr lang="en-US" dirty="0"/>
          </a:p>
        </p:txBody>
      </p:sp>
      <p:sp>
        <p:nvSpPr>
          <p:cNvPr id="4" name="Text 2"/>
          <p:cNvSpPr>
            <a:spLocks noGrp="1"/>
          </p:cNvSpPr>
          <p:nvPr>
            <p:ph type="body" idx="2"/>
          </p:nvPr>
        </p:nvSpPr>
        <p:spPr/>
        <p:txBody>
          <a:bodyPr/>
          <a:lstStyle/>
          <a:p>
            <a:r>
              <a:rPr lang="en-US" dirty="0"/>
              <a:t>Introduction to Agentic AI for Coding</a:t>
            </a:r>
            <a:endParaRPr lang="en-US" dirty="0"/>
          </a:p>
        </p:txBody>
      </p:sp>
      <p:sp>
        <p:nvSpPr>
          <p:cNvPr id="5" name="Text 3"/>
          <p:cNvSpPr>
            <a:spLocks noGrp="1"/>
          </p:cNvSpPr>
          <p:nvPr>
            <p:ph type="body" idx="3"/>
          </p:nvPr>
        </p:nvSpPr>
        <p:spPr/>
        <p:txBody>
          <a:bodyPr/>
          <a:lstStyle/>
          <a:p>
            <a:r>
              <a:rPr lang="en-US" dirty="0"/>
              <a:t>Hands-on with ChatGPT Codex</a:t>
            </a:r>
            <a:endParaRPr lang="en-US" dirty="0"/>
          </a:p>
        </p:txBody>
      </p:sp>
      <p:sp>
        <p:nvSpPr>
          <p:cNvPr id="6" name="Text 4"/>
          <p:cNvSpPr>
            <a:spLocks noGrp="1"/>
          </p:cNvSpPr>
          <p:nvPr>
            <p:ph type="body" idx="4"/>
          </p:nvPr>
        </p:nvSpPr>
        <p:spPr/>
        <p:txBody>
          <a:bodyPr/>
          <a:lstStyle/>
          <a:p>
            <a:r>
              <a:rPr lang="en-US" dirty="0"/>
              <a:t>Specify, generate, and verify changes with a coding agent</a:t>
            </a:r>
            <a:endParaRPr lang="en-US" dirty="0"/>
          </a:p>
        </p:txBody>
      </p:sp>
      <p:sp>
        <p:nvSpPr>
          <p:cNvPr id="7" name="Text 5"/>
          <p:cNvSpPr>
            <a:spLocks noGrp="1"/>
          </p:cNvSpPr>
          <p:nvPr>
            <p:ph type="body" idx="5"/>
          </p:nvPr>
        </p:nvSpPr>
        <p:spPr/>
        <p:txBody>
          <a:bodyPr/>
          <a:lstStyle/>
          <a:p>
            <a:r>
              <a:rPr lang="en-US" dirty="0"/>
              <a:t>USAFA Instructor Short Course</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xmlns:p="http://schemas.openxmlformats.org/presentationml/2006/main" xmlns:a="http://schemas.openxmlformats.org/drawingml/2006/main" xmlns:r="http://schemas.openxmlformats.org/officeDocument/2006/relationships">
        <p:nvSpPr>
          <p:cNvPr id="2" name="Title"/>
          <p:cNvSpPr>
            <a:spLocks noGrp="1"/>
          </p:cNvSpPr>
          <p:nvPr>
            <p:ph type="title"/>
          </p:nvPr>
        </p:nvSpPr>
        <p:spPr/>
        <p:txBody>
          <a:bodyPr/>
          <a:lstStyle/>
          <a:p>
            <a:r>
              <a:rPr lang="en-US" dirty="0"/>
              <a:t>Lesson Objectives</a:t>
            </a:r>
            <a:endParaRPr lang="en-US" dirty="0"/>
          </a:p>
        </p:txBody>
      </p:sp>
      <p:sp xmlns:p="http://schemas.openxmlformats.org/presentationml/2006/main" xmlns:a="http://schemas.openxmlformats.org/drawingml/2006/main" xmlns:r="http://schemas.openxmlformats.org/officeDocument/2006/relationships">
        <p:nvSpPr>
          <p:cNvPr id="3" name="Text 20"/>
          <p:cNvSpPr txBox="1"/>
          <p:nvPr/>
        </p:nvSpPr>
        <p:spPr>
          <a:xfrm>
            <a:off x="1810512" y="1618488"/>
            <a:ext cx="11768328" cy="393192"/>
          </a:xfrm>
          <a:prstGeom prst="rect">
            <a:avLst/>
          </a:prstGeom>
          <a:noFill/>
          <a:ln/>
        </p:spPr>
        <p:txBody>
          <a:bodyPr wrap="square" lIns="25400" tIns="25400" rIns="25400" bIns="25400" rtlCol="0" anchor="t">
            <a:noAutofit/>
          </a:bodyPr>
          <a:lstStyle/>
          <a:p>
            <a:pPr algn="l" indent="0" marL="0">
              <a:buNone/>
            </a:pPr>
            <a:r>
              <a:rPr lang="en-US" sz="2100" dirty="0">
                <a:solidFill>
                  <a:srgbClr val="000000"/>
                </a:solidFill>
                <a:latin typeface="+mn-lt"/>
                <a:ea typeface="+mn-ea"/>
                <a:cs typeface="+mn-cs"/>
              </a:rPr>
              <a:t>By the end of this lesson you can:</a:t>
            </a:r>
            <a:endParaRPr lang="en-US" sz="2100" dirty="0"/>
          </a:p>
        </p:txBody>
      </p:sp>
      <p:sp xmlns:p="http://schemas.openxmlformats.org/presentationml/2006/main" xmlns:a="http://schemas.openxmlformats.org/drawingml/2006/main" xmlns:r="http://schemas.openxmlformats.org/officeDocument/2006/relationships">
        <p:nvSpPr>
          <p:cNvPr id="4" name="Text 21"/>
          <p:cNvSpPr txBox="1"/>
          <p:nvPr/>
        </p:nvSpPr>
        <p:spPr>
          <a:xfrm>
            <a:off x="1810512" y="2185416"/>
            <a:ext cx="612648" cy="411480"/>
          </a:xfrm>
          <a:prstGeom prst="rect">
            <a:avLst/>
          </a:prstGeom>
          <a:noFill/>
          <a:ln/>
        </p:spPr>
        <p:txBody>
          <a:bodyPr wrap="square" lIns="25400" tIns="25400" rIns="25400" bIns="25400" rtlCol="0" anchor="t">
            <a:noAutofit/>
          </a:bodyPr>
          <a:lstStyle/>
          <a:p>
            <a:pPr algn="l" indent="0" marL="0">
              <a:lnSpc>
                <a:spcPct val="97500"/>
              </a:lnSpc>
              <a:buNone/>
            </a:pPr>
            <a:r>
              <a:rPr lang="en-US" sz="2200" b="1" dirty="0">
                <a:solidFill>
                  <a:srgbClr val="1F6FB2"/>
                </a:solidFill>
                <a:latin typeface="+mn-lt"/>
                <a:ea typeface="+mn-ea"/>
                <a:cs typeface="+mn-cs"/>
              </a:rPr>
              <a:t>1</a:t>
            </a:r>
            <a:endParaRPr lang="en-US" sz="2200" dirty="0"/>
          </a:p>
        </p:txBody>
      </p:sp>
      <p:sp xmlns:p="http://schemas.openxmlformats.org/presentationml/2006/main" xmlns:a="http://schemas.openxmlformats.org/drawingml/2006/main" xmlns:r="http://schemas.openxmlformats.org/officeDocument/2006/relationships">
        <p:nvSpPr>
          <p:cNvPr id="5" name="Text 22"/>
          <p:cNvSpPr txBox="1"/>
          <p:nvPr/>
        </p:nvSpPr>
        <p:spPr>
          <a:xfrm>
            <a:off x="2340864" y="2212848"/>
            <a:ext cx="11155680" cy="384048"/>
          </a:xfrm>
          <a:prstGeom prst="rect">
            <a:avLst/>
          </a:prstGeom>
          <a:noFill/>
          <a:ln/>
        </p:spPr>
        <p:txBody>
          <a:bodyPr wrap="square" lIns="25400" tIns="25400" rIns="25400" bIns="25400" rtlCol="0" anchor="t">
            <a:noAutofit/>
          </a:bodyPr>
          <a:lstStyle/>
          <a:p>
            <a:pPr algn="l" indent="0" marL="0">
              <a:lnSpc>
                <a:spcPct val="97500"/>
              </a:lnSpc>
              <a:buNone/>
            </a:pPr>
            <a:r>
              <a:rPr lang="en-US" sz="2100" dirty="0">
                <a:solidFill>
                  <a:srgbClr val="000000"/>
                </a:solidFill>
                <a:latin typeface="+mn-lt"/>
                <a:ea typeface="+mn-ea"/>
                <a:cs typeface="+mn-cs"/>
              </a:rPr>
              <a:t>Explain how a coding agent differs from a chat LLM, and how your role changes</a:t>
            </a:r>
            <a:endParaRPr lang="en-US" sz="2100" dirty="0"/>
          </a:p>
        </p:txBody>
      </p:sp>
      <p:sp xmlns:p="http://schemas.openxmlformats.org/presentationml/2006/main" xmlns:a="http://schemas.openxmlformats.org/drawingml/2006/main" xmlns:r="http://schemas.openxmlformats.org/officeDocument/2006/relationships">
        <p:nvSpPr>
          <p:cNvPr id="6" name="Text 23"/>
          <p:cNvSpPr txBox="1"/>
          <p:nvPr/>
        </p:nvSpPr>
        <p:spPr>
          <a:xfrm>
            <a:off x="1810512" y="2729484"/>
            <a:ext cx="612648" cy="411480"/>
          </a:xfrm>
          <a:prstGeom prst="rect">
            <a:avLst/>
          </a:prstGeom>
          <a:noFill/>
          <a:ln/>
        </p:spPr>
        <p:txBody>
          <a:bodyPr wrap="square" lIns="25400" tIns="25400" rIns="25400" bIns="25400" rtlCol="0" anchor="t">
            <a:noAutofit/>
          </a:bodyPr>
          <a:lstStyle/>
          <a:p>
            <a:pPr algn="l" indent="0" marL="0">
              <a:lnSpc>
                <a:spcPct val="97500"/>
              </a:lnSpc>
              <a:buNone/>
            </a:pPr>
            <a:r>
              <a:rPr lang="en-US" sz="2200" b="1" dirty="0">
                <a:solidFill>
                  <a:srgbClr val="1F6FB2"/>
                </a:solidFill>
                <a:latin typeface="+mn-lt"/>
                <a:ea typeface="+mn-ea"/>
                <a:cs typeface="+mn-cs"/>
              </a:rPr>
              <a:t>2</a:t>
            </a:r>
            <a:endParaRPr lang="en-US" sz="2200" dirty="0"/>
          </a:p>
        </p:txBody>
      </p:sp>
      <p:sp xmlns:p="http://schemas.openxmlformats.org/presentationml/2006/main" xmlns:a="http://schemas.openxmlformats.org/drawingml/2006/main" xmlns:r="http://schemas.openxmlformats.org/officeDocument/2006/relationships">
        <p:nvSpPr>
          <p:cNvPr id="7" name="Text 24"/>
          <p:cNvSpPr txBox="1"/>
          <p:nvPr/>
        </p:nvSpPr>
        <p:spPr>
          <a:xfrm>
            <a:off x="2340864" y="2756916"/>
            <a:ext cx="11155680" cy="384048"/>
          </a:xfrm>
          <a:prstGeom prst="rect">
            <a:avLst/>
          </a:prstGeom>
          <a:noFill/>
          <a:ln/>
        </p:spPr>
        <p:txBody>
          <a:bodyPr wrap="square" lIns="25400" tIns="25400" rIns="25400" bIns="25400" rtlCol="0" anchor="t">
            <a:noAutofit/>
          </a:bodyPr>
          <a:lstStyle/>
          <a:p>
            <a:pPr algn="l" indent="0" marL="0">
              <a:lnSpc>
                <a:spcPct val="97500"/>
              </a:lnSpc>
              <a:buNone/>
            </a:pPr>
            <a:r>
              <a:rPr lang="en-US" sz="2100" dirty="0">
                <a:solidFill>
                  <a:srgbClr val="000000"/>
                </a:solidFill>
                <a:latin typeface="+mn-lt"/>
                <a:ea typeface="+mn-ea"/>
                <a:cs typeface="+mn-cs"/>
              </a:rPr>
              <a:t>Give an agent your project’s context with AGENTS.md</a:t>
            </a:r>
            <a:endParaRPr lang="en-US" sz="2100" dirty="0"/>
          </a:p>
        </p:txBody>
      </p:sp>
      <p:sp xmlns:p="http://schemas.openxmlformats.org/presentationml/2006/main" xmlns:a="http://schemas.openxmlformats.org/drawingml/2006/main" xmlns:r="http://schemas.openxmlformats.org/officeDocument/2006/relationships">
        <p:nvSpPr>
          <p:cNvPr id="8" name="Text 25"/>
          <p:cNvSpPr txBox="1"/>
          <p:nvPr/>
        </p:nvSpPr>
        <p:spPr>
          <a:xfrm>
            <a:off x="1810512" y="3273552"/>
            <a:ext cx="612648" cy="411480"/>
          </a:xfrm>
          <a:prstGeom prst="rect">
            <a:avLst/>
          </a:prstGeom>
          <a:noFill/>
          <a:ln/>
        </p:spPr>
        <p:txBody>
          <a:bodyPr wrap="square" lIns="25400" tIns="25400" rIns="25400" bIns="25400" rtlCol="0" anchor="t">
            <a:noAutofit/>
          </a:bodyPr>
          <a:lstStyle/>
          <a:p>
            <a:pPr algn="l" indent="0" marL="0">
              <a:lnSpc>
                <a:spcPct val="97500"/>
              </a:lnSpc>
              <a:buNone/>
            </a:pPr>
            <a:r>
              <a:rPr lang="en-US" sz="2200" b="1" dirty="0">
                <a:solidFill>
                  <a:srgbClr val="1F6FB2"/>
                </a:solidFill>
                <a:latin typeface="+mn-lt"/>
                <a:ea typeface="+mn-ea"/>
                <a:cs typeface="+mn-cs"/>
              </a:rPr>
              <a:t>3</a:t>
            </a:r>
            <a:endParaRPr lang="en-US" sz="2200" dirty="0"/>
          </a:p>
        </p:txBody>
      </p:sp>
      <p:sp xmlns:p="http://schemas.openxmlformats.org/presentationml/2006/main" xmlns:a="http://schemas.openxmlformats.org/drawingml/2006/main" xmlns:r="http://schemas.openxmlformats.org/officeDocument/2006/relationships">
        <p:nvSpPr>
          <p:cNvPr id="9" name="Text 26"/>
          <p:cNvSpPr txBox="1"/>
          <p:nvPr/>
        </p:nvSpPr>
        <p:spPr>
          <a:xfrm>
            <a:off x="2340864" y="3300984"/>
            <a:ext cx="11155680" cy="384048"/>
          </a:xfrm>
          <a:prstGeom prst="rect">
            <a:avLst/>
          </a:prstGeom>
          <a:noFill/>
          <a:ln/>
        </p:spPr>
        <p:txBody>
          <a:bodyPr wrap="square" lIns="25400" tIns="25400" rIns="25400" bIns="25400" rtlCol="0" anchor="t">
            <a:noAutofit/>
          </a:bodyPr>
          <a:lstStyle/>
          <a:p>
            <a:pPr algn="l" indent="0" marL="0">
              <a:lnSpc>
                <a:spcPct val="97500"/>
              </a:lnSpc>
              <a:buNone/>
            </a:pPr>
            <a:r>
              <a:rPr lang="en-US" sz="2100" dirty="0">
                <a:solidFill>
                  <a:srgbClr val="000000"/>
                </a:solidFill>
                <a:latin typeface="+mn-lt"/>
                <a:ea typeface="+mn-ea"/>
                <a:cs typeface="+mn-cs"/>
              </a:rPr>
              <a:t>Specify a change as a verifiable requirement, and get a plan before any code</a:t>
            </a:r>
            <a:endParaRPr lang="en-US" sz="2100" dirty="0"/>
          </a:p>
        </p:txBody>
      </p:sp>
      <p:sp xmlns:p="http://schemas.openxmlformats.org/presentationml/2006/main" xmlns:a="http://schemas.openxmlformats.org/drawingml/2006/main" xmlns:r="http://schemas.openxmlformats.org/officeDocument/2006/relationships">
        <p:nvSpPr>
          <p:cNvPr id="10" name="Text 27"/>
          <p:cNvSpPr txBox="1"/>
          <p:nvPr/>
        </p:nvSpPr>
        <p:spPr>
          <a:xfrm>
            <a:off x="1810512" y="3817620"/>
            <a:ext cx="612648" cy="411480"/>
          </a:xfrm>
          <a:prstGeom prst="rect">
            <a:avLst/>
          </a:prstGeom>
          <a:noFill/>
          <a:ln/>
        </p:spPr>
        <p:txBody>
          <a:bodyPr wrap="square" lIns="25400" tIns="25400" rIns="25400" bIns="25400" rtlCol="0" anchor="t">
            <a:noAutofit/>
          </a:bodyPr>
          <a:lstStyle/>
          <a:p>
            <a:pPr algn="l" indent="0" marL="0">
              <a:lnSpc>
                <a:spcPct val="97500"/>
              </a:lnSpc>
              <a:buNone/>
            </a:pPr>
            <a:r>
              <a:rPr lang="en-US" sz="2200" b="1" dirty="0">
                <a:solidFill>
                  <a:srgbClr val="1F6FB2"/>
                </a:solidFill>
                <a:latin typeface="+mn-lt"/>
                <a:ea typeface="+mn-ea"/>
                <a:cs typeface="+mn-cs"/>
              </a:rPr>
              <a:t>4</a:t>
            </a:r>
            <a:endParaRPr lang="en-US" sz="2200" dirty="0"/>
          </a:p>
        </p:txBody>
      </p:sp>
      <p:sp xmlns:p="http://schemas.openxmlformats.org/presentationml/2006/main" xmlns:a="http://schemas.openxmlformats.org/drawingml/2006/main" xmlns:r="http://schemas.openxmlformats.org/officeDocument/2006/relationships">
        <p:nvSpPr>
          <p:cNvPr id="11" name="Text 28"/>
          <p:cNvSpPr txBox="1"/>
          <p:nvPr/>
        </p:nvSpPr>
        <p:spPr>
          <a:xfrm>
            <a:off x="2340864" y="3845052"/>
            <a:ext cx="11155680" cy="384048"/>
          </a:xfrm>
          <a:prstGeom prst="rect">
            <a:avLst/>
          </a:prstGeom>
          <a:noFill/>
          <a:ln/>
        </p:spPr>
        <p:txBody>
          <a:bodyPr wrap="square" lIns="25400" tIns="25400" rIns="25400" bIns="25400" rtlCol="0" anchor="t">
            <a:noAutofit/>
          </a:bodyPr>
          <a:lstStyle/>
          <a:p>
            <a:pPr algn="l" indent="0" marL="0">
              <a:lnSpc>
                <a:spcPct val="97500"/>
              </a:lnSpc>
              <a:buNone/>
            </a:pPr>
            <a:r>
              <a:rPr lang="en-US" sz="2100" dirty="0">
                <a:solidFill>
                  <a:srgbClr val="000000"/>
                </a:solidFill>
                <a:latin typeface="+mn-lt"/>
                <a:ea typeface="+mn-ea"/>
                <a:cs typeface="+mn-cs"/>
              </a:rPr>
              <a:t>Review an agent’s diff and pull request, then verify the result yourself</a:t>
            </a:r>
            <a:endParaRPr lang="en-US" sz="2100" dirty="0"/>
          </a:p>
        </p:txBody>
      </p:sp>
      <p:sp xmlns:p="http://schemas.openxmlformats.org/presentationml/2006/main" xmlns:a="http://schemas.openxmlformats.org/drawingml/2006/main" xmlns:r="http://schemas.openxmlformats.org/officeDocument/2006/relationships">
        <p:nvSpPr>
          <p:cNvPr id="12" name="Text 29"/>
          <p:cNvSpPr txBox="1"/>
          <p:nvPr/>
        </p:nvSpPr>
        <p:spPr>
          <a:xfrm>
            <a:off x="1810512" y="4361688"/>
            <a:ext cx="612648" cy="411480"/>
          </a:xfrm>
          <a:prstGeom prst="rect">
            <a:avLst/>
          </a:prstGeom>
          <a:noFill/>
          <a:ln/>
        </p:spPr>
        <p:txBody>
          <a:bodyPr wrap="square" lIns="25400" tIns="25400" rIns="25400" bIns="25400" rtlCol="0" anchor="t">
            <a:noAutofit/>
          </a:bodyPr>
          <a:lstStyle/>
          <a:p>
            <a:pPr algn="l" indent="0" marL="0">
              <a:lnSpc>
                <a:spcPct val="97500"/>
              </a:lnSpc>
              <a:buNone/>
            </a:pPr>
            <a:r>
              <a:rPr lang="en-US" sz="2200" b="1" dirty="0">
                <a:solidFill>
                  <a:srgbClr val="1F6FB2"/>
                </a:solidFill>
                <a:latin typeface="+mn-lt"/>
                <a:ea typeface="+mn-ea"/>
                <a:cs typeface="+mn-cs"/>
              </a:rPr>
              <a:t>5</a:t>
            </a:r>
            <a:endParaRPr lang="en-US" sz="2200" dirty="0"/>
          </a:p>
        </p:txBody>
      </p:sp>
      <p:sp xmlns:p="http://schemas.openxmlformats.org/presentationml/2006/main" xmlns:a="http://schemas.openxmlformats.org/drawingml/2006/main" xmlns:r="http://schemas.openxmlformats.org/officeDocument/2006/relationships">
        <p:nvSpPr>
          <p:cNvPr id="13" name="Text 30"/>
          <p:cNvSpPr txBox="1"/>
          <p:nvPr/>
        </p:nvSpPr>
        <p:spPr>
          <a:xfrm>
            <a:off x="2340864" y="4389120"/>
            <a:ext cx="11155680" cy="384048"/>
          </a:xfrm>
          <a:prstGeom prst="rect">
            <a:avLst/>
          </a:prstGeom>
          <a:noFill/>
          <a:ln/>
        </p:spPr>
        <p:txBody>
          <a:bodyPr wrap="square" lIns="25400" tIns="25400" rIns="25400" bIns="25400" rtlCol="0" anchor="t">
            <a:noAutofit/>
          </a:bodyPr>
          <a:lstStyle/>
          <a:p>
            <a:pPr algn="l" indent="0" marL="0">
              <a:lnSpc>
                <a:spcPct val="97500"/>
              </a:lnSpc>
              <a:buNone/>
            </a:pPr>
            <a:r>
              <a:rPr lang="en-US" sz="2100" dirty="0">
                <a:solidFill>
                  <a:srgbClr val="000000"/>
                </a:solidFill>
                <a:latin typeface="+mn-lt"/>
                <a:ea typeface="+mn-ea"/>
                <a:cs typeface="+mn-cs"/>
              </a:rPr>
              <a:t>Document GenAI use, and plan how cadets will use agents in your course</a:t>
            </a:r>
            <a:endParaRPr lang="en-US" sz="2100" dirty="0"/>
          </a:p>
        </p:txBody>
      </p:sp>
      <p:sp xmlns:p="http://schemas.openxmlformats.org/presentationml/2006/main" xmlns:a="http://schemas.openxmlformats.org/drawingml/2006/main" xmlns:r="http://schemas.openxmlformats.org/officeDocument/2006/relationships">
        <p:nvSpPr>
          <p:cNvPr id="14" name="Text 31"/>
          <p:cNvSpPr txBox="1"/>
          <p:nvPr/>
        </p:nvSpPr>
        <p:spPr>
          <a:xfrm>
            <a:off x="1810512" y="5148072"/>
            <a:ext cx="11768328" cy="393192"/>
          </a:xfrm>
          <a:prstGeom prst="rect">
            <a:avLst/>
          </a:prstGeom>
          <a:noFill/>
          <a:ln/>
        </p:spPr>
        <p:txBody>
          <a:bodyPr wrap="square" lIns="25400" tIns="25400" rIns="25400" bIns="25400" rtlCol="0" anchor="t">
            <a:noAutofit/>
          </a:bodyPr>
          <a:lstStyle/>
          <a:p>
            <a:pPr algn="l" indent="0" marL="0">
              <a:buNone/>
            </a:pPr>
            <a:r>
              <a:rPr lang="en-US" sz="2100" b="1" dirty="0">
                <a:solidFill>
                  <a:srgbClr val="000000"/>
                </a:solidFill>
                <a:latin typeface="+mn-lt"/>
                <a:ea typeface="+mn-ea"/>
                <a:cs typeface="+mn-cs"/>
              </a:rPr>
              <a:t>Agenda (50 min)</a:t>
            </a:r>
            <a:endParaRPr lang="en-US" sz="2100" dirty="0"/>
          </a:p>
        </p:txBody>
      </p:sp>
      <p:sp xmlns:p="http://schemas.openxmlformats.org/presentationml/2006/main" xmlns:a="http://schemas.openxmlformats.org/drawingml/2006/main" xmlns:r="http://schemas.openxmlformats.org/officeDocument/2006/relationships">
        <p:nvSpPr>
          <p:cNvPr id="15" name="Shape 32"/>
          <p:cNvSpPr/>
          <p:nvPr/>
        </p:nvSpPr>
        <p:spPr>
          <a:xfrm>
            <a:off x="1810512" y="5715000"/>
            <a:ext cx="3456432" cy="987552"/>
          </a:xfrm>
          <a:prstGeom prst="rect">
            <a:avLst/>
          </a:prstGeom>
          <a:solidFill>
            <a:srgbClr val="152A47"/>
          </a:solidFill>
          <a:ln/>
        </p:spPr>
        <p:txBody>
          <a:bodyPr/>
          <a:p/>
        </p:txBody>
      </p:sp>
      <p:sp xmlns:p="http://schemas.openxmlformats.org/presentationml/2006/main" xmlns:a="http://schemas.openxmlformats.org/drawingml/2006/main" xmlns:r="http://schemas.openxmlformats.org/officeDocument/2006/relationships">
        <p:nvSpPr>
          <p:cNvPr id="16" name="Text 33"/>
          <p:cNvSpPr txBox="1"/>
          <p:nvPr/>
        </p:nvSpPr>
        <p:spPr>
          <a:xfrm>
            <a:off x="2002536" y="5888736"/>
            <a:ext cx="3273552" cy="347472"/>
          </a:xfrm>
          <a:prstGeom prst="rect">
            <a:avLst/>
          </a:prstGeom>
          <a:noFill/>
          <a:ln/>
        </p:spPr>
        <p:txBody>
          <a:bodyPr wrap="square" lIns="25400" tIns="25400" rIns="25400" bIns="25400" rtlCol="0" anchor="t">
            <a:noAutofit/>
          </a:bodyPr>
          <a:lstStyle/>
          <a:p>
            <a:pPr algn="l" indent="0" marL="0">
              <a:buNone/>
            </a:pPr>
            <a:r>
              <a:rPr lang="en-US" sz="1800" b="1" dirty="0">
                <a:solidFill>
                  <a:srgbClr val="FFFFFF"/>
                </a:solidFill>
                <a:latin typeface="+mn-lt"/>
                <a:ea typeface="+mn-ea"/>
                <a:cs typeface="+mn-cs"/>
              </a:rPr>
              <a:t>0–15 min</a:t>
            </a:r>
            <a:endParaRPr lang="en-US" sz="1800" dirty="0"/>
          </a:p>
        </p:txBody>
      </p:sp>
      <p:sp xmlns:p="http://schemas.openxmlformats.org/presentationml/2006/main" xmlns:a="http://schemas.openxmlformats.org/drawingml/2006/main" xmlns:r="http://schemas.openxmlformats.org/officeDocument/2006/relationships">
        <p:nvSpPr>
          <p:cNvPr id="17" name="Text 34"/>
          <p:cNvSpPr txBox="1"/>
          <p:nvPr/>
        </p:nvSpPr>
        <p:spPr>
          <a:xfrm>
            <a:off x="2002536" y="6227064"/>
            <a:ext cx="3273552" cy="347472"/>
          </a:xfrm>
          <a:prstGeom prst="rect">
            <a:avLst/>
          </a:prstGeom>
          <a:noFill/>
          <a:ln/>
        </p:spPr>
        <p:txBody>
          <a:bodyPr wrap="square" lIns="25400" tIns="25400" rIns="25400" bIns="25400" rtlCol="0" anchor="t">
            <a:noAutofit/>
          </a:bodyPr>
          <a:lstStyle/>
          <a:p>
            <a:pPr algn="l" indent="0" marL="0">
              <a:buNone/>
            </a:pPr>
            <a:r>
              <a:rPr lang="en-US" sz="1800" dirty="0">
                <a:solidFill>
                  <a:srgbClr val="FFFFFF"/>
                </a:solidFill>
                <a:latin typeface="+mn-lt"/>
                <a:ea typeface="+mn-ea"/>
                <a:cs typeface="+mn-cs"/>
              </a:rPr>
              <a:t>Concepts</a:t>
            </a:r>
            <a:endParaRPr lang="en-US" sz="1800" dirty="0"/>
          </a:p>
        </p:txBody>
      </p:sp>
      <p:sp xmlns:p="http://schemas.openxmlformats.org/presentationml/2006/main" xmlns:a="http://schemas.openxmlformats.org/drawingml/2006/main" xmlns:r="http://schemas.openxmlformats.org/officeDocument/2006/relationships">
        <p:nvSpPr>
          <p:cNvPr id="18" name="Shape 35"/>
          <p:cNvSpPr/>
          <p:nvPr/>
        </p:nvSpPr>
        <p:spPr>
          <a:xfrm>
            <a:off x="5340096" y="5715000"/>
            <a:ext cx="6912864" cy="987552"/>
          </a:xfrm>
          <a:prstGeom prst="rect">
            <a:avLst/>
          </a:prstGeom>
          <a:solidFill>
            <a:srgbClr val="1F6FB2"/>
          </a:solidFill>
          <a:ln/>
        </p:spPr>
        <p:txBody>
          <a:bodyPr/>
          <a:p/>
        </p:txBody>
      </p:sp>
      <p:sp xmlns:p="http://schemas.openxmlformats.org/presentationml/2006/main" xmlns:a="http://schemas.openxmlformats.org/drawingml/2006/main" xmlns:r="http://schemas.openxmlformats.org/officeDocument/2006/relationships">
        <p:nvSpPr>
          <p:cNvPr id="19" name="Text 36"/>
          <p:cNvSpPr txBox="1"/>
          <p:nvPr/>
        </p:nvSpPr>
        <p:spPr>
          <a:xfrm>
            <a:off x="5532120" y="5888736"/>
            <a:ext cx="6729984" cy="347472"/>
          </a:xfrm>
          <a:prstGeom prst="rect">
            <a:avLst/>
          </a:prstGeom>
          <a:noFill/>
          <a:ln/>
        </p:spPr>
        <p:txBody>
          <a:bodyPr wrap="square" lIns="25400" tIns="25400" rIns="25400" bIns="25400" rtlCol="0" anchor="t">
            <a:noAutofit/>
          </a:bodyPr>
          <a:lstStyle/>
          <a:p>
            <a:pPr algn="l" indent="0" marL="0">
              <a:buNone/>
            </a:pPr>
            <a:r>
              <a:rPr lang="en-US" sz="1800" b="1" dirty="0">
                <a:solidFill>
                  <a:srgbClr val="FFFFFF"/>
                </a:solidFill>
                <a:latin typeface="+mn-lt"/>
                <a:ea typeface="+mn-ea"/>
                <a:cs typeface="+mn-cs"/>
              </a:rPr>
              <a:t>15–45 min</a:t>
            </a:r>
            <a:endParaRPr lang="en-US" sz="1800" dirty="0"/>
          </a:p>
        </p:txBody>
      </p:sp>
      <p:sp xmlns:p="http://schemas.openxmlformats.org/presentationml/2006/main" xmlns:a="http://schemas.openxmlformats.org/drawingml/2006/main" xmlns:r="http://schemas.openxmlformats.org/officeDocument/2006/relationships">
        <p:nvSpPr>
          <p:cNvPr id="20" name="Text 37"/>
          <p:cNvSpPr txBox="1"/>
          <p:nvPr/>
        </p:nvSpPr>
        <p:spPr>
          <a:xfrm>
            <a:off x="5532120" y="6227064"/>
            <a:ext cx="6729984" cy="347472"/>
          </a:xfrm>
          <a:prstGeom prst="rect">
            <a:avLst/>
          </a:prstGeom>
          <a:noFill/>
          <a:ln/>
        </p:spPr>
        <p:txBody>
          <a:bodyPr wrap="square" lIns="25400" tIns="25400" rIns="25400" bIns="25400" rtlCol="0" anchor="t">
            <a:noAutofit/>
          </a:bodyPr>
          <a:lstStyle/>
          <a:p>
            <a:pPr algn="l" indent="0" marL="0">
              <a:buNone/>
            </a:pPr>
            <a:r>
              <a:rPr lang="en-US" sz="1800" dirty="0">
                <a:solidFill>
                  <a:srgbClr val="FFFFFF"/>
                </a:solidFill>
                <a:latin typeface="+mn-lt"/>
                <a:ea typeface="+mn-ea"/>
                <a:cs typeface="+mn-cs"/>
              </a:rPr>
              <a:t>Guided exercises in Codex</a:t>
            </a:r>
            <a:endParaRPr lang="en-US" sz="1800" dirty="0"/>
          </a:p>
        </p:txBody>
      </p:sp>
      <p:sp xmlns:p="http://schemas.openxmlformats.org/presentationml/2006/main" xmlns:a="http://schemas.openxmlformats.org/drawingml/2006/main" xmlns:r="http://schemas.openxmlformats.org/officeDocument/2006/relationships">
        <p:nvSpPr>
          <p:cNvPr id="21" name="Shape 38"/>
          <p:cNvSpPr/>
          <p:nvPr/>
        </p:nvSpPr>
        <p:spPr>
          <a:xfrm>
            <a:off x="12335256" y="5715000"/>
            <a:ext cx="1152144" cy="987552"/>
          </a:xfrm>
          <a:prstGeom prst="rect">
            <a:avLst/>
          </a:prstGeom>
          <a:solidFill>
            <a:srgbClr val="595959"/>
          </a:solidFill>
          <a:ln/>
        </p:spPr>
        <p:txBody>
          <a:bodyPr/>
          <a:p/>
        </p:txBody>
      </p:sp>
      <p:sp xmlns:p="http://schemas.openxmlformats.org/presentationml/2006/main" xmlns:a="http://schemas.openxmlformats.org/drawingml/2006/main" xmlns:r="http://schemas.openxmlformats.org/officeDocument/2006/relationships">
        <p:nvSpPr>
          <p:cNvPr id="22" name="Text 39"/>
          <p:cNvSpPr txBox="1"/>
          <p:nvPr/>
        </p:nvSpPr>
        <p:spPr>
          <a:xfrm>
            <a:off x="12444984" y="5888736"/>
            <a:ext cx="969264" cy="347472"/>
          </a:xfrm>
          <a:prstGeom prst="rect">
            <a:avLst/>
          </a:prstGeom>
          <a:noFill/>
          <a:ln/>
        </p:spPr>
        <p:txBody>
          <a:bodyPr wrap="square" lIns="25400" tIns="25400" rIns="25400" bIns="25400" rtlCol="0" anchor="t">
            <a:noAutofit/>
          </a:bodyPr>
          <a:lstStyle/>
          <a:p>
            <a:pPr algn="l" indent="0" marL="0">
              <a:buNone/>
            </a:pPr>
            <a:r>
              <a:rPr lang="en-US" sz="1800" b="1" dirty="0">
                <a:solidFill>
                  <a:srgbClr val="FFFFFF"/>
                </a:solidFill>
                <a:latin typeface="+mn-lt"/>
                <a:ea typeface="+mn-ea"/>
                <a:cs typeface="+mn-cs"/>
              </a:rPr>
              <a:t>45–50</a:t>
            </a:r>
            <a:endParaRPr lang="en-US" sz="1800" dirty="0"/>
          </a:p>
        </p:txBody>
      </p:sp>
      <p:sp xmlns:p="http://schemas.openxmlformats.org/presentationml/2006/main" xmlns:a="http://schemas.openxmlformats.org/drawingml/2006/main" xmlns:r="http://schemas.openxmlformats.org/officeDocument/2006/relationships">
        <p:nvSpPr>
          <p:cNvPr id="23" name="Text 40"/>
          <p:cNvSpPr txBox="1"/>
          <p:nvPr/>
        </p:nvSpPr>
        <p:spPr>
          <a:xfrm>
            <a:off x="12444984" y="6227064"/>
            <a:ext cx="969264" cy="347472"/>
          </a:xfrm>
          <a:prstGeom prst="rect">
            <a:avLst/>
          </a:prstGeom>
          <a:noFill/>
          <a:ln/>
        </p:spPr>
        <p:txBody>
          <a:bodyPr wrap="square" lIns="25400" tIns="25400" rIns="25400" bIns="25400" rtlCol="0" anchor="t">
            <a:noAutofit/>
          </a:bodyPr>
          <a:lstStyle/>
          <a:p>
            <a:pPr algn="l" indent="0" marL="0">
              <a:buNone/>
            </a:pPr>
            <a:r>
              <a:rPr lang="en-US" sz="1800" dirty="0">
                <a:solidFill>
                  <a:srgbClr val="FFFFFF"/>
                </a:solidFill>
                <a:latin typeface="+mn-lt"/>
                <a:ea typeface="+mn-ea"/>
                <a:cs typeface="+mn-cs"/>
              </a:rPr>
              <a:t>Review</a:t>
            </a:r>
            <a:endParaRPr lang="en-US" sz="1800" dirty="0"/>
          </a:p>
        </p:txBody>
      </p:sp>
      <p:sp xmlns:p="http://schemas.openxmlformats.org/presentationml/2006/main" xmlns:a="http://schemas.openxmlformats.org/drawingml/2006/main" xmlns:r="http://schemas.openxmlformats.org/officeDocument/2006/relationships">
        <p:nvSpPr>
          <p:cNvPr id="24" name="Nav highlight"/>
          <p:cNvSpPr txBox="1"/>
          <p:nvPr userDrawn="1"/>
        </p:nvSpPr>
        <p:spPr>
          <a:xfrm>
            <a:off x="133350" y="2381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Overview</a:t>
            </a:r>
            <a:endParaRPr lang="en-US" sz="1800" b="1" dirty="0"/>
          </a:p>
        </p:txBody>
      </p:sp>
      <p:sp xmlns:p="http://schemas.openxmlformats.org/presentationml/2006/main" xmlns:a="http://schemas.openxmlformats.org/drawingml/2006/main" xmlns:r="http://schemas.openxmlformats.org/officeDocument/2006/relationships">
        <p:nvSpPr>
          <p:cNvPr id="25"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2</a:t>
            </a:r>
            <a:endParaRPr lang="en-US" sz="1800" dirty="0"/>
          </a:p>
        </p:txBody>
      </p:sp>
      <p:sp xmlns:p="http://schemas.openxmlformats.org/presentationml/2006/main" xmlns:a="http://schemas.openxmlformats.org/drawingml/2006/main" xmlns:r="http://schemas.openxmlformats.org/officeDocument/2006/relationships">
        <p:nvSpPr>
          <p:cNvPr id="26" name="Slide Numb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xmlns:p="http://schemas.openxmlformats.org/presentationml/2006/main" xmlns:a="http://schemas.openxmlformats.org/drawingml/2006/main" xmlns:r="http://schemas.openxmlformats.org/officeDocument/2006/relationships">
        <p:nvSpPr>
          <p:cNvPr id="2" name="Title"/>
          <p:cNvSpPr>
            <a:spLocks noGrp="1"/>
          </p:cNvSpPr>
          <p:nvPr>
            <p:ph type="title"/>
          </p:nvPr>
        </p:nvSpPr>
        <p:spPr/>
        <p:txBody>
          <a:bodyPr/>
          <a:lstStyle/>
          <a:p>
            <a:r>
              <a:rPr lang="en-US" dirty="0"/>
              <a:t>Prerequisites</a:t>
            </a:r>
            <a:endParaRPr lang="en-US" dirty="0"/>
          </a:p>
        </p:txBody>
      </p:sp>
      <p:sp xmlns:p="http://schemas.openxmlformats.org/presentationml/2006/main" xmlns:a="http://schemas.openxmlformats.org/drawingml/2006/main" xmlns:r="http://schemas.openxmlformats.org/officeDocument/2006/relationships">
        <p:nvSpPr>
          <p:cNvPr id="3" name="Text 20"/>
          <p:cNvSpPr txBox="1"/>
          <p:nvPr/>
        </p:nvSpPr>
        <p:spPr>
          <a:xfrm>
            <a:off x="1810512" y="1618488"/>
            <a:ext cx="11768328" cy="393192"/>
          </a:xfrm>
          <a:prstGeom prst="rect">
            <a:avLst/>
          </a:prstGeom>
          <a:noFill/>
          <a:ln/>
        </p:spPr>
        <p:txBody>
          <a:bodyPr wrap="square" lIns="25400" tIns="25400" rIns="25400" bIns="25400" rtlCol="0" anchor="t">
            <a:noAutofit/>
          </a:bodyPr>
          <a:lstStyle/>
          <a:p>
            <a:pPr algn="l" indent="0" marL="0">
              <a:buNone/>
            </a:pPr>
            <a:r>
              <a:rPr lang="en-US" sz="2100" dirty="0">
                <a:solidFill>
                  <a:srgbClr val="000000"/>
                </a:solidFill>
                <a:latin typeface="+mn-lt"/>
                <a:ea typeface="+mn-ea"/>
                <a:cs typeface="+mn-cs"/>
              </a:rPr>
              <a:t>Complete before class:</a:t>
            </a:r>
            <a:endParaRPr lang="en-US" sz="2100" dirty="0"/>
          </a:p>
        </p:txBody>
      </p:sp>
      <p:sp xmlns:p="http://schemas.openxmlformats.org/presentationml/2006/main" xmlns:a="http://schemas.openxmlformats.org/drawingml/2006/main" xmlns:r="http://schemas.openxmlformats.org/officeDocument/2006/relationships">
        <p:nvSpPr>
          <p:cNvPr id="4" name="Shape 21"/>
          <p:cNvSpPr/>
          <p:nvPr/>
        </p:nvSpPr>
        <p:spPr>
          <a:xfrm>
            <a:off x="1810512" y="2167128"/>
            <a:ext cx="11676888"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5" name="Text 22"/>
          <p:cNvSpPr txBox="1"/>
          <p:nvPr/>
        </p:nvSpPr>
        <p:spPr>
          <a:xfrm>
            <a:off x="1984248" y="2350008"/>
            <a:ext cx="2898648" cy="695706"/>
          </a:xfrm>
          <a:prstGeom prst="rect">
            <a:avLst/>
          </a:prstGeom>
          <a:noFill/>
          <a:ln/>
        </p:spPr>
        <p:txBody>
          <a:bodyPr wrap="square" lIns="25400" tIns="25400" rIns="25400" bIns="25400" rtlCol="0" anchor="t">
            <a:noAutofit/>
          </a:bodyPr>
          <a:lstStyle/>
          <a:p>
            <a:pPr algn="l" indent="0" marL="0">
              <a:buNone/>
            </a:pPr>
            <a:r>
              <a:rPr lang="en-US" sz="1900" b="1" dirty="0">
                <a:solidFill>
                  <a:srgbClr val="000000"/>
                </a:solidFill>
                <a:latin typeface="+mn-lt"/>
                <a:ea typeface="+mn-ea"/>
                <a:cs typeface="+mn-cs"/>
              </a:rPr>
              <a:t>Lesson 1 repo</a:t>
            </a:r>
            <a:endParaRPr lang="en-US" sz="1900" dirty="0"/>
          </a:p>
        </p:txBody>
      </p:sp>
      <p:sp xmlns:p="http://schemas.openxmlformats.org/presentationml/2006/main" xmlns:a="http://schemas.openxmlformats.org/drawingml/2006/main" xmlns:r="http://schemas.openxmlformats.org/officeDocument/2006/relationships">
        <p:nvSpPr>
          <p:cNvPr id="6" name="Text 23"/>
          <p:cNvSpPr txBox="1"/>
          <p:nvPr/>
        </p:nvSpPr>
        <p:spPr>
          <a:xfrm>
            <a:off x="5120640" y="2350008"/>
            <a:ext cx="8449056" cy="695706"/>
          </a:xfrm>
          <a:prstGeom prst="rect">
            <a:avLst/>
          </a:prstGeom>
          <a:noFill/>
          <a:ln/>
        </p:spPr>
        <p:txBody>
          <a:bodyPr wrap="square" lIns="25400" tIns="25400" rIns="25400" bIns="25400" rtlCol="0" anchor="t">
            <a:noAutofit/>
          </a:bodyPr>
          <a:lstStyle/>
          <a:p>
            <a:pPr algn="l" indent="0" marL="0">
              <a:buNone/>
            </a:pPr>
            <a:r>
              <a:rPr lang="en-US" sz="1900" dirty="0">
                <a:solidFill>
                  <a:srgbClr val="000000"/>
                </a:solidFill>
                <a:latin typeface="+mn-lt"/>
                <a:ea typeface="+mn-ea"/>
                <a:cs typeface="+mn-cs"/>
              </a:rPr>
              <a:t xml:space="preserve">Your private copy of </a:t>
            </a:r>
            <a:r>
              <a:rPr lang="en-US" sz="1900" b="1" dirty="0">
                <a:solidFill>
                  <a:srgbClr val="000000"/>
                </a:solidFill>
                <a:latin typeface="+mn-lt"/>
                <a:ea typeface="+mn-ea"/>
                <a:cs typeface="+mn-cs"/>
              </a:rPr>
              <a:t>beam-calc</a:t>
            </a:r>
            <a:r>
              <a:rPr lang="en-US" sz="1900" dirty="0">
                <a:solidFill>
                  <a:srgbClr val="000000"/>
                </a:solidFill>
                <a:latin typeface="+mn-lt"/>
                <a:ea typeface="+mn-ea"/>
                <a:cs typeface="+mn-cs"/>
              </a:rPr>
              <a:t xml:space="preserve"> on GitHub, cloned with GitHub Desktop.</a:t>
            </a:r>
            <a:endParaRPr lang="en-US" sz="1900" dirty="0"/>
          </a:p>
        </p:txBody>
      </p:sp>
      <p:sp xmlns:p="http://schemas.openxmlformats.org/presentationml/2006/main" xmlns:a="http://schemas.openxmlformats.org/drawingml/2006/main" xmlns:r="http://schemas.openxmlformats.org/officeDocument/2006/relationships">
        <p:nvSpPr>
          <p:cNvPr id="7" name="Shape 24"/>
          <p:cNvSpPr/>
          <p:nvPr/>
        </p:nvSpPr>
        <p:spPr>
          <a:xfrm>
            <a:off x="1810512" y="3210306"/>
            <a:ext cx="3145536"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8" name="Shape 25"/>
          <p:cNvSpPr/>
          <p:nvPr/>
        </p:nvSpPr>
        <p:spPr>
          <a:xfrm>
            <a:off x="4956048" y="3210306"/>
            <a:ext cx="8531352"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9" name="Text 26"/>
          <p:cNvSpPr txBox="1"/>
          <p:nvPr/>
        </p:nvSpPr>
        <p:spPr>
          <a:xfrm>
            <a:off x="1984248" y="3393186"/>
            <a:ext cx="2898648" cy="997839"/>
          </a:xfrm>
          <a:prstGeom prst="rect">
            <a:avLst/>
          </a:prstGeom>
          <a:noFill/>
          <a:ln/>
        </p:spPr>
        <p:txBody>
          <a:bodyPr wrap="square" lIns="25400" tIns="25400" rIns="25400" bIns="25400" rtlCol="0" anchor="t">
            <a:noAutofit/>
          </a:bodyPr>
          <a:lstStyle/>
          <a:p>
            <a:pPr algn="l" indent="0" marL="0">
              <a:buNone/>
            </a:pPr>
            <a:r>
              <a:rPr lang="en-US" sz="1900" b="1" dirty="0">
                <a:solidFill>
                  <a:srgbClr val="000000"/>
                </a:solidFill>
                <a:latin typeface="+mn-lt"/>
                <a:ea typeface="+mn-ea"/>
                <a:cs typeface="+mn-cs"/>
              </a:rPr>
              <a:t>Agent account</a:t>
            </a:r>
            <a:endParaRPr lang="en-US" sz="1900" dirty="0"/>
          </a:p>
        </p:txBody>
      </p:sp>
      <p:sp xmlns:p="http://schemas.openxmlformats.org/presentationml/2006/main" xmlns:a="http://schemas.openxmlformats.org/drawingml/2006/main" xmlns:r="http://schemas.openxmlformats.org/officeDocument/2006/relationships">
        <p:nvSpPr>
          <p:cNvPr id="10" name="Text 27"/>
          <p:cNvSpPr txBox="1"/>
          <p:nvPr/>
        </p:nvSpPr>
        <p:spPr>
          <a:xfrm>
            <a:off x="5120640" y="3393186"/>
            <a:ext cx="8449056" cy="997839"/>
          </a:xfrm>
          <a:prstGeom prst="rect">
            <a:avLst/>
          </a:prstGeom>
          <a:noFill/>
          <a:ln/>
        </p:spPr>
        <p:txBody>
          <a:bodyPr wrap="square" lIns="25400" tIns="25400" rIns="25400" bIns="25400" rtlCol="0" anchor="t">
            <a:noAutofit/>
          </a:bodyPr>
          <a:lstStyle/>
          <a:p>
            <a:pPr algn="l" indent="0" marL="0">
              <a:buNone/>
            </a:pPr>
            <a:r>
              <a:rPr lang="en-US" sz="1900" dirty="0">
                <a:solidFill>
                  <a:srgbClr val="000000"/>
                </a:solidFill>
                <a:latin typeface="+mn-lt"/>
                <a:ea typeface="+mn-ea"/>
                <a:cs typeface="+mn-cs"/>
              </a:rPr>
              <a:t>ChatGPT Plus or higher; Business, Edu, and Enterprise plans also include Codex. Use the account type your organization directs.</a:t>
            </a:r>
            <a:endParaRPr lang="en-US" sz="1900" dirty="0"/>
          </a:p>
        </p:txBody>
      </p:sp>
      <p:sp xmlns:p="http://schemas.openxmlformats.org/presentationml/2006/main" xmlns:a="http://schemas.openxmlformats.org/drawingml/2006/main" xmlns:r="http://schemas.openxmlformats.org/officeDocument/2006/relationships">
        <p:nvSpPr>
          <p:cNvPr id="11" name="Shape 28"/>
          <p:cNvSpPr/>
          <p:nvPr/>
        </p:nvSpPr>
        <p:spPr>
          <a:xfrm>
            <a:off x="1810512" y="4555617"/>
            <a:ext cx="3145536"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12" name="Shape 29"/>
          <p:cNvSpPr/>
          <p:nvPr/>
        </p:nvSpPr>
        <p:spPr>
          <a:xfrm>
            <a:off x="4956048" y="4555617"/>
            <a:ext cx="8531352"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13" name="Text 30"/>
          <p:cNvSpPr txBox="1"/>
          <p:nvPr/>
        </p:nvSpPr>
        <p:spPr>
          <a:xfrm>
            <a:off x="1984248" y="4738497"/>
            <a:ext cx="2898648" cy="695706"/>
          </a:xfrm>
          <a:prstGeom prst="rect">
            <a:avLst/>
          </a:prstGeom>
          <a:noFill/>
          <a:ln/>
        </p:spPr>
        <p:txBody>
          <a:bodyPr wrap="square" lIns="25400" tIns="25400" rIns="25400" bIns="25400" rtlCol="0" anchor="t">
            <a:noAutofit/>
          </a:bodyPr>
          <a:lstStyle/>
          <a:p>
            <a:pPr algn="l" indent="0" marL="0">
              <a:buNone/>
            </a:pPr>
            <a:r>
              <a:rPr lang="en-US" sz="1900" b="1" dirty="0">
                <a:solidFill>
                  <a:srgbClr val="000000"/>
                </a:solidFill>
                <a:latin typeface="+mn-lt"/>
                <a:ea typeface="+mn-ea"/>
                <a:cs typeface="+mn-cs"/>
              </a:rPr>
              <a:t>GitHub Desktop + VS Code</a:t>
            </a:r>
            <a:endParaRPr lang="en-US" sz="1900" dirty="0"/>
          </a:p>
        </p:txBody>
      </p:sp>
      <p:sp xmlns:p="http://schemas.openxmlformats.org/presentationml/2006/main" xmlns:a="http://schemas.openxmlformats.org/drawingml/2006/main" xmlns:r="http://schemas.openxmlformats.org/officeDocument/2006/relationships">
        <p:nvSpPr>
          <p:cNvPr id="14" name="Text 31"/>
          <p:cNvSpPr txBox="1"/>
          <p:nvPr/>
        </p:nvSpPr>
        <p:spPr>
          <a:xfrm>
            <a:off x="5120640" y="4738497"/>
            <a:ext cx="8449056" cy="695706"/>
          </a:xfrm>
          <a:prstGeom prst="rect">
            <a:avLst/>
          </a:prstGeom>
          <a:noFill/>
          <a:ln/>
        </p:spPr>
        <p:txBody>
          <a:bodyPr wrap="square" lIns="25400" tIns="25400" rIns="25400" bIns="25400" rtlCol="0" anchor="t">
            <a:noAutofit/>
          </a:bodyPr>
          <a:lstStyle/>
          <a:p>
            <a:pPr algn="l" indent="0" marL="0">
              <a:buNone/>
            </a:pPr>
            <a:r>
              <a:rPr lang="en-US" sz="1900" dirty="0">
                <a:solidFill>
                  <a:srgbClr val="000000"/>
                </a:solidFill>
                <a:latin typeface="+mn-lt"/>
                <a:ea typeface="+mn-ea"/>
                <a:cs typeface="+mn-cs"/>
              </a:rPr>
              <a:t>Installed and signed in (Lesson 1).</a:t>
            </a:r>
            <a:endParaRPr lang="en-US" sz="1900" dirty="0"/>
          </a:p>
        </p:txBody>
      </p:sp>
      <p:sp xmlns:p="http://schemas.openxmlformats.org/presentationml/2006/main" xmlns:a="http://schemas.openxmlformats.org/drawingml/2006/main" xmlns:r="http://schemas.openxmlformats.org/officeDocument/2006/relationships">
        <p:nvSpPr>
          <p:cNvPr id="15" name="Shape 32"/>
          <p:cNvSpPr/>
          <p:nvPr/>
        </p:nvSpPr>
        <p:spPr>
          <a:xfrm>
            <a:off x="1810512" y="5598795"/>
            <a:ext cx="3145536"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16" name="Shape 33"/>
          <p:cNvSpPr/>
          <p:nvPr/>
        </p:nvSpPr>
        <p:spPr>
          <a:xfrm>
            <a:off x="4956048" y="5598795"/>
            <a:ext cx="8531352"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17" name="Text 34"/>
          <p:cNvSpPr txBox="1"/>
          <p:nvPr/>
        </p:nvSpPr>
        <p:spPr>
          <a:xfrm>
            <a:off x="1984248" y="5781675"/>
            <a:ext cx="2898648" cy="393573"/>
          </a:xfrm>
          <a:prstGeom prst="rect">
            <a:avLst/>
          </a:prstGeom>
          <a:noFill/>
          <a:ln/>
        </p:spPr>
        <p:txBody>
          <a:bodyPr wrap="square" lIns="25400" tIns="25400" rIns="25400" bIns="25400" rtlCol="0" anchor="t">
            <a:noAutofit/>
          </a:bodyPr>
          <a:lstStyle/>
          <a:p>
            <a:pPr algn="l" indent="0" marL="0">
              <a:buNone/>
            </a:pPr>
            <a:r>
              <a:rPr lang="en-US" sz="1900" b="1" dirty="0">
                <a:solidFill>
                  <a:srgbClr val="000000"/>
                </a:solidFill>
                <a:latin typeface="+mn-lt"/>
                <a:ea typeface="+mn-ea"/>
                <a:cs typeface="+mn-cs"/>
              </a:rPr>
              <a:t>MATLAB (optional)</a:t>
            </a:r>
            <a:endParaRPr lang="en-US" sz="1900" dirty="0"/>
          </a:p>
        </p:txBody>
      </p:sp>
      <p:sp xmlns:p="http://schemas.openxmlformats.org/presentationml/2006/main" xmlns:a="http://schemas.openxmlformats.org/drawingml/2006/main" xmlns:r="http://schemas.openxmlformats.org/officeDocument/2006/relationships">
        <p:nvSpPr>
          <p:cNvPr id="18" name="Text 35"/>
          <p:cNvSpPr txBox="1"/>
          <p:nvPr/>
        </p:nvSpPr>
        <p:spPr>
          <a:xfrm>
            <a:off x="5120640" y="5781675"/>
            <a:ext cx="8449056" cy="393573"/>
          </a:xfrm>
          <a:prstGeom prst="rect">
            <a:avLst/>
          </a:prstGeom>
          <a:noFill/>
          <a:ln/>
        </p:spPr>
        <p:txBody>
          <a:bodyPr wrap="square" lIns="25400" tIns="25400" rIns="25400" bIns="25400" rtlCol="0" anchor="t">
            <a:noAutofit/>
          </a:bodyPr>
          <a:lstStyle/>
          <a:p>
            <a:pPr algn="l" indent="0" marL="0">
              <a:buNone/>
            </a:pPr>
            <a:r>
              <a:rPr lang="en-US" sz="1900" dirty="0">
                <a:solidFill>
                  <a:srgbClr val="000000"/>
                </a:solidFill>
                <a:latin typeface="+mn-lt"/>
                <a:ea typeface="+mn-ea"/>
                <a:cs typeface="+mn-cs"/>
              </a:rPr>
              <a:t>To run the tests yourself. The agent’s cloud environment has no MATLAB.</a:t>
            </a:r>
            <a:endParaRPr lang="en-US" sz="1900" dirty="0"/>
          </a:p>
        </p:txBody>
      </p:sp>
      <p:sp xmlns:p="http://schemas.openxmlformats.org/presentationml/2006/main" xmlns:a="http://schemas.openxmlformats.org/drawingml/2006/main" xmlns:r="http://schemas.openxmlformats.org/officeDocument/2006/relationships">
        <p:nvSpPr>
          <p:cNvPr id="19" name="Shape 36"/>
          <p:cNvSpPr/>
          <p:nvPr/>
        </p:nvSpPr>
        <p:spPr>
          <a:xfrm>
            <a:off x="1810512" y="6339840"/>
            <a:ext cx="3145536"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20" name="Shape 37"/>
          <p:cNvSpPr/>
          <p:nvPr/>
        </p:nvSpPr>
        <p:spPr>
          <a:xfrm>
            <a:off x="4956048" y="6339840"/>
            <a:ext cx="8531352"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21" name="Text 38"/>
          <p:cNvSpPr txBox="1"/>
          <p:nvPr/>
        </p:nvSpPr>
        <p:spPr>
          <a:xfrm>
            <a:off x="1984248" y="6522720"/>
            <a:ext cx="2898648" cy="393573"/>
          </a:xfrm>
          <a:prstGeom prst="rect">
            <a:avLst/>
          </a:prstGeom>
          <a:noFill/>
          <a:ln/>
        </p:spPr>
        <p:txBody>
          <a:bodyPr wrap="square" lIns="25400" tIns="25400" rIns="25400" bIns="25400" rtlCol="0" anchor="t">
            <a:noAutofit/>
          </a:bodyPr>
          <a:lstStyle/>
          <a:p>
            <a:pPr algn="l" indent="0" marL="0">
              <a:buNone/>
            </a:pPr>
            <a:r>
              <a:rPr lang="en-US" sz="1900" b="1" dirty="0">
                <a:solidFill>
                  <a:srgbClr val="000000"/>
                </a:solidFill>
                <a:latin typeface="+mn-lt"/>
                <a:ea typeface="+mn-ea"/>
                <a:cs typeface="+mn-cs"/>
              </a:rPr>
              <a:t>Your own project</a:t>
            </a:r>
            <a:endParaRPr lang="en-US" sz="1900" dirty="0"/>
          </a:p>
        </p:txBody>
      </p:sp>
      <p:sp xmlns:p="http://schemas.openxmlformats.org/presentationml/2006/main" xmlns:a="http://schemas.openxmlformats.org/drawingml/2006/main" xmlns:r="http://schemas.openxmlformats.org/officeDocument/2006/relationships">
        <p:nvSpPr>
          <p:cNvPr id="22" name="Text 39"/>
          <p:cNvSpPr txBox="1"/>
          <p:nvPr/>
        </p:nvSpPr>
        <p:spPr>
          <a:xfrm>
            <a:off x="5120640" y="6522720"/>
            <a:ext cx="8449056" cy="393573"/>
          </a:xfrm>
          <a:prstGeom prst="rect">
            <a:avLst/>
          </a:prstGeom>
          <a:noFill/>
          <a:ln/>
        </p:spPr>
        <p:txBody>
          <a:bodyPr wrap="square" lIns="25400" tIns="25400" rIns="25400" bIns="25400" rtlCol="0" anchor="t">
            <a:noAutofit/>
          </a:bodyPr>
          <a:lstStyle/>
          <a:p>
            <a:pPr algn="l" indent="0" marL="0">
              <a:buNone/>
            </a:pPr>
            <a:r>
              <a:rPr lang="en-US" sz="1900" dirty="0">
                <a:solidFill>
                  <a:srgbClr val="000000"/>
                </a:solidFill>
                <a:latin typeface="+mn-lt"/>
                <a:ea typeface="+mn-ea"/>
                <a:cs typeface="+mn-cs"/>
              </a:rPr>
              <a:t>The repo from Lesson 1’s Agent-Ready Checklist, for Exercise 7.</a:t>
            </a:r>
            <a:endParaRPr lang="en-US" sz="1900" dirty="0"/>
          </a:p>
        </p:txBody>
      </p:sp>
      <p:sp xmlns:p="http://schemas.openxmlformats.org/presentationml/2006/main" xmlns:a="http://schemas.openxmlformats.org/drawingml/2006/main" xmlns:r="http://schemas.openxmlformats.org/officeDocument/2006/relationships">
        <p:nvSpPr>
          <p:cNvPr id="23" name="Shape 40"/>
          <p:cNvSpPr/>
          <p:nvPr/>
        </p:nvSpPr>
        <p:spPr>
          <a:xfrm>
            <a:off x="1810512" y="7080885"/>
            <a:ext cx="3145536"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24" name="Shape 41"/>
          <p:cNvSpPr/>
          <p:nvPr/>
        </p:nvSpPr>
        <p:spPr>
          <a:xfrm>
            <a:off x="4956048" y="7080885"/>
            <a:ext cx="8531352"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25" name="Text 42"/>
          <p:cNvSpPr txBox="1"/>
          <p:nvPr/>
        </p:nvSpPr>
        <p:spPr>
          <a:xfrm>
            <a:off x="1810512" y="7355205"/>
            <a:ext cx="11768328" cy="731520"/>
          </a:xfrm>
          <a:prstGeom prst="rect">
            <a:avLst/>
          </a:prstGeom>
          <a:noFill/>
          <a:ln/>
        </p:spPr>
        <p:txBody>
          <a:bodyPr wrap="square" lIns="25400" tIns="25400" rIns="25400" bIns="25400" rtlCol="0" anchor="t">
            <a:noAutofit/>
          </a:bodyPr>
          <a:lstStyle/>
          <a:p>
            <a:pPr algn="l" indent="0" marL="0">
              <a:buNone/>
            </a:pPr>
            <a:r>
              <a:rPr lang="en-US" sz="1900" dirty="0">
                <a:solidFill>
                  <a:srgbClr val="404040"/>
                </a:solidFill>
                <a:latin typeface="+mn-lt"/>
                <a:ea typeface="+mn-ea"/>
                <a:cs typeface="+mn-cs"/>
              </a:rPr>
              <a:t>Follow current USAFA guidance on GenAI tools and data handling before you connect a repo to an agent.</a:t>
            </a:r>
            <a:endParaRPr lang="en-US" sz="1900" dirty="0"/>
          </a:p>
        </p:txBody>
      </p:sp>
      <p:sp xmlns:p="http://schemas.openxmlformats.org/presentationml/2006/main" xmlns:a="http://schemas.openxmlformats.org/drawingml/2006/main" xmlns:r="http://schemas.openxmlformats.org/officeDocument/2006/relationships">
        <p:nvSpPr>
          <p:cNvPr id="26" name="Nav highlight"/>
          <p:cNvSpPr txBox="1"/>
          <p:nvPr userDrawn="1"/>
        </p:nvSpPr>
        <p:spPr>
          <a:xfrm>
            <a:off x="133350" y="2381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Overview</a:t>
            </a:r>
            <a:endParaRPr lang="en-US" sz="1800" b="1" dirty="0"/>
          </a:p>
        </p:txBody>
      </p:sp>
      <p:sp xmlns:p="http://schemas.openxmlformats.org/presentationml/2006/main" xmlns:a="http://schemas.openxmlformats.org/drawingml/2006/main" xmlns:r="http://schemas.openxmlformats.org/officeDocument/2006/relationships">
        <p:nvSpPr>
          <p:cNvPr id="27"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2</a:t>
            </a:r>
            <a:endParaRPr lang="en-US" sz="1800" dirty="0"/>
          </a:p>
        </p:txBody>
      </p:sp>
      <p:sp xmlns:p="http://schemas.openxmlformats.org/presentationml/2006/main" xmlns:a="http://schemas.openxmlformats.org/drawingml/2006/main" xmlns:r="http://schemas.openxmlformats.org/officeDocument/2006/relationships">
        <p:nvSpPr>
          <p:cNvPr id="28" name="Slide Numb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xmlns:p="http://schemas.openxmlformats.org/presentationml/2006/main" xmlns:a="http://schemas.openxmlformats.org/drawingml/2006/main" xmlns:r="http://schemas.openxmlformats.org/officeDocument/2006/relationships">
        <p:nvSpPr>
          <p:cNvPr id="2" name="Title"/>
          <p:cNvSpPr>
            <a:spLocks noGrp="1"/>
          </p:cNvSpPr>
          <p:nvPr>
            <p:ph type="title"/>
          </p:nvPr>
        </p:nvSpPr>
        <p:spPr/>
        <p:txBody>
          <a:bodyPr/>
          <a:lstStyle/>
          <a:p>
            <a:r>
              <a:rPr lang="en-US" dirty="0"/>
              <a:t>Chat LLM vs. Coding Agent</a:t>
            </a:r>
            <a:endParaRPr lang="en-US" dirty="0"/>
          </a:p>
        </p:txBody>
      </p:sp>
      <p:sp xmlns:p="http://schemas.openxmlformats.org/presentationml/2006/main" xmlns:a="http://schemas.openxmlformats.org/drawingml/2006/main" xmlns:r="http://schemas.openxmlformats.org/officeDocument/2006/relationships">
        <p:nvSpPr>
          <p:cNvPr id="3" name="Shape 20"/>
          <p:cNvSpPr/>
          <p:nvPr/>
        </p:nvSpPr>
        <p:spPr>
          <a:xfrm>
            <a:off x="1810512" y="1572768"/>
            <a:ext cx="3429000" cy="1481328"/>
          </a:xfrm>
          <a:prstGeom prst="rect">
            <a:avLst/>
          </a:prstGeom>
          <a:solidFill>
            <a:srgbClr val="F2F2F2"/>
          </a:solidFill>
          <a:ln/>
        </p:spPr>
        <p:txBody>
          <a:bodyPr/>
          <a:p/>
        </p:txBody>
      </p:sp>
      <p:sp xmlns:p="http://schemas.openxmlformats.org/presentationml/2006/main" xmlns:a="http://schemas.openxmlformats.org/drawingml/2006/main" xmlns:r="http://schemas.openxmlformats.org/officeDocument/2006/relationships">
        <p:nvSpPr>
          <p:cNvPr id="4" name="Text 21"/>
          <p:cNvSpPr txBox="1"/>
          <p:nvPr/>
        </p:nvSpPr>
        <p:spPr>
          <a:xfrm>
            <a:off x="1993392" y="1700784"/>
            <a:ext cx="3108960" cy="411480"/>
          </a:xfrm>
          <a:prstGeom prst="rect">
            <a:avLst/>
          </a:prstGeom>
          <a:noFill/>
          <a:ln/>
        </p:spPr>
        <p:txBody>
          <a:bodyPr wrap="square" lIns="25400" tIns="25400" rIns="25400" bIns="25400" rtlCol="0" anchor="t">
            <a:noAutofit/>
          </a:bodyPr>
          <a:lstStyle/>
          <a:p>
            <a:pPr algn="l" indent="0" marL="0">
              <a:buNone/>
            </a:pPr>
            <a:r>
              <a:rPr lang="en-US" sz="2100" b="1" dirty="0">
                <a:solidFill>
                  <a:srgbClr val="1F6FB2"/>
                </a:solidFill>
                <a:latin typeface="+mn-lt"/>
                <a:ea typeface="+mn-ea"/>
                <a:cs typeface="+mn-cs"/>
              </a:rPr>
              <a:t>Chat LLM</a:t>
            </a:r>
            <a:endParaRPr lang="en-US" sz="2100" dirty="0"/>
          </a:p>
        </p:txBody>
      </p:sp>
      <p:sp xmlns:p="http://schemas.openxmlformats.org/presentationml/2006/main" xmlns:a="http://schemas.openxmlformats.org/drawingml/2006/main" xmlns:r="http://schemas.openxmlformats.org/officeDocument/2006/relationships">
        <p:nvSpPr>
          <p:cNvPr id="5" name="Text 22"/>
          <p:cNvSpPr txBox="1"/>
          <p:nvPr/>
        </p:nvSpPr>
        <p:spPr>
          <a:xfrm>
            <a:off x="1993392" y="2139696"/>
            <a:ext cx="3108960" cy="868680"/>
          </a:xfrm>
          <a:prstGeom prst="rect">
            <a:avLst/>
          </a:prstGeom>
          <a:noFill/>
          <a:ln/>
        </p:spPr>
        <p:txBody>
          <a:bodyPr wrap="square" lIns="25400" tIns="25400" rIns="25400" bIns="25400" rtlCol="0" anchor="t">
            <a:noAutofit/>
          </a:bodyPr>
          <a:lstStyle/>
          <a:p>
            <a:pPr algn="l" indent="0" marL="0">
              <a:buNone/>
            </a:pPr>
            <a:r>
              <a:rPr lang="en-US" sz="1700" dirty="0">
                <a:solidFill>
                  <a:srgbClr val="000000"/>
                </a:solidFill>
                <a:latin typeface="+mn-lt"/>
                <a:ea typeface="+mn-ea"/>
                <a:cs typeface="+mn-cs"/>
              </a:rPr>
              <a:t>Answers in text. You copy, paste, and debug.</a:t>
            </a:r>
            <a:endParaRPr lang="en-US" sz="1700" dirty="0"/>
          </a:p>
        </p:txBody>
      </p:sp>
      <p:sp xmlns:p="http://schemas.openxmlformats.org/presentationml/2006/main" xmlns:a="http://schemas.openxmlformats.org/drawingml/2006/main" xmlns:r="http://schemas.openxmlformats.org/officeDocument/2006/relationships">
        <p:nvSpPr>
          <p:cNvPr id="6" name="Shape 23"/>
          <p:cNvSpPr/>
          <p:nvPr/>
        </p:nvSpPr>
        <p:spPr>
          <a:xfrm>
            <a:off x="5330952" y="2148840"/>
            <a:ext cx="384048" cy="329184"/>
          </a:xfrm>
          <a:prstGeom prst="rightArrow">
            <a:avLst/>
          </a:prstGeom>
          <a:solidFill>
            <a:srgbClr val="1F6FB2"/>
          </a:solidFill>
          <a:ln/>
        </p:spPr>
        <p:txBody>
          <a:bodyPr/>
          <a:p/>
        </p:txBody>
      </p:sp>
      <p:sp xmlns:p="http://schemas.openxmlformats.org/presentationml/2006/main" xmlns:a="http://schemas.openxmlformats.org/drawingml/2006/main" xmlns:r="http://schemas.openxmlformats.org/officeDocument/2006/relationships">
        <p:nvSpPr>
          <p:cNvPr id="7" name="Shape 24"/>
          <p:cNvSpPr/>
          <p:nvPr/>
        </p:nvSpPr>
        <p:spPr>
          <a:xfrm>
            <a:off x="5797296" y="1572768"/>
            <a:ext cx="3429000" cy="1481328"/>
          </a:xfrm>
          <a:prstGeom prst="rect">
            <a:avLst/>
          </a:prstGeom>
          <a:solidFill>
            <a:srgbClr val="F2F2F2"/>
          </a:solidFill>
          <a:ln/>
        </p:spPr>
        <p:txBody>
          <a:bodyPr/>
          <a:p/>
        </p:txBody>
      </p:sp>
      <p:sp xmlns:p="http://schemas.openxmlformats.org/presentationml/2006/main" xmlns:a="http://schemas.openxmlformats.org/drawingml/2006/main" xmlns:r="http://schemas.openxmlformats.org/officeDocument/2006/relationships">
        <p:nvSpPr>
          <p:cNvPr id="8" name="Text 25"/>
          <p:cNvSpPr txBox="1"/>
          <p:nvPr/>
        </p:nvSpPr>
        <p:spPr>
          <a:xfrm>
            <a:off x="5980176" y="1700784"/>
            <a:ext cx="3108960" cy="411480"/>
          </a:xfrm>
          <a:prstGeom prst="rect">
            <a:avLst/>
          </a:prstGeom>
          <a:noFill/>
          <a:ln/>
        </p:spPr>
        <p:txBody>
          <a:bodyPr wrap="square" lIns="25400" tIns="25400" rIns="25400" bIns="25400" rtlCol="0" anchor="t">
            <a:noAutofit/>
          </a:bodyPr>
          <a:lstStyle/>
          <a:p>
            <a:pPr algn="l" indent="0" marL="0">
              <a:buNone/>
            </a:pPr>
            <a:r>
              <a:rPr lang="en-US" sz="2100" b="1" dirty="0">
                <a:solidFill>
                  <a:srgbClr val="1F6FB2"/>
                </a:solidFill>
                <a:latin typeface="+mn-lt"/>
                <a:ea typeface="+mn-ea"/>
                <a:cs typeface="+mn-cs"/>
              </a:rPr>
              <a:t>LLM + tools</a:t>
            </a:r>
            <a:endParaRPr lang="en-US" sz="2100" dirty="0"/>
          </a:p>
        </p:txBody>
      </p:sp>
      <p:sp xmlns:p="http://schemas.openxmlformats.org/presentationml/2006/main" xmlns:a="http://schemas.openxmlformats.org/drawingml/2006/main" xmlns:r="http://schemas.openxmlformats.org/officeDocument/2006/relationships">
        <p:nvSpPr>
          <p:cNvPr id="9" name="Text 26"/>
          <p:cNvSpPr txBox="1"/>
          <p:nvPr/>
        </p:nvSpPr>
        <p:spPr>
          <a:xfrm>
            <a:off x="5980176" y="2139696"/>
            <a:ext cx="3108960" cy="868680"/>
          </a:xfrm>
          <a:prstGeom prst="rect">
            <a:avLst/>
          </a:prstGeom>
          <a:noFill/>
          <a:ln/>
        </p:spPr>
        <p:txBody>
          <a:bodyPr wrap="square" lIns="25400" tIns="25400" rIns="25400" bIns="25400" rtlCol="0" anchor="t">
            <a:noAutofit/>
          </a:bodyPr>
          <a:lstStyle/>
          <a:p>
            <a:pPr algn="l" indent="0" marL="0">
              <a:buNone/>
            </a:pPr>
            <a:r>
              <a:rPr lang="en-US" sz="1700" dirty="0">
                <a:solidFill>
                  <a:srgbClr val="000000"/>
                </a:solidFill>
                <a:latin typeface="+mn-lt"/>
                <a:ea typeface="+mn-ea"/>
                <a:cs typeface="+mn-cs"/>
              </a:rPr>
              <a:t>Writes and runs code in the chat. You still integrate it.</a:t>
            </a:r>
            <a:endParaRPr lang="en-US" sz="1700" dirty="0"/>
          </a:p>
        </p:txBody>
      </p:sp>
      <p:sp xmlns:p="http://schemas.openxmlformats.org/presentationml/2006/main" xmlns:a="http://schemas.openxmlformats.org/drawingml/2006/main" xmlns:r="http://schemas.openxmlformats.org/officeDocument/2006/relationships">
        <p:nvSpPr>
          <p:cNvPr id="10" name="Shape 27"/>
          <p:cNvSpPr/>
          <p:nvPr/>
        </p:nvSpPr>
        <p:spPr>
          <a:xfrm>
            <a:off x="9317736" y="2148840"/>
            <a:ext cx="384048" cy="329184"/>
          </a:xfrm>
          <a:prstGeom prst="rightArrow">
            <a:avLst/>
          </a:prstGeom>
          <a:solidFill>
            <a:srgbClr val="1F6FB2"/>
          </a:solidFill>
          <a:ln/>
        </p:spPr>
        <p:txBody>
          <a:bodyPr/>
          <a:p/>
        </p:txBody>
      </p:sp>
      <p:sp xmlns:p="http://schemas.openxmlformats.org/presentationml/2006/main" xmlns:a="http://schemas.openxmlformats.org/drawingml/2006/main" xmlns:r="http://schemas.openxmlformats.org/officeDocument/2006/relationships">
        <p:nvSpPr>
          <p:cNvPr id="11" name="Shape 28"/>
          <p:cNvSpPr/>
          <p:nvPr/>
        </p:nvSpPr>
        <p:spPr>
          <a:xfrm>
            <a:off x="9784080" y="1572768"/>
            <a:ext cx="3429000" cy="1481328"/>
          </a:xfrm>
          <a:prstGeom prst="rect">
            <a:avLst/>
          </a:prstGeom>
          <a:solidFill>
            <a:srgbClr val="152A47"/>
          </a:solidFill>
          <a:ln/>
        </p:spPr>
        <p:txBody>
          <a:bodyPr/>
          <a:p/>
        </p:txBody>
      </p:sp>
      <p:sp xmlns:p="http://schemas.openxmlformats.org/presentationml/2006/main" xmlns:a="http://schemas.openxmlformats.org/drawingml/2006/main" xmlns:r="http://schemas.openxmlformats.org/officeDocument/2006/relationships">
        <p:nvSpPr>
          <p:cNvPr id="12" name="Text 29"/>
          <p:cNvSpPr txBox="1"/>
          <p:nvPr/>
        </p:nvSpPr>
        <p:spPr>
          <a:xfrm>
            <a:off x="9966960" y="1700784"/>
            <a:ext cx="3108960" cy="411480"/>
          </a:xfrm>
          <a:prstGeom prst="rect">
            <a:avLst/>
          </a:prstGeom>
          <a:noFill/>
          <a:ln/>
        </p:spPr>
        <p:txBody>
          <a:bodyPr wrap="square" lIns="25400" tIns="25400" rIns="25400" bIns="25400" rtlCol="0" anchor="t">
            <a:noAutofit/>
          </a:bodyPr>
          <a:lstStyle/>
          <a:p>
            <a:pPr algn="l" indent="0" marL="0">
              <a:buNone/>
            </a:pPr>
            <a:r>
              <a:rPr lang="en-US" sz="2100" b="1" dirty="0">
                <a:solidFill>
                  <a:srgbClr val="00B0F0"/>
                </a:solidFill>
                <a:latin typeface="+mn-lt"/>
                <a:ea typeface="+mn-ea"/>
                <a:cs typeface="+mn-cs"/>
              </a:rPr>
              <a:t>Coding agent</a:t>
            </a:r>
            <a:endParaRPr lang="en-US" sz="2100" dirty="0"/>
          </a:p>
        </p:txBody>
      </p:sp>
      <p:sp xmlns:p="http://schemas.openxmlformats.org/presentationml/2006/main" xmlns:a="http://schemas.openxmlformats.org/drawingml/2006/main" xmlns:r="http://schemas.openxmlformats.org/officeDocument/2006/relationships">
        <p:nvSpPr>
          <p:cNvPr id="13" name="Text 30"/>
          <p:cNvSpPr txBox="1"/>
          <p:nvPr/>
        </p:nvSpPr>
        <p:spPr>
          <a:xfrm>
            <a:off x="9966960" y="2139696"/>
            <a:ext cx="3108960" cy="868680"/>
          </a:xfrm>
          <a:prstGeom prst="rect">
            <a:avLst/>
          </a:prstGeom>
          <a:noFill/>
          <a:ln/>
        </p:spPr>
        <p:txBody>
          <a:bodyPr wrap="square" lIns="25400" tIns="25400" rIns="25400" bIns="25400" rtlCol="0" anchor="t">
            <a:noAutofit/>
          </a:bodyPr>
          <a:lstStyle/>
          <a:p>
            <a:pPr algn="l" indent="0" marL="0">
              <a:buNone/>
            </a:pPr>
            <a:r>
              <a:rPr lang="en-US" sz="1700" dirty="0">
                <a:solidFill>
                  <a:srgbClr val="FFFFFF"/>
                </a:solidFill>
                <a:latin typeface="+mn-lt"/>
                <a:ea typeface="+mn-ea"/>
                <a:cs typeface="+mn-cs"/>
              </a:rPr>
              <a:t>Reads your repo, edits files, runs commands, commits. You review.</a:t>
            </a:r>
            <a:endParaRPr lang="en-US" sz="1700" dirty="0"/>
          </a:p>
        </p:txBody>
      </p:sp>
      <p:sp xmlns:p="http://schemas.openxmlformats.org/presentationml/2006/main" xmlns:a="http://schemas.openxmlformats.org/drawingml/2006/main" xmlns:r="http://schemas.openxmlformats.org/officeDocument/2006/relationships">
        <p:nvSpPr>
          <p:cNvPr id="14" name="Shape 31"/>
          <p:cNvSpPr/>
          <p:nvPr/>
        </p:nvSpPr>
        <p:spPr>
          <a:xfrm>
            <a:off x="1810512" y="3337560"/>
            <a:ext cx="2651760" cy="612648"/>
          </a:xfrm>
          <a:prstGeom prst="rect">
            <a:avLst/>
          </a:prstGeom>
          <a:solidFill>
            <a:srgbClr val="152A47"/>
          </a:solidFill>
          <a:ln/>
        </p:spPr>
        <p:txBody>
          <a:bodyPr/>
          <a:p/>
        </p:txBody>
      </p:sp>
      <p:sp xmlns:p="http://schemas.openxmlformats.org/presentationml/2006/main" xmlns:a="http://schemas.openxmlformats.org/drawingml/2006/main" xmlns:r="http://schemas.openxmlformats.org/officeDocument/2006/relationships">
        <p:nvSpPr>
          <p:cNvPr id="15" name="Text 32"/>
          <p:cNvSpPr txBox="1"/>
          <p:nvPr/>
        </p:nvSpPr>
        <p:spPr>
          <a:xfrm>
            <a:off x="1984248" y="3470148"/>
            <a:ext cx="2423160" cy="347472"/>
          </a:xfrm>
          <a:prstGeom prst="rect">
            <a:avLst/>
          </a:prstGeom>
          <a:noFill/>
          <a:ln/>
        </p:spPr>
        <p:txBody>
          <a:bodyPr wrap="square" lIns="25400" tIns="25400" rIns="25400" bIns="25400" rtlCol="0" anchor="t">
            <a:noAutofit/>
          </a:bodyPr>
          <a:lstStyle/>
          <a:p>
            <a:pPr algn="l" indent="0" marL="0">
              <a:buNone/>
            </a:pPr>
            <a:endParaRPr lang="en-US" sz="1800" dirty="0"/>
          </a:p>
        </p:txBody>
      </p:sp>
      <p:sp xmlns:p="http://schemas.openxmlformats.org/presentationml/2006/main" xmlns:a="http://schemas.openxmlformats.org/drawingml/2006/main" xmlns:r="http://schemas.openxmlformats.org/officeDocument/2006/relationships">
        <p:nvSpPr>
          <p:cNvPr id="16" name="Shape 33"/>
          <p:cNvSpPr/>
          <p:nvPr/>
        </p:nvSpPr>
        <p:spPr>
          <a:xfrm>
            <a:off x="4462272" y="3337560"/>
            <a:ext cx="4389120" cy="612648"/>
          </a:xfrm>
          <a:prstGeom prst="rect">
            <a:avLst/>
          </a:prstGeom>
          <a:solidFill>
            <a:srgbClr val="152A47"/>
          </a:solidFill>
          <a:ln/>
        </p:spPr>
        <p:txBody>
          <a:bodyPr/>
          <a:p/>
        </p:txBody>
      </p:sp>
      <p:sp xmlns:p="http://schemas.openxmlformats.org/presentationml/2006/main" xmlns:a="http://schemas.openxmlformats.org/drawingml/2006/main" xmlns:r="http://schemas.openxmlformats.org/officeDocument/2006/relationships">
        <p:nvSpPr>
          <p:cNvPr id="17" name="Text 34"/>
          <p:cNvSpPr txBox="1"/>
          <p:nvPr/>
        </p:nvSpPr>
        <p:spPr>
          <a:xfrm>
            <a:off x="4636008" y="3470148"/>
            <a:ext cx="4160520" cy="347472"/>
          </a:xfrm>
          <a:prstGeom prst="rect">
            <a:avLst/>
          </a:prstGeom>
          <a:noFill/>
          <a:ln/>
        </p:spPr>
        <p:txBody>
          <a:bodyPr wrap="square" lIns="25400" tIns="25400" rIns="25400" bIns="25400" rtlCol="0" anchor="t">
            <a:noAutofit/>
          </a:bodyPr>
          <a:lstStyle/>
          <a:p>
            <a:pPr algn="l" indent="0" marL="0">
              <a:buNone/>
            </a:pPr>
            <a:r>
              <a:rPr lang="en-US" sz="1800" b="1" dirty="0">
                <a:solidFill>
                  <a:srgbClr val="FFFFFF"/>
                </a:solidFill>
                <a:latin typeface="+mn-lt"/>
                <a:ea typeface="+mn-ea"/>
                <a:cs typeface="+mn-cs"/>
              </a:rPr>
              <a:t>Chat LLM (copy/paste)</a:t>
            </a:r>
            <a:endParaRPr lang="en-US" sz="1800" dirty="0"/>
          </a:p>
        </p:txBody>
      </p:sp>
      <p:sp xmlns:p="http://schemas.openxmlformats.org/presentationml/2006/main" xmlns:a="http://schemas.openxmlformats.org/drawingml/2006/main" xmlns:r="http://schemas.openxmlformats.org/officeDocument/2006/relationships">
        <p:nvSpPr>
          <p:cNvPr id="18" name="Shape 35"/>
          <p:cNvSpPr/>
          <p:nvPr/>
        </p:nvSpPr>
        <p:spPr>
          <a:xfrm>
            <a:off x="8851392" y="3337560"/>
            <a:ext cx="4636008" cy="612648"/>
          </a:xfrm>
          <a:prstGeom prst="rect">
            <a:avLst/>
          </a:prstGeom>
          <a:solidFill>
            <a:srgbClr val="152A47"/>
          </a:solidFill>
          <a:ln/>
        </p:spPr>
        <p:txBody>
          <a:bodyPr/>
          <a:p/>
        </p:txBody>
      </p:sp>
      <p:sp xmlns:p="http://schemas.openxmlformats.org/presentationml/2006/main" xmlns:a="http://schemas.openxmlformats.org/drawingml/2006/main" xmlns:r="http://schemas.openxmlformats.org/officeDocument/2006/relationships">
        <p:nvSpPr>
          <p:cNvPr id="19" name="Text 36"/>
          <p:cNvSpPr txBox="1"/>
          <p:nvPr/>
        </p:nvSpPr>
        <p:spPr>
          <a:xfrm>
            <a:off x="9025128" y="3470148"/>
            <a:ext cx="4407408" cy="347472"/>
          </a:xfrm>
          <a:prstGeom prst="rect">
            <a:avLst/>
          </a:prstGeom>
          <a:noFill/>
          <a:ln/>
        </p:spPr>
        <p:txBody>
          <a:bodyPr wrap="square" lIns="25400" tIns="25400" rIns="25400" bIns="25400" rtlCol="0" anchor="t">
            <a:noAutofit/>
          </a:bodyPr>
          <a:lstStyle/>
          <a:p>
            <a:pPr algn="l" indent="0" marL="0">
              <a:buNone/>
            </a:pPr>
            <a:r>
              <a:rPr lang="en-US" sz="1800" b="1" dirty="0">
                <a:solidFill>
                  <a:srgbClr val="FFFFFF"/>
                </a:solidFill>
                <a:latin typeface="+mn-lt"/>
                <a:ea typeface="+mn-ea"/>
                <a:cs typeface="+mn-cs"/>
              </a:rPr>
              <a:t>Coding agent (Codex)</a:t>
            </a:r>
            <a:endParaRPr lang="en-US" sz="1800" dirty="0"/>
          </a:p>
        </p:txBody>
      </p:sp>
      <p:sp xmlns:p="http://schemas.openxmlformats.org/presentationml/2006/main" xmlns:a="http://schemas.openxmlformats.org/drawingml/2006/main" xmlns:r="http://schemas.openxmlformats.org/officeDocument/2006/relationships">
        <p:nvSpPr>
          <p:cNvPr id="20" name="Text 37"/>
          <p:cNvSpPr txBox="1"/>
          <p:nvPr/>
        </p:nvSpPr>
        <p:spPr>
          <a:xfrm>
            <a:off x="1984248" y="4050792"/>
            <a:ext cx="2423160" cy="370332"/>
          </a:xfrm>
          <a:prstGeom prst="rect">
            <a:avLst/>
          </a:prstGeom>
          <a:noFill/>
          <a:ln/>
        </p:spPr>
        <p:txBody>
          <a:bodyPr wrap="square" lIns="25400" tIns="25400" rIns="25400" bIns="25400" rtlCol="0" anchor="t">
            <a:noAutofit/>
          </a:bodyPr>
          <a:lstStyle/>
          <a:p>
            <a:pPr algn="l" indent="0" marL="0">
              <a:buNone/>
            </a:pPr>
            <a:r>
              <a:rPr lang="en-US" sz="1800" b="1" dirty="0">
                <a:solidFill>
                  <a:srgbClr val="000000"/>
                </a:solidFill>
                <a:latin typeface="+mn-lt"/>
                <a:ea typeface="+mn-ea"/>
                <a:cs typeface="+mn-cs"/>
              </a:rPr>
              <a:t>Sees your code</a:t>
            </a:r>
            <a:endParaRPr lang="en-US" sz="1800" dirty="0"/>
          </a:p>
        </p:txBody>
      </p:sp>
      <p:sp xmlns:p="http://schemas.openxmlformats.org/presentationml/2006/main" xmlns:a="http://schemas.openxmlformats.org/drawingml/2006/main" xmlns:r="http://schemas.openxmlformats.org/officeDocument/2006/relationships">
        <p:nvSpPr>
          <p:cNvPr id="21" name="Shape 38"/>
          <p:cNvSpPr/>
          <p:nvPr/>
        </p:nvSpPr>
        <p:spPr>
          <a:xfrm>
            <a:off x="1810512" y="4503420"/>
            <a:ext cx="265176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22" name="Text 39"/>
          <p:cNvSpPr txBox="1"/>
          <p:nvPr/>
        </p:nvSpPr>
        <p:spPr>
          <a:xfrm>
            <a:off x="4636008" y="4050792"/>
            <a:ext cx="4160520" cy="370332"/>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Only what you paste in</a:t>
            </a:r>
            <a:endParaRPr lang="en-US" sz="1800" dirty="0"/>
          </a:p>
        </p:txBody>
      </p:sp>
      <p:sp xmlns:p="http://schemas.openxmlformats.org/presentationml/2006/main" xmlns:a="http://schemas.openxmlformats.org/drawingml/2006/main" xmlns:r="http://schemas.openxmlformats.org/officeDocument/2006/relationships">
        <p:nvSpPr>
          <p:cNvPr id="23" name="Shape 40"/>
          <p:cNvSpPr/>
          <p:nvPr/>
        </p:nvSpPr>
        <p:spPr>
          <a:xfrm>
            <a:off x="4462272" y="4503420"/>
            <a:ext cx="438912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24" name="Text 41"/>
          <p:cNvSpPr txBox="1"/>
          <p:nvPr/>
        </p:nvSpPr>
        <p:spPr>
          <a:xfrm>
            <a:off x="9025128" y="4050792"/>
            <a:ext cx="4407408" cy="370332"/>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Reads the whole repo itself</a:t>
            </a:r>
            <a:endParaRPr lang="en-US" sz="1800" dirty="0"/>
          </a:p>
        </p:txBody>
      </p:sp>
      <p:sp xmlns:p="http://schemas.openxmlformats.org/presentationml/2006/main" xmlns:a="http://schemas.openxmlformats.org/drawingml/2006/main" xmlns:r="http://schemas.openxmlformats.org/officeDocument/2006/relationships">
        <p:nvSpPr>
          <p:cNvPr id="25" name="Shape 42"/>
          <p:cNvSpPr/>
          <p:nvPr/>
        </p:nvSpPr>
        <p:spPr>
          <a:xfrm>
            <a:off x="8851392" y="4503420"/>
            <a:ext cx="4636008"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26" name="Text 43"/>
          <p:cNvSpPr txBox="1"/>
          <p:nvPr/>
        </p:nvSpPr>
        <p:spPr>
          <a:xfrm>
            <a:off x="1984248" y="4622292"/>
            <a:ext cx="2423160" cy="370332"/>
          </a:xfrm>
          <a:prstGeom prst="rect">
            <a:avLst/>
          </a:prstGeom>
          <a:noFill/>
          <a:ln/>
        </p:spPr>
        <p:txBody>
          <a:bodyPr wrap="square" lIns="25400" tIns="25400" rIns="25400" bIns="25400" rtlCol="0" anchor="t">
            <a:noAutofit/>
          </a:bodyPr>
          <a:lstStyle/>
          <a:p>
            <a:pPr algn="l" indent="0" marL="0">
              <a:buNone/>
            </a:pPr>
            <a:r>
              <a:rPr lang="en-US" sz="1800" b="1" dirty="0">
                <a:solidFill>
                  <a:srgbClr val="000000"/>
                </a:solidFill>
                <a:latin typeface="+mn-lt"/>
                <a:ea typeface="+mn-ea"/>
                <a:cs typeface="+mn-cs"/>
              </a:rPr>
              <a:t>Edits code</a:t>
            </a:r>
            <a:endParaRPr lang="en-US" sz="1800" dirty="0"/>
          </a:p>
        </p:txBody>
      </p:sp>
      <p:sp xmlns:p="http://schemas.openxmlformats.org/presentationml/2006/main" xmlns:a="http://schemas.openxmlformats.org/drawingml/2006/main" xmlns:r="http://schemas.openxmlformats.org/officeDocument/2006/relationships">
        <p:nvSpPr>
          <p:cNvPr id="27" name="Shape 44"/>
          <p:cNvSpPr/>
          <p:nvPr/>
        </p:nvSpPr>
        <p:spPr>
          <a:xfrm>
            <a:off x="1810512" y="5353812"/>
            <a:ext cx="265176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28" name="Text 45"/>
          <p:cNvSpPr txBox="1"/>
          <p:nvPr/>
        </p:nvSpPr>
        <p:spPr>
          <a:xfrm>
            <a:off x="4636008" y="4622292"/>
            <a:ext cx="4160520" cy="370332"/>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You copy, paste, and merge by hand</a:t>
            </a:r>
            <a:endParaRPr lang="en-US" sz="1800" dirty="0"/>
          </a:p>
        </p:txBody>
      </p:sp>
      <p:sp xmlns:p="http://schemas.openxmlformats.org/presentationml/2006/main" xmlns:a="http://schemas.openxmlformats.org/drawingml/2006/main" xmlns:r="http://schemas.openxmlformats.org/officeDocument/2006/relationships">
        <p:nvSpPr>
          <p:cNvPr id="29" name="Shape 46"/>
          <p:cNvSpPr/>
          <p:nvPr/>
        </p:nvSpPr>
        <p:spPr>
          <a:xfrm>
            <a:off x="4462272" y="5353812"/>
            <a:ext cx="438912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30" name="Text 47"/>
          <p:cNvSpPr txBox="1"/>
          <p:nvPr/>
        </p:nvSpPr>
        <p:spPr>
          <a:xfrm>
            <a:off x="9025128" y="4622292"/>
            <a:ext cx="4407408" cy="649224"/>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Edits files and commits them to a branch</a:t>
            </a:r>
            <a:endParaRPr lang="en-US" sz="1800" dirty="0"/>
          </a:p>
        </p:txBody>
      </p:sp>
      <p:sp xmlns:p="http://schemas.openxmlformats.org/presentationml/2006/main" xmlns:a="http://schemas.openxmlformats.org/drawingml/2006/main" xmlns:r="http://schemas.openxmlformats.org/officeDocument/2006/relationships">
        <p:nvSpPr>
          <p:cNvPr id="31" name="Shape 48"/>
          <p:cNvSpPr/>
          <p:nvPr/>
        </p:nvSpPr>
        <p:spPr>
          <a:xfrm>
            <a:off x="8851392" y="5353812"/>
            <a:ext cx="4636008"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32" name="Text 49"/>
          <p:cNvSpPr txBox="1"/>
          <p:nvPr/>
        </p:nvSpPr>
        <p:spPr>
          <a:xfrm>
            <a:off x="1984248" y="5472684"/>
            <a:ext cx="2423160" cy="370332"/>
          </a:xfrm>
          <a:prstGeom prst="rect">
            <a:avLst/>
          </a:prstGeom>
          <a:noFill/>
          <a:ln/>
        </p:spPr>
        <p:txBody>
          <a:bodyPr wrap="square" lIns="25400" tIns="25400" rIns="25400" bIns="25400" rtlCol="0" anchor="t">
            <a:noAutofit/>
          </a:bodyPr>
          <a:lstStyle/>
          <a:p>
            <a:pPr algn="l" indent="0" marL="0">
              <a:buNone/>
            </a:pPr>
            <a:r>
              <a:rPr lang="en-US" sz="1800" b="1" dirty="0">
                <a:solidFill>
                  <a:srgbClr val="000000"/>
                </a:solidFill>
                <a:latin typeface="+mn-lt"/>
                <a:ea typeface="+mn-ea"/>
                <a:cs typeface="+mn-cs"/>
              </a:rPr>
              <a:t>Runs commands</a:t>
            </a:r>
            <a:endParaRPr lang="en-US" sz="1800" dirty="0"/>
          </a:p>
        </p:txBody>
      </p:sp>
      <p:sp xmlns:p="http://schemas.openxmlformats.org/presentationml/2006/main" xmlns:a="http://schemas.openxmlformats.org/drawingml/2006/main" xmlns:r="http://schemas.openxmlformats.org/officeDocument/2006/relationships">
        <p:nvSpPr>
          <p:cNvPr id="33" name="Shape 50"/>
          <p:cNvSpPr/>
          <p:nvPr/>
        </p:nvSpPr>
        <p:spPr>
          <a:xfrm>
            <a:off x="1810512" y="6204204"/>
            <a:ext cx="265176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34" name="Text 51"/>
          <p:cNvSpPr txBox="1"/>
          <p:nvPr/>
        </p:nvSpPr>
        <p:spPr>
          <a:xfrm>
            <a:off x="4636008" y="5472684"/>
            <a:ext cx="4160520" cy="370332"/>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No</a:t>
            </a:r>
            <a:endParaRPr lang="en-US" sz="1800" dirty="0"/>
          </a:p>
        </p:txBody>
      </p:sp>
      <p:sp xmlns:p="http://schemas.openxmlformats.org/presentationml/2006/main" xmlns:a="http://schemas.openxmlformats.org/drawingml/2006/main" xmlns:r="http://schemas.openxmlformats.org/officeDocument/2006/relationships">
        <p:nvSpPr>
          <p:cNvPr id="35" name="Shape 52"/>
          <p:cNvSpPr/>
          <p:nvPr/>
        </p:nvSpPr>
        <p:spPr>
          <a:xfrm>
            <a:off x="4462272" y="6204204"/>
            <a:ext cx="438912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36" name="Text 53"/>
          <p:cNvSpPr txBox="1"/>
          <p:nvPr/>
        </p:nvSpPr>
        <p:spPr>
          <a:xfrm>
            <a:off x="9025128" y="5472684"/>
            <a:ext cx="4407408" cy="649224"/>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Yes, in a cloud environment (search, scripts)</a:t>
            </a:r>
            <a:endParaRPr lang="en-US" sz="1800" dirty="0"/>
          </a:p>
        </p:txBody>
      </p:sp>
      <p:sp xmlns:p="http://schemas.openxmlformats.org/presentationml/2006/main" xmlns:a="http://schemas.openxmlformats.org/drawingml/2006/main" xmlns:r="http://schemas.openxmlformats.org/officeDocument/2006/relationships">
        <p:nvSpPr>
          <p:cNvPr id="37" name="Shape 54"/>
          <p:cNvSpPr/>
          <p:nvPr/>
        </p:nvSpPr>
        <p:spPr>
          <a:xfrm>
            <a:off x="8851392" y="6204204"/>
            <a:ext cx="4636008"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38" name="Text 55"/>
          <p:cNvSpPr txBox="1"/>
          <p:nvPr/>
        </p:nvSpPr>
        <p:spPr>
          <a:xfrm>
            <a:off x="1984248" y="6323076"/>
            <a:ext cx="2423160" cy="370332"/>
          </a:xfrm>
          <a:prstGeom prst="rect">
            <a:avLst/>
          </a:prstGeom>
          <a:noFill/>
          <a:ln/>
        </p:spPr>
        <p:txBody>
          <a:bodyPr wrap="square" lIns="25400" tIns="25400" rIns="25400" bIns="25400" rtlCol="0" anchor="t">
            <a:noAutofit/>
          </a:bodyPr>
          <a:lstStyle/>
          <a:p>
            <a:pPr algn="l" indent="0" marL="0">
              <a:buNone/>
            </a:pPr>
            <a:r>
              <a:rPr lang="en-US" sz="1800" b="1" dirty="0">
                <a:solidFill>
                  <a:srgbClr val="000000"/>
                </a:solidFill>
                <a:latin typeface="+mn-lt"/>
                <a:ea typeface="+mn-ea"/>
                <a:cs typeface="+mn-cs"/>
              </a:rPr>
              <a:t>Project rules</a:t>
            </a:r>
            <a:endParaRPr lang="en-US" sz="1800" dirty="0"/>
          </a:p>
        </p:txBody>
      </p:sp>
      <p:sp xmlns:p="http://schemas.openxmlformats.org/presentationml/2006/main" xmlns:a="http://schemas.openxmlformats.org/drawingml/2006/main" xmlns:r="http://schemas.openxmlformats.org/officeDocument/2006/relationships">
        <p:nvSpPr>
          <p:cNvPr id="39" name="Shape 56"/>
          <p:cNvSpPr/>
          <p:nvPr/>
        </p:nvSpPr>
        <p:spPr>
          <a:xfrm>
            <a:off x="1810512" y="7054596"/>
            <a:ext cx="265176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40" name="Text 57"/>
          <p:cNvSpPr txBox="1"/>
          <p:nvPr/>
        </p:nvSpPr>
        <p:spPr>
          <a:xfrm>
            <a:off x="4636008" y="6323076"/>
            <a:ext cx="4160520" cy="370332"/>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Re-explained in every chat</a:t>
            </a:r>
            <a:endParaRPr lang="en-US" sz="1800" dirty="0"/>
          </a:p>
        </p:txBody>
      </p:sp>
      <p:sp xmlns:p="http://schemas.openxmlformats.org/presentationml/2006/main" xmlns:a="http://schemas.openxmlformats.org/drawingml/2006/main" xmlns:r="http://schemas.openxmlformats.org/officeDocument/2006/relationships">
        <p:nvSpPr>
          <p:cNvPr id="41" name="Shape 58"/>
          <p:cNvSpPr/>
          <p:nvPr/>
        </p:nvSpPr>
        <p:spPr>
          <a:xfrm>
            <a:off x="4462272" y="7054596"/>
            <a:ext cx="438912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42" name="Text 59"/>
          <p:cNvSpPr txBox="1"/>
          <p:nvPr/>
        </p:nvSpPr>
        <p:spPr>
          <a:xfrm>
            <a:off x="9025128" y="6323076"/>
            <a:ext cx="4407408" cy="649224"/>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Written once in AGENTS.md, read every task</a:t>
            </a:r>
            <a:endParaRPr lang="en-US" sz="1800" dirty="0"/>
          </a:p>
        </p:txBody>
      </p:sp>
      <p:sp xmlns:p="http://schemas.openxmlformats.org/presentationml/2006/main" xmlns:a="http://schemas.openxmlformats.org/drawingml/2006/main" xmlns:r="http://schemas.openxmlformats.org/officeDocument/2006/relationships">
        <p:nvSpPr>
          <p:cNvPr id="43" name="Shape 60"/>
          <p:cNvSpPr/>
          <p:nvPr/>
        </p:nvSpPr>
        <p:spPr>
          <a:xfrm>
            <a:off x="8851392" y="7054596"/>
            <a:ext cx="4636008"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44" name="Text 61"/>
          <p:cNvSpPr txBox="1"/>
          <p:nvPr/>
        </p:nvSpPr>
        <p:spPr>
          <a:xfrm>
            <a:off x="1984248" y="7173468"/>
            <a:ext cx="2423160" cy="370332"/>
          </a:xfrm>
          <a:prstGeom prst="rect">
            <a:avLst/>
          </a:prstGeom>
          <a:noFill/>
          <a:ln/>
        </p:spPr>
        <p:txBody>
          <a:bodyPr wrap="square" lIns="25400" tIns="25400" rIns="25400" bIns="25400" rtlCol="0" anchor="t">
            <a:noAutofit/>
          </a:bodyPr>
          <a:lstStyle/>
          <a:p>
            <a:pPr algn="l" indent="0" marL="0">
              <a:buNone/>
            </a:pPr>
            <a:r>
              <a:rPr lang="en-US" sz="1800" b="1" dirty="0">
                <a:solidFill>
                  <a:srgbClr val="000000"/>
                </a:solidFill>
                <a:latin typeface="+mn-lt"/>
                <a:ea typeface="+mn-ea"/>
                <a:cs typeface="+mn-cs"/>
              </a:rPr>
              <a:t>Your role</a:t>
            </a:r>
            <a:endParaRPr lang="en-US" sz="1800" dirty="0"/>
          </a:p>
        </p:txBody>
      </p:sp>
      <p:sp xmlns:p="http://schemas.openxmlformats.org/presentationml/2006/main" xmlns:a="http://schemas.openxmlformats.org/drawingml/2006/main" xmlns:r="http://schemas.openxmlformats.org/officeDocument/2006/relationships">
        <p:nvSpPr>
          <p:cNvPr id="45" name="Shape 62"/>
          <p:cNvSpPr/>
          <p:nvPr/>
        </p:nvSpPr>
        <p:spPr>
          <a:xfrm>
            <a:off x="1810512" y="7626096"/>
            <a:ext cx="265176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46" name="Text 63"/>
          <p:cNvSpPr txBox="1"/>
          <p:nvPr/>
        </p:nvSpPr>
        <p:spPr>
          <a:xfrm>
            <a:off x="4636008" y="7173468"/>
            <a:ext cx="4160520" cy="370332"/>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Integrator and debugger</a:t>
            </a:r>
            <a:endParaRPr lang="en-US" sz="1800" dirty="0"/>
          </a:p>
        </p:txBody>
      </p:sp>
      <p:sp xmlns:p="http://schemas.openxmlformats.org/presentationml/2006/main" xmlns:a="http://schemas.openxmlformats.org/drawingml/2006/main" xmlns:r="http://schemas.openxmlformats.org/officeDocument/2006/relationships">
        <p:nvSpPr>
          <p:cNvPr id="47" name="Shape 64"/>
          <p:cNvSpPr/>
          <p:nvPr/>
        </p:nvSpPr>
        <p:spPr>
          <a:xfrm>
            <a:off x="4462272" y="7626096"/>
            <a:ext cx="438912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48" name="Text 65"/>
          <p:cNvSpPr txBox="1"/>
          <p:nvPr/>
        </p:nvSpPr>
        <p:spPr>
          <a:xfrm>
            <a:off x="9025128" y="7173468"/>
            <a:ext cx="4407408" cy="370332"/>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Specifier, reviewer, and tester</a:t>
            </a:r>
            <a:endParaRPr lang="en-US" sz="1800" dirty="0"/>
          </a:p>
        </p:txBody>
      </p:sp>
      <p:sp xmlns:p="http://schemas.openxmlformats.org/presentationml/2006/main" xmlns:a="http://schemas.openxmlformats.org/drawingml/2006/main" xmlns:r="http://schemas.openxmlformats.org/officeDocument/2006/relationships">
        <p:nvSpPr>
          <p:cNvPr id="49" name="Shape 66"/>
          <p:cNvSpPr/>
          <p:nvPr/>
        </p:nvSpPr>
        <p:spPr>
          <a:xfrm>
            <a:off x="8851392" y="7626096"/>
            <a:ext cx="4636008"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50" name="Text 67"/>
          <p:cNvSpPr txBox="1"/>
          <p:nvPr/>
        </p:nvSpPr>
        <p:spPr>
          <a:xfrm>
            <a:off x="1810512" y="7872984"/>
            <a:ext cx="11704320" cy="822960"/>
          </a:xfrm>
          <a:prstGeom prst="rect">
            <a:avLst/>
          </a:prstGeom>
          <a:noFill/>
          <a:ln/>
        </p:spPr>
        <p:txBody>
          <a:bodyPr wrap="square" lIns="25400" tIns="25400" rIns="25400" bIns="25400" rtlCol="0" anchor="t">
            <a:noAutofit/>
          </a:bodyPr>
          <a:lstStyle/>
          <a:p>
            <a:pPr algn="l" indent="0" marL="0">
              <a:buNone/>
            </a:pPr>
            <a:r>
              <a:rPr lang="en-US" sz="2000" b="1" dirty="0">
                <a:solidFill>
                  <a:srgbClr val="000000"/>
                </a:solidFill>
                <a:latin typeface="+mn-lt"/>
                <a:ea typeface="+mn-ea"/>
                <a:cs typeface="+mn-cs"/>
              </a:rPr>
              <a:t>An agent does more work per prompt. Each prompt needs a clearer specification, and each result needs a closer review.</a:t>
            </a:r>
            <a:endParaRPr lang="en-US" sz="2000" dirty="0"/>
          </a:p>
        </p:txBody>
      </p:sp>
      <p:sp xmlns:p="http://schemas.openxmlformats.org/presentationml/2006/main" xmlns:a="http://schemas.openxmlformats.org/drawingml/2006/main" xmlns:r="http://schemas.openxmlformats.org/officeDocument/2006/relationships">
        <p:nvSpPr>
          <p:cNvPr id="51" name="Nav highlight"/>
          <p:cNvSpPr txBox="1"/>
          <p:nvPr userDrawn="1"/>
        </p:nvSpPr>
        <p:spPr>
          <a:xfrm>
            <a:off x="133350" y="2762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Concepts</a:t>
            </a:r>
            <a:endParaRPr lang="en-US" sz="1800" b="1" dirty="0"/>
          </a:p>
        </p:txBody>
      </p:sp>
      <p:sp xmlns:p="http://schemas.openxmlformats.org/presentationml/2006/main" xmlns:a="http://schemas.openxmlformats.org/drawingml/2006/main" xmlns:r="http://schemas.openxmlformats.org/officeDocument/2006/relationships">
        <p:nvSpPr>
          <p:cNvPr id="52"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2</a:t>
            </a:r>
            <a:endParaRPr lang="en-US" sz="1800" dirty="0"/>
          </a:p>
        </p:txBody>
      </p:sp>
      <p:sp xmlns:p="http://schemas.openxmlformats.org/presentationml/2006/main" xmlns:a="http://schemas.openxmlformats.org/drawingml/2006/main" xmlns:r="http://schemas.openxmlformats.org/officeDocument/2006/relationships">
        <p:nvSpPr>
          <p:cNvPr id="53" name="Slide Numb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xmlns:p="http://schemas.openxmlformats.org/presentationml/2006/main" xmlns:a="http://schemas.openxmlformats.org/drawingml/2006/main" xmlns:r="http://schemas.openxmlformats.org/officeDocument/2006/relationships">
        <p:nvSpPr>
          <p:cNvPr id="2" name="Title"/>
          <p:cNvSpPr>
            <a:spLocks noGrp="1"/>
          </p:cNvSpPr>
          <p:nvPr>
            <p:ph type="title"/>
          </p:nvPr>
        </p:nvSpPr>
        <p:spPr/>
        <p:txBody>
          <a:bodyPr/>
          <a:lstStyle/>
          <a:p>
            <a:r>
              <a:rPr lang="en-US" dirty="0"/>
              <a:t>The Method</a:t>
            </a:r>
            <a:endParaRPr lang="en-US" dirty="0"/>
          </a:p>
        </p:txBody>
      </p:sp>
      <p:sp xmlns:p="http://schemas.openxmlformats.org/presentationml/2006/main" xmlns:a="http://schemas.openxmlformats.org/drawingml/2006/main" xmlns:r="http://schemas.openxmlformats.org/officeDocument/2006/relationships">
        <p:nvSpPr>
          <p:cNvPr id="3" name="Shape 20"/>
          <p:cNvSpPr/>
          <p:nvPr/>
        </p:nvSpPr>
        <p:spPr>
          <a:xfrm>
            <a:off x="1810512" y="1572768"/>
            <a:ext cx="2578608" cy="1188720"/>
          </a:xfrm>
          <a:prstGeom prst="rect">
            <a:avLst/>
          </a:prstGeom>
          <a:solidFill>
            <a:srgbClr val="152A47"/>
          </a:solidFill>
          <a:ln/>
        </p:spPr>
        <p:txBody>
          <a:bodyPr/>
          <a:p/>
        </p:txBody>
      </p:sp>
      <p:sp xmlns:p="http://schemas.openxmlformats.org/presentationml/2006/main" xmlns:a="http://schemas.openxmlformats.org/drawingml/2006/main" xmlns:r="http://schemas.openxmlformats.org/officeDocument/2006/relationships">
        <p:nvSpPr>
          <p:cNvPr id="4" name="Text 21"/>
          <p:cNvSpPr txBox="1"/>
          <p:nvPr/>
        </p:nvSpPr>
        <p:spPr>
          <a:xfrm>
            <a:off x="1901952" y="1691640"/>
            <a:ext cx="2395728" cy="411480"/>
          </a:xfrm>
          <a:prstGeom prst="rect">
            <a:avLst/>
          </a:prstGeom>
          <a:noFill/>
          <a:ln/>
        </p:spPr>
        <p:txBody>
          <a:bodyPr wrap="square" lIns="25400" tIns="25400" rIns="25400" bIns="25400" rtlCol="0" anchor="t">
            <a:noAutofit/>
          </a:bodyPr>
          <a:lstStyle/>
          <a:p>
            <a:pPr algn="ctr" indent="0" marL="0">
              <a:buNone/>
            </a:pPr>
            <a:r>
              <a:rPr lang="en-US" sz="2000" b="1" dirty="0">
                <a:solidFill>
                  <a:srgbClr val="00B0F0"/>
                </a:solidFill>
                <a:latin typeface="+mn-lt"/>
                <a:ea typeface="+mn-ea"/>
                <a:cs typeface="+mn-cs"/>
              </a:rPr>
              <a:t>SPECIFY</a:t>
            </a:r>
            <a:endParaRPr lang="en-US" sz="2000" dirty="0"/>
          </a:p>
        </p:txBody>
      </p:sp>
      <p:sp xmlns:p="http://schemas.openxmlformats.org/presentationml/2006/main" xmlns:a="http://schemas.openxmlformats.org/drawingml/2006/main" xmlns:r="http://schemas.openxmlformats.org/officeDocument/2006/relationships">
        <p:nvSpPr>
          <p:cNvPr id="5" name="Text 22"/>
          <p:cNvSpPr txBox="1"/>
          <p:nvPr/>
        </p:nvSpPr>
        <p:spPr>
          <a:xfrm>
            <a:off x="1901952" y="2103120"/>
            <a:ext cx="2395728" cy="548640"/>
          </a:xfrm>
          <a:prstGeom prst="rect">
            <a:avLst/>
          </a:prstGeom>
          <a:noFill/>
          <a:ln/>
        </p:spPr>
        <p:txBody>
          <a:bodyPr wrap="square" lIns="25400" tIns="25400" rIns="25400" bIns="25400" rtlCol="0" anchor="t">
            <a:noAutofit/>
          </a:bodyPr>
          <a:lstStyle/>
          <a:p>
            <a:pPr algn="ctr" indent="0" marL="0">
              <a:buNone/>
            </a:pPr>
            <a:r>
              <a:rPr lang="en-US" sz="1600" dirty="0">
                <a:solidFill>
                  <a:srgbClr val="FFFFFF"/>
                </a:solidFill>
                <a:latin typeface="+mn-lt"/>
                <a:ea typeface="+mn-ea"/>
                <a:cs typeface="+mn-cs"/>
              </a:rPr>
              <a:t>Verifiable requirements</a:t>
            </a:r>
            <a:endParaRPr lang="en-US" sz="1600" dirty="0"/>
          </a:p>
        </p:txBody>
      </p:sp>
      <p:sp xmlns:p="http://schemas.openxmlformats.org/presentationml/2006/main" xmlns:a="http://schemas.openxmlformats.org/drawingml/2006/main" xmlns:r="http://schemas.openxmlformats.org/officeDocument/2006/relationships">
        <p:nvSpPr>
          <p:cNvPr id="6" name="Shape 23"/>
          <p:cNvSpPr/>
          <p:nvPr/>
        </p:nvSpPr>
        <p:spPr>
          <a:xfrm>
            <a:off x="4425696" y="2011680"/>
            <a:ext cx="329184" cy="310896"/>
          </a:xfrm>
          <a:prstGeom prst="rightArrow">
            <a:avLst/>
          </a:prstGeom>
          <a:solidFill>
            <a:srgbClr val="1F6FB2"/>
          </a:solidFill>
          <a:ln/>
        </p:spPr>
        <p:txBody>
          <a:bodyPr/>
          <a:p/>
        </p:txBody>
      </p:sp>
      <p:sp xmlns:p="http://schemas.openxmlformats.org/presentationml/2006/main" xmlns:a="http://schemas.openxmlformats.org/drawingml/2006/main" xmlns:r="http://schemas.openxmlformats.org/officeDocument/2006/relationships">
        <p:nvSpPr>
          <p:cNvPr id="7" name="Shape 24"/>
          <p:cNvSpPr/>
          <p:nvPr/>
        </p:nvSpPr>
        <p:spPr>
          <a:xfrm>
            <a:off x="4800600" y="1572768"/>
            <a:ext cx="2578608" cy="1188720"/>
          </a:xfrm>
          <a:prstGeom prst="rect">
            <a:avLst/>
          </a:prstGeom>
          <a:solidFill>
            <a:srgbClr val="1F6FB2"/>
          </a:solidFill>
          <a:ln/>
        </p:spPr>
        <p:txBody>
          <a:bodyPr/>
          <a:p/>
        </p:txBody>
      </p:sp>
      <p:sp xmlns:p="http://schemas.openxmlformats.org/presentationml/2006/main" xmlns:a="http://schemas.openxmlformats.org/drawingml/2006/main" xmlns:r="http://schemas.openxmlformats.org/officeDocument/2006/relationships">
        <p:nvSpPr>
          <p:cNvPr id="8" name="Text 25"/>
          <p:cNvSpPr txBox="1"/>
          <p:nvPr/>
        </p:nvSpPr>
        <p:spPr>
          <a:xfrm>
            <a:off x="4892040" y="1691640"/>
            <a:ext cx="2395728" cy="411480"/>
          </a:xfrm>
          <a:prstGeom prst="rect">
            <a:avLst/>
          </a:prstGeom>
          <a:noFill/>
          <a:ln/>
        </p:spPr>
        <p:txBody>
          <a:bodyPr wrap="square" lIns="25400" tIns="25400" rIns="25400" bIns="25400" rtlCol="0" anchor="t">
            <a:noAutofit/>
          </a:bodyPr>
          <a:lstStyle/>
          <a:p>
            <a:pPr algn="ctr" indent="0" marL="0">
              <a:buNone/>
            </a:pPr>
            <a:r>
              <a:rPr lang="en-US" sz="2000" b="1" dirty="0">
                <a:solidFill>
                  <a:srgbClr val="FFFFFF"/>
                </a:solidFill>
                <a:latin typeface="+mn-lt"/>
                <a:ea typeface="+mn-ea"/>
                <a:cs typeface="+mn-cs"/>
              </a:rPr>
              <a:t>GENERATE</a:t>
            </a:r>
            <a:endParaRPr lang="en-US" sz="2000" dirty="0"/>
          </a:p>
        </p:txBody>
      </p:sp>
      <p:sp xmlns:p="http://schemas.openxmlformats.org/presentationml/2006/main" xmlns:a="http://schemas.openxmlformats.org/drawingml/2006/main" xmlns:r="http://schemas.openxmlformats.org/officeDocument/2006/relationships">
        <p:nvSpPr>
          <p:cNvPr id="9" name="Text 26"/>
          <p:cNvSpPr txBox="1"/>
          <p:nvPr/>
        </p:nvSpPr>
        <p:spPr>
          <a:xfrm>
            <a:off x="4892040" y="2103120"/>
            <a:ext cx="2395728" cy="548640"/>
          </a:xfrm>
          <a:prstGeom prst="rect">
            <a:avLst/>
          </a:prstGeom>
          <a:noFill/>
          <a:ln/>
        </p:spPr>
        <p:txBody>
          <a:bodyPr wrap="square" lIns="25400" tIns="25400" rIns="25400" bIns="25400" rtlCol="0" anchor="t">
            <a:noAutofit/>
          </a:bodyPr>
          <a:lstStyle/>
          <a:p>
            <a:pPr algn="ctr" indent="0" marL="0">
              <a:buNone/>
            </a:pPr>
            <a:r>
              <a:rPr lang="en-US" sz="1600" dirty="0">
                <a:solidFill>
                  <a:srgbClr val="FFFFFF"/>
                </a:solidFill>
                <a:latin typeface="+mn-lt"/>
                <a:ea typeface="+mn-ea"/>
                <a:cs typeface="+mn-cs"/>
              </a:rPr>
              <a:t>Agent proposes a design</a:t>
            </a:r>
            <a:endParaRPr lang="en-US" sz="1600" dirty="0"/>
          </a:p>
        </p:txBody>
      </p:sp>
      <p:sp xmlns:p="http://schemas.openxmlformats.org/presentationml/2006/main" xmlns:a="http://schemas.openxmlformats.org/drawingml/2006/main" xmlns:r="http://schemas.openxmlformats.org/officeDocument/2006/relationships">
        <p:nvSpPr>
          <p:cNvPr id="10" name="Shape 27"/>
          <p:cNvSpPr/>
          <p:nvPr/>
        </p:nvSpPr>
        <p:spPr>
          <a:xfrm>
            <a:off x="7415784" y="2011680"/>
            <a:ext cx="329184" cy="310896"/>
          </a:xfrm>
          <a:prstGeom prst="rightArrow">
            <a:avLst/>
          </a:prstGeom>
          <a:solidFill>
            <a:srgbClr val="1F6FB2"/>
          </a:solidFill>
          <a:ln/>
        </p:spPr>
        <p:txBody>
          <a:bodyPr/>
          <a:p/>
        </p:txBody>
      </p:sp>
      <p:sp xmlns:p="http://schemas.openxmlformats.org/presentationml/2006/main" xmlns:a="http://schemas.openxmlformats.org/drawingml/2006/main" xmlns:r="http://schemas.openxmlformats.org/officeDocument/2006/relationships">
        <p:nvSpPr>
          <p:cNvPr id="11" name="Shape 28"/>
          <p:cNvSpPr/>
          <p:nvPr/>
        </p:nvSpPr>
        <p:spPr>
          <a:xfrm>
            <a:off x="7790688" y="1572768"/>
            <a:ext cx="2578608" cy="1188720"/>
          </a:xfrm>
          <a:prstGeom prst="rect">
            <a:avLst/>
          </a:prstGeom>
          <a:solidFill>
            <a:srgbClr val="1F6FB2"/>
          </a:solidFill>
          <a:ln/>
        </p:spPr>
        <p:txBody>
          <a:bodyPr/>
          <a:p/>
        </p:txBody>
      </p:sp>
      <p:sp xmlns:p="http://schemas.openxmlformats.org/presentationml/2006/main" xmlns:a="http://schemas.openxmlformats.org/drawingml/2006/main" xmlns:r="http://schemas.openxmlformats.org/officeDocument/2006/relationships">
        <p:nvSpPr>
          <p:cNvPr id="12" name="Text 29"/>
          <p:cNvSpPr txBox="1"/>
          <p:nvPr/>
        </p:nvSpPr>
        <p:spPr>
          <a:xfrm>
            <a:off x="7882128" y="1691640"/>
            <a:ext cx="2395728" cy="411480"/>
          </a:xfrm>
          <a:prstGeom prst="rect">
            <a:avLst/>
          </a:prstGeom>
          <a:noFill/>
          <a:ln/>
        </p:spPr>
        <p:txBody>
          <a:bodyPr wrap="square" lIns="25400" tIns="25400" rIns="25400" bIns="25400" rtlCol="0" anchor="t">
            <a:noAutofit/>
          </a:bodyPr>
          <a:lstStyle/>
          <a:p>
            <a:pPr algn="ctr" indent="0" marL="0">
              <a:buNone/>
            </a:pPr>
            <a:r>
              <a:rPr lang="en-US" sz="2000" b="1" dirty="0">
                <a:solidFill>
                  <a:srgbClr val="FFFFFF"/>
                </a:solidFill>
                <a:latin typeface="+mn-lt"/>
                <a:ea typeface="+mn-ea"/>
                <a:cs typeface="+mn-cs"/>
              </a:rPr>
              <a:t>IMPLEMENT</a:t>
            </a:r>
            <a:endParaRPr lang="en-US" sz="2000" dirty="0"/>
          </a:p>
        </p:txBody>
      </p:sp>
      <p:sp xmlns:p="http://schemas.openxmlformats.org/presentationml/2006/main" xmlns:a="http://schemas.openxmlformats.org/drawingml/2006/main" xmlns:r="http://schemas.openxmlformats.org/officeDocument/2006/relationships">
        <p:nvSpPr>
          <p:cNvPr id="13" name="Text 30"/>
          <p:cNvSpPr txBox="1"/>
          <p:nvPr/>
        </p:nvSpPr>
        <p:spPr>
          <a:xfrm>
            <a:off x="7882128" y="2103120"/>
            <a:ext cx="2395728" cy="548640"/>
          </a:xfrm>
          <a:prstGeom prst="rect">
            <a:avLst/>
          </a:prstGeom>
          <a:noFill/>
          <a:ln/>
        </p:spPr>
        <p:txBody>
          <a:bodyPr wrap="square" lIns="25400" tIns="25400" rIns="25400" bIns="25400" rtlCol="0" anchor="t">
            <a:noAutofit/>
          </a:bodyPr>
          <a:lstStyle/>
          <a:p>
            <a:pPr algn="ctr" indent="0" marL="0">
              <a:buNone/>
            </a:pPr>
            <a:r>
              <a:rPr lang="en-US" sz="1600" dirty="0">
                <a:solidFill>
                  <a:srgbClr val="FFFFFF"/>
                </a:solidFill>
                <a:latin typeface="+mn-lt"/>
                <a:ea typeface="+mn-ea"/>
                <a:cs typeface="+mn-cs"/>
              </a:rPr>
              <a:t>Trusted tools make it real</a:t>
            </a:r>
            <a:endParaRPr lang="en-US" sz="1600" dirty="0"/>
          </a:p>
        </p:txBody>
      </p:sp>
      <p:sp xmlns:p="http://schemas.openxmlformats.org/presentationml/2006/main" xmlns:a="http://schemas.openxmlformats.org/drawingml/2006/main" xmlns:r="http://schemas.openxmlformats.org/officeDocument/2006/relationships">
        <p:nvSpPr>
          <p:cNvPr id="14" name="Shape 31"/>
          <p:cNvSpPr/>
          <p:nvPr/>
        </p:nvSpPr>
        <p:spPr>
          <a:xfrm>
            <a:off x="10405872" y="2011680"/>
            <a:ext cx="329184" cy="310896"/>
          </a:xfrm>
          <a:prstGeom prst="rightArrow">
            <a:avLst/>
          </a:prstGeom>
          <a:solidFill>
            <a:srgbClr val="1F6FB2"/>
          </a:solidFill>
          <a:ln/>
        </p:spPr>
        <p:txBody>
          <a:bodyPr/>
          <a:p/>
        </p:txBody>
      </p:sp>
      <p:sp xmlns:p="http://schemas.openxmlformats.org/presentationml/2006/main" xmlns:a="http://schemas.openxmlformats.org/drawingml/2006/main" xmlns:r="http://schemas.openxmlformats.org/officeDocument/2006/relationships">
        <p:nvSpPr>
          <p:cNvPr id="15" name="Shape 32"/>
          <p:cNvSpPr/>
          <p:nvPr/>
        </p:nvSpPr>
        <p:spPr>
          <a:xfrm>
            <a:off x="10780776" y="1572768"/>
            <a:ext cx="2578608" cy="1188720"/>
          </a:xfrm>
          <a:prstGeom prst="rect">
            <a:avLst/>
          </a:prstGeom>
          <a:solidFill>
            <a:srgbClr val="152A47"/>
          </a:solidFill>
          <a:ln/>
        </p:spPr>
        <p:txBody>
          <a:bodyPr/>
          <a:p/>
        </p:txBody>
      </p:sp>
      <p:sp xmlns:p="http://schemas.openxmlformats.org/presentationml/2006/main" xmlns:a="http://schemas.openxmlformats.org/drawingml/2006/main" xmlns:r="http://schemas.openxmlformats.org/officeDocument/2006/relationships">
        <p:nvSpPr>
          <p:cNvPr id="16" name="Text 33"/>
          <p:cNvSpPr txBox="1"/>
          <p:nvPr/>
        </p:nvSpPr>
        <p:spPr>
          <a:xfrm>
            <a:off x="10872216" y="1691640"/>
            <a:ext cx="2395728" cy="411480"/>
          </a:xfrm>
          <a:prstGeom prst="rect">
            <a:avLst/>
          </a:prstGeom>
          <a:noFill/>
          <a:ln/>
        </p:spPr>
        <p:txBody>
          <a:bodyPr wrap="square" lIns="25400" tIns="25400" rIns="25400" bIns="25400" rtlCol="0" anchor="t">
            <a:noAutofit/>
          </a:bodyPr>
          <a:lstStyle/>
          <a:p>
            <a:pPr algn="ctr" indent="0" marL="0">
              <a:buNone/>
            </a:pPr>
            <a:r>
              <a:rPr lang="en-US" sz="2000" b="1" dirty="0">
                <a:solidFill>
                  <a:srgbClr val="00B0F0"/>
                </a:solidFill>
                <a:latin typeface="+mn-lt"/>
                <a:ea typeface="+mn-ea"/>
                <a:cs typeface="+mn-cs"/>
              </a:rPr>
              <a:t>ADJUDICATE</a:t>
            </a:r>
            <a:endParaRPr lang="en-US" sz="2000" dirty="0"/>
          </a:p>
        </p:txBody>
      </p:sp>
      <p:sp xmlns:p="http://schemas.openxmlformats.org/presentationml/2006/main" xmlns:a="http://schemas.openxmlformats.org/drawingml/2006/main" xmlns:r="http://schemas.openxmlformats.org/officeDocument/2006/relationships">
        <p:nvSpPr>
          <p:cNvPr id="17" name="Text 34"/>
          <p:cNvSpPr txBox="1"/>
          <p:nvPr/>
        </p:nvSpPr>
        <p:spPr>
          <a:xfrm>
            <a:off x="10872216" y="2103120"/>
            <a:ext cx="2395728" cy="548640"/>
          </a:xfrm>
          <a:prstGeom prst="rect">
            <a:avLst/>
          </a:prstGeom>
          <a:noFill/>
          <a:ln/>
        </p:spPr>
        <p:txBody>
          <a:bodyPr wrap="square" lIns="25400" tIns="25400" rIns="25400" bIns="25400" rtlCol="0" anchor="t">
            <a:noAutofit/>
          </a:bodyPr>
          <a:lstStyle/>
          <a:p>
            <a:pPr algn="ctr" indent="0" marL="0">
              <a:buNone/>
            </a:pPr>
            <a:r>
              <a:rPr lang="en-US" sz="1600" dirty="0">
                <a:solidFill>
                  <a:srgbClr val="FFFFFF"/>
                </a:solidFill>
                <a:latin typeface="+mn-lt"/>
                <a:ea typeface="+mn-ea"/>
                <a:cs typeface="+mn-cs"/>
              </a:rPr>
              <a:t>Engineer owns the call</a:t>
            </a:r>
            <a:endParaRPr lang="en-US" sz="1600" dirty="0"/>
          </a:p>
        </p:txBody>
      </p:sp>
      <p:sp xmlns:p="http://schemas.openxmlformats.org/presentationml/2006/main" xmlns:a="http://schemas.openxmlformats.org/drawingml/2006/main" xmlns:r="http://schemas.openxmlformats.org/officeDocument/2006/relationships">
        <p:nvSpPr>
          <p:cNvPr id="18" name="Shape 35"/>
          <p:cNvSpPr/>
          <p:nvPr/>
        </p:nvSpPr>
        <p:spPr>
          <a:xfrm>
            <a:off x="12051792" y="2761488"/>
            <a:ext cx="36576" cy="384048"/>
          </a:xfrm>
          <a:prstGeom prst="rect">
            <a:avLst/>
          </a:prstGeom>
          <a:solidFill>
            <a:srgbClr val="595959"/>
          </a:solidFill>
          <a:ln/>
        </p:spPr>
        <p:txBody>
          <a:bodyPr/>
          <a:p/>
        </p:txBody>
      </p:sp>
      <p:sp xmlns:p="http://schemas.openxmlformats.org/presentationml/2006/main" xmlns:a="http://schemas.openxmlformats.org/drawingml/2006/main" xmlns:r="http://schemas.openxmlformats.org/officeDocument/2006/relationships">
        <p:nvSpPr>
          <p:cNvPr id="19" name="Shape 36"/>
          <p:cNvSpPr/>
          <p:nvPr/>
        </p:nvSpPr>
        <p:spPr>
          <a:xfrm>
            <a:off x="6071616" y="3127248"/>
            <a:ext cx="6016752" cy="36576"/>
          </a:xfrm>
          <a:prstGeom prst="rect">
            <a:avLst/>
          </a:prstGeom>
          <a:solidFill>
            <a:srgbClr val="595959"/>
          </a:solidFill>
          <a:ln/>
        </p:spPr>
        <p:txBody>
          <a:bodyPr/>
          <a:p/>
        </p:txBody>
      </p:sp>
      <p:sp xmlns:p="http://schemas.openxmlformats.org/presentationml/2006/main" xmlns:a="http://schemas.openxmlformats.org/drawingml/2006/main" xmlns:r="http://schemas.openxmlformats.org/officeDocument/2006/relationships">
        <p:nvSpPr>
          <p:cNvPr id="20" name="Shape 37"/>
          <p:cNvSpPr/>
          <p:nvPr/>
        </p:nvSpPr>
        <p:spPr>
          <a:xfrm>
            <a:off x="6071616" y="2834640"/>
            <a:ext cx="36576" cy="310896"/>
          </a:xfrm>
          <a:prstGeom prst="rect">
            <a:avLst/>
          </a:prstGeom>
          <a:solidFill>
            <a:srgbClr val="595959"/>
          </a:solidFill>
          <a:ln/>
        </p:spPr>
        <p:txBody>
          <a:bodyPr/>
          <a:p/>
        </p:txBody>
      </p:sp>
      <p:sp xmlns:p="http://schemas.openxmlformats.org/presentationml/2006/main" xmlns:a="http://schemas.openxmlformats.org/drawingml/2006/main" xmlns:r="http://schemas.openxmlformats.org/officeDocument/2006/relationships">
        <p:nvSpPr>
          <p:cNvPr id="21" name="Shape 38"/>
          <p:cNvSpPr/>
          <p:nvPr/>
        </p:nvSpPr>
        <p:spPr>
          <a:xfrm>
            <a:off x="5971032" y="2770632"/>
            <a:ext cx="237744" cy="155448"/>
          </a:xfrm>
          <a:prstGeom prst="triangle">
            <a:avLst/>
          </a:prstGeom>
          <a:solidFill>
            <a:srgbClr val="595959"/>
          </a:solidFill>
          <a:ln/>
        </p:spPr>
        <p:txBody>
          <a:bodyPr/>
          <a:p/>
        </p:txBody>
      </p:sp>
      <p:sp xmlns:p="http://schemas.openxmlformats.org/presentationml/2006/main" xmlns:a="http://schemas.openxmlformats.org/drawingml/2006/main" xmlns:r="http://schemas.openxmlformats.org/officeDocument/2006/relationships">
        <p:nvSpPr>
          <p:cNvPr id="22" name="Shape 39"/>
          <p:cNvSpPr/>
          <p:nvPr/>
        </p:nvSpPr>
        <p:spPr>
          <a:xfrm>
            <a:off x="7269480" y="2971800"/>
            <a:ext cx="1463040" cy="347472"/>
          </a:xfrm>
          <a:prstGeom prst="rect">
            <a:avLst/>
          </a:prstGeom>
          <a:solidFill>
            <a:srgbClr val="FFFFFF"/>
          </a:solidFill>
          <a:ln/>
        </p:spPr>
        <p:txBody>
          <a:bodyPr/>
          <a:p/>
        </p:txBody>
      </p:sp>
      <p:sp xmlns:p="http://schemas.openxmlformats.org/presentationml/2006/main" xmlns:a="http://schemas.openxmlformats.org/drawingml/2006/main" xmlns:r="http://schemas.openxmlformats.org/officeDocument/2006/relationships">
        <p:nvSpPr>
          <p:cNvPr id="23" name="Text 40"/>
          <p:cNvSpPr txBox="1"/>
          <p:nvPr/>
        </p:nvSpPr>
        <p:spPr>
          <a:xfrm>
            <a:off x="7269480" y="2971800"/>
            <a:ext cx="1463040" cy="347472"/>
          </a:xfrm>
          <a:prstGeom prst="rect">
            <a:avLst/>
          </a:prstGeom>
          <a:noFill/>
          <a:ln/>
        </p:spPr>
        <p:txBody>
          <a:bodyPr wrap="square" lIns="25400" tIns="25400" rIns="25400" bIns="25400" rtlCol="0" anchor="t">
            <a:noAutofit/>
          </a:bodyPr>
          <a:lstStyle/>
          <a:p>
            <a:pPr algn="ctr" indent="0" marL="0">
              <a:buNone/>
            </a:pPr>
            <a:r>
              <a:rPr lang="en-US" sz="1600" b="1" dirty="0">
                <a:solidFill>
                  <a:srgbClr val="595959"/>
                </a:solidFill>
                <a:latin typeface="+mn-lt"/>
                <a:ea typeface="+mn-ea"/>
                <a:cs typeface="+mn-cs"/>
              </a:rPr>
              <a:t>ITERATE</a:t>
            </a:r>
            <a:endParaRPr lang="en-US" sz="1600" dirty="0"/>
          </a:p>
        </p:txBody>
      </p:sp>
      <p:sp xmlns:p="http://schemas.openxmlformats.org/presentationml/2006/main" xmlns:a="http://schemas.openxmlformats.org/drawingml/2006/main" xmlns:r="http://schemas.openxmlformats.org/officeDocument/2006/relationships">
        <p:nvSpPr>
          <p:cNvPr id="24" name="Text 41"/>
          <p:cNvSpPr txBox="1"/>
          <p:nvPr/>
        </p:nvSpPr>
        <p:spPr>
          <a:xfrm>
            <a:off x="1810512" y="3611880"/>
            <a:ext cx="11768328" cy="393192"/>
          </a:xfrm>
          <a:prstGeom prst="rect">
            <a:avLst/>
          </a:prstGeom>
          <a:noFill/>
          <a:ln/>
        </p:spPr>
        <p:txBody>
          <a:bodyPr wrap="square" lIns="25400" tIns="25400" rIns="25400" bIns="25400" rtlCol="0" anchor="t">
            <a:noAutofit/>
          </a:bodyPr>
          <a:lstStyle/>
          <a:p>
            <a:pPr algn="l" indent="0" marL="0">
              <a:buNone/>
            </a:pPr>
            <a:r>
              <a:rPr lang="en-US" sz="2100" dirty="0">
                <a:solidFill>
                  <a:srgbClr val="000000"/>
                </a:solidFill>
                <a:latin typeface="+mn-lt"/>
                <a:ea typeface="+mn-ea"/>
                <a:cs typeface="+mn-cs"/>
              </a:rPr>
              <a:t>The five workflow steps, for any coding agent:</a:t>
            </a:r>
            <a:endParaRPr lang="en-US" sz="2100" dirty="0"/>
          </a:p>
        </p:txBody>
      </p:sp>
      <p:sp xmlns:p="http://schemas.openxmlformats.org/presentationml/2006/main" xmlns:a="http://schemas.openxmlformats.org/drawingml/2006/main" xmlns:r="http://schemas.openxmlformats.org/officeDocument/2006/relationships">
        <p:nvSpPr>
          <p:cNvPr id="25" name="Text 42"/>
          <p:cNvSpPr txBox="1"/>
          <p:nvPr/>
        </p:nvSpPr>
        <p:spPr>
          <a:xfrm>
            <a:off x="1810512" y="4160520"/>
            <a:ext cx="612648" cy="420624"/>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1</a:t>
            </a:r>
            <a:endParaRPr lang="en-US" sz="2200" dirty="0"/>
          </a:p>
        </p:txBody>
      </p:sp>
      <p:sp xmlns:p="http://schemas.openxmlformats.org/presentationml/2006/main" xmlns:a="http://schemas.openxmlformats.org/drawingml/2006/main" xmlns:r="http://schemas.openxmlformats.org/officeDocument/2006/relationships">
        <p:nvSpPr>
          <p:cNvPr id="26" name="Text 43"/>
          <p:cNvSpPr txBox="1"/>
          <p:nvPr/>
        </p:nvSpPr>
        <p:spPr>
          <a:xfrm>
            <a:off x="2340864" y="4160520"/>
            <a:ext cx="11173968" cy="409115"/>
          </a:xfrm>
          <a:prstGeom prst="rect">
            <a:avLst/>
          </a:prstGeom>
          <a:noFill/>
          <a:ln/>
        </p:spPr>
        <p:txBody>
          <a:bodyPr wrap="square" lIns="25400" tIns="25400" rIns="25400" bIns="25400" rtlCol="0" anchor="t">
            <a:noAutofit/>
          </a:bodyPr>
          <a:lstStyle/>
          <a:p>
            <a:pPr algn="l" indent="0" marL="0">
              <a:lnSpc>
                <a:spcPct val="101250"/>
              </a:lnSpc>
              <a:buNone/>
            </a:pPr>
            <a:r>
              <a:rPr lang="en-US" sz="2000" dirty="0">
                <a:solidFill>
                  <a:srgbClr val="000000"/>
                </a:solidFill>
                <a:latin typeface="+mn-lt"/>
                <a:ea typeface="+mn-ea"/>
                <a:cs typeface="+mn-cs"/>
              </a:rPr>
              <a:t xml:space="preserve">Put your project in a GitHub repo  </a:t>
            </a:r>
            <a:r>
              <a:rPr lang="en-US" sz="2000" dirty="0">
                <a:solidFill>
                  <a:srgbClr val="595959"/>
                </a:solidFill>
                <a:latin typeface="+mn-lt"/>
                <a:ea typeface="+mn-ea"/>
                <a:cs typeface="+mn-cs"/>
              </a:rPr>
              <a:t>(done in Lesson 1)</a:t>
            </a:r>
            <a:endParaRPr lang="en-US" sz="2000" dirty="0"/>
          </a:p>
        </p:txBody>
      </p:sp>
      <p:sp xmlns:p="http://schemas.openxmlformats.org/presentationml/2006/main" xmlns:a="http://schemas.openxmlformats.org/drawingml/2006/main" xmlns:r="http://schemas.openxmlformats.org/officeDocument/2006/relationships">
        <p:nvSpPr>
          <p:cNvPr id="27" name="Text 44"/>
          <p:cNvSpPr txBox="1"/>
          <p:nvPr/>
        </p:nvSpPr>
        <p:spPr>
          <a:xfrm>
            <a:off x="1810512" y="4697651"/>
            <a:ext cx="612648" cy="420624"/>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2</a:t>
            </a:r>
            <a:endParaRPr lang="en-US" sz="2200" dirty="0"/>
          </a:p>
        </p:txBody>
      </p:sp>
      <p:sp xmlns:p="http://schemas.openxmlformats.org/presentationml/2006/main" xmlns:a="http://schemas.openxmlformats.org/drawingml/2006/main" xmlns:r="http://schemas.openxmlformats.org/officeDocument/2006/relationships">
        <p:nvSpPr>
          <p:cNvPr id="28" name="Text 45"/>
          <p:cNvSpPr txBox="1"/>
          <p:nvPr/>
        </p:nvSpPr>
        <p:spPr>
          <a:xfrm>
            <a:off x="2340864" y="4697651"/>
            <a:ext cx="11173968" cy="409115"/>
          </a:xfrm>
          <a:prstGeom prst="rect">
            <a:avLst/>
          </a:prstGeom>
          <a:noFill/>
          <a:ln/>
        </p:spPr>
        <p:txBody>
          <a:bodyPr wrap="square" lIns="25400" tIns="25400" rIns="25400" bIns="25400" rtlCol="0" anchor="t">
            <a:noAutofit/>
          </a:bodyPr>
          <a:lstStyle/>
          <a:p>
            <a:pPr algn="l" indent="0" marL="0">
              <a:lnSpc>
                <a:spcPct val="101250"/>
              </a:lnSpc>
              <a:buNone/>
            </a:pPr>
            <a:r>
              <a:rPr lang="en-US" sz="2000" dirty="0">
                <a:solidFill>
                  <a:srgbClr val="000000"/>
                </a:solidFill>
                <a:latin typeface="+mn-lt"/>
                <a:ea typeface="+mn-ea"/>
                <a:cs typeface="+mn-cs"/>
              </a:rPr>
              <a:t>Open a task in Codex, Claude Code, or another coding agent</a:t>
            </a:r>
            <a:endParaRPr lang="en-US" sz="2000" dirty="0"/>
          </a:p>
        </p:txBody>
      </p:sp>
      <p:sp xmlns:p="http://schemas.openxmlformats.org/presentationml/2006/main" xmlns:a="http://schemas.openxmlformats.org/drawingml/2006/main" xmlns:r="http://schemas.openxmlformats.org/officeDocument/2006/relationships">
        <p:nvSpPr>
          <p:cNvPr id="29" name="Text 46"/>
          <p:cNvSpPr txBox="1"/>
          <p:nvPr/>
        </p:nvSpPr>
        <p:spPr>
          <a:xfrm>
            <a:off x="1810512" y="5234783"/>
            <a:ext cx="612648" cy="420624"/>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3</a:t>
            </a:r>
            <a:endParaRPr lang="en-US" sz="2200" dirty="0"/>
          </a:p>
        </p:txBody>
      </p:sp>
      <p:sp xmlns:p="http://schemas.openxmlformats.org/presentationml/2006/main" xmlns:a="http://schemas.openxmlformats.org/drawingml/2006/main" xmlns:r="http://schemas.openxmlformats.org/officeDocument/2006/relationships">
        <p:nvSpPr>
          <p:cNvPr id="30" name="Text 47"/>
          <p:cNvSpPr txBox="1"/>
          <p:nvPr/>
        </p:nvSpPr>
        <p:spPr>
          <a:xfrm>
            <a:off x="2340864" y="5234783"/>
            <a:ext cx="11173968" cy="409115"/>
          </a:xfrm>
          <a:prstGeom prst="rect">
            <a:avLst/>
          </a:prstGeom>
          <a:noFill/>
          <a:ln/>
        </p:spPr>
        <p:txBody>
          <a:bodyPr wrap="square" lIns="25400" tIns="25400" rIns="25400" bIns="25400" rtlCol="0" anchor="t">
            <a:noAutofit/>
          </a:bodyPr>
          <a:lstStyle/>
          <a:p>
            <a:pPr algn="l" indent="0" marL="0">
              <a:lnSpc>
                <a:spcPct val="101250"/>
              </a:lnSpc>
              <a:buNone/>
            </a:pPr>
            <a:r>
              <a:rPr lang="en-US" sz="2000" dirty="0">
                <a:solidFill>
                  <a:srgbClr val="000000"/>
                </a:solidFill>
                <a:latin typeface="+mn-lt"/>
                <a:ea typeface="+mn-ea"/>
                <a:cs typeface="+mn-cs"/>
              </a:rPr>
              <a:t>Connect your repo to the agent, with a context file (AGENTS.md)</a:t>
            </a:r>
            <a:endParaRPr lang="en-US" sz="2000" dirty="0"/>
          </a:p>
        </p:txBody>
      </p:sp>
      <p:sp xmlns:p="http://schemas.openxmlformats.org/presentationml/2006/main" xmlns:a="http://schemas.openxmlformats.org/drawingml/2006/main" xmlns:r="http://schemas.openxmlformats.org/officeDocument/2006/relationships">
        <p:nvSpPr>
          <p:cNvPr id="31" name="Text 48"/>
          <p:cNvSpPr txBox="1"/>
          <p:nvPr/>
        </p:nvSpPr>
        <p:spPr>
          <a:xfrm>
            <a:off x="1810512" y="5771914"/>
            <a:ext cx="612648" cy="420624"/>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4</a:t>
            </a:r>
            <a:endParaRPr lang="en-US" sz="2200" dirty="0"/>
          </a:p>
        </p:txBody>
      </p:sp>
      <p:sp xmlns:p="http://schemas.openxmlformats.org/presentationml/2006/main" xmlns:a="http://schemas.openxmlformats.org/drawingml/2006/main" xmlns:r="http://schemas.openxmlformats.org/officeDocument/2006/relationships">
        <p:nvSpPr>
          <p:cNvPr id="32" name="Text 49"/>
          <p:cNvSpPr txBox="1"/>
          <p:nvPr/>
        </p:nvSpPr>
        <p:spPr>
          <a:xfrm>
            <a:off x="2340864" y="5771914"/>
            <a:ext cx="11173968" cy="409115"/>
          </a:xfrm>
          <a:prstGeom prst="rect">
            <a:avLst/>
          </a:prstGeom>
          <a:noFill/>
          <a:ln/>
        </p:spPr>
        <p:txBody>
          <a:bodyPr wrap="square" lIns="25400" tIns="25400" rIns="25400" bIns="25400" rtlCol="0" anchor="t">
            <a:noAutofit/>
          </a:bodyPr>
          <a:lstStyle/>
          <a:p>
            <a:pPr algn="l" indent="0" marL="0">
              <a:lnSpc>
                <a:spcPct val="101250"/>
              </a:lnSpc>
              <a:buNone/>
            </a:pPr>
            <a:r>
              <a:rPr lang="en-US" sz="2000" dirty="0">
                <a:solidFill>
                  <a:srgbClr val="000000"/>
                </a:solidFill>
                <a:latin typeface="+mn-lt"/>
                <a:ea typeface="+mn-ea"/>
                <a:cs typeface="+mn-cs"/>
              </a:rPr>
              <a:t>Work with the agent to generate commits on a branch</a:t>
            </a:r>
            <a:endParaRPr lang="en-US" sz="2000" dirty="0"/>
          </a:p>
        </p:txBody>
      </p:sp>
      <p:sp xmlns:p="http://schemas.openxmlformats.org/presentationml/2006/main" xmlns:a="http://schemas.openxmlformats.org/drawingml/2006/main" xmlns:r="http://schemas.openxmlformats.org/officeDocument/2006/relationships">
        <p:nvSpPr>
          <p:cNvPr id="33" name="Text 50"/>
          <p:cNvSpPr txBox="1"/>
          <p:nvPr/>
        </p:nvSpPr>
        <p:spPr>
          <a:xfrm>
            <a:off x="1810512" y="6309046"/>
            <a:ext cx="612648" cy="420624"/>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5</a:t>
            </a:r>
            <a:endParaRPr lang="en-US" sz="2200" dirty="0"/>
          </a:p>
        </p:txBody>
      </p:sp>
      <p:sp xmlns:p="http://schemas.openxmlformats.org/presentationml/2006/main" xmlns:a="http://schemas.openxmlformats.org/drawingml/2006/main" xmlns:r="http://schemas.openxmlformats.org/officeDocument/2006/relationships">
        <p:nvSpPr>
          <p:cNvPr id="34" name="Text 51"/>
          <p:cNvSpPr txBox="1"/>
          <p:nvPr/>
        </p:nvSpPr>
        <p:spPr>
          <a:xfrm>
            <a:off x="2340864" y="6309046"/>
            <a:ext cx="11173968" cy="409115"/>
          </a:xfrm>
          <a:prstGeom prst="rect">
            <a:avLst/>
          </a:prstGeom>
          <a:noFill/>
          <a:ln/>
        </p:spPr>
        <p:txBody>
          <a:bodyPr wrap="square" lIns="25400" tIns="25400" rIns="25400" bIns="25400" rtlCol="0" anchor="t">
            <a:noAutofit/>
          </a:bodyPr>
          <a:lstStyle/>
          <a:p>
            <a:pPr algn="l" indent="0" marL="0">
              <a:lnSpc>
                <a:spcPct val="101250"/>
              </a:lnSpc>
              <a:buNone/>
            </a:pPr>
            <a:r>
              <a:rPr lang="en-US" sz="2000" dirty="0">
                <a:solidFill>
                  <a:srgbClr val="000000"/>
                </a:solidFill>
                <a:latin typeface="+mn-lt"/>
                <a:ea typeface="+mn-ea"/>
                <a:cs typeface="+mn-cs"/>
              </a:rPr>
              <a:t>Adjudicate the agent’s work yourself, and iterate</a:t>
            </a:r>
            <a:endParaRPr lang="en-US" sz="2000" dirty="0"/>
          </a:p>
        </p:txBody>
      </p:sp>
      <p:sp xmlns:p="http://schemas.openxmlformats.org/presentationml/2006/main" xmlns:a="http://schemas.openxmlformats.org/drawingml/2006/main" xmlns:r="http://schemas.openxmlformats.org/officeDocument/2006/relationships">
        <p:nvSpPr>
          <p:cNvPr id="35" name="Nav highlight"/>
          <p:cNvSpPr txBox="1"/>
          <p:nvPr userDrawn="1"/>
        </p:nvSpPr>
        <p:spPr>
          <a:xfrm>
            <a:off x="133350" y="2762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Concepts</a:t>
            </a:r>
            <a:endParaRPr lang="en-US" sz="1800" b="1" dirty="0"/>
          </a:p>
        </p:txBody>
      </p:sp>
      <p:sp xmlns:p="http://schemas.openxmlformats.org/presentationml/2006/main" xmlns:a="http://schemas.openxmlformats.org/drawingml/2006/main" xmlns:r="http://schemas.openxmlformats.org/officeDocument/2006/relationships">
        <p:nvSpPr>
          <p:cNvPr id="36"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2</a:t>
            </a:r>
            <a:endParaRPr lang="en-US" sz="1800" dirty="0"/>
          </a:p>
        </p:txBody>
      </p:sp>
      <p:sp xmlns:p="http://schemas.openxmlformats.org/presentationml/2006/main" xmlns:a="http://schemas.openxmlformats.org/drawingml/2006/main" xmlns:r="http://schemas.openxmlformats.org/officeDocument/2006/relationships">
        <p:nvSpPr>
          <p:cNvPr id="37" name="Slide Numb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xmlns:p="http://schemas.openxmlformats.org/presentationml/2006/main" xmlns:a="http://schemas.openxmlformats.org/drawingml/2006/main" xmlns:r="http://schemas.openxmlformats.org/officeDocument/2006/relationships">
        <p:nvSpPr>
          <p:cNvPr id="2" name="Title"/>
          <p:cNvSpPr>
            <a:spLocks noGrp="1"/>
          </p:cNvSpPr>
          <p:nvPr>
            <p:ph type="title"/>
          </p:nvPr>
        </p:nvSpPr>
        <p:spPr/>
        <p:txBody>
          <a:bodyPr/>
          <a:lstStyle/>
          <a:p>
            <a:r>
              <a:rPr lang="en-US" dirty="0"/>
              <a:t>Agent Tool Options</a:t>
            </a:r>
            <a:endParaRPr lang="en-US" dirty="0"/>
          </a:p>
        </p:txBody>
      </p:sp>
      <p:sp xmlns:p="http://schemas.openxmlformats.org/presentationml/2006/main" xmlns:a="http://schemas.openxmlformats.org/drawingml/2006/main" xmlns:r="http://schemas.openxmlformats.org/officeDocument/2006/relationships">
        <p:nvSpPr>
          <p:cNvPr id="3" name="Shape 20"/>
          <p:cNvSpPr/>
          <p:nvPr/>
        </p:nvSpPr>
        <p:spPr>
          <a:xfrm>
            <a:off x="1810512" y="1572768"/>
            <a:ext cx="2697480" cy="612648"/>
          </a:xfrm>
          <a:prstGeom prst="rect">
            <a:avLst/>
          </a:prstGeom>
          <a:solidFill>
            <a:srgbClr val="152A47"/>
          </a:solidFill>
          <a:ln/>
        </p:spPr>
        <p:txBody>
          <a:bodyPr/>
          <a:p/>
        </p:txBody>
      </p:sp>
      <p:sp xmlns:p="http://schemas.openxmlformats.org/presentationml/2006/main" xmlns:a="http://schemas.openxmlformats.org/drawingml/2006/main" xmlns:r="http://schemas.openxmlformats.org/officeDocument/2006/relationships">
        <p:nvSpPr>
          <p:cNvPr id="4" name="Text 21"/>
          <p:cNvSpPr txBox="1"/>
          <p:nvPr/>
        </p:nvSpPr>
        <p:spPr>
          <a:xfrm>
            <a:off x="1984248" y="1705356"/>
            <a:ext cx="2468880" cy="347472"/>
          </a:xfrm>
          <a:prstGeom prst="rect">
            <a:avLst/>
          </a:prstGeom>
          <a:noFill/>
          <a:ln/>
        </p:spPr>
        <p:txBody>
          <a:bodyPr wrap="square" lIns="25400" tIns="25400" rIns="25400" bIns="25400" rtlCol="0" anchor="t">
            <a:noAutofit/>
          </a:bodyPr>
          <a:lstStyle/>
          <a:p>
            <a:pPr algn="l" indent="0" marL="0">
              <a:buNone/>
            </a:pPr>
            <a:r>
              <a:rPr lang="en-US" sz="1700" b="1" dirty="0">
                <a:solidFill>
                  <a:srgbClr val="FFFFFF"/>
                </a:solidFill>
                <a:latin typeface="+mn-lt"/>
                <a:ea typeface="+mn-ea"/>
                <a:cs typeface="+mn-cs"/>
              </a:rPr>
              <a:t>Tool</a:t>
            </a:r>
            <a:endParaRPr lang="en-US" sz="1700" dirty="0"/>
          </a:p>
        </p:txBody>
      </p:sp>
      <p:sp xmlns:p="http://schemas.openxmlformats.org/presentationml/2006/main" xmlns:a="http://schemas.openxmlformats.org/drawingml/2006/main" xmlns:r="http://schemas.openxmlformats.org/officeDocument/2006/relationships">
        <p:nvSpPr>
          <p:cNvPr id="5" name="Shape 22"/>
          <p:cNvSpPr/>
          <p:nvPr/>
        </p:nvSpPr>
        <p:spPr>
          <a:xfrm>
            <a:off x="4507992" y="1572768"/>
            <a:ext cx="3657600" cy="612648"/>
          </a:xfrm>
          <a:prstGeom prst="rect">
            <a:avLst/>
          </a:prstGeom>
          <a:solidFill>
            <a:srgbClr val="152A47"/>
          </a:solidFill>
          <a:ln/>
        </p:spPr>
        <p:txBody>
          <a:bodyPr/>
          <a:p/>
        </p:txBody>
      </p:sp>
      <p:sp xmlns:p="http://schemas.openxmlformats.org/presentationml/2006/main" xmlns:a="http://schemas.openxmlformats.org/drawingml/2006/main" xmlns:r="http://schemas.openxmlformats.org/officeDocument/2006/relationships">
        <p:nvSpPr>
          <p:cNvPr id="6" name="Text 23"/>
          <p:cNvSpPr txBox="1"/>
          <p:nvPr/>
        </p:nvSpPr>
        <p:spPr>
          <a:xfrm>
            <a:off x="4681728" y="1705356"/>
            <a:ext cx="3429000" cy="347472"/>
          </a:xfrm>
          <a:prstGeom prst="rect">
            <a:avLst/>
          </a:prstGeom>
          <a:noFill/>
          <a:ln/>
        </p:spPr>
        <p:txBody>
          <a:bodyPr wrap="square" lIns="25400" tIns="25400" rIns="25400" bIns="25400" rtlCol="0" anchor="t">
            <a:noAutofit/>
          </a:bodyPr>
          <a:lstStyle/>
          <a:p>
            <a:pPr algn="l" indent="0" marL="0">
              <a:buNone/>
            </a:pPr>
            <a:r>
              <a:rPr lang="en-US" sz="1700" b="1" dirty="0">
                <a:solidFill>
                  <a:srgbClr val="FFFFFF"/>
                </a:solidFill>
                <a:latin typeface="+mn-lt"/>
                <a:ea typeface="+mn-ea"/>
                <a:cs typeface="+mn-cs"/>
              </a:rPr>
              <a:t>Where it runs</a:t>
            </a:r>
            <a:endParaRPr lang="en-US" sz="1700" dirty="0"/>
          </a:p>
        </p:txBody>
      </p:sp>
      <p:sp xmlns:p="http://schemas.openxmlformats.org/presentationml/2006/main" xmlns:a="http://schemas.openxmlformats.org/drawingml/2006/main" xmlns:r="http://schemas.openxmlformats.org/officeDocument/2006/relationships">
        <p:nvSpPr>
          <p:cNvPr id="7" name="Shape 24"/>
          <p:cNvSpPr/>
          <p:nvPr/>
        </p:nvSpPr>
        <p:spPr>
          <a:xfrm>
            <a:off x="8165592" y="1572768"/>
            <a:ext cx="2743200" cy="612648"/>
          </a:xfrm>
          <a:prstGeom prst="rect">
            <a:avLst/>
          </a:prstGeom>
          <a:solidFill>
            <a:srgbClr val="152A47"/>
          </a:solidFill>
          <a:ln/>
        </p:spPr>
        <p:txBody>
          <a:bodyPr/>
          <a:p/>
        </p:txBody>
      </p:sp>
      <p:sp xmlns:p="http://schemas.openxmlformats.org/presentationml/2006/main" xmlns:a="http://schemas.openxmlformats.org/drawingml/2006/main" xmlns:r="http://schemas.openxmlformats.org/officeDocument/2006/relationships">
        <p:nvSpPr>
          <p:cNvPr id="8" name="Text 25"/>
          <p:cNvSpPr txBox="1"/>
          <p:nvPr/>
        </p:nvSpPr>
        <p:spPr>
          <a:xfrm>
            <a:off x="8339328" y="1705356"/>
            <a:ext cx="2514600" cy="347472"/>
          </a:xfrm>
          <a:prstGeom prst="rect">
            <a:avLst/>
          </a:prstGeom>
          <a:noFill/>
          <a:ln/>
        </p:spPr>
        <p:txBody>
          <a:bodyPr wrap="square" lIns="25400" tIns="25400" rIns="25400" bIns="25400" rtlCol="0" anchor="t">
            <a:noAutofit/>
          </a:bodyPr>
          <a:lstStyle/>
          <a:p>
            <a:pPr algn="l" indent="0" marL="0">
              <a:buNone/>
            </a:pPr>
            <a:r>
              <a:rPr lang="en-US" sz="1700" b="1" dirty="0">
                <a:solidFill>
                  <a:srgbClr val="FFFFFF"/>
                </a:solidFill>
                <a:latin typeface="+mn-lt"/>
                <a:ea typeface="+mn-ea"/>
                <a:cs typeface="+mn-cs"/>
              </a:rPr>
              <a:t>Access</a:t>
            </a:r>
            <a:endParaRPr lang="en-US" sz="1700" dirty="0"/>
          </a:p>
        </p:txBody>
      </p:sp>
      <p:sp xmlns:p="http://schemas.openxmlformats.org/presentationml/2006/main" xmlns:a="http://schemas.openxmlformats.org/drawingml/2006/main" xmlns:r="http://schemas.openxmlformats.org/officeDocument/2006/relationships">
        <p:nvSpPr>
          <p:cNvPr id="9" name="Shape 26"/>
          <p:cNvSpPr/>
          <p:nvPr/>
        </p:nvSpPr>
        <p:spPr>
          <a:xfrm>
            <a:off x="10908792" y="1572768"/>
            <a:ext cx="2578608" cy="612648"/>
          </a:xfrm>
          <a:prstGeom prst="rect">
            <a:avLst/>
          </a:prstGeom>
          <a:solidFill>
            <a:srgbClr val="152A47"/>
          </a:solidFill>
          <a:ln/>
        </p:spPr>
        <p:txBody>
          <a:bodyPr/>
          <a:p/>
        </p:txBody>
      </p:sp>
      <p:sp xmlns:p="http://schemas.openxmlformats.org/presentationml/2006/main" xmlns:a="http://schemas.openxmlformats.org/drawingml/2006/main" xmlns:r="http://schemas.openxmlformats.org/officeDocument/2006/relationships">
        <p:nvSpPr>
          <p:cNvPr id="10" name="Text 27"/>
          <p:cNvSpPr txBox="1"/>
          <p:nvPr/>
        </p:nvSpPr>
        <p:spPr>
          <a:xfrm>
            <a:off x="11082528" y="1705356"/>
            <a:ext cx="2350008" cy="347472"/>
          </a:xfrm>
          <a:prstGeom prst="rect">
            <a:avLst/>
          </a:prstGeom>
          <a:noFill/>
          <a:ln/>
        </p:spPr>
        <p:txBody>
          <a:bodyPr wrap="square" lIns="25400" tIns="25400" rIns="25400" bIns="25400" rtlCol="0" anchor="t">
            <a:noAutofit/>
          </a:bodyPr>
          <a:lstStyle/>
          <a:p>
            <a:pPr algn="l" indent="0" marL="0">
              <a:buNone/>
            </a:pPr>
            <a:r>
              <a:rPr lang="en-US" sz="1700" b="1" dirty="0">
                <a:solidFill>
                  <a:srgbClr val="FFFFFF"/>
                </a:solidFill>
                <a:latin typeface="+mn-lt"/>
                <a:ea typeface="+mn-ea"/>
                <a:cs typeface="+mn-cs"/>
              </a:rPr>
              <a:t>Context file</a:t>
            </a:r>
            <a:endParaRPr lang="en-US" sz="1700" dirty="0"/>
          </a:p>
        </p:txBody>
      </p:sp>
      <p:sp xmlns:p="http://schemas.openxmlformats.org/presentationml/2006/main" xmlns:a="http://schemas.openxmlformats.org/drawingml/2006/main" xmlns:r="http://schemas.openxmlformats.org/officeDocument/2006/relationships">
        <p:nvSpPr>
          <p:cNvPr id="11" name="Text 28"/>
          <p:cNvSpPr txBox="1"/>
          <p:nvPr/>
        </p:nvSpPr>
        <p:spPr>
          <a:xfrm>
            <a:off x="1984248" y="2313432"/>
            <a:ext cx="2468880" cy="625983"/>
          </a:xfrm>
          <a:prstGeom prst="rect">
            <a:avLst/>
          </a:prstGeom>
          <a:noFill/>
          <a:ln/>
        </p:spPr>
        <p:txBody>
          <a:bodyPr wrap="square" lIns="25400" tIns="25400" rIns="25400" bIns="25400" rtlCol="0" anchor="t">
            <a:noAutofit/>
          </a:bodyPr>
          <a:lstStyle/>
          <a:p>
            <a:pPr algn="l" indent="0" marL="0">
              <a:buNone/>
            </a:pPr>
            <a:r>
              <a:rPr lang="en-US" sz="1700" b="1" dirty="0">
                <a:solidFill>
                  <a:srgbClr val="000000"/>
                </a:solidFill>
                <a:latin typeface="+mn-lt"/>
                <a:ea typeface="+mn-ea"/>
                <a:cs typeface="+mn-cs"/>
              </a:rPr>
              <a:t xml:space="preserve">ChatGPT Codex </a:t>
            </a:r>
            <a:r>
              <a:rPr lang="en-US" sz="1700" b="1" dirty="0">
                <a:solidFill>
                  <a:srgbClr val="404040"/>
                </a:solidFill>
                <a:latin typeface="+mn-lt"/>
                <a:ea typeface="+mn-ea"/>
                <a:cs typeface="+mn-cs"/>
              </a:rPr>
              <a:t>(this lesson)</a:t>
            </a:r>
            <a:endParaRPr lang="en-US" sz="1700" dirty="0"/>
          </a:p>
        </p:txBody>
      </p:sp>
      <p:sp xmlns:p="http://schemas.openxmlformats.org/presentationml/2006/main" xmlns:a="http://schemas.openxmlformats.org/drawingml/2006/main" xmlns:r="http://schemas.openxmlformats.org/officeDocument/2006/relationships">
        <p:nvSpPr>
          <p:cNvPr id="12" name="Shape 29"/>
          <p:cNvSpPr/>
          <p:nvPr/>
        </p:nvSpPr>
        <p:spPr>
          <a:xfrm>
            <a:off x="1810512" y="3049143"/>
            <a:ext cx="269748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13" name="Text 30"/>
          <p:cNvSpPr txBox="1"/>
          <p:nvPr/>
        </p:nvSpPr>
        <p:spPr>
          <a:xfrm>
            <a:off x="4681728" y="2313432"/>
            <a:ext cx="3429000" cy="625983"/>
          </a:xfrm>
          <a:prstGeom prst="rect">
            <a:avLst/>
          </a:prstGeom>
          <a:noFill/>
          <a:ln/>
        </p:spPr>
        <p:txBody>
          <a:bodyPr wrap="square" lIns="25400" tIns="25400" rIns="25400" bIns="25400" rtlCol="0" anchor="t">
            <a:noAutofit/>
          </a:bodyPr>
          <a:lstStyle/>
          <a:p>
            <a:pPr algn="l" indent="0" marL="0">
              <a:buNone/>
            </a:pPr>
            <a:r>
              <a:rPr lang="en-US" sz="1700" dirty="0">
                <a:solidFill>
                  <a:srgbClr val="000000"/>
                </a:solidFill>
                <a:latin typeface="+mn-lt"/>
                <a:ea typeface="+mn-ea"/>
                <a:cs typeface="+mn-cs"/>
              </a:rPr>
              <a:t>Cloud environment from your GitHub repo; also app, CLI, VS Code</a:t>
            </a:r>
            <a:endParaRPr lang="en-US" sz="1700" dirty="0"/>
          </a:p>
        </p:txBody>
      </p:sp>
      <p:sp xmlns:p="http://schemas.openxmlformats.org/presentationml/2006/main" xmlns:a="http://schemas.openxmlformats.org/drawingml/2006/main" xmlns:r="http://schemas.openxmlformats.org/officeDocument/2006/relationships">
        <p:nvSpPr>
          <p:cNvPr id="14" name="Shape 31"/>
          <p:cNvSpPr/>
          <p:nvPr/>
        </p:nvSpPr>
        <p:spPr>
          <a:xfrm>
            <a:off x="4507992" y="3049143"/>
            <a:ext cx="365760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15" name="Text 32"/>
          <p:cNvSpPr txBox="1"/>
          <p:nvPr/>
        </p:nvSpPr>
        <p:spPr>
          <a:xfrm>
            <a:off x="8339328" y="2313432"/>
            <a:ext cx="2514600" cy="625983"/>
          </a:xfrm>
          <a:prstGeom prst="rect">
            <a:avLst/>
          </a:prstGeom>
          <a:noFill/>
          <a:ln/>
        </p:spPr>
        <p:txBody>
          <a:bodyPr wrap="square" lIns="25400" tIns="25400" rIns="25400" bIns="25400" rtlCol="0" anchor="t">
            <a:noAutofit/>
          </a:bodyPr>
          <a:lstStyle/>
          <a:p>
            <a:pPr algn="l" indent="0" marL="0">
              <a:buNone/>
            </a:pPr>
            <a:r>
              <a:rPr lang="en-US" sz="1700" dirty="0">
                <a:solidFill>
                  <a:srgbClr val="000000"/>
                </a:solidFill>
                <a:latin typeface="+mn-lt"/>
                <a:ea typeface="+mn-ea"/>
                <a:cs typeface="+mn-cs"/>
              </a:rPr>
              <a:t>ChatGPT Plus plan or higher</a:t>
            </a:r>
            <a:endParaRPr lang="en-US" sz="1700" dirty="0"/>
          </a:p>
        </p:txBody>
      </p:sp>
      <p:sp xmlns:p="http://schemas.openxmlformats.org/presentationml/2006/main" xmlns:a="http://schemas.openxmlformats.org/drawingml/2006/main" xmlns:r="http://schemas.openxmlformats.org/officeDocument/2006/relationships">
        <p:nvSpPr>
          <p:cNvPr id="16" name="Shape 33"/>
          <p:cNvSpPr/>
          <p:nvPr/>
        </p:nvSpPr>
        <p:spPr>
          <a:xfrm>
            <a:off x="8165592" y="3049143"/>
            <a:ext cx="274320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17" name="Text 34"/>
          <p:cNvSpPr txBox="1"/>
          <p:nvPr/>
        </p:nvSpPr>
        <p:spPr>
          <a:xfrm>
            <a:off x="11082528" y="2313432"/>
            <a:ext cx="2350008" cy="358711"/>
          </a:xfrm>
          <a:prstGeom prst="rect">
            <a:avLst/>
          </a:prstGeom>
          <a:noFill/>
          <a:ln/>
        </p:spPr>
        <p:txBody>
          <a:bodyPr wrap="square" lIns="25400" tIns="25400" rIns="25400" bIns="25400" rtlCol="0" anchor="t">
            <a:noAutofit/>
          </a:bodyPr>
          <a:lstStyle/>
          <a:p>
            <a:pPr algn="l" indent="0" marL="0">
              <a:buNone/>
            </a:pPr>
            <a:r>
              <a:rPr lang="en-US" sz="1700" dirty="0">
                <a:solidFill>
                  <a:srgbClr val="000000"/>
                </a:solidFill>
                <a:latin typeface="+mn-lt"/>
                <a:ea typeface="+mn-ea"/>
                <a:cs typeface="+mn-cs"/>
              </a:rPr>
              <a:t>AGENTS.md</a:t>
            </a:r>
            <a:endParaRPr lang="en-US" sz="1700" dirty="0"/>
          </a:p>
        </p:txBody>
      </p:sp>
      <p:sp xmlns:p="http://schemas.openxmlformats.org/presentationml/2006/main" xmlns:a="http://schemas.openxmlformats.org/drawingml/2006/main" xmlns:r="http://schemas.openxmlformats.org/officeDocument/2006/relationships">
        <p:nvSpPr>
          <p:cNvPr id="18" name="Shape 35"/>
          <p:cNvSpPr/>
          <p:nvPr/>
        </p:nvSpPr>
        <p:spPr>
          <a:xfrm>
            <a:off x="10908792" y="3049143"/>
            <a:ext cx="2578608"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19" name="Text 36"/>
          <p:cNvSpPr txBox="1"/>
          <p:nvPr/>
        </p:nvSpPr>
        <p:spPr>
          <a:xfrm>
            <a:off x="1984248" y="3195447"/>
            <a:ext cx="2468880" cy="358711"/>
          </a:xfrm>
          <a:prstGeom prst="rect">
            <a:avLst/>
          </a:prstGeom>
          <a:noFill/>
          <a:ln/>
        </p:spPr>
        <p:txBody>
          <a:bodyPr wrap="square" lIns="25400" tIns="25400" rIns="25400" bIns="25400" rtlCol="0" anchor="t">
            <a:noAutofit/>
          </a:bodyPr>
          <a:lstStyle/>
          <a:p>
            <a:pPr algn="l" indent="0" marL="0">
              <a:buNone/>
            </a:pPr>
            <a:r>
              <a:rPr lang="en-US" sz="1700" b="1" dirty="0">
                <a:solidFill>
                  <a:srgbClr val="000000"/>
                </a:solidFill>
                <a:latin typeface="+mn-lt"/>
                <a:ea typeface="+mn-ea"/>
                <a:cs typeface="+mn-cs"/>
              </a:rPr>
              <a:t>Claude Code</a:t>
            </a:r>
            <a:endParaRPr lang="en-US" sz="1700" dirty="0"/>
          </a:p>
        </p:txBody>
      </p:sp>
      <p:sp xmlns:p="http://schemas.openxmlformats.org/presentationml/2006/main" xmlns:a="http://schemas.openxmlformats.org/drawingml/2006/main" xmlns:r="http://schemas.openxmlformats.org/officeDocument/2006/relationships">
        <p:nvSpPr>
          <p:cNvPr id="20" name="Shape 37"/>
          <p:cNvSpPr/>
          <p:nvPr/>
        </p:nvSpPr>
        <p:spPr>
          <a:xfrm>
            <a:off x="1810512" y="4198430"/>
            <a:ext cx="269748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21" name="Text 38"/>
          <p:cNvSpPr txBox="1"/>
          <p:nvPr/>
        </p:nvSpPr>
        <p:spPr>
          <a:xfrm>
            <a:off x="4681728" y="3195447"/>
            <a:ext cx="3429000" cy="893254"/>
          </a:xfrm>
          <a:prstGeom prst="rect">
            <a:avLst/>
          </a:prstGeom>
          <a:noFill/>
          <a:ln/>
        </p:spPr>
        <p:txBody>
          <a:bodyPr wrap="square" lIns="25400" tIns="25400" rIns="25400" bIns="25400" rtlCol="0" anchor="t">
            <a:noAutofit/>
          </a:bodyPr>
          <a:lstStyle/>
          <a:p>
            <a:pPr algn="l" indent="0" marL="0">
              <a:buNone/>
            </a:pPr>
            <a:r>
              <a:rPr lang="en-US" sz="1700" dirty="0">
                <a:solidFill>
                  <a:srgbClr val="000000"/>
                </a:solidFill>
                <a:latin typeface="+mn-lt"/>
                <a:ea typeface="+mn-ea"/>
                <a:cs typeface="+mn-cs"/>
              </a:rPr>
              <a:t>Cloud sandbox from your GitHub repo; also CLI and VS Code extension</a:t>
            </a:r>
            <a:endParaRPr lang="en-US" sz="1700" dirty="0"/>
          </a:p>
        </p:txBody>
      </p:sp>
      <p:sp xmlns:p="http://schemas.openxmlformats.org/presentationml/2006/main" xmlns:a="http://schemas.openxmlformats.org/drawingml/2006/main" xmlns:r="http://schemas.openxmlformats.org/officeDocument/2006/relationships">
        <p:nvSpPr>
          <p:cNvPr id="22" name="Shape 39"/>
          <p:cNvSpPr/>
          <p:nvPr/>
        </p:nvSpPr>
        <p:spPr>
          <a:xfrm>
            <a:off x="4507992" y="4198430"/>
            <a:ext cx="365760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23" name="Text 40"/>
          <p:cNvSpPr txBox="1"/>
          <p:nvPr/>
        </p:nvSpPr>
        <p:spPr>
          <a:xfrm>
            <a:off x="8339328" y="3195447"/>
            <a:ext cx="2514600" cy="625983"/>
          </a:xfrm>
          <a:prstGeom prst="rect">
            <a:avLst/>
          </a:prstGeom>
          <a:noFill/>
          <a:ln/>
        </p:spPr>
        <p:txBody>
          <a:bodyPr wrap="square" lIns="25400" tIns="25400" rIns="25400" bIns="25400" rtlCol="0" anchor="t">
            <a:noAutofit/>
          </a:bodyPr>
          <a:lstStyle/>
          <a:p>
            <a:pPr algn="l" indent="0" marL="0">
              <a:buNone/>
            </a:pPr>
            <a:r>
              <a:rPr lang="en-US" sz="1700" dirty="0">
                <a:solidFill>
                  <a:srgbClr val="000000"/>
                </a:solidFill>
                <a:latin typeface="+mn-lt"/>
                <a:ea typeface="+mn-ea"/>
                <a:cs typeface="+mn-cs"/>
              </a:rPr>
              <a:t>Claude Pro plan or higher</a:t>
            </a:r>
            <a:endParaRPr lang="en-US" sz="1700" dirty="0"/>
          </a:p>
        </p:txBody>
      </p:sp>
      <p:sp xmlns:p="http://schemas.openxmlformats.org/presentationml/2006/main" xmlns:a="http://schemas.openxmlformats.org/drawingml/2006/main" xmlns:r="http://schemas.openxmlformats.org/officeDocument/2006/relationships">
        <p:nvSpPr>
          <p:cNvPr id="24" name="Shape 41"/>
          <p:cNvSpPr/>
          <p:nvPr/>
        </p:nvSpPr>
        <p:spPr>
          <a:xfrm>
            <a:off x="8165592" y="4198430"/>
            <a:ext cx="274320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25" name="Text 42"/>
          <p:cNvSpPr txBox="1"/>
          <p:nvPr/>
        </p:nvSpPr>
        <p:spPr>
          <a:xfrm>
            <a:off x="11082528" y="3195447"/>
            <a:ext cx="2350008" cy="358711"/>
          </a:xfrm>
          <a:prstGeom prst="rect">
            <a:avLst/>
          </a:prstGeom>
          <a:noFill/>
          <a:ln/>
        </p:spPr>
        <p:txBody>
          <a:bodyPr wrap="square" lIns="25400" tIns="25400" rIns="25400" bIns="25400" rtlCol="0" anchor="t">
            <a:noAutofit/>
          </a:bodyPr>
          <a:lstStyle/>
          <a:p>
            <a:pPr algn="l" indent="0" marL="0">
              <a:buNone/>
            </a:pPr>
            <a:r>
              <a:rPr lang="en-US" sz="1700" dirty="0">
                <a:solidFill>
                  <a:srgbClr val="000000"/>
                </a:solidFill>
                <a:latin typeface="+mn-lt"/>
                <a:ea typeface="+mn-ea"/>
                <a:cs typeface="+mn-cs"/>
              </a:rPr>
              <a:t>CLAUDE.md (can import AGENTS.md)</a:t>
            </a:r>
            <a:endParaRPr lang="en-US" sz="1700" dirty="0"/>
          </a:p>
        </p:txBody>
      </p:sp>
      <p:sp xmlns:p="http://schemas.openxmlformats.org/presentationml/2006/main" xmlns:a="http://schemas.openxmlformats.org/drawingml/2006/main" xmlns:r="http://schemas.openxmlformats.org/officeDocument/2006/relationships">
        <p:nvSpPr>
          <p:cNvPr id="26" name="Shape 43"/>
          <p:cNvSpPr/>
          <p:nvPr/>
        </p:nvSpPr>
        <p:spPr>
          <a:xfrm>
            <a:off x="10908792" y="4198430"/>
            <a:ext cx="2578608"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27" name="Text 44"/>
          <p:cNvSpPr txBox="1"/>
          <p:nvPr/>
        </p:nvSpPr>
        <p:spPr>
          <a:xfrm>
            <a:off x="1984248" y="4344734"/>
            <a:ext cx="2468880" cy="625983"/>
          </a:xfrm>
          <a:prstGeom prst="rect">
            <a:avLst/>
          </a:prstGeom>
          <a:noFill/>
          <a:ln/>
        </p:spPr>
        <p:txBody>
          <a:bodyPr wrap="square" lIns="25400" tIns="25400" rIns="25400" bIns="25400" rtlCol="0" anchor="t">
            <a:noAutofit/>
          </a:bodyPr>
          <a:lstStyle/>
          <a:p>
            <a:pPr algn="l" indent="0" marL="0">
              <a:buNone/>
            </a:pPr>
            <a:r>
              <a:rPr lang="en-US" sz="1700" b="1" dirty="0">
                <a:solidFill>
                  <a:srgbClr val="000000"/>
                </a:solidFill>
                <a:latin typeface="+mn-lt"/>
                <a:ea typeface="+mn-ea"/>
                <a:cs typeface="+mn-cs"/>
              </a:rPr>
              <a:t>GitHub Copilot agent mode</a:t>
            </a:r>
            <a:endParaRPr lang="en-US" sz="1700" dirty="0"/>
          </a:p>
        </p:txBody>
      </p:sp>
      <p:sp xmlns:p="http://schemas.openxmlformats.org/presentationml/2006/main" xmlns:a="http://schemas.openxmlformats.org/drawingml/2006/main" xmlns:r="http://schemas.openxmlformats.org/officeDocument/2006/relationships">
        <p:nvSpPr>
          <p:cNvPr id="28" name="Shape 45"/>
          <p:cNvSpPr/>
          <p:nvPr/>
        </p:nvSpPr>
        <p:spPr>
          <a:xfrm>
            <a:off x="1810512" y="5080445"/>
            <a:ext cx="269748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29" name="Text 46"/>
          <p:cNvSpPr txBox="1"/>
          <p:nvPr/>
        </p:nvSpPr>
        <p:spPr>
          <a:xfrm>
            <a:off x="4681728" y="4344734"/>
            <a:ext cx="3429000" cy="625983"/>
          </a:xfrm>
          <a:prstGeom prst="rect">
            <a:avLst/>
          </a:prstGeom>
          <a:noFill/>
          <a:ln/>
        </p:spPr>
        <p:txBody>
          <a:bodyPr wrap="square" lIns="25400" tIns="25400" rIns="25400" bIns="25400" rtlCol="0" anchor="t">
            <a:noAutofit/>
          </a:bodyPr>
          <a:lstStyle/>
          <a:p>
            <a:pPr algn="l" indent="0" marL="0">
              <a:buNone/>
            </a:pPr>
            <a:r>
              <a:rPr lang="en-US" sz="1700" dirty="0">
                <a:solidFill>
                  <a:srgbClr val="000000"/>
                </a:solidFill>
                <a:latin typeface="+mn-lt"/>
                <a:ea typeface="+mn-ea"/>
                <a:cs typeface="+mn-cs"/>
              </a:rPr>
              <a:t>VS Code on your laptop; coding agent on GitHub</a:t>
            </a:r>
            <a:endParaRPr lang="en-US" sz="1700" dirty="0"/>
          </a:p>
        </p:txBody>
      </p:sp>
      <p:sp xmlns:p="http://schemas.openxmlformats.org/presentationml/2006/main" xmlns:a="http://schemas.openxmlformats.org/drawingml/2006/main" xmlns:r="http://schemas.openxmlformats.org/officeDocument/2006/relationships">
        <p:nvSpPr>
          <p:cNvPr id="30" name="Shape 47"/>
          <p:cNvSpPr/>
          <p:nvPr/>
        </p:nvSpPr>
        <p:spPr>
          <a:xfrm>
            <a:off x="4507992" y="5080445"/>
            <a:ext cx="365760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31" name="Text 48"/>
          <p:cNvSpPr txBox="1"/>
          <p:nvPr/>
        </p:nvSpPr>
        <p:spPr>
          <a:xfrm>
            <a:off x="8339328" y="4344734"/>
            <a:ext cx="2514600" cy="625983"/>
          </a:xfrm>
          <a:prstGeom prst="rect">
            <a:avLst/>
          </a:prstGeom>
          <a:noFill/>
          <a:ln/>
        </p:spPr>
        <p:txBody>
          <a:bodyPr wrap="square" lIns="25400" tIns="25400" rIns="25400" bIns="25400" rtlCol="0" anchor="t">
            <a:noAutofit/>
          </a:bodyPr>
          <a:lstStyle/>
          <a:p>
            <a:pPr algn="l" indent="0" marL="0">
              <a:buNone/>
            </a:pPr>
            <a:r>
              <a:rPr lang="en-US" sz="1700" dirty="0">
                <a:solidFill>
                  <a:srgbClr val="000000"/>
                </a:solidFill>
                <a:latin typeface="+mn-lt"/>
                <a:ea typeface="+mn-ea"/>
                <a:cs typeface="+mn-cs"/>
              </a:rPr>
              <a:t>Copilot Free (limited) or paid plans</a:t>
            </a:r>
            <a:endParaRPr lang="en-US" sz="1700" dirty="0"/>
          </a:p>
        </p:txBody>
      </p:sp>
      <p:sp xmlns:p="http://schemas.openxmlformats.org/presentationml/2006/main" xmlns:a="http://schemas.openxmlformats.org/drawingml/2006/main" xmlns:r="http://schemas.openxmlformats.org/officeDocument/2006/relationships">
        <p:nvSpPr>
          <p:cNvPr id="32" name="Shape 49"/>
          <p:cNvSpPr/>
          <p:nvPr/>
        </p:nvSpPr>
        <p:spPr>
          <a:xfrm>
            <a:off x="8165592" y="5080445"/>
            <a:ext cx="274320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33" name="Text 50"/>
          <p:cNvSpPr txBox="1"/>
          <p:nvPr/>
        </p:nvSpPr>
        <p:spPr>
          <a:xfrm>
            <a:off x="11082528" y="4344734"/>
            <a:ext cx="2350008" cy="625983"/>
          </a:xfrm>
          <a:prstGeom prst="rect">
            <a:avLst/>
          </a:prstGeom>
          <a:noFill/>
          <a:ln/>
        </p:spPr>
        <p:txBody>
          <a:bodyPr wrap="square" lIns="25400" tIns="25400" rIns="25400" bIns="25400" rtlCol="0" anchor="t">
            <a:noAutofit/>
          </a:bodyPr>
          <a:lstStyle/>
          <a:p>
            <a:pPr algn="l" indent="0" marL="0">
              <a:buNone/>
            </a:pPr>
            <a:r>
              <a:rPr lang="en-US" sz="1700" dirty="0">
                <a:solidFill>
                  <a:srgbClr val="000000"/>
                </a:solidFill>
                <a:latin typeface="+mn-lt"/>
                <a:ea typeface="+mn-ea"/>
                <a:cs typeface="+mn-cs"/>
              </a:rPr>
              <a:t>.github/copilot-</a:t>
            </a:r>
            <a:endParaRPr lang="en-US" sz="1700" dirty="0"/>
          </a:p>
          <a:p>
            <a:pPr algn="l" indent="0" marL="0">
              <a:buNone/>
            </a:pPr>
            <a:r>
              <a:rPr lang="en-US" sz="1700" dirty="0">
                <a:solidFill>
                  <a:srgbClr val="000000"/>
                </a:solidFill>
                <a:latin typeface="+mn-lt"/>
                <a:ea typeface="+mn-ea"/>
                <a:cs typeface="+mn-cs"/>
              </a:rPr>
              <a:t>instructions.md</a:t>
            </a:r>
            <a:endParaRPr lang="en-US" sz="1700" dirty="0"/>
          </a:p>
        </p:txBody>
      </p:sp>
      <p:sp xmlns:p="http://schemas.openxmlformats.org/presentationml/2006/main" xmlns:a="http://schemas.openxmlformats.org/drawingml/2006/main" xmlns:r="http://schemas.openxmlformats.org/officeDocument/2006/relationships">
        <p:nvSpPr>
          <p:cNvPr id="34" name="Shape 51"/>
          <p:cNvSpPr/>
          <p:nvPr/>
        </p:nvSpPr>
        <p:spPr>
          <a:xfrm>
            <a:off x="10908792" y="5080445"/>
            <a:ext cx="2578608"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35" name="Text 52"/>
          <p:cNvSpPr txBox="1"/>
          <p:nvPr/>
        </p:nvSpPr>
        <p:spPr>
          <a:xfrm>
            <a:off x="1810512" y="5418772"/>
            <a:ext cx="612648" cy="420624"/>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1</a:t>
            </a:r>
            <a:endParaRPr lang="en-US" sz="2200" dirty="0"/>
          </a:p>
        </p:txBody>
      </p:sp>
      <p:sp xmlns:p="http://schemas.openxmlformats.org/presentationml/2006/main" xmlns:a="http://schemas.openxmlformats.org/drawingml/2006/main" xmlns:r="http://schemas.openxmlformats.org/officeDocument/2006/relationships">
        <p:nvSpPr>
          <p:cNvPr id="36" name="Text 53"/>
          <p:cNvSpPr txBox="1"/>
          <p:nvPr/>
        </p:nvSpPr>
        <p:spPr>
          <a:xfrm>
            <a:off x="2340864" y="5418772"/>
            <a:ext cx="11173968" cy="397350"/>
          </a:xfrm>
          <a:prstGeom prst="rect">
            <a:avLst/>
          </a:prstGeom>
          <a:noFill/>
          <a:ln/>
        </p:spPr>
        <p:txBody>
          <a:bodyPr wrap="square" lIns="25400" tIns="25400" rIns="25400" bIns="25400" rtlCol="0" anchor="t">
            <a:noAutofit/>
          </a:bodyPr>
          <a:lstStyle/>
          <a:p>
            <a:pPr algn="l" indent="0" marL="0">
              <a:lnSpc>
                <a:spcPct val="101250"/>
              </a:lnSpc>
              <a:buNone/>
            </a:pPr>
            <a:r>
              <a:rPr lang="en-US" sz="1900" dirty="0">
                <a:solidFill>
                  <a:srgbClr val="000000"/>
                </a:solidFill>
                <a:latin typeface="+mn-lt"/>
                <a:ea typeface="+mn-ea"/>
                <a:cs typeface="+mn-cs"/>
              </a:rPr>
              <a:t>The five workflow steps are the same for every tool.</a:t>
            </a:r>
            <a:endParaRPr lang="en-US" sz="1900" dirty="0"/>
          </a:p>
        </p:txBody>
      </p:sp>
      <p:sp xmlns:p="http://schemas.openxmlformats.org/presentationml/2006/main" xmlns:a="http://schemas.openxmlformats.org/drawingml/2006/main" xmlns:r="http://schemas.openxmlformats.org/officeDocument/2006/relationships">
        <p:nvSpPr>
          <p:cNvPr id="37" name="Text 54"/>
          <p:cNvSpPr txBox="1"/>
          <p:nvPr/>
        </p:nvSpPr>
        <p:spPr>
          <a:xfrm>
            <a:off x="1810512" y="5953282"/>
            <a:ext cx="612648" cy="703259"/>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2</a:t>
            </a:r>
            <a:endParaRPr lang="en-US" sz="2200" dirty="0"/>
          </a:p>
        </p:txBody>
      </p:sp>
      <p:sp xmlns:p="http://schemas.openxmlformats.org/presentationml/2006/main" xmlns:a="http://schemas.openxmlformats.org/drawingml/2006/main" xmlns:r="http://schemas.openxmlformats.org/officeDocument/2006/relationships">
        <p:nvSpPr>
          <p:cNvPr id="38" name="Text 55"/>
          <p:cNvSpPr txBox="1"/>
          <p:nvPr/>
        </p:nvSpPr>
        <p:spPr>
          <a:xfrm>
            <a:off x="2340864" y="5953282"/>
            <a:ext cx="11173968" cy="703259"/>
          </a:xfrm>
          <a:prstGeom prst="rect">
            <a:avLst/>
          </a:prstGeom>
          <a:noFill/>
          <a:ln/>
        </p:spPr>
        <p:txBody>
          <a:bodyPr wrap="square" lIns="25400" tIns="25400" rIns="25400" bIns="25400" rtlCol="0" anchor="t">
            <a:noAutofit/>
          </a:bodyPr>
          <a:lstStyle/>
          <a:p>
            <a:pPr algn="l" indent="0" marL="0">
              <a:lnSpc>
                <a:spcPct val="101250"/>
              </a:lnSpc>
              <a:buNone/>
            </a:pPr>
            <a:r>
              <a:rPr lang="en-US" sz="1900" dirty="0">
                <a:solidFill>
                  <a:srgbClr val="000000"/>
                </a:solidFill>
                <a:latin typeface="+mn-lt"/>
                <a:ea typeface="+mn-ea"/>
                <a:cs typeface="+mn-cs"/>
              </a:rPr>
              <a:t>With a local agent, Exercises 2–3 become “open the repo folder in VS Code.” The agent edits your working copy; you review and commit in GitHub Desktop.</a:t>
            </a:r>
            <a:endParaRPr lang="en-US" sz="1900" dirty="0"/>
          </a:p>
        </p:txBody>
      </p:sp>
      <p:sp xmlns:p="http://schemas.openxmlformats.org/presentationml/2006/main" xmlns:a="http://schemas.openxmlformats.org/drawingml/2006/main" xmlns:r="http://schemas.openxmlformats.org/officeDocument/2006/relationships">
        <p:nvSpPr>
          <p:cNvPr id="39" name="Text 56"/>
          <p:cNvSpPr txBox="1"/>
          <p:nvPr/>
        </p:nvSpPr>
        <p:spPr>
          <a:xfrm>
            <a:off x="1810512" y="7247572"/>
            <a:ext cx="11704320" cy="731520"/>
          </a:xfrm>
          <a:prstGeom prst="rect">
            <a:avLst/>
          </a:prstGeom>
          <a:noFill/>
          <a:ln/>
        </p:spPr>
        <p:txBody>
          <a:bodyPr wrap="square" lIns="25400" tIns="25400" rIns="25400" bIns="25400" rtlCol="0" anchor="t">
            <a:noAutofit/>
          </a:bodyPr>
          <a:lstStyle/>
          <a:p>
            <a:pPr algn="l" indent="0" marL="0">
              <a:buNone/>
            </a:pPr>
            <a:r>
              <a:rPr lang="en-US" sz="1800" i="1" dirty="0">
                <a:solidFill>
                  <a:srgbClr val="404040"/>
                </a:solidFill>
                <a:latin typeface="+mn-lt"/>
                <a:ea typeface="+mn-ea"/>
                <a:cs typeface="+mn-cs"/>
              </a:rPr>
              <a:t>Plans and limits change often. Check each tool’s current plan page, and use the tools your organization approves.</a:t>
            </a:r>
            <a:endParaRPr lang="en-US" sz="1800" dirty="0"/>
          </a:p>
        </p:txBody>
      </p:sp>
      <p:sp xmlns:p="http://schemas.openxmlformats.org/presentationml/2006/main" xmlns:a="http://schemas.openxmlformats.org/drawingml/2006/main" xmlns:r="http://schemas.openxmlformats.org/officeDocument/2006/relationships">
        <p:nvSpPr>
          <p:cNvPr id="40" name="Nav highlight"/>
          <p:cNvSpPr txBox="1"/>
          <p:nvPr userDrawn="1"/>
        </p:nvSpPr>
        <p:spPr>
          <a:xfrm>
            <a:off x="133350" y="2762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Concepts</a:t>
            </a:r>
            <a:endParaRPr lang="en-US" sz="1800" b="1" dirty="0"/>
          </a:p>
        </p:txBody>
      </p:sp>
      <p:sp xmlns:p="http://schemas.openxmlformats.org/presentationml/2006/main" xmlns:a="http://schemas.openxmlformats.org/drawingml/2006/main" xmlns:r="http://schemas.openxmlformats.org/officeDocument/2006/relationships">
        <p:nvSpPr>
          <p:cNvPr id="41"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2</a:t>
            </a:r>
            <a:endParaRPr lang="en-US" sz="1800" dirty="0"/>
          </a:p>
        </p:txBody>
      </p:sp>
      <p:sp xmlns:p="http://schemas.openxmlformats.org/presentationml/2006/main" xmlns:a="http://schemas.openxmlformats.org/drawingml/2006/main" xmlns:r="http://schemas.openxmlformats.org/officeDocument/2006/relationships">
        <p:nvSpPr>
          <p:cNvPr id="42" name="Slide Numb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xmlns:p="http://schemas.openxmlformats.org/presentationml/2006/main" xmlns:a="http://schemas.openxmlformats.org/drawingml/2006/main" xmlns:r="http://schemas.openxmlformats.org/officeDocument/2006/relationships">
        <p:nvSpPr>
          <p:cNvPr id="2" name="Title"/>
          <p:cNvSpPr>
            <a:spLocks noGrp="1"/>
          </p:cNvSpPr>
          <p:nvPr>
            <p:ph type="title"/>
          </p:nvPr>
        </p:nvSpPr>
        <p:spPr/>
        <p:txBody>
          <a:bodyPr/>
          <a:lstStyle/>
          <a:p>
            <a:r>
              <a:rPr lang="en-US" dirty="0"/>
              <a:t>Example: Distributed Load</a:t>
            </a:r>
            <a:endParaRPr lang="en-US" dirty="0"/>
          </a:p>
        </p:txBody>
      </p:sp>
      <p:sp xmlns:p="http://schemas.openxmlformats.org/presentationml/2006/main" xmlns:a="http://schemas.openxmlformats.org/drawingml/2006/main" xmlns:r="http://schemas.openxmlformats.org/officeDocument/2006/relationships">
        <p:nvSpPr>
          <p:cNvPr id="3" name="Shape 20"/>
          <p:cNvSpPr/>
          <p:nvPr/>
        </p:nvSpPr>
        <p:spPr>
          <a:xfrm>
            <a:off x="1810512" y="1527048"/>
            <a:ext cx="1220724" cy="381305"/>
          </a:xfrm>
          <a:prstGeom prst="roundRect">
            <a:avLst>
              <a:gd name="adj" fmla="val 15000"/>
            </a:avLst>
          </a:prstGeom>
          <a:solidFill>
            <a:srgbClr val="152A47"/>
          </a:solidFill>
          <a:ln/>
        </p:spPr>
      </p:sp>
      <p:sp xmlns:p="http://schemas.openxmlformats.org/presentationml/2006/main" xmlns:a="http://schemas.openxmlformats.org/drawingml/2006/main" xmlns:r="http://schemas.openxmlformats.org/officeDocument/2006/relationships">
        <p:nvSpPr>
          <p:cNvPr id="4" name="Text 21"/>
          <p:cNvSpPr txBox="1"/>
          <p:nvPr/>
        </p:nvSpPr>
        <p:spPr>
          <a:xfrm>
            <a:off x="1837944" y="1563624"/>
            <a:ext cx="1165860" cy="342900"/>
          </a:xfrm>
          <a:prstGeom prst="rect">
            <a:avLst/>
          </a:prstGeom>
          <a:noFill/>
          <a:ln/>
        </p:spPr>
        <p:txBody>
          <a:bodyPr wrap="square" lIns="25400" tIns="25400" rIns="25400" bIns="25400" rtlCol="0" anchor="t">
            <a:noAutofit/>
          </a:bodyPr>
          <a:lstStyle/>
          <a:p>
            <a:pPr algn="ctr" indent="0" marL="0">
              <a:buNone/>
            </a:pPr>
            <a:r>
              <a:rPr lang="en-US" sz="1800" b="1" dirty="0">
                <a:solidFill>
                  <a:srgbClr val="FFFFFF"/>
                </a:solidFill>
                <a:latin typeface="+mn-lt"/>
                <a:ea typeface="+mn-ea"/>
                <a:cs typeface="+mn-cs"/>
              </a:rPr>
              <a:t>SPECIFY</a:t>
            </a:r>
            <a:endParaRPr lang="en-US" sz="1800" dirty="0"/>
          </a:p>
        </p:txBody>
      </p:sp>
      <p:sp xmlns:p="http://schemas.openxmlformats.org/presentationml/2006/main" xmlns:a="http://schemas.openxmlformats.org/drawingml/2006/main" xmlns:r="http://schemas.openxmlformats.org/officeDocument/2006/relationships">
        <p:nvSpPr>
          <p:cNvPr id="5" name="Text 22"/>
          <p:cNvSpPr txBox="1"/>
          <p:nvPr/>
        </p:nvSpPr>
        <p:spPr>
          <a:xfrm>
            <a:off x="1810512" y="2148840"/>
            <a:ext cx="6949440" cy="365760"/>
          </a:xfrm>
          <a:prstGeom prst="rect">
            <a:avLst/>
          </a:prstGeom>
          <a:noFill/>
          <a:ln/>
        </p:spPr>
        <p:txBody>
          <a:bodyPr wrap="square" lIns="25400" tIns="25400" rIns="25400" bIns="25400" rtlCol="0" anchor="t">
            <a:noAutofit/>
          </a:bodyPr>
          <a:lstStyle/>
          <a:p>
            <a:pPr algn="l" indent="0" marL="0">
              <a:buNone/>
            </a:pPr>
            <a:r>
              <a:rPr lang="en-US" sz="1600" b="1" dirty="0">
                <a:solidFill>
                  <a:srgbClr val="404040"/>
                </a:solidFill>
                <a:latin typeface="+mn-lt"/>
                <a:ea typeface="+mn-ea"/>
                <a:cs typeface="+mn-cs"/>
              </a:rPr>
              <a:t>STARTING POINT</a:t>
            </a:r>
            <a:endParaRPr lang="en-US" sz="1600" dirty="0"/>
          </a:p>
        </p:txBody>
      </p:sp>
      <p:sp xmlns:p="http://schemas.openxmlformats.org/presentationml/2006/main" xmlns:a="http://schemas.openxmlformats.org/drawingml/2006/main" xmlns:r="http://schemas.openxmlformats.org/officeDocument/2006/relationships">
        <p:nvSpPr>
          <p:cNvPr id="6" name="Text 23"/>
          <p:cNvSpPr txBox="1"/>
          <p:nvPr/>
        </p:nvSpPr>
        <p:spPr>
          <a:xfrm>
            <a:off x="1810512" y="2514600"/>
            <a:ext cx="6949440" cy="1097280"/>
          </a:xfrm>
          <a:prstGeom prst="rect">
            <a:avLst/>
          </a:prstGeom>
          <a:noFill/>
          <a:ln/>
        </p:spPr>
        <p:txBody>
          <a:bodyPr wrap="square" lIns="25400" tIns="25400" rIns="25400" bIns="25400" rtlCol="0" anchor="t">
            <a:noAutofit/>
          </a:bodyPr>
          <a:lstStyle/>
          <a:p>
            <a:pPr algn="l" indent="0" marL="0">
              <a:buNone/>
            </a:pPr>
            <a:r>
              <a:rPr lang="en-US" sz="1900" dirty="0">
                <a:solidFill>
                  <a:srgbClr val="000000"/>
                </a:solidFill>
                <a:latin typeface="+mn-lt"/>
                <a:ea typeface="+mn-ea"/>
                <a:cs typeface="+mn-cs"/>
              </a:rPr>
              <a:t xml:space="preserve">Your </a:t>
            </a:r>
            <a:r>
              <a:rPr lang="en-US" sz="1900" b="1" dirty="0">
                <a:solidFill>
                  <a:srgbClr val="000000"/>
                </a:solidFill>
                <a:latin typeface="+mn-lt"/>
                <a:ea typeface="+mn-ea"/>
                <a:cs typeface="+mn-cs"/>
              </a:rPr>
              <a:t>beam-calc</a:t>
            </a:r>
            <a:r>
              <a:rPr lang="en-US" sz="1900" dirty="0">
                <a:solidFill>
                  <a:srgbClr val="000000"/>
                </a:solidFill>
                <a:latin typeface="+mn-lt"/>
                <a:ea typeface="+mn-ea"/>
                <a:cs typeface="+mn-cs"/>
              </a:rPr>
              <a:t xml:space="preserve"> repo from Lesson 1. </a:t>
            </a:r>
            <a:r>
              <a:rPr lang="en-US" sz="1900" dirty="0">
                <a:solidFill>
                  <a:srgbClr val="000000"/>
                </a:solidFill>
                <a:latin typeface="Consolas" pitchFamily="34" charset="0"/>
                <a:ea typeface="Consolas" pitchFamily="34" charset="-122"/>
                <a:cs typeface="Consolas" pitchFamily="34" charset="-120"/>
              </a:rPr>
              <a:t>beam.m</a:t>
            </a:r>
            <a:r>
              <a:rPr lang="en-US" sz="1900" dirty="0">
                <a:solidFill>
                  <a:srgbClr val="000000"/>
                </a:solidFill>
                <a:latin typeface="+mn-lt"/>
                <a:ea typeface="+mn-ea"/>
                <a:cs typeface="+mn-cs"/>
              </a:rPr>
              <a:t xml:space="preserve"> computes cantilever tip deflection for a point load; </a:t>
            </a:r>
            <a:r>
              <a:rPr lang="en-US" sz="1900" dirty="0">
                <a:solidFill>
                  <a:srgbClr val="000000"/>
                </a:solidFill>
                <a:latin typeface="Consolas" pitchFamily="34" charset="0"/>
                <a:ea typeface="Consolas" pitchFamily="34" charset="-122"/>
                <a:cs typeface="Consolas" pitchFamily="34" charset="-120"/>
              </a:rPr>
              <a:t>tests/testBeam.m</a:t>
            </a:r>
            <a:r>
              <a:rPr lang="en-US" sz="1900" dirty="0">
                <a:solidFill>
                  <a:srgbClr val="000000"/>
                </a:solidFill>
                <a:latin typeface="+mn-lt"/>
                <a:ea typeface="+mn-ea"/>
                <a:cs typeface="+mn-cs"/>
              </a:rPr>
              <a:t xml:space="preserve"> checks it.</a:t>
            </a:r>
            <a:endParaRPr lang="en-US" sz="1900" dirty="0"/>
          </a:p>
        </p:txBody>
      </p:sp>
      <p:sp xmlns:p="http://schemas.openxmlformats.org/presentationml/2006/main" xmlns:a="http://schemas.openxmlformats.org/drawingml/2006/main" xmlns:r="http://schemas.openxmlformats.org/officeDocument/2006/relationships">
        <p:nvSpPr>
          <p:cNvPr id="7" name="Text 24"/>
          <p:cNvSpPr txBox="1"/>
          <p:nvPr/>
        </p:nvSpPr>
        <p:spPr>
          <a:xfrm>
            <a:off x="1810512" y="3657600"/>
            <a:ext cx="6949440" cy="365760"/>
          </a:xfrm>
          <a:prstGeom prst="rect">
            <a:avLst/>
          </a:prstGeom>
          <a:noFill/>
          <a:ln/>
        </p:spPr>
        <p:txBody>
          <a:bodyPr wrap="square" lIns="25400" tIns="25400" rIns="25400" bIns="25400" rtlCol="0" anchor="t">
            <a:noAutofit/>
          </a:bodyPr>
          <a:lstStyle/>
          <a:p>
            <a:pPr algn="l" indent="0" marL="0">
              <a:buNone/>
            </a:pPr>
            <a:r>
              <a:rPr lang="en-US" sz="1600" b="1" dirty="0">
                <a:solidFill>
                  <a:srgbClr val="404040"/>
                </a:solidFill>
                <a:latin typeface="+mn-lt"/>
                <a:ea typeface="+mn-ea"/>
                <a:cs typeface="+mn-cs"/>
              </a:rPr>
              <a:t>REQUIREMENT</a:t>
            </a:r>
            <a:endParaRPr lang="en-US" sz="1600" dirty="0"/>
          </a:p>
        </p:txBody>
      </p:sp>
      <p:sp xmlns:p="http://schemas.openxmlformats.org/presentationml/2006/main" xmlns:a="http://schemas.openxmlformats.org/drawingml/2006/main" xmlns:r="http://schemas.openxmlformats.org/officeDocument/2006/relationships">
        <p:nvSpPr>
          <p:cNvPr id="8" name="Text 25"/>
          <p:cNvSpPr txBox="1"/>
          <p:nvPr/>
        </p:nvSpPr>
        <p:spPr>
          <a:xfrm>
            <a:off x="1810512" y="4023360"/>
            <a:ext cx="6949440" cy="1737360"/>
          </a:xfrm>
          <a:prstGeom prst="rect">
            <a:avLst/>
          </a:prstGeom>
          <a:noFill/>
          <a:ln/>
        </p:spPr>
        <p:txBody>
          <a:bodyPr wrap="square" lIns="25400" tIns="25400" rIns="25400" bIns="25400" rtlCol="0" anchor="t">
            <a:noAutofit/>
          </a:bodyPr>
          <a:lstStyle/>
          <a:p>
            <a:pPr algn="l" indent="0" marL="0">
              <a:buNone/>
            </a:pPr>
            <a:r>
              <a:rPr lang="en-US" sz="1900" b="1" dirty="0">
                <a:solidFill>
                  <a:srgbClr val="000000"/>
                </a:solidFill>
                <a:latin typeface="+mn-lt"/>
                <a:ea typeface="+mn-ea"/>
                <a:cs typeface="+mn-cs"/>
              </a:rPr>
              <a:t>beam-calc shall compute the tip deflection for a uniformly distributed load w (N/m) with a function tipDeflectionUDL(w, L, E, I), and beam.m shall print it below the point-load result.</a:t>
            </a:r>
            <a:endParaRPr lang="en-US" sz="1900" dirty="0"/>
          </a:p>
        </p:txBody>
      </p:sp>
      <p:sp xmlns:p="http://schemas.openxmlformats.org/presentationml/2006/main" xmlns:a="http://schemas.openxmlformats.org/drawingml/2006/main" xmlns:r="http://schemas.openxmlformats.org/officeDocument/2006/relationships">
        <p:nvSpPr>
          <p:cNvPr id="9" name="Text 26"/>
          <p:cNvSpPr txBox="1"/>
          <p:nvPr/>
        </p:nvSpPr>
        <p:spPr>
          <a:xfrm>
            <a:off x="1810512" y="5760720"/>
            <a:ext cx="6949440" cy="365760"/>
          </a:xfrm>
          <a:prstGeom prst="rect">
            <a:avLst/>
          </a:prstGeom>
          <a:noFill/>
          <a:ln/>
        </p:spPr>
        <p:txBody>
          <a:bodyPr wrap="square" lIns="25400" tIns="25400" rIns="25400" bIns="25400" rtlCol="0" anchor="t">
            <a:noAutofit/>
          </a:bodyPr>
          <a:lstStyle/>
          <a:p>
            <a:pPr algn="l" indent="0" marL="0">
              <a:buNone/>
            </a:pPr>
            <a:r>
              <a:rPr lang="en-US" sz="1600" b="1" dirty="0">
                <a:solidFill>
                  <a:srgbClr val="404040"/>
                </a:solidFill>
                <a:latin typeface="+mn-lt"/>
                <a:ea typeface="+mn-ea"/>
                <a:cs typeface="+mn-cs"/>
              </a:rPr>
              <a:t>VERIFICATION</a:t>
            </a:r>
            <a:endParaRPr lang="en-US" sz="1600" dirty="0"/>
          </a:p>
        </p:txBody>
      </p:sp>
      <p:sp xmlns:p="http://schemas.openxmlformats.org/presentationml/2006/main" xmlns:a="http://schemas.openxmlformats.org/drawingml/2006/main" xmlns:r="http://schemas.openxmlformats.org/officeDocument/2006/relationships">
        <p:nvSpPr>
          <p:cNvPr id="10" name="Text 27"/>
          <p:cNvSpPr txBox="1"/>
          <p:nvPr/>
        </p:nvSpPr>
        <p:spPr>
          <a:xfrm>
            <a:off x="1810512" y="6126480"/>
            <a:ext cx="6949440" cy="1463040"/>
          </a:xfrm>
          <a:prstGeom prst="rect">
            <a:avLst/>
          </a:prstGeom>
          <a:noFill/>
          <a:ln/>
        </p:spPr>
        <p:txBody>
          <a:bodyPr wrap="square" lIns="25400" tIns="25400" rIns="25400" bIns="25400" rtlCol="0" anchor="t">
            <a:noAutofit/>
          </a:bodyPr>
          <a:lstStyle/>
          <a:p>
            <a:pPr algn="l" indent="0" marL="0">
              <a:buNone/>
            </a:pPr>
            <a:r>
              <a:rPr lang="en-US" sz="1900" dirty="0">
                <a:solidFill>
                  <a:srgbClr val="000000"/>
                </a:solidFill>
                <a:latin typeface="+mn-lt"/>
                <a:ea typeface="+mn-ea"/>
                <a:cs typeface="+mn-cs"/>
              </a:rPr>
              <a:t xml:space="preserve">Test: a new case in </a:t>
            </a:r>
            <a:r>
              <a:rPr lang="en-US" sz="1900" dirty="0">
                <a:solidFill>
                  <a:srgbClr val="000000"/>
                </a:solidFill>
                <a:latin typeface="Consolas" pitchFamily="34" charset="0"/>
                <a:ea typeface="Consolas" pitchFamily="34" charset="-122"/>
                <a:cs typeface="Consolas" pitchFamily="34" charset="-120"/>
              </a:rPr>
              <a:t>tests/testBeam.m</a:t>
            </a:r>
            <a:r>
              <a:rPr lang="en-US" sz="1900" dirty="0">
                <a:solidFill>
                  <a:srgbClr val="000000"/>
                </a:solidFill>
                <a:latin typeface="+mn-lt"/>
                <a:ea typeface="+mn-ea"/>
                <a:cs typeface="+mn-cs"/>
              </a:rPr>
              <a:t xml:space="preserve"> matches the hand calculation within 0.1%, and </a:t>
            </a:r>
            <a:r>
              <a:rPr lang="en-US" sz="1900" dirty="0">
                <a:solidFill>
                  <a:srgbClr val="000000"/>
                </a:solidFill>
                <a:latin typeface="Consolas" pitchFamily="34" charset="0"/>
                <a:ea typeface="Consolas" pitchFamily="34" charset="-122"/>
                <a:cs typeface="Consolas" pitchFamily="34" charset="-120"/>
              </a:rPr>
              <a:t>runtests('tests')</a:t>
            </a:r>
            <a:r>
              <a:rPr lang="en-US" sz="1900" dirty="0">
                <a:solidFill>
                  <a:srgbClr val="000000"/>
                </a:solidFill>
                <a:latin typeface="+mn-lt"/>
                <a:ea typeface="+mn-ea"/>
                <a:cs typeface="+mn-cs"/>
              </a:rPr>
              <a:t xml:space="preserve"> passes in MATLAB. The point-load result is unchanged.</a:t>
            </a:r>
            <a:endParaRPr lang="en-US" sz="1900" dirty="0"/>
          </a:p>
        </p:txBody>
      </p:sp>
      <p:sp xmlns:p="http://schemas.openxmlformats.org/presentationml/2006/main" xmlns:a="http://schemas.openxmlformats.org/drawingml/2006/main" xmlns:r="http://schemas.openxmlformats.org/officeDocument/2006/relationships">
        <p:nvSpPr>
          <p:cNvPr id="11" name="Shape 28"/>
          <p:cNvSpPr/>
          <p:nvPr/>
        </p:nvSpPr>
        <p:spPr>
          <a:xfrm>
            <a:off x="9098280" y="1527048"/>
            <a:ext cx="4389120" cy="2926080"/>
          </a:xfrm>
          <a:prstGeom prst="rect">
            <a:avLst/>
          </a:prstGeom>
          <a:solidFill>
            <a:srgbClr val="F2F2F2"/>
          </a:solidFill>
          <a:ln/>
        </p:spPr>
      </p:sp>
      <p:sp xmlns:p="http://schemas.openxmlformats.org/presentationml/2006/main" xmlns:a="http://schemas.openxmlformats.org/drawingml/2006/main" xmlns:r="http://schemas.openxmlformats.org/officeDocument/2006/relationships">
        <p:nvSpPr>
          <p:cNvPr id="12" name="Text 29"/>
          <p:cNvSpPr txBox="1"/>
          <p:nvPr/>
        </p:nvSpPr>
        <p:spPr>
          <a:xfrm>
            <a:off x="9299448" y="1691640"/>
            <a:ext cx="4023360" cy="384048"/>
          </a:xfrm>
          <a:prstGeom prst="rect">
            <a:avLst/>
          </a:prstGeom>
          <a:noFill/>
          <a:ln/>
        </p:spPr>
        <p:txBody>
          <a:bodyPr wrap="square" lIns="25400" tIns="25400" rIns="25400" bIns="25400" rtlCol="0" anchor="t">
            <a:noAutofit/>
          </a:bodyPr>
          <a:lstStyle/>
          <a:p>
            <a:pPr algn="l" indent="0" marL="0">
              <a:buNone/>
            </a:pPr>
            <a:r>
              <a:rPr lang="en-US" sz="1900" b="1" dirty="0">
                <a:solidFill>
                  <a:srgbClr val="152A47"/>
                </a:solidFill>
                <a:latin typeface="+mn-lt"/>
                <a:ea typeface="+mn-ea"/>
                <a:cs typeface="+mn-cs"/>
              </a:rPr>
              <a:t>Theory</a:t>
            </a:r>
            <a:endParaRPr lang="en-US" sz="1900" dirty="0"/>
          </a:p>
        </p:txBody>
      </p:sp>
      <p:sp xmlns:p="http://schemas.openxmlformats.org/presentationml/2006/main" xmlns:a="http://schemas.openxmlformats.org/drawingml/2006/main" xmlns:r="http://schemas.openxmlformats.org/officeDocument/2006/relationships">
        <p:nvSpPr>
          <p:cNvPr id="13" name="Text 30"/>
          <p:cNvSpPr txBox="1"/>
          <p:nvPr/>
        </p:nvSpPr>
        <p:spPr>
          <a:xfrm>
            <a:off x="9299448" y="2148840"/>
            <a:ext cx="4023360" cy="502920"/>
          </a:xfrm>
          <a:prstGeom prst="rect">
            <a:avLst/>
          </a:prstGeom>
          <a:noFill/>
          <a:ln/>
        </p:spPr>
        <p:txBody>
          <a:bodyPr wrap="square" lIns="25400" tIns="25400" rIns="25400" bIns="25400" rtlCol="0" anchor="t">
            <a:noAutofit/>
          </a:bodyPr>
          <a:lstStyle/>
          <a:p>
            <a:pPr algn="l" indent="0" marL="0">
              <a:buNone/>
            </a:pPr>
            <a:r>
              <a:rPr lang="en-US" sz="1900" dirty="0">
                <a:solidFill>
                  <a:srgbClr val="000000"/>
                </a:solidFill>
                <a:latin typeface="+mn-lt"/>
                <a:ea typeface="+mn-ea"/>
                <a:cs typeface="+mn-cs"/>
              </a:rPr>
              <a:t>Point load:   δ = P L³ / (3 E I)</a:t>
            </a:r>
            <a:endParaRPr lang="en-US" sz="1900" dirty="0"/>
          </a:p>
        </p:txBody>
      </p:sp>
      <p:sp xmlns:p="http://schemas.openxmlformats.org/presentationml/2006/main" xmlns:a="http://schemas.openxmlformats.org/drawingml/2006/main" xmlns:r="http://schemas.openxmlformats.org/officeDocument/2006/relationships">
        <p:nvSpPr>
          <p:cNvPr id="14" name="Text 31"/>
          <p:cNvSpPr txBox="1"/>
          <p:nvPr/>
        </p:nvSpPr>
        <p:spPr>
          <a:xfrm>
            <a:off x="9299448" y="2670048"/>
            <a:ext cx="4023360" cy="502920"/>
          </a:xfrm>
          <a:prstGeom prst="rect">
            <a:avLst/>
          </a:prstGeom>
          <a:noFill/>
          <a:ln/>
        </p:spPr>
        <p:txBody>
          <a:bodyPr wrap="square" lIns="25400" tIns="25400" rIns="25400" bIns="25400" rtlCol="0" anchor="t">
            <a:noAutofit/>
          </a:bodyPr>
          <a:lstStyle/>
          <a:p>
            <a:pPr algn="l" indent="0" marL="0">
              <a:buNone/>
            </a:pPr>
            <a:r>
              <a:rPr lang="en-US" sz="1900" b="1" dirty="0">
                <a:solidFill>
                  <a:srgbClr val="000000"/>
                </a:solidFill>
                <a:latin typeface="+mn-lt"/>
                <a:ea typeface="+mn-ea"/>
                <a:cs typeface="+mn-cs"/>
              </a:rPr>
              <a:t>Distributed:  δ = w L⁴ / (8 E I)</a:t>
            </a:r>
            <a:endParaRPr lang="en-US" sz="1900" dirty="0"/>
          </a:p>
        </p:txBody>
      </p:sp>
      <p:sp xmlns:p="http://schemas.openxmlformats.org/presentationml/2006/main" xmlns:a="http://schemas.openxmlformats.org/drawingml/2006/main" xmlns:r="http://schemas.openxmlformats.org/officeDocument/2006/relationships">
        <p:nvSpPr>
          <p:cNvPr id="15" name="Text 32"/>
          <p:cNvSpPr txBox="1"/>
          <p:nvPr/>
        </p:nvSpPr>
        <p:spPr>
          <a:xfrm>
            <a:off x="9299448" y="3291840"/>
            <a:ext cx="4023360" cy="1005840"/>
          </a:xfrm>
          <a:prstGeom prst="rect">
            <a:avLst/>
          </a:prstGeom>
          <a:noFill/>
          <a:ln/>
        </p:spPr>
        <p:txBody>
          <a:bodyPr wrap="square" lIns="25400" tIns="25400" rIns="25400" bIns="25400" rtlCol="0" anchor="t">
            <a:noAutofit/>
          </a:bodyPr>
          <a:lstStyle/>
          <a:p>
            <a:pPr algn="l" indent="0" marL="0">
              <a:buNone/>
            </a:pPr>
            <a:r>
              <a:rPr lang="en-US" sz="1700" dirty="0">
                <a:solidFill>
                  <a:srgbClr val="404040"/>
                </a:solidFill>
                <a:latin typeface="+mn-lt"/>
                <a:ea typeface="+mn-ea"/>
                <a:cs typeface="+mn-cs"/>
              </a:rPr>
              <a:t>Same beam, P = wL: the distributed result is 3/8 of the point-load result.</a:t>
            </a:r>
            <a:endParaRPr lang="en-US" sz="1700" dirty="0"/>
          </a:p>
        </p:txBody>
      </p:sp>
      <p:sp xmlns:p="http://schemas.openxmlformats.org/presentationml/2006/main" xmlns:a="http://schemas.openxmlformats.org/drawingml/2006/main" xmlns:r="http://schemas.openxmlformats.org/officeDocument/2006/relationships">
        <p:nvSpPr>
          <p:cNvPr id="16" name="Shape 33"/>
          <p:cNvSpPr/>
          <p:nvPr/>
        </p:nvSpPr>
        <p:spPr>
          <a:xfrm>
            <a:off x="9098280" y="4709160"/>
            <a:ext cx="4389120" cy="2277427"/>
          </a:xfrm>
          <a:prstGeom prst="roundRect">
            <a:avLst>
              <a:gd name="adj" fmla="val 9033"/>
            </a:avLst>
          </a:prstGeom>
          <a:solidFill>
            <a:srgbClr val="1E1E1E"/>
          </a:solidFill>
          <a:ln/>
        </p:spPr>
      </p:sp>
      <p:sp xmlns:p="http://schemas.openxmlformats.org/presentationml/2006/main" xmlns:a="http://schemas.openxmlformats.org/drawingml/2006/main" xmlns:r="http://schemas.openxmlformats.org/officeDocument/2006/relationships">
        <p:nvSpPr>
          <p:cNvPr id="17" name="Text 34"/>
          <p:cNvSpPr txBox="1"/>
          <p:nvPr/>
        </p:nvSpPr>
        <p:spPr>
          <a:xfrm>
            <a:off x="9326880" y="4937760"/>
            <a:ext cx="3931920" cy="1820227"/>
          </a:xfrm>
          <a:prstGeom prst="rect">
            <a:avLst/>
          </a:prstGeom>
          <a:noFill/>
          <a:ln/>
        </p:spPr>
        <p:txBody>
          <a:bodyPr wrap="none" lIns="25400" tIns="25400" rIns="25400" bIns="25400" rtlCol="0" anchor="t">
            <a:noAutofit/>
          </a:bodyPr>
          <a:lstStyle/>
          <a:p>
            <a:pPr algn="l" indent="0" marL="0">
              <a:lnSpc>
                <a:spcPct val="135000"/>
              </a:lnSpc>
              <a:buNone/>
            </a:pPr>
            <a:r>
              <a:rPr lang="en-US" sz="1700" dirty="0">
                <a:solidFill>
                  <a:srgbClr val="6A9955"/>
                </a:solidFill>
                <a:latin typeface="Consolas" pitchFamily="34" charset="0"/>
                <a:ea typeface="Consolas" pitchFamily="34" charset="-122"/>
                <a:cs typeface="Consolas" pitchFamily="34" charset="-120"/>
              </a:rPr>
              <a:t>% Hand check</a:t>
            </a:r>
            <a:endParaRPr lang="en-US" sz="1700" dirty="0"/>
          </a:p>
          <a:p>
            <a:pPr algn="l" indent="0" marL="0">
              <a:lnSpc>
                <a:spcPct val="135000"/>
              </a:lnSpc>
              <a:buNone/>
            </a:pPr>
            <a:r>
              <a:rPr lang="en-US" sz="1700" dirty="0">
                <a:solidFill>
                  <a:srgbClr val="D4D4D4"/>
                </a:solidFill>
                <a:latin typeface="Consolas" pitchFamily="34" charset="0"/>
                <a:ea typeface="Consolas" pitchFamily="34" charset="-122"/>
                <a:cs typeface="Consolas" pitchFamily="34" charset="-120"/>
              </a:rPr>
              <a:t>w = 1000;  L = 2.0;</a:t>
            </a:r>
            <a:endParaRPr lang="en-US" sz="1700" dirty="0"/>
          </a:p>
          <a:p>
            <a:pPr algn="l" indent="0" marL="0">
              <a:lnSpc>
                <a:spcPct val="135000"/>
              </a:lnSpc>
              <a:buNone/>
            </a:pPr>
            <a:r>
              <a:rPr lang="en-US" sz="1700" dirty="0">
                <a:solidFill>
                  <a:srgbClr val="D4D4D4"/>
                </a:solidFill>
                <a:latin typeface="Consolas" pitchFamily="34" charset="0"/>
                <a:ea typeface="Consolas" pitchFamily="34" charset="-122"/>
                <a:cs typeface="Consolas" pitchFamily="34" charset="-120"/>
              </a:rPr>
              <a:t>E = 200e9;</a:t>
            </a:r>
            <a:endParaRPr lang="en-US" sz="1700" dirty="0"/>
          </a:p>
          <a:p>
            <a:pPr algn="l" indent="0" marL="0">
              <a:lnSpc>
                <a:spcPct val="135000"/>
              </a:lnSpc>
              <a:buNone/>
            </a:pPr>
            <a:r>
              <a:rPr lang="en-US" sz="1700" dirty="0">
                <a:solidFill>
                  <a:srgbClr val="D4D4D4"/>
                </a:solidFill>
                <a:latin typeface="Consolas" pitchFamily="34" charset="0"/>
                <a:ea typeface="Consolas" pitchFamily="34" charset="-122"/>
                <a:cs typeface="Consolas" pitchFamily="34" charset="-120"/>
              </a:rPr>
              <a:t>I = 0.05*0.10^3/12;</a:t>
            </a:r>
            <a:endParaRPr lang="en-US" sz="1700" dirty="0"/>
          </a:p>
          <a:p>
            <a:pPr algn="l" indent="0" marL="0">
              <a:lnSpc>
                <a:spcPct val="135000"/>
              </a:lnSpc>
              <a:buNone/>
            </a:pPr>
            <a:r>
              <a:rPr lang="en-US" sz="1700" dirty="0">
                <a:solidFill>
                  <a:srgbClr val="89D185"/>
                </a:solidFill>
                <a:latin typeface="Consolas" pitchFamily="34" charset="0"/>
                <a:ea typeface="Consolas" pitchFamily="34" charset="-122"/>
                <a:cs typeface="Consolas" pitchFamily="34" charset="-120"/>
              </a:rPr>
              <a:t>% δ = 2.40 mm</a:t>
            </a:r>
            <a:endParaRPr lang="en-US" sz="1700" dirty="0"/>
          </a:p>
        </p:txBody>
      </p:sp>
      <p:sp xmlns:p="http://schemas.openxmlformats.org/presentationml/2006/main" xmlns:a="http://schemas.openxmlformats.org/drawingml/2006/main" xmlns:r="http://schemas.openxmlformats.org/officeDocument/2006/relationships">
        <p:nvSpPr>
          <p:cNvPr id="18" name="Nav highlight"/>
          <p:cNvSpPr txBox="1"/>
          <p:nvPr userDrawn="1"/>
        </p:nvSpPr>
        <p:spPr>
          <a:xfrm>
            <a:off x="133350" y="3143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Specify</a:t>
            </a:r>
            <a:endParaRPr lang="en-US" sz="1800" b="1" dirty="0"/>
          </a:p>
        </p:txBody>
      </p:sp>
      <p:sp xmlns:p="http://schemas.openxmlformats.org/presentationml/2006/main" xmlns:a="http://schemas.openxmlformats.org/drawingml/2006/main" xmlns:r="http://schemas.openxmlformats.org/officeDocument/2006/relationships">
        <p:nvSpPr>
          <p:cNvPr id="19"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2</a:t>
            </a:r>
            <a:endParaRPr lang="en-US" sz="1800" dirty="0"/>
          </a:p>
        </p:txBody>
      </p:sp>
      <p:sp xmlns:p="http://schemas.openxmlformats.org/presentationml/2006/main" xmlns:a="http://schemas.openxmlformats.org/drawingml/2006/main" xmlns:r="http://schemas.openxmlformats.org/officeDocument/2006/relationships">
        <p:nvSpPr>
          <p:cNvPr id="20" name="Slide Numb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xmlns:p="http://schemas.openxmlformats.org/presentationml/2006/main" xmlns:a="http://schemas.openxmlformats.org/drawingml/2006/main" xmlns:r="http://schemas.openxmlformats.org/officeDocument/2006/relationships">
        <p:nvSpPr>
          <p:cNvPr id="2" name="Title"/>
          <p:cNvSpPr>
            <a:spLocks noGrp="1"/>
          </p:cNvSpPr>
          <p:nvPr>
            <p:ph type="title"/>
          </p:nvPr>
        </p:nvSpPr>
        <p:spPr/>
        <p:txBody>
          <a:bodyPr/>
          <a:lstStyle/>
          <a:p>
            <a:r>
              <a:rPr lang="en-US" dirty="0"/>
              <a:t>Exercise 1: Improve AGENTS.md</a:t>
            </a:r>
            <a:endParaRPr lang="en-US" dirty="0"/>
          </a:p>
        </p:txBody>
      </p:sp>
      <p:sp xmlns:p="http://schemas.openxmlformats.org/presentationml/2006/main" xmlns:a="http://schemas.openxmlformats.org/drawingml/2006/main" xmlns:r="http://schemas.openxmlformats.org/officeDocument/2006/relationships">
        <p:nvSpPr>
          <p:cNvPr id="3" name="Shape 20"/>
          <p:cNvSpPr/>
          <p:nvPr/>
        </p:nvSpPr>
        <p:spPr>
          <a:xfrm>
            <a:off x="1810512" y="1572768"/>
            <a:ext cx="5943600" cy="5843930"/>
          </a:xfrm>
          <a:prstGeom prst="roundRect">
            <a:avLst>
              <a:gd name="adj" fmla="val 3520"/>
            </a:avLst>
          </a:prstGeom>
          <a:solidFill>
            <a:srgbClr val="1E1E1E"/>
          </a:solidFill>
          <a:ln/>
        </p:spPr>
        <p:txBody>
          <a:bodyPr/>
          <a:p/>
        </p:txBody>
      </p:sp>
      <p:sp xmlns:p="http://schemas.openxmlformats.org/presentationml/2006/main" xmlns:a="http://schemas.openxmlformats.org/drawingml/2006/main" xmlns:r="http://schemas.openxmlformats.org/officeDocument/2006/relationships">
        <p:nvSpPr>
          <p:cNvPr id="4" name="Text 21"/>
          <p:cNvSpPr txBox="1"/>
          <p:nvPr/>
        </p:nvSpPr>
        <p:spPr>
          <a:xfrm>
            <a:off x="2039112" y="1801368"/>
            <a:ext cx="5486400" cy="5386730"/>
          </a:xfrm>
          <a:prstGeom prst="rect">
            <a:avLst/>
          </a:prstGeom>
          <a:noFill/>
          <a:ln/>
        </p:spPr>
        <p:txBody>
          <a:bodyPr wrap="none" lIns="25400" tIns="25400" rIns="25400" bIns="25400" rtlCol="0" anchor="t">
            <a:noAutofit/>
          </a:bodyPr>
          <a:lstStyle/>
          <a:p>
            <a:pPr algn="l" indent="0" marL="0">
              <a:lnSpc>
                <a:spcPct val="118000"/>
              </a:lnSpc>
              <a:buNone/>
            </a:pPr>
            <a:r>
              <a:rPr lang="en-US" sz="1600" dirty="0">
                <a:solidFill>
                  <a:srgbClr val="00B0F0"/>
                </a:solidFill>
                <a:latin typeface="Consolas" pitchFamily="34" charset="0"/>
                <a:ea typeface="Consolas" pitchFamily="34" charset="-122"/>
                <a:cs typeface="Consolas" pitchFamily="34" charset="-120"/>
              </a:rPr>
              <a:t># AGENTS.md</a:t>
            </a:r>
            <a:endParaRPr lang="en-US" sz="1600" dirty="0"/>
          </a:p>
          <a:p>
            <a:pPr algn="l" indent="0" marL="0">
              <a:lnSpc>
                <a:spcPct val="118000"/>
              </a:lnSpc>
              <a:buNone/>
            </a:pPr>
            <a:r>
              <a:rPr lang="en-US" sz="1600" dirty="0">
                <a:solidFill>
                  <a:srgbClr val="00B0F0"/>
                </a:solidFill>
                <a:latin typeface="Consolas" pitchFamily="34" charset="0"/>
                <a:ea typeface="Consolas" pitchFamily="34" charset="-122"/>
                <a:cs typeface="Consolas" pitchFamily="34" charset="-120"/>
              </a:rPr>
              <a:t>## Project</a:t>
            </a:r>
            <a:endParaRPr lang="en-US" sz="1600" dirty="0"/>
          </a:p>
          <a:p>
            <a:pPr algn="l" indent="0" marL="0">
              <a:lnSpc>
                <a:spcPct val="118000"/>
              </a:lnSpc>
              <a:buNone/>
            </a:pPr>
            <a:r>
              <a:rPr lang="en-US" sz="1600" dirty="0">
                <a:solidFill>
                  <a:srgbClr val="D4D4D4"/>
                </a:solidFill>
                <a:latin typeface="Consolas" pitchFamily="34" charset="0"/>
                <a:ea typeface="Consolas" pitchFamily="34" charset="-122"/>
                <a:cs typeface="Consolas" pitchFamily="34" charset="-120"/>
              </a:rPr>
              <a:t>- MATLAB R2024b, no toolboxes.</a:t>
            </a:r>
            <a:endParaRPr lang="en-US" sz="1600" dirty="0"/>
          </a:p>
          <a:p>
            <a:pPr algn="l" indent="0" marL="0">
              <a:lnSpc>
                <a:spcPct val="118000"/>
              </a:lnSpc>
              <a:buNone/>
            </a:pPr>
            <a:r>
              <a:rPr lang="en-US" sz="1600" dirty="0">
                <a:solidFill>
                  <a:srgbClr val="00B0F0"/>
                </a:solidFill>
                <a:latin typeface="Consolas" pitchFamily="34" charset="0"/>
                <a:ea typeface="Consolas" pitchFamily="34" charset="-122"/>
                <a:cs typeface="Consolas" pitchFamily="34" charset="-120"/>
              </a:rPr>
              <a:t>## About me</a:t>
            </a:r>
            <a:endParaRPr lang="en-US" sz="1600" dirty="0"/>
          </a:p>
          <a:p>
            <a:pPr algn="l" indent="0" marL="0">
              <a:lnSpc>
                <a:spcPct val="118000"/>
              </a:lnSpc>
              <a:buNone/>
            </a:pPr>
            <a:r>
              <a:rPr lang="en-US" sz="1600" dirty="0">
                <a:solidFill>
                  <a:srgbClr val="D4D4D4"/>
                </a:solidFill>
                <a:latin typeface="Consolas" pitchFamily="34" charset="0"/>
                <a:ea typeface="Consolas" pitchFamily="34" charset="-122"/>
                <a:cs typeface="Consolas" pitchFamily="34" charset="-120"/>
              </a:rPr>
              <a:t>- Instructor. Fluent in MATLAB,</a:t>
            </a:r>
            <a:endParaRPr lang="en-US" sz="1600" dirty="0"/>
          </a:p>
          <a:p>
            <a:pPr algn="l" indent="0" marL="0">
              <a:lnSpc>
                <a:spcPct val="118000"/>
              </a:lnSpc>
              <a:buNone/>
            </a:pPr>
            <a:r>
              <a:rPr lang="en-US" sz="1600" dirty="0">
                <a:solidFill>
                  <a:srgbClr val="D4D4D4"/>
                </a:solidFill>
                <a:latin typeface="Consolas" pitchFamily="34" charset="0"/>
                <a:ea typeface="Consolas" pitchFamily="34" charset="-122"/>
                <a:cs typeface="Consolas" pitchFamily="34" charset="-120"/>
              </a:rPr>
              <a:t>  new to coding agents. Explain</a:t>
            </a:r>
            <a:endParaRPr lang="en-US" sz="1600" dirty="0"/>
          </a:p>
          <a:p>
            <a:pPr algn="l" indent="0" marL="0">
              <a:lnSpc>
                <a:spcPct val="118000"/>
              </a:lnSpc>
              <a:buNone/>
            </a:pPr>
            <a:r>
              <a:rPr lang="en-US" sz="1600" dirty="0">
                <a:solidFill>
                  <a:srgbClr val="D4D4D4"/>
                </a:solidFill>
                <a:latin typeface="Consolas" pitchFamily="34" charset="0"/>
                <a:ea typeface="Consolas" pitchFamily="34" charset="-122"/>
                <a:cs typeface="Consolas" pitchFamily="34" charset="-120"/>
              </a:rPr>
              <a:t>  each change before coding.</a:t>
            </a:r>
            <a:endParaRPr lang="en-US" sz="1600" dirty="0"/>
          </a:p>
          <a:p>
            <a:pPr algn="l" indent="0" marL="0">
              <a:lnSpc>
                <a:spcPct val="118000"/>
              </a:lnSpc>
              <a:buNone/>
            </a:pPr>
            <a:r>
              <a:rPr lang="en-US" sz="1600" dirty="0">
                <a:solidFill>
                  <a:srgbClr val="00B0F0"/>
                </a:solidFill>
                <a:latin typeface="Consolas" pitchFamily="34" charset="0"/>
                <a:ea typeface="Consolas" pitchFamily="34" charset="-122"/>
                <a:cs typeface="Consolas" pitchFamily="34" charset="-120"/>
              </a:rPr>
              <a:t>## Conventions</a:t>
            </a:r>
            <a:endParaRPr lang="en-US" sz="1600" dirty="0"/>
          </a:p>
          <a:p>
            <a:pPr algn="l" indent="0" marL="0">
              <a:lnSpc>
                <a:spcPct val="118000"/>
              </a:lnSpc>
              <a:buNone/>
            </a:pPr>
            <a:r>
              <a:rPr lang="en-US" sz="1600" dirty="0">
                <a:solidFill>
                  <a:srgbClr val="D4D4D4"/>
                </a:solidFill>
                <a:latin typeface="Consolas" pitchFamily="34" charset="0"/>
                <a:ea typeface="Consolas" pitchFamily="34" charset="-122"/>
                <a:cs typeface="Consolas" pitchFamily="34" charset="-120"/>
              </a:rPr>
              <a:t>- SI units; comment the units</a:t>
            </a:r>
            <a:endParaRPr lang="en-US" sz="1600" dirty="0"/>
          </a:p>
          <a:p>
            <a:pPr algn="l" indent="0" marL="0">
              <a:lnSpc>
                <a:spcPct val="118000"/>
              </a:lnSpc>
              <a:buNone/>
            </a:pPr>
            <a:r>
              <a:rPr lang="en-US" sz="1600" dirty="0">
                <a:solidFill>
                  <a:srgbClr val="D4D4D4"/>
                </a:solidFill>
                <a:latin typeface="Consolas" pitchFamily="34" charset="0"/>
                <a:ea typeface="Consolas" pitchFamily="34" charset="-122"/>
                <a:cs typeface="Consolas" pitchFamily="34" charset="-120"/>
              </a:rPr>
              <a:t>  on every constant.</a:t>
            </a:r>
            <a:endParaRPr lang="en-US" sz="1600" dirty="0"/>
          </a:p>
          <a:p>
            <a:pPr algn="l" indent="0" marL="0">
              <a:lnSpc>
                <a:spcPct val="118000"/>
              </a:lnSpc>
              <a:buNone/>
            </a:pPr>
            <a:r>
              <a:rPr lang="en-US" sz="1600" dirty="0">
                <a:solidFill>
                  <a:srgbClr val="D4D4D4"/>
                </a:solidFill>
                <a:latin typeface="Consolas" pitchFamily="34" charset="0"/>
                <a:ea typeface="Consolas" pitchFamily="34" charset="-122"/>
                <a:cs typeface="Consolas" pitchFamily="34" charset="-120"/>
              </a:rPr>
              <a:t>- One function per file.</a:t>
            </a:r>
            <a:endParaRPr lang="en-US" sz="1600" dirty="0"/>
          </a:p>
          <a:p>
            <a:pPr algn="l" indent="0" marL="0">
              <a:lnSpc>
                <a:spcPct val="118000"/>
              </a:lnSpc>
              <a:buNone/>
            </a:pPr>
            <a:r>
              <a:rPr lang="en-US" sz="1600" dirty="0">
                <a:solidFill>
                  <a:srgbClr val="00B0F0"/>
                </a:solidFill>
                <a:latin typeface="Consolas" pitchFamily="34" charset="0"/>
                <a:ea typeface="Consolas" pitchFamily="34" charset="-122"/>
                <a:cs typeface="Consolas" pitchFamily="34" charset="-120"/>
              </a:rPr>
              <a:t>## Environment and checks</a:t>
            </a:r>
            <a:endParaRPr lang="en-US" sz="1600" dirty="0"/>
          </a:p>
          <a:p>
            <a:pPr algn="l" indent="0" marL="0">
              <a:lnSpc>
                <a:spcPct val="118000"/>
              </a:lnSpc>
              <a:buNone/>
            </a:pPr>
            <a:r>
              <a:rPr lang="en-US" sz="1600" dirty="0">
                <a:solidFill>
                  <a:srgbClr val="D4D4D4"/>
                </a:solidFill>
                <a:latin typeface="Consolas" pitchFamily="34" charset="0"/>
                <a:ea typeface="Consolas" pitchFamily="34" charset="-122"/>
                <a:cs typeface="Consolas" pitchFamily="34" charset="-120"/>
              </a:rPr>
              <a:t>- No MATLAB in your cloud</a:t>
            </a:r>
            <a:endParaRPr lang="en-US" sz="1600" dirty="0"/>
          </a:p>
          <a:p>
            <a:pPr algn="l" indent="0" marL="0">
              <a:lnSpc>
                <a:spcPct val="118000"/>
              </a:lnSpc>
              <a:buNone/>
            </a:pPr>
            <a:r>
              <a:rPr lang="en-US" sz="1600" dirty="0">
                <a:solidFill>
                  <a:srgbClr val="D4D4D4"/>
                </a:solidFill>
                <a:latin typeface="Consolas" pitchFamily="34" charset="0"/>
                <a:ea typeface="Consolas" pitchFamily="34" charset="-122"/>
                <a:cs typeface="Consolas" pitchFamily="34" charset="-120"/>
              </a:rPr>
              <a:t>  environment. List the checks</a:t>
            </a:r>
            <a:endParaRPr lang="en-US" sz="1600" dirty="0"/>
          </a:p>
          <a:p>
            <a:pPr algn="l" indent="0" marL="0">
              <a:lnSpc>
                <a:spcPct val="118000"/>
              </a:lnSpc>
              <a:buNone/>
            </a:pPr>
            <a:r>
              <a:rPr lang="en-US" sz="1600" dirty="0">
                <a:solidFill>
                  <a:srgbClr val="D4D4D4"/>
                </a:solidFill>
                <a:latin typeface="Consolas" pitchFamily="34" charset="0"/>
                <a:ea typeface="Consolas" pitchFamily="34" charset="-122"/>
                <a:cs typeface="Consolas" pitchFamily="34" charset="-120"/>
              </a:rPr>
              <a:t>  I must run myself.</a:t>
            </a:r>
            <a:endParaRPr lang="en-US" sz="1600" dirty="0"/>
          </a:p>
          <a:p>
            <a:pPr algn="l" indent="0" marL="0">
              <a:lnSpc>
                <a:spcPct val="118000"/>
              </a:lnSpc>
              <a:buNone/>
            </a:pPr>
            <a:r>
              <a:rPr lang="en-US" sz="1600" dirty="0">
                <a:solidFill>
                  <a:srgbClr val="D4D4D4"/>
                </a:solidFill>
                <a:latin typeface="Consolas" pitchFamily="34" charset="0"/>
                <a:ea typeface="Consolas" pitchFamily="34" charset="-122"/>
                <a:cs typeface="Consolas" pitchFamily="34" charset="-120"/>
              </a:rPr>
              <a:t>- Never change an existing</a:t>
            </a:r>
            <a:endParaRPr lang="en-US" sz="1600" dirty="0"/>
          </a:p>
          <a:p>
            <a:pPr algn="l" indent="0" marL="0">
              <a:lnSpc>
                <a:spcPct val="118000"/>
              </a:lnSpc>
              <a:buNone/>
            </a:pPr>
            <a:r>
              <a:rPr lang="en-US" sz="1600" dirty="0">
                <a:solidFill>
                  <a:srgbClr val="D4D4D4"/>
                </a:solidFill>
                <a:latin typeface="Consolas" pitchFamily="34" charset="0"/>
                <a:ea typeface="Consolas" pitchFamily="34" charset="-122"/>
                <a:cs typeface="Consolas" pitchFamily="34" charset="-120"/>
              </a:rPr>
              <a:t>  result or test without asking.</a:t>
            </a:r>
            <a:endParaRPr lang="en-US" sz="1600" dirty="0"/>
          </a:p>
        </p:txBody>
      </p:sp>
      <p:sp xmlns:p="http://schemas.openxmlformats.org/presentationml/2006/main" xmlns:a="http://schemas.openxmlformats.org/drawingml/2006/main" xmlns:r="http://schemas.openxmlformats.org/officeDocument/2006/relationships">
        <p:nvSpPr>
          <p:cNvPr id="5" name="Shape 22"/>
          <p:cNvSpPr/>
          <p:nvPr/>
        </p:nvSpPr>
        <p:spPr>
          <a:xfrm>
            <a:off x="8138160" y="1572768"/>
            <a:ext cx="1353312" cy="381305"/>
          </a:xfrm>
          <a:prstGeom prst="roundRect">
            <a:avLst>
              <a:gd name="adj" fmla="val 15000"/>
            </a:avLst>
          </a:prstGeom>
          <a:solidFill>
            <a:srgbClr val="595959"/>
          </a:solidFill>
          <a:ln/>
        </p:spPr>
        <p:txBody>
          <a:bodyPr/>
          <a:p/>
        </p:txBody>
      </p:sp>
      <p:sp xmlns:p="http://schemas.openxmlformats.org/presentationml/2006/main" xmlns:a="http://schemas.openxmlformats.org/drawingml/2006/main" xmlns:r="http://schemas.openxmlformats.org/officeDocument/2006/relationships">
        <p:nvSpPr>
          <p:cNvPr id="6" name="Text 23"/>
          <p:cNvSpPr txBox="1"/>
          <p:nvPr/>
        </p:nvSpPr>
        <p:spPr>
          <a:xfrm>
            <a:off x="8165592" y="1609344"/>
            <a:ext cx="1298448" cy="342900"/>
          </a:xfrm>
          <a:prstGeom prst="rect">
            <a:avLst/>
          </a:prstGeom>
          <a:noFill/>
          <a:ln/>
        </p:spPr>
        <p:txBody>
          <a:bodyPr wrap="square" lIns="25400" tIns="25400" rIns="25400" bIns="25400" rtlCol="0" anchor="t">
            <a:noAutofit/>
          </a:bodyPr>
          <a:lstStyle/>
          <a:p>
            <a:pPr algn="ctr" indent="0" marL="0">
              <a:buNone/>
            </a:pPr>
            <a:r>
              <a:rPr lang="en-US" sz="1800" b="1" dirty="0">
                <a:solidFill>
                  <a:srgbClr val="FFFFFF"/>
                </a:solidFill>
                <a:latin typeface="+mn-lt"/>
                <a:ea typeface="+mn-ea"/>
                <a:cs typeface="+mn-cs"/>
              </a:rPr>
              <a:t>EXERCISE</a:t>
            </a:r>
            <a:endParaRPr lang="en-US" sz="1800" dirty="0"/>
          </a:p>
        </p:txBody>
      </p:sp>
      <p:sp xmlns:p="http://schemas.openxmlformats.org/presentationml/2006/main" xmlns:a="http://schemas.openxmlformats.org/drawingml/2006/main" xmlns:r="http://schemas.openxmlformats.org/officeDocument/2006/relationships">
        <p:nvSpPr>
          <p:cNvPr id="7" name="Text 24"/>
          <p:cNvSpPr txBox="1"/>
          <p:nvPr/>
        </p:nvSpPr>
        <p:spPr>
          <a:xfrm>
            <a:off x="8138160" y="2194560"/>
            <a:ext cx="612648" cy="703259"/>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1</a:t>
            </a:r>
            <a:endParaRPr lang="en-US" sz="2200" dirty="0"/>
          </a:p>
        </p:txBody>
      </p:sp>
      <p:sp xmlns:p="http://schemas.openxmlformats.org/presentationml/2006/main" xmlns:a="http://schemas.openxmlformats.org/drawingml/2006/main" xmlns:r="http://schemas.openxmlformats.org/officeDocument/2006/relationships">
        <p:nvSpPr>
          <p:cNvPr id="8" name="Text 25"/>
          <p:cNvSpPr txBox="1"/>
          <p:nvPr/>
        </p:nvSpPr>
        <p:spPr>
          <a:xfrm>
            <a:off x="8668512" y="2194560"/>
            <a:ext cx="4864608" cy="703259"/>
          </a:xfrm>
          <a:prstGeom prst="rect">
            <a:avLst/>
          </a:prstGeom>
          <a:noFill/>
          <a:ln/>
        </p:spPr>
        <p:txBody>
          <a:bodyPr wrap="square" lIns="25400" tIns="25400" rIns="25400" bIns="25400" rtlCol="0" anchor="t">
            <a:noAutofit/>
          </a:bodyPr>
          <a:lstStyle/>
          <a:p>
            <a:pPr algn="l" indent="0" marL="0">
              <a:lnSpc>
                <a:spcPct val="101250"/>
              </a:lnSpc>
              <a:buNone/>
            </a:pPr>
            <a:r>
              <a:rPr lang="en-US" sz="1900" dirty="0">
                <a:solidFill>
                  <a:srgbClr val="000000"/>
                </a:solidFill>
                <a:latin typeface="+mn-lt"/>
                <a:ea typeface="+mn-ea"/>
                <a:cs typeface="+mn-cs"/>
              </a:rPr>
              <a:t xml:space="preserve">In VS Code, open </a:t>
            </a:r>
            <a:r>
              <a:rPr lang="en-US" sz="1900" b="1" dirty="0">
                <a:solidFill>
                  <a:srgbClr val="000000"/>
                </a:solidFill>
                <a:latin typeface="+mn-lt"/>
                <a:ea typeface="+mn-ea"/>
                <a:cs typeface="+mn-cs"/>
              </a:rPr>
              <a:t>AGENTS.md</a:t>
            </a:r>
            <a:r>
              <a:rPr lang="en-US" sz="1900" dirty="0">
                <a:solidFill>
                  <a:srgbClr val="000000"/>
                </a:solidFill>
                <a:latin typeface="+mn-lt"/>
                <a:ea typeface="+mn-ea"/>
                <a:cs typeface="+mn-cs"/>
              </a:rPr>
              <a:t xml:space="preserve"> from Lesson 1. Extend it like the example, adapted to you.</a:t>
            </a:r>
            <a:endParaRPr lang="en-US" sz="1900" dirty="0"/>
          </a:p>
        </p:txBody>
      </p:sp>
      <p:sp xmlns:p="http://schemas.openxmlformats.org/presentationml/2006/main" xmlns:a="http://schemas.openxmlformats.org/drawingml/2006/main" xmlns:r="http://schemas.openxmlformats.org/officeDocument/2006/relationships">
        <p:nvSpPr>
          <p:cNvPr id="9" name="Text 26"/>
          <p:cNvSpPr txBox="1"/>
          <p:nvPr/>
        </p:nvSpPr>
        <p:spPr>
          <a:xfrm>
            <a:off x="8138160" y="3080699"/>
            <a:ext cx="612648" cy="1009169"/>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2</a:t>
            </a:r>
            <a:endParaRPr lang="en-US" sz="2200" dirty="0"/>
          </a:p>
        </p:txBody>
      </p:sp>
      <p:sp xmlns:p="http://schemas.openxmlformats.org/presentationml/2006/main" xmlns:a="http://schemas.openxmlformats.org/drawingml/2006/main" xmlns:r="http://schemas.openxmlformats.org/officeDocument/2006/relationships">
        <p:nvSpPr>
          <p:cNvPr id="10" name="Text 27"/>
          <p:cNvSpPr txBox="1"/>
          <p:nvPr/>
        </p:nvSpPr>
        <p:spPr>
          <a:xfrm>
            <a:off x="8668512" y="3080699"/>
            <a:ext cx="4864608" cy="1009169"/>
          </a:xfrm>
          <a:prstGeom prst="rect">
            <a:avLst/>
          </a:prstGeom>
          <a:noFill/>
          <a:ln/>
        </p:spPr>
        <p:txBody>
          <a:bodyPr wrap="square" lIns="25400" tIns="25400" rIns="25400" bIns="25400" rtlCol="0" anchor="t">
            <a:noAutofit/>
          </a:bodyPr>
          <a:lstStyle/>
          <a:p>
            <a:pPr algn="l" indent="0" marL="0">
              <a:lnSpc>
                <a:spcPct val="101250"/>
              </a:lnSpc>
              <a:buNone/>
            </a:pPr>
            <a:r>
              <a:rPr lang="en-US" sz="1900" dirty="0">
                <a:solidFill>
                  <a:srgbClr val="000000"/>
                </a:solidFill>
                <a:latin typeface="+mn-lt"/>
                <a:ea typeface="+mn-ea"/>
                <a:cs typeface="+mn-cs"/>
              </a:rPr>
              <a:t xml:space="preserve">Keep the </a:t>
            </a:r>
            <a:r>
              <a:rPr lang="en-US" sz="1900" b="1" dirty="0">
                <a:solidFill>
                  <a:srgbClr val="000000"/>
                </a:solidFill>
                <a:latin typeface="+mn-lt"/>
                <a:ea typeface="+mn-ea"/>
                <a:cs typeface="+mn-cs"/>
              </a:rPr>
              <a:t>Environment and checks</a:t>
            </a:r>
            <a:r>
              <a:rPr lang="en-US" sz="1900" dirty="0">
                <a:solidFill>
                  <a:srgbClr val="000000"/>
                </a:solidFill>
                <a:latin typeface="+mn-lt"/>
                <a:ea typeface="+mn-ea"/>
                <a:cs typeface="+mn-cs"/>
              </a:rPr>
              <a:t> section: it tells Codex what it can’t verify.</a:t>
            </a:r>
            <a:endParaRPr lang="en-US" sz="1900" dirty="0"/>
          </a:p>
        </p:txBody>
      </p:sp>
      <p:sp xmlns:p="http://schemas.openxmlformats.org/presentationml/2006/main" xmlns:a="http://schemas.openxmlformats.org/drawingml/2006/main" xmlns:r="http://schemas.openxmlformats.org/officeDocument/2006/relationships">
        <p:nvSpPr>
          <p:cNvPr id="11" name="Text 28"/>
          <p:cNvSpPr txBox="1"/>
          <p:nvPr/>
        </p:nvSpPr>
        <p:spPr>
          <a:xfrm>
            <a:off x="8138160" y="4272748"/>
            <a:ext cx="612648" cy="703259"/>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3</a:t>
            </a:r>
            <a:endParaRPr lang="en-US" sz="2200" dirty="0"/>
          </a:p>
        </p:txBody>
      </p:sp>
      <p:sp xmlns:p="http://schemas.openxmlformats.org/presentationml/2006/main" xmlns:a="http://schemas.openxmlformats.org/drawingml/2006/main" xmlns:r="http://schemas.openxmlformats.org/officeDocument/2006/relationships">
        <p:nvSpPr>
          <p:cNvPr id="12" name="Text 29"/>
          <p:cNvSpPr txBox="1"/>
          <p:nvPr/>
        </p:nvSpPr>
        <p:spPr>
          <a:xfrm>
            <a:off x="8668512" y="4272748"/>
            <a:ext cx="4864608" cy="703259"/>
          </a:xfrm>
          <a:prstGeom prst="rect">
            <a:avLst/>
          </a:prstGeom>
          <a:noFill/>
          <a:ln/>
        </p:spPr>
        <p:txBody>
          <a:bodyPr wrap="square" lIns="25400" tIns="25400" rIns="25400" bIns="25400" rtlCol="0" anchor="t">
            <a:noAutofit/>
          </a:bodyPr>
          <a:lstStyle/>
          <a:p>
            <a:pPr algn="l" indent="0" marL="0">
              <a:lnSpc>
                <a:spcPct val="101250"/>
              </a:lnSpc>
              <a:buNone/>
            </a:pPr>
            <a:r>
              <a:rPr lang="en-US" sz="1900" dirty="0">
                <a:solidFill>
                  <a:srgbClr val="000000"/>
                </a:solidFill>
                <a:latin typeface="+mn-lt"/>
                <a:ea typeface="+mn-ea"/>
                <a:cs typeface="+mn-cs"/>
              </a:rPr>
              <a:t xml:space="preserve">Commit to main: </a:t>
            </a:r>
            <a:r>
              <a:rPr lang="en-US" sz="1900" i="1" dirty="0">
                <a:solidFill>
                  <a:srgbClr val="000000"/>
                </a:solidFill>
                <a:latin typeface="+mn-lt"/>
                <a:ea typeface="+mn-ea"/>
                <a:cs typeface="+mn-cs"/>
              </a:rPr>
              <a:t>Update AGENTS.md</a:t>
            </a:r>
            <a:r>
              <a:rPr lang="en-US" sz="1900" dirty="0">
                <a:solidFill>
                  <a:srgbClr val="000000"/>
                </a:solidFill>
                <a:latin typeface="+mn-lt"/>
                <a:ea typeface="+mn-ea"/>
                <a:cs typeface="+mn-cs"/>
              </a:rPr>
              <a:t xml:space="preserve">. </a:t>
            </a:r>
            <a:r>
              <a:rPr lang="en-US" sz="1900" b="1" dirty="0">
                <a:solidFill>
                  <a:srgbClr val="000000"/>
                </a:solidFill>
                <a:latin typeface="+mn-lt"/>
                <a:ea typeface="+mn-ea"/>
                <a:cs typeface="+mn-cs"/>
              </a:rPr>
              <a:t>Push origin</a:t>
            </a:r>
            <a:r>
              <a:rPr lang="en-US" sz="1900" dirty="0">
                <a:solidFill>
                  <a:srgbClr val="000000"/>
                </a:solidFill>
                <a:latin typeface="+mn-lt"/>
                <a:ea typeface="+mn-ea"/>
                <a:cs typeface="+mn-cs"/>
              </a:rPr>
              <a:t>.</a:t>
            </a:r>
            <a:endParaRPr lang="en-US" sz="1900" dirty="0"/>
          </a:p>
        </p:txBody>
      </p:sp>
      <p:sp xmlns:p="http://schemas.openxmlformats.org/presentationml/2006/main" xmlns:a="http://schemas.openxmlformats.org/drawingml/2006/main" xmlns:r="http://schemas.openxmlformats.org/officeDocument/2006/relationships">
        <p:nvSpPr>
          <p:cNvPr id="13" name="Text 30"/>
          <p:cNvSpPr txBox="1"/>
          <p:nvPr/>
        </p:nvSpPr>
        <p:spPr>
          <a:xfrm>
            <a:off x="8138160" y="5296048"/>
            <a:ext cx="5394960" cy="1188720"/>
          </a:xfrm>
          <a:prstGeom prst="rect">
            <a:avLst/>
          </a:prstGeom>
          <a:noFill/>
          <a:ln/>
        </p:spPr>
        <p:txBody>
          <a:bodyPr wrap="square" lIns="25400" tIns="25400" rIns="25400" bIns="25400" rtlCol="0" anchor="t">
            <a:noAutofit/>
          </a:bodyPr>
          <a:lstStyle/>
          <a:p>
            <a:pPr algn="l" indent="0" marL="0">
              <a:buNone/>
            </a:pPr>
            <a:r>
              <a:rPr lang="en-US" sz="1800" dirty="0">
                <a:solidFill>
                  <a:srgbClr val="404040"/>
                </a:solidFill>
                <a:latin typeface="+mn-lt"/>
                <a:ea typeface="+mn-ea"/>
                <a:cs typeface="+mn-cs"/>
              </a:rPr>
              <a:t>Codex reads AGENTS.md at the start of every task. Include what a new colleague would need.</a:t>
            </a:r>
            <a:endParaRPr lang="en-US" sz="1800" dirty="0"/>
          </a:p>
        </p:txBody>
      </p:sp>
      <p:sp xmlns:p="http://schemas.openxmlformats.org/presentationml/2006/main" xmlns:a="http://schemas.openxmlformats.org/drawingml/2006/main" xmlns:r="http://schemas.openxmlformats.org/officeDocument/2006/relationships">
        <p:nvSpPr>
          <p:cNvPr id="14" name="Text 31"/>
          <p:cNvSpPr txBox="1"/>
          <p:nvPr/>
        </p:nvSpPr>
        <p:spPr>
          <a:xfrm>
            <a:off x="8138160" y="6484768"/>
            <a:ext cx="5394960" cy="1188720"/>
          </a:xfrm>
          <a:prstGeom prst="rect">
            <a:avLst/>
          </a:prstGeom>
          <a:noFill/>
          <a:ln/>
        </p:spPr>
        <p:txBody>
          <a:bodyPr wrap="square" lIns="25400" tIns="25400" rIns="25400" bIns="25400" rtlCol="0" anchor="t">
            <a:noAutofit/>
          </a:bodyPr>
          <a:lstStyle/>
          <a:p>
            <a:pPr algn="l" indent="0" marL="0">
              <a:buNone/>
            </a:pPr>
            <a:r>
              <a:rPr lang="en-US" sz="1800" dirty="0">
                <a:solidFill>
                  <a:srgbClr val="404040"/>
                </a:solidFill>
                <a:latin typeface="+mn-lt"/>
                <a:ea typeface="+mn-ea"/>
                <a:cs typeface="+mn-cs"/>
              </a:rPr>
              <a:t>Keep it short. Add a rule each time the agent repeats a mistake.</a:t>
            </a:r>
            <a:endParaRPr lang="en-US" sz="1800" dirty="0"/>
          </a:p>
        </p:txBody>
      </p:sp>
      <p:sp xmlns:p="http://schemas.openxmlformats.org/presentationml/2006/main" xmlns:a="http://schemas.openxmlformats.org/drawingml/2006/main" xmlns:r="http://schemas.openxmlformats.org/officeDocument/2006/relationships">
        <p:nvSpPr>
          <p:cNvPr id="15" name="Nav highlight"/>
          <p:cNvSpPr txBox="1"/>
          <p:nvPr userDrawn="1"/>
        </p:nvSpPr>
        <p:spPr>
          <a:xfrm>
            <a:off x="133350" y="3524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Setup</a:t>
            </a:r>
            <a:endParaRPr lang="en-US" sz="1800" b="1" dirty="0"/>
          </a:p>
        </p:txBody>
      </p:sp>
      <p:sp xmlns:p="http://schemas.openxmlformats.org/presentationml/2006/main" xmlns:a="http://schemas.openxmlformats.org/drawingml/2006/main" xmlns:r="http://schemas.openxmlformats.org/officeDocument/2006/relationships">
        <p:nvSpPr>
          <p:cNvPr id="16"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2</a:t>
            </a:r>
            <a:endParaRPr lang="en-US" sz="1800" dirty="0"/>
          </a:p>
        </p:txBody>
      </p:sp>
      <p:sp xmlns:p="http://schemas.openxmlformats.org/presentationml/2006/main" xmlns:a="http://schemas.openxmlformats.org/drawingml/2006/main" xmlns:r="http://schemas.openxmlformats.org/officeDocument/2006/relationships">
        <p:nvSpPr>
          <p:cNvPr id="17" name="Slide Numb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xmlns:p="http://schemas.openxmlformats.org/presentationml/2006/main" xmlns:a="http://schemas.openxmlformats.org/drawingml/2006/main" xmlns:r="http://schemas.openxmlformats.org/officeDocument/2006/relationships">
        <p:nvSpPr>
          <p:cNvPr id="2" name="Title"/>
          <p:cNvSpPr>
            <a:spLocks noGrp="1"/>
          </p:cNvSpPr>
          <p:nvPr>
            <p:ph type="title"/>
          </p:nvPr>
        </p:nvSpPr>
        <p:spPr/>
        <p:txBody>
          <a:bodyPr/>
          <a:lstStyle/>
          <a:p>
            <a:r>
              <a:rPr lang="en-US" dirty="0"/>
              <a:t>Exercise 2: Set Up Codex</a:t>
            </a:r>
            <a:endParaRPr lang="en-US" dirty="0"/>
          </a:p>
        </p:txBody>
      </p:sp>
      <p:sp xmlns:p="http://schemas.openxmlformats.org/presentationml/2006/main" xmlns:a="http://schemas.openxmlformats.org/drawingml/2006/main" xmlns:r="http://schemas.openxmlformats.org/officeDocument/2006/relationships">
        <p:nvSpPr>
          <p:cNvPr id="3" name="Shape 20"/>
          <p:cNvSpPr/>
          <p:nvPr/>
        </p:nvSpPr>
        <p:spPr>
          <a:xfrm>
            <a:off x="1810512" y="1572768"/>
            <a:ext cx="3383280" cy="1143000"/>
          </a:xfrm>
          <a:prstGeom prst="roundRect">
            <a:avLst>
              <a:gd name="adj" fmla="val 10995"/>
            </a:avLst>
          </a:prstGeom>
          <a:noFill/>
          <a:ln w="25400">
            <a:solidFill>
              <a:srgbClr val="152A47"/>
            </a:solidFill>
            <a:prstDash val="solid"/>
          </a:ln>
        </p:spPr>
        <p:txBody>
          <a:bodyPr/>
          <a:p/>
        </p:txBody>
      </p:sp>
      <p:sp xmlns:p="http://schemas.openxmlformats.org/presentationml/2006/main" xmlns:a="http://schemas.openxmlformats.org/drawingml/2006/main" xmlns:r="http://schemas.openxmlformats.org/officeDocument/2006/relationships">
        <p:nvSpPr>
          <p:cNvPr id="4" name="Text 21"/>
          <p:cNvSpPr txBox="1"/>
          <p:nvPr/>
        </p:nvSpPr>
        <p:spPr>
          <a:xfrm>
            <a:off x="1856232" y="1755648"/>
            <a:ext cx="3291840" cy="420624"/>
          </a:xfrm>
          <a:prstGeom prst="rect">
            <a:avLst/>
          </a:prstGeom>
          <a:noFill/>
          <a:ln/>
        </p:spPr>
        <p:txBody>
          <a:bodyPr wrap="square" lIns="25400" tIns="25400" rIns="25400" bIns="25400" rtlCol="0" anchor="t">
            <a:noAutofit/>
          </a:bodyPr>
          <a:lstStyle/>
          <a:p>
            <a:pPr algn="ctr" indent="0" marL="0">
              <a:buNone/>
            </a:pPr>
            <a:r>
              <a:rPr lang="en-US" sz="2200" b="1" dirty="0">
                <a:solidFill>
                  <a:srgbClr val="000000"/>
                </a:solidFill>
                <a:latin typeface="+mn-lt"/>
                <a:ea typeface="+mn-ea"/>
                <a:cs typeface="+mn-cs"/>
              </a:rPr>
              <a:t>Codex cloud</a:t>
            </a:r>
            <a:endParaRPr lang="en-US" sz="2200" dirty="0"/>
          </a:p>
        </p:txBody>
      </p:sp>
      <p:sp xmlns:p="http://schemas.openxmlformats.org/presentationml/2006/main" xmlns:a="http://schemas.openxmlformats.org/drawingml/2006/main" xmlns:r="http://schemas.openxmlformats.org/officeDocument/2006/relationships">
        <p:nvSpPr>
          <p:cNvPr id="5" name="Text 22"/>
          <p:cNvSpPr txBox="1"/>
          <p:nvPr/>
        </p:nvSpPr>
        <p:spPr>
          <a:xfrm>
            <a:off x="1856232" y="2212848"/>
            <a:ext cx="3291840" cy="347472"/>
          </a:xfrm>
          <a:prstGeom prst="rect">
            <a:avLst/>
          </a:prstGeom>
          <a:noFill/>
          <a:ln/>
        </p:spPr>
        <p:txBody>
          <a:bodyPr wrap="square" lIns="25400" tIns="25400" rIns="25400" bIns="25400" rtlCol="0" anchor="t">
            <a:noAutofit/>
          </a:bodyPr>
          <a:lstStyle/>
          <a:p>
            <a:pPr algn="ctr" indent="0" marL="0">
              <a:buNone/>
            </a:pPr>
            <a:r>
              <a:rPr lang="en-US" sz="1800" dirty="0">
                <a:solidFill>
                  <a:srgbClr val="000000"/>
                </a:solidFill>
                <a:latin typeface="+mn-lt"/>
                <a:ea typeface="+mn-ea"/>
                <a:cs typeface="+mn-cs"/>
              </a:rPr>
              <a:t>cloud environment</a:t>
            </a:r>
            <a:endParaRPr lang="en-US" sz="1800" dirty="0"/>
          </a:p>
        </p:txBody>
      </p:sp>
      <p:sp xmlns:p="http://schemas.openxmlformats.org/presentationml/2006/main" xmlns:a="http://schemas.openxmlformats.org/drawingml/2006/main" xmlns:r="http://schemas.openxmlformats.org/officeDocument/2006/relationships">
        <p:nvSpPr>
          <p:cNvPr id="6" name="Shape 23"/>
          <p:cNvSpPr/>
          <p:nvPr/>
        </p:nvSpPr>
        <p:spPr>
          <a:xfrm>
            <a:off x="5239512" y="2112264"/>
            <a:ext cx="640080" cy="36576"/>
          </a:xfrm>
          <a:prstGeom prst="rect">
            <a:avLst/>
          </a:prstGeom>
          <a:solidFill>
            <a:srgbClr val="000000"/>
          </a:solidFill>
          <a:ln/>
        </p:spPr>
        <p:txBody>
          <a:bodyPr/>
          <a:p/>
        </p:txBody>
      </p:sp>
      <p:sp xmlns:p="http://schemas.openxmlformats.org/presentationml/2006/main" xmlns:a="http://schemas.openxmlformats.org/drawingml/2006/main" xmlns:r="http://schemas.openxmlformats.org/officeDocument/2006/relationships">
        <p:nvSpPr>
          <p:cNvPr id="7" name="Shape 24"/>
          <p:cNvSpPr/>
          <p:nvPr/>
        </p:nvSpPr>
        <p:spPr>
          <a:xfrm>
            <a:off x="5925312" y="1572768"/>
            <a:ext cx="3383280" cy="1143000"/>
          </a:xfrm>
          <a:prstGeom prst="roundRect">
            <a:avLst>
              <a:gd name="adj" fmla="val 10995"/>
            </a:avLst>
          </a:prstGeom>
          <a:noFill/>
          <a:ln w="25400">
            <a:solidFill>
              <a:srgbClr val="152A47"/>
            </a:solidFill>
            <a:prstDash val="solid"/>
          </a:ln>
        </p:spPr>
        <p:txBody>
          <a:bodyPr/>
          <a:p/>
        </p:txBody>
      </p:sp>
      <p:sp xmlns:p="http://schemas.openxmlformats.org/presentationml/2006/main" xmlns:a="http://schemas.openxmlformats.org/drawingml/2006/main" xmlns:r="http://schemas.openxmlformats.org/officeDocument/2006/relationships">
        <p:nvSpPr>
          <p:cNvPr id="8" name="Text 25"/>
          <p:cNvSpPr txBox="1"/>
          <p:nvPr/>
        </p:nvSpPr>
        <p:spPr>
          <a:xfrm>
            <a:off x="5971032" y="1755648"/>
            <a:ext cx="3291840" cy="420624"/>
          </a:xfrm>
          <a:prstGeom prst="rect">
            <a:avLst/>
          </a:prstGeom>
          <a:noFill/>
          <a:ln/>
        </p:spPr>
        <p:txBody>
          <a:bodyPr wrap="square" lIns="25400" tIns="25400" rIns="25400" bIns="25400" rtlCol="0" anchor="t">
            <a:noAutofit/>
          </a:bodyPr>
          <a:lstStyle/>
          <a:p>
            <a:pPr algn="ctr" indent="0" marL="0">
              <a:buNone/>
            </a:pPr>
            <a:r>
              <a:rPr lang="en-US" sz="2200" b="1" dirty="0">
                <a:solidFill>
                  <a:srgbClr val="000000"/>
                </a:solidFill>
                <a:latin typeface="+mn-lt"/>
                <a:ea typeface="+mn-ea"/>
                <a:cs typeface="+mn-cs"/>
              </a:rPr>
              <a:t>GitHub repo</a:t>
            </a:r>
            <a:endParaRPr lang="en-US" sz="2200" dirty="0"/>
          </a:p>
        </p:txBody>
      </p:sp>
      <p:sp xmlns:p="http://schemas.openxmlformats.org/presentationml/2006/main" xmlns:a="http://schemas.openxmlformats.org/drawingml/2006/main" xmlns:r="http://schemas.openxmlformats.org/officeDocument/2006/relationships">
        <p:nvSpPr>
          <p:cNvPr id="9" name="Text 26"/>
          <p:cNvSpPr txBox="1"/>
          <p:nvPr/>
        </p:nvSpPr>
        <p:spPr>
          <a:xfrm>
            <a:off x="5971032" y="2212848"/>
            <a:ext cx="3291840" cy="347472"/>
          </a:xfrm>
          <a:prstGeom prst="rect">
            <a:avLst/>
          </a:prstGeom>
          <a:noFill/>
          <a:ln/>
        </p:spPr>
        <p:txBody>
          <a:bodyPr wrap="square" lIns="25400" tIns="25400" rIns="25400" bIns="25400" rtlCol="0" anchor="t">
            <a:noAutofit/>
          </a:bodyPr>
          <a:lstStyle/>
          <a:p>
            <a:pPr algn="ctr" indent="0" marL="0">
              <a:buNone/>
            </a:pPr>
            <a:r>
              <a:rPr lang="en-US" sz="1800" dirty="0">
                <a:solidFill>
                  <a:srgbClr val="000000"/>
                </a:solidFill>
                <a:latin typeface="+mn-lt"/>
                <a:ea typeface="+mn-ea"/>
                <a:cs typeface="+mn-cs"/>
              </a:rPr>
              <a:t>shared source</a:t>
            </a:r>
            <a:endParaRPr lang="en-US" sz="1800" dirty="0"/>
          </a:p>
        </p:txBody>
      </p:sp>
      <p:sp xmlns:p="http://schemas.openxmlformats.org/presentationml/2006/main" xmlns:a="http://schemas.openxmlformats.org/drawingml/2006/main" xmlns:r="http://schemas.openxmlformats.org/officeDocument/2006/relationships">
        <p:nvSpPr>
          <p:cNvPr id="10" name="Shape 27"/>
          <p:cNvSpPr/>
          <p:nvPr/>
        </p:nvSpPr>
        <p:spPr>
          <a:xfrm>
            <a:off x="9354312" y="2112264"/>
            <a:ext cx="640080" cy="36576"/>
          </a:xfrm>
          <a:prstGeom prst="rect">
            <a:avLst/>
          </a:prstGeom>
          <a:solidFill>
            <a:srgbClr val="000000"/>
          </a:solidFill>
          <a:ln/>
        </p:spPr>
        <p:txBody>
          <a:bodyPr/>
          <a:p/>
        </p:txBody>
      </p:sp>
      <p:sp xmlns:p="http://schemas.openxmlformats.org/presentationml/2006/main" xmlns:a="http://schemas.openxmlformats.org/drawingml/2006/main" xmlns:r="http://schemas.openxmlformats.org/officeDocument/2006/relationships">
        <p:nvSpPr>
          <p:cNvPr id="11" name="Shape 28"/>
          <p:cNvSpPr/>
          <p:nvPr/>
        </p:nvSpPr>
        <p:spPr>
          <a:xfrm>
            <a:off x="10040112" y="1572768"/>
            <a:ext cx="3383280" cy="1143000"/>
          </a:xfrm>
          <a:prstGeom prst="roundRect">
            <a:avLst>
              <a:gd name="adj" fmla="val 10995"/>
            </a:avLst>
          </a:prstGeom>
          <a:noFill/>
          <a:ln w="25400">
            <a:solidFill>
              <a:srgbClr val="152A47"/>
            </a:solidFill>
            <a:prstDash val="solid"/>
          </a:ln>
        </p:spPr>
        <p:txBody>
          <a:bodyPr/>
          <a:p/>
        </p:txBody>
      </p:sp>
      <p:sp xmlns:p="http://schemas.openxmlformats.org/presentationml/2006/main" xmlns:a="http://schemas.openxmlformats.org/drawingml/2006/main" xmlns:r="http://schemas.openxmlformats.org/officeDocument/2006/relationships">
        <p:nvSpPr>
          <p:cNvPr id="12" name="Text 29"/>
          <p:cNvSpPr txBox="1"/>
          <p:nvPr/>
        </p:nvSpPr>
        <p:spPr>
          <a:xfrm>
            <a:off x="10085832" y="1755648"/>
            <a:ext cx="3291840" cy="420624"/>
          </a:xfrm>
          <a:prstGeom prst="rect">
            <a:avLst/>
          </a:prstGeom>
          <a:noFill/>
          <a:ln/>
        </p:spPr>
        <p:txBody>
          <a:bodyPr wrap="square" lIns="25400" tIns="25400" rIns="25400" bIns="25400" rtlCol="0" anchor="t">
            <a:noAutofit/>
          </a:bodyPr>
          <a:lstStyle/>
          <a:p>
            <a:pPr algn="ctr" indent="0" marL="0">
              <a:buNone/>
            </a:pPr>
            <a:r>
              <a:rPr lang="en-US" sz="2200" b="1" dirty="0">
                <a:solidFill>
                  <a:srgbClr val="000000"/>
                </a:solidFill>
                <a:latin typeface="+mn-lt"/>
                <a:ea typeface="+mn-ea"/>
                <a:cs typeface="+mn-cs"/>
              </a:rPr>
              <a:t>Your laptop</a:t>
            </a:r>
            <a:endParaRPr lang="en-US" sz="2200" dirty="0"/>
          </a:p>
        </p:txBody>
      </p:sp>
      <p:sp xmlns:p="http://schemas.openxmlformats.org/presentationml/2006/main" xmlns:a="http://schemas.openxmlformats.org/drawingml/2006/main" xmlns:r="http://schemas.openxmlformats.org/officeDocument/2006/relationships">
        <p:nvSpPr>
          <p:cNvPr id="13" name="Text 30"/>
          <p:cNvSpPr txBox="1"/>
          <p:nvPr/>
        </p:nvSpPr>
        <p:spPr>
          <a:xfrm>
            <a:off x="10085832" y="2212848"/>
            <a:ext cx="3291840" cy="347472"/>
          </a:xfrm>
          <a:prstGeom prst="rect">
            <a:avLst/>
          </a:prstGeom>
          <a:noFill/>
          <a:ln/>
        </p:spPr>
        <p:txBody>
          <a:bodyPr wrap="square" lIns="25400" tIns="25400" rIns="25400" bIns="25400" rtlCol="0" anchor="t">
            <a:noAutofit/>
          </a:bodyPr>
          <a:lstStyle/>
          <a:p>
            <a:pPr algn="ctr" indent="0" marL="0">
              <a:buNone/>
            </a:pPr>
            <a:r>
              <a:rPr lang="en-US" sz="1800" dirty="0">
                <a:solidFill>
                  <a:srgbClr val="000000"/>
                </a:solidFill>
                <a:latin typeface="+mn-lt"/>
                <a:ea typeface="+mn-ea"/>
                <a:cs typeface="+mn-cs"/>
              </a:rPr>
              <a:t>Desktop + MATLAB</a:t>
            </a:r>
            <a:endParaRPr lang="en-US" sz="1800" dirty="0"/>
          </a:p>
        </p:txBody>
      </p:sp>
      <p:sp xmlns:p="http://schemas.openxmlformats.org/presentationml/2006/main" xmlns:a="http://schemas.openxmlformats.org/drawingml/2006/main" xmlns:r="http://schemas.openxmlformats.org/officeDocument/2006/relationships">
        <p:nvSpPr>
          <p:cNvPr id="14" name="Text 31"/>
          <p:cNvSpPr txBox="1"/>
          <p:nvPr/>
        </p:nvSpPr>
        <p:spPr>
          <a:xfrm>
            <a:off x="1810512" y="2926080"/>
            <a:ext cx="11704320" cy="777240"/>
          </a:xfrm>
          <a:prstGeom prst="rect">
            <a:avLst/>
          </a:prstGeom>
          <a:noFill/>
          <a:ln/>
        </p:spPr>
        <p:txBody>
          <a:bodyPr wrap="square" lIns="25400" tIns="25400" rIns="25400" bIns="25400" rtlCol="0" anchor="t">
            <a:noAutofit/>
          </a:bodyPr>
          <a:lstStyle/>
          <a:p>
            <a:pPr algn="l" indent="0" marL="0">
              <a:buNone/>
            </a:pPr>
            <a:r>
              <a:rPr lang="en-US" sz="1900" dirty="0">
                <a:solidFill>
                  <a:srgbClr val="404040"/>
                </a:solidFill>
                <a:latin typeface="+mn-lt"/>
                <a:ea typeface="+mn-ea"/>
                <a:cs typeface="+mn-cs"/>
              </a:rPr>
              <a:t>A Codex task can read and change your repo. It cannot reach your laptop, your MATLAB license, or any file outside the repo.</a:t>
            </a:r>
            <a:endParaRPr lang="en-US" sz="1900" dirty="0"/>
          </a:p>
        </p:txBody>
      </p:sp>
      <p:sp xmlns:p="http://schemas.openxmlformats.org/presentationml/2006/main" xmlns:a="http://schemas.openxmlformats.org/drawingml/2006/main" xmlns:r="http://schemas.openxmlformats.org/officeDocument/2006/relationships">
        <p:nvSpPr>
          <p:cNvPr id="15" name="Shape 32"/>
          <p:cNvSpPr/>
          <p:nvPr/>
        </p:nvSpPr>
        <p:spPr>
          <a:xfrm>
            <a:off x="1810512" y="3840480"/>
            <a:ext cx="1353312" cy="381305"/>
          </a:xfrm>
          <a:prstGeom prst="roundRect">
            <a:avLst>
              <a:gd name="adj" fmla="val 15000"/>
            </a:avLst>
          </a:prstGeom>
          <a:solidFill>
            <a:srgbClr val="595959"/>
          </a:solidFill>
          <a:ln/>
        </p:spPr>
        <p:txBody>
          <a:bodyPr/>
          <a:p/>
        </p:txBody>
      </p:sp>
      <p:sp xmlns:p="http://schemas.openxmlformats.org/presentationml/2006/main" xmlns:a="http://schemas.openxmlformats.org/drawingml/2006/main" xmlns:r="http://schemas.openxmlformats.org/officeDocument/2006/relationships">
        <p:nvSpPr>
          <p:cNvPr id="16" name="Text 33"/>
          <p:cNvSpPr txBox="1"/>
          <p:nvPr/>
        </p:nvSpPr>
        <p:spPr>
          <a:xfrm>
            <a:off x="1837944" y="3877056"/>
            <a:ext cx="1298448" cy="342900"/>
          </a:xfrm>
          <a:prstGeom prst="rect">
            <a:avLst/>
          </a:prstGeom>
          <a:noFill/>
          <a:ln/>
        </p:spPr>
        <p:txBody>
          <a:bodyPr wrap="square" lIns="25400" tIns="25400" rIns="25400" bIns="25400" rtlCol="0" anchor="t">
            <a:noAutofit/>
          </a:bodyPr>
          <a:lstStyle/>
          <a:p>
            <a:pPr algn="ctr" indent="0" marL="0">
              <a:buNone/>
            </a:pPr>
            <a:r>
              <a:rPr lang="en-US" sz="1800" b="1" dirty="0">
                <a:solidFill>
                  <a:srgbClr val="FFFFFF"/>
                </a:solidFill>
                <a:latin typeface="+mn-lt"/>
                <a:ea typeface="+mn-ea"/>
                <a:cs typeface="+mn-cs"/>
              </a:rPr>
              <a:t>EXERCISE</a:t>
            </a:r>
            <a:endParaRPr lang="en-US" sz="1800" dirty="0"/>
          </a:p>
        </p:txBody>
      </p:sp>
      <p:sp xmlns:p="http://schemas.openxmlformats.org/presentationml/2006/main" xmlns:a="http://schemas.openxmlformats.org/drawingml/2006/main" xmlns:r="http://schemas.openxmlformats.org/officeDocument/2006/relationships">
        <p:nvSpPr>
          <p:cNvPr id="17" name="Text 34"/>
          <p:cNvSpPr txBox="1"/>
          <p:nvPr/>
        </p:nvSpPr>
        <p:spPr>
          <a:xfrm>
            <a:off x="1810512" y="4434840"/>
            <a:ext cx="612648" cy="420624"/>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1</a:t>
            </a:r>
            <a:endParaRPr lang="en-US" sz="2200" dirty="0"/>
          </a:p>
        </p:txBody>
      </p:sp>
      <p:sp xmlns:p="http://schemas.openxmlformats.org/presentationml/2006/main" xmlns:a="http://schemas.openxmlformats.org/drawingml/2006/main" xmlns:r="http://schemas.openxmlformats.org/officeDocument/2006/relationships">
        <p:nvSpPr>
          <p:cNvPr id="18" name="Text 35"/>
          <p:cNvSpPr txBox="1"/>
          <p:nvPr/>
        </p:nvSpPr>
        <p:spPr>
          <a:xfrm>
            <a:off x="2340864" y="4434840"/>
            <a:ext cx="11173968" cy="397350"/>
          </a:xfrm>
          <a:prstGeom prst="rect">
            <a:avLst/>
          </a:prstGeom>
          <a:noFill/>
          <a:ln/>
        </p:spPr>
        <p:txBody>
          <a:bodyPr wrap="square" lIns="25400" tIns="25400" rIns="25400" bIns="25400" rtlCol="0" anchor="t">
            <a:noAutofit/>
          </a:bodyPr>
          <a:lstStyle/>
          <a:p>
            <a:pPr algn="l" indent="0" marL="0">
              <a:lnSpc>
                <a:spcPct val="101250"/>
              </a:lnSpc>
              <a:buNone/>
            </a:pPr>
            <a:r>
              <a:rPr lang="en-US" sz="1900" dirty="0">
                <a:solidFill>
                  <a:srgbClr val="000000"/>
                </a:solidFill>
                <a:latin typeface="+mn-lt"/>
                <a:ea typeface="+mn-ea"/>
                <a:cs typeface="+mn-cs"/>
              </a:rPr>
              <a:t xml:space="preserve">Go to </a:t>
            </a:r>
            <a:r>
              <a:rPr lang="en-US" sz="1900" b="1" dirty="0">
                <a:solidFill>
                  <a:srgbClr val="000000"/>
                </a:solidFill>
                <a:latin typeface="+mn-lt"/>
                <a:ea typeface="+mn-ea"/>
                <a:cs typeface="+mn-cs"/>
              </a:rPr>
              <a:t>chatgpt.com/codex</a:t>
            </a:r>
            <a:r>
              <a:rPr lang="en-US" sz="1900" dirty="0">
                <a:solidFill>
                  <a:srgbClr val="000000"/>
                </a:solidFill>
                <a:latin typeface="+mn-lt"/>
                <a:ea typeface="+mn-ea"/>
                <a:cs typeface="+mn-cs"/>
              </a:rPr>
              <a:t xml:space="preserve"> and sign in.</a:t>
            </a:r>
            <a:endParaRPr lang="en-US" sz="1900" dirty="0"/>
          </a:p>
        </p:txBody>
      </p:sp>
      <p:sp xmlns:p="http://schemas.openxmlformats.org/presentationml/2006/main" xmlns:a="http://schemas.openxmlformats.org/drawingml/2006/main" xmlns:r="http://schemas.openxmlformats.org/officeDocument/2006/relationships">
        <p:nvSpPr>
          <p:cNvPr id="19" name="Text 36"/>
          <p:cNvSpPr txBox="1"/>
          <p:nvPr/>
        </p:nvSpPr>
        <p:spPr>
          <a:xfrm>
            <a:off x="1810512" y="4996782"/>
            <a:ext cx="612648" cy="420624"/>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2</a:t>
            </a:r>
            <a:endParaRPr lang="en-US" sz="2200" dirty="0"/>
          </a:p>
        </p:txBody>
      </p:sp>
      <p:sp xmlns:p="http://schemas.openxmlformats.org/presentationml/2006/main" xmlns:a="http://schemas.openxmlformats.org/drawingml/2006/main" xmlns:r="http://schemas.openxmlformats.org/officeDocument/2006/relationships">
        <p:nvSpPr>
          <p:cNvPr id="20" name="Text 37"/>
          <p:cNvSpPr txBox="1"/>
          <p:nvPr/>
        </p:nvSpPr>
        <p:spPr>
          <a:xfrm>
            <a:off x="2340864" y="4996782"/>
            <a:ext cx="11173968" cy="397350"/>
          </a:xfrm>
          <a:prstGeom prst="rect">
            <a:avLst/>
          </a:prstGeom>
          <a:noFill/>
          <a:ln/>
        </p:spPr>
        <p:txBody>
          <a:bodyPr wrap="square" lIns="25400" tIns="25400" rIns="25400" bIns="25400" rtlCol="0" anchor="t">
            <a:noAutofit/>
          </a:bodyPr>
          <a:lstStyle/>
          <a:p>
            <a:pPr algn="l" indent="0" marL="0">
              <a:lnSpc>
                <a:spcPct val="101250"/>
              </a:lnSpc>
              <a:buNone/>
            </a:pPr>
            <a:r>
              <a:rPr lang="en-US" sz="1900" dirty="0">
                <a:solidFill>
                  <a:srgbClr val="000000"/>
                </a:solidFill>
                <a:latin typeface="+mn-lt"/>
                <a:ea typeface="+mn-ea"/>
                <a:cs typeface="+mn-cs"/>
              </a:rPr>
              <a:t xml:space="preserve">Connect GitHub when prompted. Give it access to </a:t>
            </a:r>
            <a:r>
              <a:rPr lang="en-US" sz="1900" b="1" dirty="0">
                <a:solidFill>
                  <a:srgbClr val="000000"/>
                </a:solidFill>
                <a:latin typeface="+mn-lt"/>
                <a:ea typeface="+mn-ea"/>
                <a:cs typeface="+mn-cs"/>
              </a:rPr>
              <a:t>your beam-calc repo only</a:t>
            </a:r>
            <a:r>
              <a:rPr lang="en-US" sz="1900" dirty="0">
                <a:solidFill>
                  <a:srgbClr val="000000"/>
                </a:solidFill>
                <a:latin typeface="+mn-lt"/>
                <a:ea typeface="+mn-ea"/>
                <a:cs typeface="+mn-cs"/>
              </a:rPr>
              <a:t>.</a:t>
            </a:r>
            <a:endParaRPr lang="en-US" sz="1900" dirty="0"/>
          </a:p>
        </p:txBody>
      </p:sp>
      <p:sp xmlns:p="http://schemas.openxmlformats.org/presentationml/2006/main" xmlns:a="http://schemas.openxmlformats.org/drawingml/2006/main" xmlns:r="http://schemas.openxmlformats.org/officeDocument/2006/relationships">
        <p:nvSpPr>
          <p:cNvPr id="21" name="Text 38"/>
          <p:cNvSpPr txBox="1"/>
          <p:nvPr/>
        </p:nvSpPr>
        <p:spPr>
          <a:xfrm>
            <a:off x="1810512" y="5558723"/>
            <a:ext cx="612648" cy="420624"/>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3</a:t>
            </a:r>
            <a:endParaRPr lang="en-US" sz="2200" dirty="0"/>
          </a:p>
        </p:txBody>
      </p:sp>
      <p:sp xmlns:p="http://schemas.openxmlformats.org/presentationml/2006/main" xmlns:a="http://schemas.openxmlformats.org/drawingml/2006/main" xmlns:r="http://schemas.openxmlformats.org/officeDocument/2006/relationships">
        <p:nvSpPr>
          <p:cNvPr id="22" name="Text 39"/>
          <p:cNvSpPr txBox="1"/>
          <p:nvPr/>
        </p:nvSpPr>
        <p:spPr>
          <a:xfrm>
            <a:off x="2340864" y="5558723"/>
            <a:ext cx="11173968" cy="397350"/>
          </a:xfrm>
          <a:prstGeom prst="rect">
            <a:avLst/>
          </a:prstGeom>
          <a:noFill/>
          <a:ln/>
        </p:spPr>
        <p:txBody>
          <a:bodyPr wrap="square" lIns="25400" tIns="25400" rIns="25400" bIns="25400" rtlCol="0" anchor="t">
            <a:noAutofit/>
          </a:bodyPr>
          <a:lstStyle/>
          <a:p>
            <a:pPr algn="l" indent="0" marL="0">
              <a:lnSpc>
                <a:spcPct val="101250"/>
              </a:lnSpc>
              <a:buNone/>
            </a:pPr>
            <a:r>
              <a:rPr lang="en-US" sz="1900" dirty="0">
                <a:solidFill>
                  <a:srgbClr val="000000"/>
                </a:solidFill>
                <a:latin typeface="+mn-lt"/>
                <a:ea typeface="+mn-ea"/>
                <a:cs typeface="+mn-cs"/>
              </a:rPr>
              <a:t xml:space="preserve">Create an </a:t>
            </a:r>
            <a:r>
              <a:rPr lang="en-US" sz="1900" b="1" dirty="0">
                <a:solidFill>
                  <a:srgbClr val="000000"/>
                </a:solidFill>
                <a:latin typeface="+mn-lt"/>
                <a:ea typeface="+mn-ea"/>
                <a:cs typeface="+mn-cs"/>
              </a:rPr>
              <a:t>environment</a:t>
            </a:r>
            <a:r>
              <a:rPr lang="en-US" sz="1900" dirty="0">
                <a:solidFill>
                  <a:srgbClr val="000000"/>
                </a:solidFill>
                <a:latin typeface="+mn-lt"/>
                <a:ea typeface="+mn-ea"/>
                <a:cs typeface="+mn-cs"/>
              </a:rPr>
              <a:t xml:space="preserve"> for beam-calc. Leave agent internet access off.</a:t>
            </a:r>
            <a:endParaRPr lang="en-US" sz="1900" dirty="0"/>
          </a:p>
        </p:txBody>
      </p:sp>
      <p:sp xmlns:p="http://schemas.openxmlformats.org/presentationml/2006/main" xmlns:a="http://schemas.openxmlformats.org/drawingml/2006/main" xmlns:r="http://schemas.openxmlformats.org/officeDocument/2006/relationships">
        <p:nvSpPr>
          <p:cNvPr id="23" name="Text 40"/>
          <p:cNvSpPr txBox="1"/>
          <p:nvPr/>
        </p:nvSpPr>
        <p:spPr>
          <a:xfrm>
            <a:off x="1810512" y="6120665"/>
            <a:ext cx="612648" cy="703259"/>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4</a:t>
            </a:r>
            <a:endParaRPr lang="en-US" sz="2200" dirty="0"/>
          </a:p>
        </p:txBody>
      </p:sp>
      <p:sp xmlns:p="http://schemas.openxmlformats.org/presentationml/2006/main" xmlns:a="http://schemas.openxmlformats.org/drawingml/2006/main" xmlns:r="http://schemas.openxmlformats.org/officeDocument/2006/relationships">
        <p:nvSpPr>
          <p:cNvPr id="24" name="Text 41"/>
          <p:cNvSpPr txBox="1"/>
          <p:nvPr/>
        </p:nvSpPr>
        <p:spPr>
          <a:xfrm>
            <a:off x="2340864" y="6120665"/>
            <a:ext cx="11173968" cy="703259"/>
          </a:xfrm>
          <a:prstGeom prst="rect">
            <a:avLst/>
          </a:prstGeom>
          <a:noFill/>
          <a:ln/>
        </p:spPr>
        <p:txBody>
          <a:bodyPr wrap="square" lIns="25400" tIns="25400" rIns="25400" bIns="25400" rtlCol="0" anchor="t">
            <a:noAutofit/>
          </a:bodyPr>
          <a:lstStyle/>
          <a:p>
            <a:pPr algn="l" indent="0" marL="0">
              <a:lnSpc>
                <a:spcPct val="101250"/>
              </a:lnSpc>
              <a:buNone/>
            </a:pPr>
            <a:r>
              <a:rPr lang="en-US" sz="1900" dirty="0">
                <a:solidFill>
                  <a:srgbClr val="000000"/>
                </a:solidFill>
                <a:latin typeface="+mn-lt"/>
                <a:ea typeface="+mn-ea"/>
                <a:cs typeface="+mn-cs"/>
              </a:rPr>
              <a:t xml:space="preserve">Start a task on </a:t>
            </a:r>
            <a:r>
              <a:rPr lang="en-US" sz="1900" b="1" dirty="0">
                <a:solidFill>
                  <a:srgbClr val="000000"/>
                </a:solidFill>
                <a:latin typeface="+mn-lt"/>
                <a:ea typeface="+mn-ea"/>
                <a:cs typeface="+mn-cs"/>
              </a:rPr>
              <a:t>beam-calc</a:t>
            </a:r>
            <a:r>
              <a:rPr lang="en-US" sz="1900" dirty="0">
                <a:solidFill>
                  <a:srgbClr val="000000"/>
                </a:solidFill>
                <a:latin typeface="+mn-lt"/>
                <a:ea typeface="+mn-ea"/>
                <a:cs typeface="+mn-cs"/>
              </a:rPr>
              <a:t xml:space="preserve"> and the </a:t>
            </a:r>
            <a:r>
              <a:rPr lang="en-US" sz="1900" b="1" dirty="0">
                <a:solidFill>
                  <a:srgbClr val="000000"/>
                </a:solidFill>
                <a:latin typeface="+mn-lt"/>
                <a:ea typeface="+mn-ea"/>
                <a:cs typeface="+mn-cs"/>
              </a:rPr>
              <a:t>main</a:t>
            </a:r>
            <a:r>
              <a:rPr lang="en-US" sz="1900" dirty="0">
                <a:solidFill>
                  <a:srgbClr val="000000"/>
                </a:solidFill>
                <a:latin typeface="+mn-lt"/>
                <a:ea typeface="+mn-ea"/>
                <a:cs typeface="+mn-cs"/>
              </a:rPr>
              <a:t xml:space="preserve"> branch. Codex reads AGENTS.md automatically.</a:t>
            </a:r>
            <a:endParaRPr lang="en-US" sz="1900" dirty="0"/>
          </a:p>
        </p:txBody>
      </p:sp>
      <p:sp xmlns:p="http://schemas.openxmlformats.org/presentationml/2006/main" xmlns:a="http://schemas.openxmlformats.org/drawingml/2006/main" xmlns:r="http://schemas.openxmlformats.org/officeDocument/2006/relationships">
        <p:nvSpPr>
          <p:cNvPr id="25" name="Nav highlight"/>
          <p:cNvSpPr txBox="1"/>
          <p:nvPr userDrawn="1"/>
        </p:nvSpPr>
        <p:spPr>
          <a:xfrm>
            <a:off x="133350" y="3524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Setup</a:t>
            </a:r>
            <a:endParaRPr lang="en-US" sz="1800" b="1" dirty="0"/>
          </a:p>
        </p:txBody>
      </p:sp>
      <p:sp xmlns:p="http://schemas.openxmlformats.org/presentationml/2006/main" xmlns:a="http://schemas.openxmlformats.org/drawingml/2006/main" xmlns:r="http://schemas.openxmlformats.org/officeDocument/2006/relationships">
        <p:nvSpPr>
          <p:cNvPr id="26"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2</a:t>
            </a:r>
            <a:endParaRPr lang="en-US" sz="1800" dirty="0"/>
          </a:p>
        </p:txBody>
      </p:sp>
      <p:sp xmlns:p="http://schemas.openxmlformats.org/presentationml/2006/main" xmlns:a="http://schemas.openxmlformats.org/drawingml/2006/main" xmlns:r="http://schemas.openxmlformats.org/officeDocument/2006/relationships">
        <p:nvSpPr>
          <p:cNvPr id="27" name="Slide Number"/>
          <p:cNvSpPr>
            <a:spLocks noGrp="1"/>
          </p:cNvSpPr>
          <p:nvPr>
            <p:ph type="sldNum" sz="quarter" idx="12"/>
          </p:nvPr>
        </p:nvSpPr>
        <p:spPr/>
        <p:txBody>
          <a:bodyPr/>
          <a:lstStyle/>
          <a:p>
            <a:fld id="{B6F15528-21DE-4FAA-801E-634DDDAF4B2B}" type="slidenum">
              <a:rPr lang="en-US"/>
              <a:t>‹#›</a:t>
            </a:fld>
            <a:endParaRPr lang="en-US"/>
          </a:p>
        </p:txBody>
      </p:sp>
      <p:pic>
        <p:nvPicPr>
          <p:cNvPr id="28" name="Screenshot placeholder" descr="Screenshot to add: Codex cloud: environment setup for beam-calc, repository selected and agent internet access off"/>
          <p:cNvPicPr>
            <a:picLocks noChangeAspect="1"/>
          </p:cNvPicPr>
          <p:nvPr/>
        </p:nvPicPr>
        <p:blipFill>
          <a:blip r:embed="rId3"/>
          <a:stretch>
            <a:fillRect/>
          </a:stretch>
        </p:blipFill>
        <p:spPr>
          <a:xfrm>
            <a:off x="1810512" y="7086600"/>
            <a:ext cx="6949440" cy="23774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xmlns:p="http://schemas.openxmlformats.org/presentationml/2006/main" xmlns:a="http://schemas.openxmlformats.org/drawingml/2006/main" xmlns:r="http://schemas.openxmlformats.org/officeDocument/2006/relationships">
        <p:nvSpPr>
          <p:cNvPr id="2" name="Title"/>
          <p:cNvSpPr>
            <a:spLocks noGrp="1"/>
          </p:cNvSpPr>
          <p:nvPr>
            <p:ph type="title"/>
          </p:nvPr>
        </p:nvSpPr>
        <p:spPr/>
        <p:txBody>
          <a:bodyPr/>
          <a:lstStyle/>
          <a:p>
            <a:r>
              <a:rPr lang="en-US" dirty="0"/>
              <a:t>Exercise 3: Orient the Agent</a:t>
            </a:r>
            <a:endParaRPr lang="en-US" dirty="0"/>
          </a:p>
        </p:txBody>
      </p:sp>
      <p:sp xmlns:p="http://schemas.openxmlformats.org/presentationml/2006/main" xmlns:a="http://schemas.openxmlformats.org/drawingml/2006/main" xmlns:r="http://schemas.openxmlformats.org/officeDocument/2006/relationships">
        <p:nvSpPr>
          <p:cNvPr id="3" name="Shape 20"/>
          <p:cNvSpPr/>
          <p:nvPr/>
        </p:nvSpPr>
        <p:spPr>
          <a:xfrm>
            <a:off x="1810512" y="1527048"/>
            <a:ext cx="1353312" cy="381305"/>
          </a:xfrm>
          <a:prstGeom prst="roundRect">
            <a:avLst>
              <a:gd name="adj" fmla="val 15000"/>
            </a:avLst>
          </a:prstGeom>
          <a:solidFill>
            <a:srgbClr val="595959"/>
          </a:solidFill>
          <a:ln/>
        </p:spPr>
        <p:txBody>
          <a:bodyPr/>
          <a:p/>
        </p:txBody>
      </p:sp>
      <p:sp xmlns:p="http://schemas.openxmlformats.org/presentationml/2006/main" xmlns:a="http://schemas.openxmlformats.org/drawingml/2006/main" xmlns:r="http://schemas.openxmlformats.org/officeDocument/2006/relationships">
        <p:nvSpPr>
          <p:cNvPr id="4" name="Text 21"/>
          <p:cNvSpPr txBox="1"/>
          <p:nvPr/>
        </p:nvSpPr>
        <p:spPr>
          <a:xfrm>
            <a:off x="1837944" y="1563624"/>
            <a:ext cx="1298448" cy="342900"/>
          </a:xfrm>
          <a:prstGeom prst="rect">
            <a:avLst/>
          </a:prstGeom>
          <a:noFill/>
          <a:ln/>
        </p:spPr>
        <p:txBody>
          <a:bodyPr wrap="square" lIns="25400" tIns="25400" rIns="25400" bIns="25400" rtlCol="0" anchor="t">
            <a:noAutofit/>
          </a:bodyPr>
          <a:lstStyle/>
          <a:p>
            <a:pPr algn="ctr" indent="0" marL="0">
              <a:buNone/>
            </a:pPr>
            <a:r>
              <a:rPr lang="en-US" sz="1800" b="1" dirty="0">
                <a:solidFill>
                  <a:srgbClr val="FFFFFF"/>
                </a:solidFill>
                <a:latin typeface="+mn-lt"/>
                <a:ea typeface="+mn-ea"/>
                <a:cs typeface="+mn-cs"/>
              </a:rPr>
              <a:t>EXERCISE</a:t>
            </a:r>
            <a:endParaRPr lang="en-US" sz="1800" dirty="0"/>
          </a:p>
        </p:txBody>
      </p:sp>
      <p:sp xmlns:p="http://schemas.openxmlformats.org/presentationml/2006/main" xmlns:a="http://schemas.openxmlformats.org/drawingml/2006/main" xmlns:r="http://schemas.openxmlformats.org/officeDocument/2006/relationships">
        <p:nvSpPr>
          <p:cNvPr id="5" name="Text 22"/>
          <p:cNvSpPr txBox="1"/>
          <p:nvPr/>
        </p:nvSpPr>
        <p:spPr>
          <a:xfrm>
            <a:off x="1810512" y="2103120"/>
            <a:ext cx="11704320" cy="411480"/>
          </a:xfrm>
          <a:prstGeom prst="rect">
            <a:avLst/>
          </a:prstGeom>
          <a:noFill/>
          <a:ln/>
        </p:spPr>
        <p:txBody>
          <a:bodyPr wrap="square" lIns="25400" tIns="25400" rIns="25400" bIns="25400" rtlCol="0" anchor="t">
            <a:noAutofit/>
          </a:bodyPr>
          <a:lstStyle/>
          <a:p>
            <a:pPr algn="l" indent="0" marL="0">
              <a:buNone/>
            </a:pPr>
            <a:r>
              <a:rPr lang="en-US" sz="1900" dirty="0">
                <a:solidFill>
                  <a:srgbClr val="000000"/>
                </a:solidFill>
                <a:latin typeface="+mn-lt"/>
                <a:ea typeface="+mn-ea"/>
                <a:cs typeface="+mn-cs"/>
              </a:rPr>
              <a:t>Send an orientation prompt before asking for any change:</a:t>
            </a:r>
            <a:endParaRPr lang="en-US" sz="1900" dirty="0"/>
          </a:p>
        </p:txBody>
      </p:sp>
      <p:sp xmlns:p="http://schemas.openxmlformats.org/presentationml/2006/main" xmlns:a="http://schemas.openxmlformats.org/drawingml/2006/main" xmlns:r="http://schemas.openxmlformats.org/officeDocument/2006/relationships">
        <p:nvSpPr>
          <p:cNvPr id="6" name="Shape 23"/>
          <p:cNvSpPr/>
          <p:nvPr/>
        </p:nvSpPr>
        <p:spPr>
          <a:xfrm>
            <a:off x="1810512" y="2697480"/>
            <a:ext cx="11676888" cy="1426464"/>
          </a:xfrm>
          <a:prstGeom prst="roundRect">
            <a:avLst>
              <a:gd name="adj" fmla="val 4000"/>
            </a:avLst>
          </a:prstGeom>
          <a:solidFill>
            <a:srgbClr val="F2F2F2"/>
          </a:solidFill>
          <a:ln/>
        </p:spPr>
        <p:txBody>
          <a:bodyPr/>
          <a:p/>
        </p:txBody>
      </p:sp>
      <p:sp xmlns:p="http://schemas.openxmlformats.org/presentationml/2006/main" xmlns:a="http://schemas.openxmlformats.org/drawingml/2006/main" xmlns:r="http://schemas.openxmlformats.org/officeDocument/2006/relationships">
        <p:nvSpPr>
          <p:cNvPr id="7" name="Text 24"/>
          <p:cNvSpPr txBox="1"/>
          <p:nvPr/>
        </p:nvSpPr>
        <p:spPr>
          <a:xfrm>
            <a:off x="2011680" y="2834640"/>
            <a:ext cx="11311128" cy="347472"/>
          </a:xfrm>
          <a:prstGeom prst="rect">
            <a:avLst/>
          </a:prstGeom>
          <a:noFill/>
          <a:ln/>
        </p:spPr>
        <p:txBody>
          <a:bodyPr wrap="square" lIns="25400" tIns="25400" rIns="25400" bIns="25400" rtlCol="0" anchor="t">
            <a:noAutofit/>
          </a:bodyPr>
          <a:lstStyle/>
          <a:p>
            <a:pPr algn="l" indent="0" marL="0">
              <a:buNone/>
            </a:pPr>
            <a:r>
              <a:rPr lang="en-US" sz="1600" b="1" dirty="0">
                <a:solidFill>
                  <a:srgbClr val="1F6FB2"/>
                </a:solidFill>
                <a:latin typeface="+mn-lt"/>
                <a:ea typeface="+mn-ea"/>
                <a:cs typeface="+mn-cs"/>
              </a:rPr>
              <a:t>YOU</a:t>
            </a:r>
            <a:endParaRPr lang="en-US" sz="1600" dirty="0"/>
          </a:p>
        </p:txBody>
      </p:sp>
      <p:sp xmlns:p="http://schemas.openxmlformats.org/presentationml/2006/main" xmlns:a="http://schemas.openxmlformats.org/drawingml/2006/main" xmlns:r="http://schemas.openxmlformats.org/officeDocument/2006/relationships">
        <p:nvSpPr>
          <p:cNvPr id="8" name="Text 25"/>
          <p:cNvSpPr txBox="1"/>
          <p:nvPr/>
        </p:nvSpPr>
        <p:spPr>
          <a:xfrm>
            <a:off x="2011680" y="3200400"/>
            <a:ext cx="11311128" cy="832104"/>
          </a:xfrm>
          <a:prstGeom prst="rect">
            <a:avLst/>
          </a:prstGeom>
          <a:noFill/>
          <a:ln/>
        </p:spPr>
        <p:txBody>
          <a:bodyPr wrap="square" lIns="25400" tIns="25400" rIns="25400" bIns="25400" rtlCol="0" anchor="t">
            <a:noAutofit/>
          </a:bodyPr>
          <a:lstStyle/>
          <a:p>
            <a:pPr algn="l" indent="0" marL="0">
              <a:spcAft>
                <a:spcPts val="400"/>
              </a:spcAft>
              <a:buNone/>
            </a:pPr>
            <a:r>
              <a:rPr lang="en-US" sz="1800" dirty="0">
                <a:solidFill>
                  <a:srgbClr val="000000"/>
                </a:solidFill>
                <a:latin typeface="+mn-lt"/>
                <a:ea typeface="+mn-ea"/>
                <a:cs typeface="+mn-cs"/>
              </a:rPr>
              <a:t>Read AGENTS.md, beam.m, and tests/testBeam.m. Summarize what the code computes, its units, and how it is tested. Don’t change any files.</a:t>
            </a:r>
            <a:endParaRPr lang="en-US" sz="1800" dirty="0"/>
          </a:p>
        </p:txBody>
      </p:sp>
      <p:sp xmlns:p="http://schemas.openxmlformats.org/presentationml/2006/main" xmlns:a="http://schemas.openxmlformats.org/drawingml/2006/main" xmlns:r="http://schemas.openxmlformats.org/officeDocument/2006/relationships">
        <p:nvSpPr>
          <p:cNvPr id="9" name="Shape 26"/>
          <p:cNvSpPr/>
          <p:nvPr/>
        </p:nvSpPr>
        <p:spPr>
          <a:xfrm>
            <a:off x="1810512" y="4398264"/>
            <a:ext cx="11676888" cy="1705356"/>
          </a:xfrm>
          <a:prstGeom prst="roundRect">
            <a:avLst>
              <a:gd name="adj" fmla="val 4000"/>
            </a:avLst>
          </a:prstGeom>
          <a:solidFill>
            <a:srgbClr val="152A47"/>
          </a:solidFill>
          <a:ln/>
        </p:spPr>
        <p:txBody>
          <a:bodyPr/>
          <a:p/>
        </p:txBody>
      </p:sp>
      <p:sp xmlns:p="http://schemas.openxmlformats.org/presentationml/2006/main" xmlns:a="http://schemas.openxmlformats.org/drawingml/2006/main" xmlns:r="http://schemas.openxmlformats.org/officeDocument/2006/relationships">
        <p:nvSpPr>
          <p:cNvPr id="10" name="Text 27"/>
          <p:cNvSpPr txBox="1"/>
          <p:nvPr/>
        </p:nvSpPr>
        <p:spPr>
          <a:xfrm>
            <a:off x="2011680" y="4535424"/>
            <a:ext cx="11311128" cy="347472"/>
          </a:xfrm>
          <a:prstGeom prst="rect">
            <a:avLst/>
          </a:prstGeom>
          <a:noFill/>
          <a:ln/>
        </p:spPr>
        <p:txBody>
          <a:bodyPr wrap="square" lIns="25400" tIns="25400" rIns="25400" bIns="25400" rtlCol="0" anchor="t">
            <a:noAutofit/>
          </a:bodyPr>
          <a:lstStyle/>
          <a:p>
            <a:pPr algn="l" indent="0" marL="0">
              <a:buNone/>
            </a:pPr>
            <a:r>
              <a:rPr lang="en-US" sz="1600" b="1" dirty="0">
                <a:solidFill>
                  <a:srgbClr val="00B0F0"/>
                </a:solidFill>
                <a:latin typeface="+mn-lt"/>
                <a:ea typeface="+mn-ea"/>
                <a:cs typeface="+mn-cs"/>
              </a:rPr>
              <a:t>AGENT</a:t>
            </a:r>
            <a:endParaRPr lang="en-US" sz="1600" dirty="0"/>
          </a:p>
        </p:txBody>
      </p:sp>
      <p:sp xmlns:p="http://schemas.openxmlformats.org/presentationml/2006/main" xmlns:a="http://schemas.openxmlformats.org/drawingml/2006/main" xmlns:r="http://schemas.openxmlformats.org/officeDocument/2006/relationships">
        <p:nvSpPr>
          <p:cNvPr id="11" name="Text 28"/>
          <p:cNvSpPr txBox="1"/>
          <p:nvPr/>
        </p:nvSpPr>
        <p:spPr>
          <a:xfrm>
            <a:off x="2011680" y="4901184"/>
            <a:ext cx="11311128" cy="1110996"/>
          </a:xfrm>
          <a:prstGeom prst="rect">
            <a:avLst/>
          </a:prstGeom>
          <a:noFill/>
          <a:ln/>
        </p:spPr>
        <p:txBody>
          <a:bodyPr wrap="square" lIns="25400" tIns="25400" rIns="25400" bIns="25400" rtlCol="0" anchor="t">
            <a:noAutofit/>
          </a:bodyPr>
          <a:lstStyle/>
          <a:p>
            <a:pPr algn="l" indent="0" marL="0">
              <a:spcAft>
                <a:spcPts val="400"/>
              </a:spcAft>
              <a:buNone/>
            </a:pPr>
            <a:r>
              <a:rPr lang="en-US" sz="1800" dirty="0">
                <a:solidFill>
                  <a:srgbClr val="FFFFFF"/>
                </a:solidFill>
                <a:latin typeface="+mn-lt"/>
                <a:ea typeface="+mn-ea"/>
                <a:cs typeface="+mn-cs"/>
              </a:rPr>
              <a:t>beam.m computes the tip deflection of a cantilever under a point load, δ = PL³/(3EI), in SI units, and prints it in mm. tests/testBeam.m checks that result; run it with runtests('tests'). I can’t run MATLAB here, so I haven’t executed the tests.</a:t>
            </a:r>
            <a:endParaRPr lang="en-US" sz="1800" dirty="0"/>
          </a:p>
        </p:txBody>
      </p:sp>
      <p:sp xmlns:p="http://schemas.openxmlformats.org/presentationml/2006/main" xmlns:a="http://schemas.openxmlformats.org/drawingml/2006/main" xmlns:r="http://schemas.openxmlformats.org/officeDocument/2006/relationships">
        <p:nvSpPr>
          <p:cNvPr id="12" name="Text 29"/>
          <p:cNvSpPr txBox="1"/>
          <p:nvPr/>
        </p:nvSpPr>
        <p:spPr>
          <a:xfrm>
            <a:off x="1810512" y="6423660"/>
            <a:ext cx="11704320" cy="822960"/>
          </a:xfrm>
          <a:prstGeom prst="rect">
            <a:avLst/>
          </a:prstGeom>
          <a:noFill/>
          <a:ln/>
        </p:spPr>
        <p:txBody>
          <a:bodyPr wrap="square" lIns="25400" tIns="25400" rIns="25400" bIns="25400" rtlCol="0" anchor="t">
            <a:noAutofit/>
          </a:bodyPr>
          <a:lstStyle/>
          <a:p>
            <a:pPr algn="l" indent="0" marL="0">
              <a:buNone/>
            </a:pPr>
            <a:r>
              <a:rPr lang="en-US" sz="1900" b="1" dirty="0">
                <a:solidFill>
                  <a:srgbClr val="000000"/>
                </a:solidFill>
                <a:latin typeface="+mn-lt"/>
                <a:ea typeface="+mn-ea"/>
                <a:cs typeface="+mn-cs"/>
              </a:rPr>
              <a:t>Check the summary against the code. If the agent misunderstands the code now, its changes will be wrong too.</a:t>
            </a:r>
            <a:endParaRPr lang="en-US" sz="1900" dirty="0"/>
          </a:p>
        </p:txBody>
      </p:sp>
      <p:sp xmlns:p="http://schemas.openxmlformats.org/presentationml/2006/main" xmlns:a="http://schemas.openxmlformats.org/drawingml/2006/main" xmlns:r="http://schemas.openxmlformats.org/officeDocument/2006/relationships">
        <p:nvSpPr>
          <p:cNvPr id="13" name="Nav highlight"/>
          <p:cNvSpPr txBox="1"/>
          <p:nvPr userDrawn="1"/>
        </p:nvSpPr>
        <p:spPr>
          <a:xfrm>
            <a:off x="133350" y="3524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Setup</a:t>
            </a:r>
            <a:endParaRPr lang="en-US" sz="1800" b="1" dirty="0"/>
          </a:p>
        </p:txBody>
      </p:sp>
      <p:sp xmlns:p="http://schemas.openxmlformats.org/presentationml/2006/main" xmlns:a="http://schemas.openxmlformats.org/drawingml/2006/main" xmlns:r="http://schemas.openxmlformats.org/officeDocument/2006/relationships">
        <p:nvSpPr>
          <p:cNvPr id="14"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2</a:t>
            </a:r>
            <a:endParaRPr lang="en-US" sz="1800" dirty="0"/>
          </a:p>
        </p:txBody>
      </p:sp>
      <p:sp xmlns:p="http://schemas.openxmlformats.org/presentationml/2006/main" xmlns:a="http://schemas.openxmlformats.org/drawingml/2006/main" xmlns:r="http://schemas.openxmlformats.org/officeDocument/2006/relationships">
        <p:nvSpPr>
          <p:cNvPr id="15" name="Slide Number"/>
          <p:cNvSpPr>
            <a:spLocks noGrp="1"/>
          </p:cNvSpPr>
          <p:nvPr>
            <p:ph type="sldNum" sz="quarter" idx="12"/>
          </p:nvPr>
        </p:nvSpPr>
        <p:spPr/>
        <p:txBody>
          <a:bodyPr/>
          <a:lstStyle/>
          <a:p>
            <a:fld id="{B6F15528-21DE-4FAA-801E-634DDDAF4B2B}" type="slidenum">
              <a:rPr lang="en-US"/>
              <a:t>‹#›</a:t>
            </a:fld>
            <a:endParaRPr lang="en-US"/>
          </a:p>
        </p:txBody>
      </p:sp>
      <p:pic>
        <p:nvPicPr>
          <p:cNvPr id="16" name="Screenshot placeholder" descr="Screenshot to add: Codex task showing the orientation prompt and the agent’s summary"/>
          <p:cNvPicPr>
            <a:picLocks noChangeAspect="1"/>
          </p:cNvPicPr>
          <p:nvPr/>
        </p:nvPicPr>
        <p:blipFill>
          <a:blip r:embed="rId3"/>
          <a:stretch>
            <a:fillRect/>
          </a:stretch>
        </p:blipFill>
        <p:spPr>
          <a:xfrm>
            <a:off x="1810512" y="7452360"/>
            <a:ext cx="6949440" cy="2057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xmlns:p="http://schemas.openxmlformats.org/presentationml/2006/main" xmlns:a="http://schemas.openxmlformats.org/drawingml/2006/main" xmlns:r="http://schemas.openxmlformats.org/officeDocument/2006/relationships">
        <p:nvSpPr>
          <p:cNvPr id="2" name="Title"/>
          <p:cNvSpPr>
            <a:spLocks noGrp="1"/>
          </p:cNvSpPr>
          <p:nvPr>
            <p:ph type="title"/>
          </p:nvPr>
        </p:nvSpPr>
        <p:spPr/>
        <p:txBody>
          <a:bodyPr/>
          <a:lstStyle/>
          <a:p>
            <a:r>
              <a:rPr lang="en-US" dirty="0"/>
              <a:t>Exercise 4: Plan Before Code</a:t>
            </a:r>
            <a:endParaRPr lang="en-US" dirty="0"/>
          </a:p>
        </p:txBody>
      </p:sp>
      <p:sp xmlns:p="http://schemas.openxmlformats.org/presentationml/2006/main" xmlns:a="http://schemas.openxmlformats.org/drawingml/2006/main" xmlns:r="http://schemas.openxmlformats.org/officeDocument/2006/relationships">
        <p:nvSpPr>
          <p:cNvPr id="3" name="Shape 20"/>
          <p:cNvSpPr/>
          <p:nvPr/>
        </p:nvSpPr>
        <p:spPr>
          <a:xfrm>
            <a:off x="1810512" y="1527048"/>
            <a:ext cx="1353312" cy="381305"/>
          </a:xfrm>
          <a:prstGeom prst="roundRect">
            <a:avLst>
              <a:gd name="adj" fmla="val 15000"/>
            </a:avLst>
          </a:prstGeom>
          <a:solidFill>
            <a:srgbClr val="595959"/>
          </a:solidFill>
          <a:ln/>
        </p:spPr>
      </p:sp>
      <p:sp xmlns:p="http://schemas.openxmlformats.org/presentationml/2006/main" xmlns:a="http://schemas.openxmlformats.org/drawingml/2006/main" xmlns:r="http://schemas.openxmlformats.org/officeDocument/2006/relationships">
        <p:nvSpPr>
          <p:cNvPr id="4" name="Text 21"/>
          <p:cNvSpPr txBox="1"/>
          <p:nvPr/>
        </p:nvSpPr>
        <p:spPr>
          <a:xfrm>
            <a:off x="1837944" y="1563624"/>
            <a:ext cx="1298448" cy="342900"/>
          </a:xfrm>
          <a:prstGeom prst="rect">
            <a:avLst/>
          </a:prstGeom>
          <a:noFill/>
          <a:ln/>
        </p:spPr>
        <p:txBody>
          <a:bodyPr wrap="square" lIns="25400" tIns="25400" rIns="25400" bIns="25400" rtlCol="0" anchor="t">
            <a:noAutofit/>
          </a:bodyPr>
          <a:lstStyle/>
          <a:p>
            <a:pPr algn="ctr" indent="0" marL="0">
              <a:buNone/>
            </a:pPr>
            <a:r>
              <a:rPr lang="en-US" sz="1800" b="1" dirty="0">
                <a:solidFill>
                  <a:srgbClr val="FFFFFF"/>
                </a:solidFill>
                <a:latin typeface="+mn-lt"/>
                <a:ea typeface="+mn-ea"/>
                <a:cs typeface="+mn-cs"/>
              </a:rPr>
              <a:t>EXERCISE</a:t>
            </a:r>
            <a:endParaRPr lang="en-US" sz="1800" dirty="0"/>
          </a:p>
        </p:txBody>
      </p:sp>
      <p:sp xmlns:p="http://schemas.openxmlformats.org/presentationml/2006/main" xmlns:a="http://schemas.openxmlformats.org/drawingml/2006/main" xmlns:r="http://schemas.openxmlformats.org/officeDocument/2006/relationships">
        <p:nvSpPr>
          <p:cNvPr id="5" name="Shape 22"/>
          <p:cNvSpPr/>
          <p:nvPr/>
        </p:nvSpPr>
        <p:spPr>
          <a:xfrm>
            <a:off x="1810512" y="2103120"/>
            <a:ext cx="5715000" cy="3383280"/>
          </a:xfrm>
          <a:prstGeom prst="roundRect">
            <a:avLst>
              <a:gd name="adj" fmla="val 4000"/>
            </a:avLst>
          </a:prstGeom>
          <a:solidFill>
            <a:srgbClr val="F2F2F2"/>
          </a:solidFill>
          <a:ln/>
        </p:spPr>
      </p:sp>
      <p:sp xmlns:p="http://schemas.openxmlformats.org/presentationml/2006/main" xmlns:a="http://schemas.openxmlformats.org/drawingml/2006/main" xmlns:r="http://schemas.openxmlformats.org/officeDocument/2006/relationships">
        <p:nvSpPr>
          <p:cNvPr id="6" name="Text 23"/>
          <p:cNvSpPr txBox="1"/>
          <p:nvPr/>
        </p:nvSpPr>
        <p:spPr>
          <a:xfrm>
            <a:off x="2011680" y="2240280"/>
            <a:ext cx="5349240" cy="347472"/>
          </a:xfrm>
          <a:prstGeom prst="rect">
            <a:avLst/>
          </a:prstGeom>
          <a:noFill/>
          <a:ln/>
        </p:spPr>
        <p:txBody>
          <a:bodyPr wrap="square" lIns="25400" tIns="25400" rIns="25400" bIns="25400" rtlCol="0" anchor="t">
            <a:noAutofit/>
          </a:bodyPr>
          <a:lstStyle/>
          <a:p>
            <a:pPr algn="l" indent="0" marL="0">
              <a:buNone/>
            </a:pPr>
            <a:r>
              <a:rPr lang="en-US" sz="1600" b="1" dirty="0">
                <a:solidFill>
                  <a:srgbClr val="1F6FB2"/>
                </a:solidFill>
                <a:latin typeface="+mn-lt"/>
                <a:ea typeface="+mn-ea"/>
                <a:cs typeface="+mn-cs"/>
              </a:rPr>
              <a:t>YOU</a:t>
            </a:r>
            <a:endParaRPr lang="en-US" sz="1600" dirty="0"/>
          </a:p>
        </p:txBody>
      </p:sp>
      <p:sp xmlns:p="http://schemas.openxmlformats.org/presentationml/2006/main" xmlns:a="http://schemas.openxmlformats.org/drawingml/2006/main" xmlns:r="http://schemas.openxmlformats.org/officeDocument/2006/relationships">
        <p:nvSpPr>
          <p:cNvPr id="7" name="Text 24"/>
          <p:cNvSpPr txBox="1"/>
          <p:nvPr/>
        </p:nvSpPr>
        <p:spPr>
          <a:xfrm>
            <a:off x="2011680" y="2606040"/>
            <a:ext cx="5349240" cy="2788920"/>
          </a:xfrm>
          <a:prstGeom prst="rect">
            <a:avLst/>
          </a:prstGeom>
          <a:noFill/>
          <a:ln/>
        </p:spPr>
        <p:txBody>
          <a:bodyPr wrap="square" lIns="25400" tIns="25400" rIns="25400" bIns="25400" rtlCol="0" anchor="t">
            <a:noAutofit/>
          </a:bodyPr>
          <a:lstStyle/>
          <a:p>
            <a:pPr algn="l" indent="0" marL="0">
              <a:spcAft>
                <a:spcPts val="400"/>
              </a:spcAft>
              <a:buNone/>
            </a:pPr>
            <a:r>
              <a:rPr lang="en-US" sz="1800" dirty="0">
                <a:solidFill>
                  <a:srgbClr val="000000"/>
                </a:solidFill>
                <a:latin typeface="+mn-lt"/>
                <a:ea typeface="+mn-ea"/>
                <a:cs typeface="+mn-cs"/>
              </a:rPr>
              <a:t>Implement the requirement: add tipDeflectionUDL(w, L, E, I), δ = wL⁴/(8EI), print it from beam.m, and add a test against the hand calculation (2.40 mm).</a:t>
            </a:r>
            <a:endParaRPr lang="en-US" sz="1800" dirty="0"/>
          </a:p>
          <a:p>
            <a:pPr algn="l" indent="0" marL="0">
              <a:spcAft>
                <a:spcPts val="400"/>
              </a:spcAft>
              <a:buNone/>
            </a:pPr>
            <a:r>
              <a:rPr lang="en-US" sz="1800" b="1" dirty="0">
                <a:solidFill>
                  <a:srgbClr val="000000"/>
                </a:solidFill>
                <a:latin typeface="+mn-lt"/>
                <a:ea typeface="+mn-ea"/>
                <a:cs typeface="+mn-cs"/>
              </a:rPr>
              <a:t>Don’t write code yet. Give me a plan: files and functions you’ll change, and any questions.</a:t>
            </a:r>
            <a:endParaRPr lang="en-US" sz="1800" dirty="0"/>
          </a:p>
        </p:txBody>
      </p:sp>
      <p:sp xmlns:p="http://schemas.openxmlformats.org/presentationml/2006/main" xmlns:a="http://schemas.openxmlformats.org/drawingml/2006/main" xmlns:r="http://schemas.openxmlformats.org/officeDocument/2006/relationships">
        <p:nvSpPr>
          <p:cNvPr id="8" name="Shape 25"/>
          <p:cNvSpPr/>
          <p:nvPr/>
        </p:nvSpPr>
        <p:spPr>
          <a:xfrm>
            <a:off x="7772400" y="2103120"/>
            <a:ext cx="5715000" cy="3383280"/>
          </a:xfrm>
          <a:prstGeom prst="roundRect">
            <a:avLst>
              <a:gd name="adj" fmla="val 4000"/>
            </a:avLst>
          </a:prstGeom>
          <a:solidFill>
            <a:srgbClr val="152A47"/>
          </a:solidFill>
          <a:ln/>
        </p:spPr>
      </p:sp>
      <p:sp xmlns:p="http://schemas.openxmlformats.org/presentationml/2006/main" xmlns:a="http://schemas.openxmlformats.org/drawingml/2006/main" xmlns:r="http://schemas.openxmlformats.org/officeDocument/2006/relationships">
        <p:nvSpPr>
          <p:cNvPr id="9" name="Text 26"/>
          <p:cNvSpPr txBox="1"/>
          <p:nvPr/>
        </p:nvSpPr>
        <p:spPr>
          <a:xfrm>
            <a:off x="7973568" y="2240280"/>
            <a:ext cx="5349240" cy="347472"/>
          </a:xfrm>
          <a:prstGeom prst="rect">
            <a:avLst/>
          </a:prstGeom>
          <a:noFill/>
          <a:ln/>
        </p:spPr>
        <p:txBody>
          <a:bodyPr wrap="square" lIns="25400" tIns="25400" rIns="25400" bIns="25400" rtlCol="0" anchor="t">
            <a:noAutofit/>
          </a:bodyPr>
          <a:lstStyle/>
          <a:p>
            <a:pPr algn="l" indent="0" marL="0">
              <a:buNone/>
            </a:pPr>
            <a:r>
              <a:rPr lang="en-US" sz="1600" b="1" dirty="0">
                <a:solidFill>
                  <a:srgbClr val="00B0F0"/>
                </a:solidFill>
                <a:latin typeface="+mn-lt"/>
                <a:ea typeface="+mn-ea"/>
                <a:cs typeface="+mn-cs"/>
              </a:rPr>
              <a:t>AGENT</a:t>
            </a:r>
            <a:endParaRPr lang="en-US" sz="1600" dirty="0"/>
          </a:p>
        </p:txBody>
      </p:sp>
      <p:sp xmlns:p="http://schemas.openxmlformats.org/presentationml/2006/main" xmlns:a="http://schemas.openxmlformats.org/drawingml/2006/main" xmlns:r="http://schemas.openxmlformats.org/officeDocument/2006/relationships">
        <p:nvSpPr>
          <p:cNvPr id="10" name="Text 27"/>
          <p:cNvSpPr txBox="1"/>
          <p:nvPr/>
        </p:nvSpPr>
        <p:spPr>
          <a:xfrm>
            <a:off x="7973568" y="2606040"/>
            <a:ext cx="5349240" cy="2788920"/>
          </a:xfrm>
          <a:prstGeom prst="rect">
            <a:avLst/>
          </a:prstGeom>
          <a:noFill/>
          <a:ln/>
        </p:spPr>
        <p:txBody>
          <a:bodyPr wrap="square" lIns="25400" tIns="25400" rIns="25400" bIns="25400" rtlCol="0" anchor="t">
            <a:noAutofit/>
          </a:bodyPr>
          <a:lstStyle/>
          <a:p>
            <a:pPr algn="l" indent="0" marL="0">
              <a:spcAft>
                <a:spcPts val="400"/>
              </a:spcAft>
              <a:buNone/>
            </a:pPr>
            <a:r>
              <a:rPr lang="en-US" sz="1800" dirty="0">
                <a:solidFill>
                  <a:srgbClr val="FFFFFF"/>
                </a:solidFill>
                <a:latin typeface="+mn-lt"/>
                <a:ea typeface="+mn-ea"/>
                <a:cs typeface="+mn-cs"/>
              </a:rPr>
              <a:t>Plan:</a:t>
            </a:r>
            <a:endParaRPr lang="en-US" sz="1800" dirty="0"/>
          </a:p>
          <a:p>
            <a:pPr algn="l" indent="0" marL="0">
              <a:spcAft>
                <a:spcPts val="400"/>
              </a:spcAft>
              <a:buNone/>
            </a:pPr>
            <a:r>
              <a:rPr lang="en-US" sz="1800" dirty="0">
                <a:solidFill>
                  <a:srgbClr val="FFFFFF"/>
                </a:solidFill>
                <a:latin typeface="+mn-lt"/>
                <a:ea typeface="+mn-ea"/>
                <a:cs typeface="+mn-cs"/>
              </a:rPr>
              <a:t>1. New file tipDeflectionUDL.m.</a:t>
            </a:r>
            <a:endParaRPr lang="en-US" sz="1800" dirty="0"/>
          </a:p>
          <a:p>
            <a:pPr algn="l" indent="0" marL="0">
              <a:spcAft>
                <a:spcPts val="400"/>
              </a:spcAft>
              <a:buNone/>
            </a:pPr>
            <a:r>
              <a:rPr lang="en-US" sz="1800" dirty="0">
                <a:solidFill>
                  <a:srgbClr val="FFFFFF"/>
                </a:solidFill>
                <a:latin typeface="+mn-lt"/>
                <a:ea typeface="+mn-ea"/>
                <a:cs typeface="+mn-cs"/>
              </a:rPr>
              <a:t>2. beam.m: add w = 1000 N/m; print the result after the point load.</a:t>
            </a:r>
            <a:endParaRPr lang="en-US" sz="1800" dirty="0"/>
          </a:p>
          <a:p>
            <a:pPr algn="l" indent="0" marL="0">
              <a:spcAft>
                <a:spcPts val="400"/>
              </a:spcAft>
              <a:buNone/>
            </a:pPr>
            <a:r>
              <a:rPr lang="en-US" sz="1800" dirty="0">
                <a:solidFill>
                  <a:srgbClr val="FFFFFF"/>
                </a:solidFill>
                <a:latin typeface="+mn-lt"/>
                <a:ea typeface="+mn-ea"/>
                <a:cs typeface="+mn-cs"/>
              </a:rPr>
              <a:t>3. tests/testBeam.m: add testUDLHandCalc.</a:t>
            </a:r>
            <a:endParaRPr lang="en-US" sz="1800" dirty="0"/>
          </a:p>
          <a:p>
            <a:pPr algn="l" indent="0" marL="0">
              <a:spcAft>
                <a:spcPts val="400"/>
              </a:spcAft>
              <a:buNone/>
            </a:pPr>
            <a:r>
              <a:rPr lang="en-US" sz="1800" dirty="0">
                <a:solidFill>
                  <a:srgbClr val="FFC000"/>
                </a:solidFill>
                <a:latin typeface="+mn-lt"/>
                <a:ea typeface="+mn-ea"/>
                <a:cs typeface="+mn-cs"/>
              </a:rPr>
              <a:t>Question: does w act over the full length?</a:t>
            </a:r>
            <a:endParaRPr lang="en-US" sz="1800" dirty="0"/>
          </a:p>
        </p:txBody>
      </p:sp>
      <p:sp xmlns:p="http://schemas.openxmlformats.org/presentationml/2006/main" xmlns:a="http://schemas.openxmlformats.org/drawingml/2006/main" xmlns:r="http://schemas.openxmlformats.org/officeDocument/2006/relationships">
        <p:nvSpPr>
          <p:cNvPr id="11" name="Shape 28"/>
          <p:cNvSpPr/>
          <p:nvPr/>
        </p:nvSpPr>
        <p:spPr>
          <a:xfrm>
            <a:off x="1810512" y="5760720"/>
            <a:ext cx="11676888" cy="1051560"/>
          </a:xfrm>
          <a:prstGeom prst="roundRect">
            <a:avLst>
              <a:gd name="adj" fmla="val 4000"/>
            </a:avLst>
          </a:prstGeom>
          <a:solidFill>
            <a:srgbClr val="F2F2F2"/>
          </a:solidFill>
          <a:ln/>
        </p:spPr>
      </p:sp>
      <p:sp xmlns:p="http://schemas.openxmlformats.org/presentationml/2006/main" xmlns:a="http://schemas.openxmlformats.org/drawingml/2006/main" xmlns:r="http://schemas.openxmlformats.org/officeDocument/2006/relationships">
        <p:nvSpPr>
          <p:cNvPr id="12" name="Text 29"/>
          <p:cNvSpPr txBox="1"/>
          <p:nvPr/>
        </p:nvSpPr>
        <p:spPr>
          <a:xfrm>
            <a:off x="2011680" y="5897880"/>
            <a:ext cx="11311128" cy="347472"/>
          </a:xfrm>
          <a:prstGeom prst="rect">
            <a:avLst/>
          </a:prstGeom>
          <a:noFill/>
          <a:ln/>
        </p:spPr>
        <p:txBody>
          <a:bodyPr wrap="square" lIns="25400" tIns="25400" rIns="25400" bIns="25400" rtlCol="0" anchor="t">
            <a:noAutofit/>
          </a:bodyPr>
          <a:lstStyle/>
          <a:p>
            <a:pPr algn="l" indent="0" marL="0">
              <a:buNone/>
            </a:pPr>
            <a:r>
              <a:rPr lang="en-US" sz="1600" b="1" dirty="0">
                <a:solidFill>
                  <a:srgbClr val="1F6FB2"/>
                </a:solidFill>
                <a:latin typeface="+mn-lt"/>
                <a:ea typeface="+mn-ea"/>
                <a:cs typeface="+mn-cs"/>
              </a:rPr>
              <a:t>YOU</a:t>
            </a:r>
            <a:endParaRPr lang="en-US" sz="1600" dirty="0"/>
          </a:p>
        </p:txBody>
      </p:sp>
      <p:sp xmlns:p="http://schemas.openxmlformats.org/presentationml/2006/main" xmlns:a="http://schemas.openxmlformats.org/drawingml/2006/main" xmlns:r="http://schemas.openxmlformats.org/officeDocument/2006/relationships">
        <p:nvSpPr>
          <p:cNvPr id="13" name="Text 30"/>
          <p:cNvSpPr txBox="1"/>
          <p:nvPr/>
        </p:nvSpPr>
        <p:spPr>
          <a:xfrm>
            <a:off x="2011680" y="6263640"/>
            <a:ext cx="11311128" cy="457200"/>
          </a:xfrm>
          <a:prstGeom prst="rect">
            <a:avLst/>
          </a:prstGeom>
          <a:noFill/>
          <a:ln/>
        </p:spPr>
        <p:txBody>
          <a:bodyPr wrap="square" lIns="25400" tIns="25400" rIns="25400" bIns="25400" rtlCol="0" anchor="t">
            <a:noAutofit/>
          </a:bodyPr>
          <a:lstStyle/>
          <a:p>
            <a:pPr algn="l" indent="0" marL="0">
              <a:spcAft>
                <a:spcPts val="400"/>
              </a:spcAft>
              <a:buNone/>
            </a:pPr>
            <a:r>
              <a:rPr lang="en-US" sz="1800" dirty="0">
                <a:solidFill>
                  <a:srgbClr val="000000"/>
                </a:solidFill>
                <a:latin typeface="+mn-lt"/>
                <a:ea typeface="+mn-ea"/>
                <a:cs typeface="+mn-cs"/>
              </a:rPr>
              <a:t>Full length. Plan approved. Implement it and commit.</a:t>
            </a:r>
            <a:endParaRPr lang="en-US" sz="1800" dirty="0"/>
          </a:p>
        </p:txBody>
      </p:sp>
      <p:sp xmlns:p="http://schemas.openxmlformats.org/presentationml/2006/main" xmlns:a="http://schemas.openxmlformats.org/drawingml/2006/main" xmlns:r="http://schemas.openxmlformats.org/officeDocument/2006/relationships">
        <p:nvSpPr>
          <p:cNvPr id="14" name="Text 31"/>
          <p:cNvSpPr txBox="1"/>
          <p:nvPr/>
        </p:nvSpPr>
        <p:spPr>
          <a:xfrm>
            <a:off x="1810512" y="7086600"/>
            <a:ext cx="11704320" cy="731520"/>
          </a:xfrm>
          <a:prstGeom prst="rect">
            <a:avLst/>
          </a:prstGeom>
          <a:noFill/>
          <a:ln/>
        </p:spPr>
        <p:txBody>
          <a:bodyPr wrap="square" lIns="25400" tIns="25400" rIns="25400" bIns="25400" rtlCol="0" anchor="t">
            <a:noAutofit/>
          </a:bodyPr>
          <a:lstStyle/>
          <a:p>
            <a:pPr algn="l" indent="0" marL="0">
              <a:buNone/>
            </a:pPr>
            <a:r>
              <a:rPr lang="en-US" sz="1800" dirty="0">
                <a:solidFill>
                  <a:srgbClr val="404040"/>
                </a:solidFill>
                <a:latin typeface="+mn-lt"/>
                <a:ea typeface="+mn-ea"/>
                <a:cs typeface="+mn-cs"/>
              </a:rPr>
              <a:t>Check the plan for: expected files only · real MATLAB functions · questions answered by you, not guessed.</a:t>
            </a:r>
            <a:endParaRPr lang="en-US" sz="1800" dirty="0"/>
          </a:p>
        </p:txBody>
      </p:sp>
      <p:sp xmlns:p="http://schemas.openxmlformats.org/presentationml/2006/main" xmlns:a="http://schemas.openxmlformats.org/drawingml/2006/main" xmlns:r="http://schemas.openxmlformats.org/officeDocument/2006/relationships">
        <p:nvSpPr>
          <p:cNvPr id="15" name="Nav highlight"/>
          <p:cNvSpPr txBox="1"/>
          <p:nvPr userDrawn="1"/>
        </p:nvSpPr>
        <p:spPr>
          <a:xfrm>
            <a:off x="133350" y="3905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Generate</a:t>
            </a:r>
            <a:endParaRPr lang="en-US" sz="1800" b="1" dirty="0"/>
          </a:p>
        </p:txBody>
      </p:sp>
      <p:sp xmlns:p="http://schemas.openxmlformats.org/presentationml/2006/main" xmlns:a="http://schemas.openxmlformats.org/drawingml/2006/main" xmlns:r="http://schemas.openxmlformats.org/officeDocument/2006/relationships">
        <p:nvSpPr>
          <p:cNvPr id="16"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2</a:t>
            </a:r>
            <a:endParaRPr lang="en-US" sz="1800" dirty="0"/>
          </a:p>
        </p:txBody>
      </p:sp>
      <p:sp xmlns:p="http://schemas.openxmlformats.org/presentationml/2006/main" xmlns:a="http://schemas.openxmlformats.org/drawingml/2006/main" xmlns:r="http://schemas.openxmlformats.org/officeDocument/2006/relationships">
        <p:nvSpPr>
          <p:cNvPr id="17" name="Slide Numb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xmlns:p="http://schemas.openxmlformats.org/presentationml/2006/main" xmlns:a="http://schemas.openxmlformats.org/drawingml/2006/main" xmlns:r="http://schemas.openxmlformats.org/officeDocument/2006/relationships">
        <p:nvSpPr>
          <p:cNvPr id="2" name="Title"/>
          <p:cNvSpPr>
            <a:spLocks noGrp="1"/>
          </p:cNvSpPr>
          <p:nvPr>
            <p:ph type="title"/>
          </p:nvPr>
        </p:nvSpPr>
        <p:spPr/>
        <p:txBody>
          <a:bodyPr/>
          <a:lstStyle/>
          <a:p>
            <a:r>
              <a:rPr lang="en-US" dirty="0"/>
              <a:t>Exercise 5: Review the Diff</a:t>
            </a:r>
            <a:endParaRPr lang="en-US" dirty="0"/>
          </a:p>
        </p:txBody>
      </p:sp>
      <p:sp xmlns:p="http://schemas.openxmlformats.org/presentationml/2006/main" xmlns:a="http://schemas.openxmlformats.org/drawingml/2006/main" xmlns:r="http://schemas.openxmlformats.org/officeDocument/2006/relationships">
        <p:nvSpPr>
          <p:cNvPr id="3" name="Shape 20"/>
          <p:cNvSpPr/>
          <p:nvPr/>
        </p:nvSpPr>
        <p:spPr>
          <a:xfrm>
            <a:off x="1810512" y="1527048"/>
            <a:ext cx="7543800" cy="5111496"/>
          </a:xfrm>
          <a:prstGeom prst="roundRect">
            <a:avLst>
              <a:gd name="adj" fmla="val 4025"/>
            </a:avLst>
          </a:prstGeom>
          <a:solidFill>
            <a:srgbClr val="1E1E1E"/>
          </a:solidFill>
          <a:ln/>
        </p:spPr>
        <p:txBody>
          <a:bodyPr/>
          <a:p/>
        </p:txBody>
      </p:sp>
      <p:sp xmlns:p="http://schemas.openxmlformats.org/presentationml/2006/main" xmlns:a="http://schemas.openxmlformats.org/drawingml/2006/main" xmlns:r="http://schemas.openxmlformats.org/officeDocument/2006/relationships">
        <p:nvSpPr>
          <p:cNvPr id="4" name="Text 21"/>
          <p:cNvSpPr txBox="1"/>
          <p:nvPr/>
        </p:nvSpPr>
        <p:spPr>
          <a:xfrm>
            <a:off x="2011680" y="1728216"/>
            <a:ext cx="7141464" cy="4709160"/>
          </a:xfrm>
          <a:prstGeom prst="rect">
            <a:avLst/>
          </a:prstGeom>
          <a:noFill/>
          <a:ln/>
        </p:spPr>
        <p:txBody>
          <a:bodyPr wrap="none" lIns="25400" tIns="25400" rIns="25400" bIns="25400" rtlCol="0" anchor="t">
            <a:noAutofit/>
          </a:bodyPr>
          <a:lstStyle/>
          <a:p>
            <a:pPr algn="l" indent="0" marL="0">
              <a:lnSpc>
                <a:spcPct val="120000"/>
              </a:lnSpc>
              <a:buNone/>
            </a:pPr>
            <a:r>
              <a:rPr lang="en-US" sz="1500" dirty="0">
                <a:solidFill>
                  <a:srgbClr val="00B0F0"/>
                </a:solidFill>
                <a:latin typeface="Consolas" pitchFamily="34" charset="0"/>
                <a:ea typeface="Consolas" pitchFamily="34" charset="-122"/>
                <a:cs typeface="Consolas" pitchFamily="34" charset="-120"/>
              </a:rPr>
              <a:t>codex/udl-deflection · 3 files  +12 −0</a:t>
            </a:r>
            <a:endParaRPr lang="en-US" sz="1500" dirty="0"/>
          </a:p>
          <a:p>
            <a:pPr algn="l" indent="0" marL="0">
              <a:lnSpc>
                <a:spcPct val="120000"/>
              </a:lnSpc>
              <a:buNone/>
            </a:pPr>
            <a:r>
              <a:rPr lang="en-US" sz="1500" dirty="0">
                <a:solidFill>
                  <a:srgbClr val="8C8C8C"/>
                </a:solidFill>
                <a:latin typeface="Consolas" pitchFamily="34" charset="0"/>
                <a:ea typeface="Consolas" pitchFamily="34" charset="-122"/>
                <a:cs typeface="Consolas" pitchFamily="34" charset="-120"/>
              </a:rPr>
              <a:t>@@ tipDeflectionUDL.m (new) @@</a:t>
            </a:r>
            <a:endParaRPr lang="en-US" sz="1500" dirty="0"/>
          </a:p>
          <a:p>
            <a:pPr algn="l" indent="0" marL="0">
              <a:lnSpc>
                <a:spcPct val="120000"/>
              </a:lnSpc>
              <a:buNone/>
            </a:pPr>
            <a:r>
              <a:rPr lang="en-US" sz="1500" dirty="0">
                <a:solidFill>
                  <a:srgbClr val="89D185"/>
                </a:solidFill>
                <a:latin typeface="Consolas" pitchFamily="34" charset="0"/>
                <a:ea typeface="Consolas" pitchFamily="34" charset="-122"/>
                <a:cs typeface="Consolas" pitchFamily="34" charset="-120"/>
              </a:rPr>
              <a:t>+function d = tipDeflectionUDL(w, L, E, I)</a:t>
            </a:r>
            <a:endParaRPr lang="en-US" sz="1500" dirty="0"/>
          </a:p>
          <a:p>
            <a:pPr algn="l" indent="0" marL="0">
              <a:lnSpc>
                <a:spcPct val="120000"/>
              </a:lnSpc>
              <a:buNone/>
            </a:pPr>
            <a:r>
              <a:rPr lang="en-US" sz="1500" dirty="0">
                <a:solidFill>
                  <a:srgbClr val="89D185"/>
                </a:solidFill>
                <a:latin typeface="Consolas" pitchFamily="34" charset="0"/>
                <a:ea typeface="Consolas" pitchFamily="34" charset="-122"/>
                <a:cs typeface="Consolas" pitchFamily="34" charset="-120"/>
              </a:rPr>
              <a:t>+% Tip deflection, uniform load w (N/m)</a:t>
            </a:r>
            <a:endParaRPr lang="en-US" sz="1500" dirty="0"/>
          </a:p>
          <a:p>
            <a:pPr algn="l" indent="0" marL="0">
              <a:lnSpc>
                <a:spcPct val="120000"/>
              </a:lnSpc>
              <a:buNone/>
            </a:pPr>
            <a:r>
              <a:rPr lang="en-US" sz="1500" dirty="0">
                <a:solidFill>
                  <a:srgbClr val="89D185"/>
                </a:solidFill>
                <a:latin typeface="Consolas" pitchFamily="34" charset="0"/>
                <a:ea typeface="Consolas" pitchFamily="34" charset="-122"/>
                <a:cs typeface="Consolas" pitchFamily="34" charset="-120"/>
              </a:rPr>
              <a:t>+d = w*L^4/(8*E*I);       % m</a:t>
            </a:r>
            <a:endParaRPr lang="en-US" sz="1500" dirty="0"/>
          </a:p>
          <a:p>
            <a:pPr algn="l" indent="0" marL="0">
              <a:lnSpc>
                <a:spcPct val="120000"/>
              </a:lnSpc>
              <a:buNone/>
            </a:pPr>
            <a:r>
              <a:rPr lang="en-US" sz="1500" dirty="0">
                <a:solidFill>
                  <a:srgbClr val="89D185"/>
                </a:solidFill>
                <a:latin typeface="Consolas" pitchFamily="34" charset="0"/>
                <a:ea typeface="Consolas" pitchFamily="34" charset="-122"/>
                <a:cs typeface="Consolas" pitchFamily="34" charset="-120"/>
              </a:rPr>
              <a:t>+end</a:t>
            </a:r>
            <a:endParaRPr lang="en-US" sz="1500" dirty="0"/>
          </a:p>
          <a:p>
            <a:pPr algn="l" indent="0" marL="0">
              <a:lnSpc>
                <a:spcPct val="120000"/>
              </a:lnSpc>
              <a:buNone/>
            </a:pPr>
            <a:r>
              <a:rPr lang="en-US" sz="1500" dirty="0">
                <a:solidFill>
                  <a:srgbClr val="8C8C8C"/>
                </a:solidFill>
                <a:latin typeface="Consolas" pitchFamily="34" charset="0"/>
                <a:ea typeface="Consolas" pitchFamily="34" charset="-122"/>
                <a:cs typeface="Consolas" pitchFamily="34" charset="-120"/>
              </a:rPr>
              <a:t>@@ beam.m @@</a:t>
            </a:r>
            <a:endParaRPr lang="en-US" sz="1500" dirty="0"/>
          </a:p>
          <a:p>
            <a:pPr algn="l" indent="0" marL="0">
              <a:lnSpc>
                <a:spcPct val="120000"/>
              </a:lnSpc>
              <a:buNone/>
            </a:pPr>
            <a:r>
              <a:rPr lang="en-US" sz="1500" dirty="0">
                <a:solidFill>
                  <a:srgbClr val="D4D4D4"/>
                </a:solidFill>
                <a:latin typeface="Consolas" pitchFamily="34" charset="0"/>
                <a:ea typeface="Consolas" pitchFamily="34" charset="-122"/>
                <a:cs typeface="Consolas" pitchFamily="34" charset="-120"/>
              </a:rPr>
              <a:t xml:space="preserve"> fprintf('Tip deflection: %.2f mm\n', ...)</a:t>
            </a:r>
            <a:endParaRPr lang="en-US" sz="1500" dirty="0"/>
          </a:p>
          <a:p>
            <a:pPr algn="l" indent="0" marL="0">
              <a:lnSpc>
                <a:spcPct val="120000"/>
              </a:lnSpc>
              <a:buNone/>
            </a:pPr>
            <a:r>
              <a:rPr lang="en-US" sz="1500" dirty="0">
                <a:solidFill>
                  <a:srgbClr val="89D185"/>
                </a:solidFill>
                <a:latin typeface="Consolas" pitchFamily="34" charset="0"/>
                <a:ea typeface="Consolas" pitchFamily="34" charset="-122"/>
                <a:cs typeface="Consolas" pitchFamily="34" charset="-120"/>
              </a:rPr>
              <a:t>+w = 1000;                % N/m, uniform</a:t>
            </a:r>
            <a:endParaRPr lang="en-US" sz="1500" dirty="0"/>
          </a:p>
          <a:p>
            <a:pPr algn="l" indent="0" marL="0">
              <a:lnSpc>
                <a:spcPct val="120000"/>
              </a:lnSpc>
              <a:buNone/>
            </a:pPr>
            <a:r>
              <a:rPr lang="en-US" sz="1500" dirty="0">
                <a:solidFill>
                  <a:srgbClr val="89D185"/>
                </a:solidFill>
                <a:latin typeface="Consolas" pitchFamily="34" charset="0"/>
                <a:ea typeface="Consolas" pitchFamily="34" charset="-122"/>
                <a:cs typeface="Consolas" pitchFamily="34" charset="-120"/>
              </a:rPr>
              <a:t>+dW = tipDeflectionUDL(w, L, E, I);</a:t>
            </a:r>
            <a:endParaRPr lang="en-US" sz="1500" dirty="0"/>
          </a:p>
          <a:p>
            <a:pPr algn="l" indent="0" marL="0">
              <a:lnSpc>
                <a:spcPct val="120000"/>
              </a:lnSpc>
              <a:buNone/>
            </a:pPr>
            <a:r>
              <a:rPr lang="en-US" sz="1500" dirty="0">
                <a:solidFill>
                  <a:srgbClr val="89D185"/>
                </a:solidFill>
                <a:latin typeface="Consolas" pitchFamily="34" charset="0"/>
                <a:ea typeface="Consolas" pitchFamily="34" charset="-122"/>
                <a:cs typeface="Consolas" pitchFamily="34" charset="-120"/>
              </a:rPr>
              <a:t>+fprintf('UDL deflection: %.2f mm\n', ...)</a:t>
            </a:r>
            <a:endParaRPr lang="en-US" sz="1500" dirty="0"/>
          </a:p>
          <a:p>
            <a:pPr algn="l" indent="0" marL="0">
              <a:lnSpc>
                <a:spcPct val="120000"/>
              </a:lnSpc>
              <a:buNone/>
            </a:pPr>
            <a:r>
              <a:rPr lang="en-US" sz="1500" dirty="0">
                <a:solidFill>
                  <a:srgbClr val="8C8C8C"/>
                </a:solidFill>
                <a:latin typeface="Consolas" pitchFamily="34" charset="0"/>
                <a:ea typeface="Consolas" pitchFamily="34" charset="-122"/>
                <a:cs typeface="Consolas" pitchFamily="34" charset="-120"/>
              </a:rPr>
              <a:t>@@ tests/testBeam.m @@</a:t>
            </a:r>
            <a:endParaRPr lang="en-US" sz="1500" dirty="0"/>
          </a:p>
          <a:p>
            <a:pPr algn="l" indent="0" marL="0">
              <a:lnSpc>
                <a:spcPct val="120000"/>
              </a:lnSpc>
              <a:buNone/>
            </a:pPr>
            <a:r>
              <a:rPr lang="en-US" sz="1500" dirty="0">
                <a:solidFill>
                  <a:srgbClr val="89D185"/>
                </a:solidFill>
                <a:latin typeface="Consolas" pitchFamily="34" charset="0"/>
                <a:ea typeface="Consolas" pitchFamily="34" charset="-122"/>
                <a:cs typeface="Consolas" pitchFamily="34" charset="-120"/>
              </a:rPr>
              <a:t>+function testUDLHandCalc(tc)</a:t>
            </a:r>
            <a:endParaRPr lang="en-US" sz="1500" dirty="0"/>
          </a:p>
          <a:p>
            <a:pPr algn="l" indent="0" marL="0">
              <a:lnSpc>
                <a:spcPct val="120000"/>
              </a:lnSpc>
              <a:buNone/>
            </a:pPr>
            <a:r>
              <a:rPr lang="en-US" sz="1500" dirty="0">
                <a:solidFill>
                  <a:srgbClr val="89D185"/>
                </a:solidFill>
                <a:latin typeface="Consolas" pitchFamily="34" charset="0"/>
                <a:ea typeface="Consolas" pitchFamily="34" charset="-122"/>
                <a:cs typeface="Consolas" pitchFamily="34" charset="-120"/>
              </a:rPr>
              <a:t>+I = 0.05*0.10^3/12;</a:t>
            </a:r>
            <a:endParaRPr lang="en-US" sz="1500" dirty="0"/>
          </a:p>
          <a:p>
            <a:pPr algn="l" indent="0" marL="0">
              <a:lnSpc>
                <a:spcPct val="120000"/>
              </a:lnSpc>
              <a:buNone/>
            </a:pPr>
            <a:r>
              <a:rPr lang="en-US" sz="1500" dirty="0">
                <a:solidFill>
                  <a:srgbClr val="89D185"/>
                </a:solidFill>
                <a:latin typeface="Consolas" pitchFamily="34" charset="0"/>
                <a:ea typeface="Consolas" pitchFamily="34" charset="-122"/>
                <a:cs typeface="Consolas" pitchFamily="34" charset="-120"/>
              </a:rPr>
              <a:t>+d = tipDeflectionUDL(1000, 2.0, 200e9, I);</a:t>
            </a:r>
            <a:endParaRPr lang="en-US" sz="1500" dirty="0"/>
          </a:p>
          <a:p>
            <a:pPr algn="l" indent="0" marL="0">
              <a:lnSpc>
                <a:spcPct val="120000"/>
              </a:lnSpc>
              <a:buNone/>
            </a:pPr>
            <a:r>
              <a:rPr lang="en-US" sz="1500" dirty="0">
                <a:solidFill>
                  <a:srgbClr val="89D185"/>
                </a:solidFill>
                <a:latin typeface="Consolas" pitchFamily="34" charset="0"/>
                <a:ea typeface="Consolas" pitchFamily="34" charset="-122"/>
                <a:cs typeface="Consolas" pitchFamily="34" charset="-120"/>
              </a:rPr>
              <a:t>+verifyEqual(tc, d, 2.40e-3, 'RelTol', 1e-3)</a:t>
            </a:r>
            <a:endParaRPr lang="en-US" sz="1500" dirty="0"/>
          </a:p>
          <a:p>
            <a:pPr algn="l" indent="0" marL="0">
              <a:lnSpc>
                <a:spcPct val="120000"/>
              </a:lnSpc>
              <a:buNone/>
            </a:pPr>
            <a:r>
              <a:rPr lang="en-US" sz="1500" dirty="0">
                <a:solidFill>
                  <a:srgbClr val="89D185"/>
                </a:solidFill>
                <a:latin typeface="Consolas" pitchFamily="34" charset="0"/>
                <a:ea typeface="Consolas" pitchFamily="34" charset="-122"/>
                <a:cs typeface="Consolas" pitchFamily="34" charset="-120"/>
              </a:rPr>
              <a:t>+end</a:t>
            </a:r>
            <a:endParaRPr lang="en-US" sz="1500" dirty="0"/>
          </a:p>
        </p:txBody>
      </p:sp>
      <p:sp xmlns:p="http://schemas.openxmlformats.org/presentationml/2006/main" xmlns:a="http://schemas.openxmlformats.org/drawingml/2006/main" xmlns:r="http://schemas.openxmlformats.org/officeDocument/2006/relationships">
        <p:nvSpPr>
          <p:cNvPr id="5" name="Shape 22"/>
          <p:cNvSpPr/>
          <p:nvPr/>
        </p:nvSpPr>
        <p:spPr>
          <a:xfrm>
            <a:off x="9646920" y="1527048"/>
            <a:ext cx="1353312" cy="381305"/>
          </a:xfrm>
          <a:prstGeom prst="roundRect">
            <a:avLst>
              <a:gd name="adj" fmla="val 15000"/>
            </a:avLst>
          </a:prstGeom>
          <a:solidFill>
            <a:srgbClr val="595959"/>
          </a:solidFill>
          <a:ln/>
        </p:spPr>
        <p:txBody>
          <a:bodyPr/>
          <a:p/>
        </p:txBody>
      </p:sp>
      <p:sp xmlns:p="http://schemas.openxmlformats.org/presentationml/2006/main" xmlns:a="http://schemas.openxmlformats.org/drawingml/2006/main" xmlns:r="http://schemas.openxmlformats.org/officeDocument/2006/relationships">
        <p:nvSpPr>
          <p:cNvPr id="6" name="Text 23"/>
          <p:cNvSpPr txBox="1"/>
          <p:nvPr/>
        </p:nvSpPr>
        <p:spPr>
          <a:xfrm>
            <a:off x="9674352" y="1563624"/>
            <a:ext cx="1298448" cy="342900"/>
          </a:xfrm>
          <a:prstGeom prst="rect">
            <a:avLst/>
          </a:prstGeom>
          <a:noFill/>
          <a:ln/>
        </p:spPr>
        <p:txBody>
          <a:bodyPr wrap="square" lIns="25400" tIns="25400" rIns="25400" bIns="25400" rtlCol="0" anchor="t">
            <a:noAutofit/>
          </a:bodyPr>
          <a:lstStyle/>
          <a:p>
            <a:pPr algn="ctr" indent="0" marL="0">
              <a:buNone/>
            </a:pPr>
            <a:r>
              <a:rPr lang="en-US" sz="1800" b="1" dirty="0">
                <a:solidFill>
                  <a:srgbClr val="FFFFFF"/>
                </a:solidFill>
                <a:latin typeface="+mn-lt"/>
                <a:ea typeface="+mn-ea"/>
                <a:cs typeface="+mn-cs"/>
              </a:rPr>
              <a:t>EXERCISE</a:t>
            </a:r>
            <a:endParaRPr lang="en-US" sz="1800" dirty="0"/>
          </a:p>
        </p:txBody>
      </p:sp>
      <p:sp xmlns:p="http://schemas.openxmlformats.org/presentationml/2006/main" xmlns:a="http://schemas.openxmlformats.org/drawingml/2006/main" xmlns:r="http://schemas.openxmlformats.org/officeDocument/2006/relationships">
        <p:nvSpPr>
          <p:cNvPr id="7" name="Text 24"/>
          <p:cNvSpPr txBox="1"/>
          <p:nvPr/>
        </p:nvSpPr>
        <p:spPr>
          <a:xfrm>
            <a:off x="9646920" y="2103120"/>
            <a:ext cx="612648" cy="973872"/>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1</a:t>
            </a:r>
            <a:endParaRPr lang="en-US" sz="2200" dirty="0"/>
          </a:p>
        </p:txBody>
      </p:sp>
      <p:sp xmlns:p="http://schemas.openxmlformats.org/presentationml/2006/main" xmlns:a="http://schemas.openxmlformats.org/drawingml/2006/main" xmlns:r="http://schemas.openxmlformats.org/officeDocument/2006/relationships">
        <p:nvSpPr>
          <p:cNvPr id="8" name="Text 25"/>
          <p:cNvSpPr txBox="1"/>
          <p:nvPr/>
        </p:nvSpPr>
        <p:spPr>
          <a:xfrm>
            <a:off x="10177272" y="2103120"/>
            <a:ext cx="3355848" cy="973872"/>
          </a:xfrm>
          <a:prstGeom prst="rect">
            <a:avLst/>
          </a:prstGeom>
          <a:noFill/>
          <a:ln/>
        </p:spPr>
        <p:txBody>
          <a:bodyPr wrap="square" lIns="25400" tIns="25400" rIns="25400" bIns="25400" rtlCol="0" anchor="t">
            <a:noAutofit/>
          </a:bodyPr>
          <a:lstStyle/>
          <a:p>
            <a:pPr algn="l" indent="0" marL="0">
              <a:lnSpc>
                <a:spcPct val="101250"/>
              </a:lnSpc>
              <a:buNone/>
            </a:pPr>
            <a:r>
              <a:rPr lang="en-US" sz="1900" dirty="0">
                <a:solidFill>
                  <a:srgbClr val="000000"/>
                </a:solidFill>
                <a:latin typeface="+mn-lt"/>
                <a:ea typeface="+mn-ea"/>
                <a:cs typeface="+mn-cs"/>
              </a:rPr>
              <a:t xml:space="preserve">Read every line. Green </a:t>
            </a:r>
            <a:r>
              <a:rPr lang="en-US" sz="1900" b="1" dirty="0">
                <a:solidFill>
                  <a:srgbClr val="000000"/>
                </a:solidFill>
                <a:latin typeface="+mn-lt"/>
                <a:ea typeface="+mn-ea"/>
                <a:cs typeface="+mn-cs"/>
              </a:rPr>
              <a:t>+</a:t>
            </a:r>
            <a:r>
              <a:rPr lang="en-US" sz="1900" dirty="0">
                <a:solidFill>
                  <a:srgbClr val="000000"/>
                </a:solidFill>
                <a:latin typeface="+mn-lt"/>
                <a:ea typeface="+mn-ea"/>
                <a:cs typeface="+mn-cs"/>
              </a:rPr>
              <a:t xml:space="preserve"> lines were added; red </a:t>
            </a:r>
            <a:r>
              <a:rPr lang="en-US" sz="1900" b="1" dirty="0">
                <a:solidFill>
                  <a:srgbClr val="000000"/>
                </a:solidFill>
                <a:latin typeface="+mn-lt"/>
                <a:ea typeface="+mn-ea"/>
                <a:cs typeface="+mn-cs"/>
              </a:rPr>
              <a:t>−</a:t>
            </a:r>
            <a:r>
              <a:rPr lang="en-US" sz="1900" dirty="0">
                <a:solidFill>
                  <a:srgbClr val="000000"/>
                </a:solidFill>
                <a:latin typeface="+mn-lt"/>
                <a:ea typeface="+mn-ea"/>
                <a:cs typeface="+mn-cs"/>
              </a:rPr>
              <a:t xml:space="preserve"> lines were removed.</a:t>
            </a:r>
            <a:endParaRPr lang="en-US" sz="1900" dirty="0"/>
          </a:p>
        </p:txBody>
      </p:sp>
      <p:sp xmlns:p="http://schemas.openxmlformats.org/presentationml/2006/main" xmlns:a="http://schemas.openxmlformats.org/drawingml/2006/main" xmlns:r="http://schemas.openxmlformats.org/officeDocument/2006/relationships">
        <p:nvSpPr>
          <p:cNvPr id="9" name="Text 26"/>
          <p:cNvSpPr txBox="1"/>
          <p:nvPr/>
        </p:nvSpPr>
        <p:spPr>
          <a:xfrm>
            <a:off x="9646920" y="3241584"/>
            <a:ext cx="612648" cy="679728"/>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2</a:t>
            </a:r>
            <a:endParaRPr lang="en-US" sz="2200" dirty="0"/>
          </a:p>
        </p:txBody>
      </p:sp>
      <p:sp xmlns:p="http://schemas.openxmlformats.org/presentationml/2006/main" xmlns:a="http://schemas.openxmlformats.org/drawingml/2006/main" xmlns:r="http://schemas.openxmlformats.org/officeDocument/2006/relationships">
        <p:nvSpPr>
          <p:cNvPr id="10" name="Text 27"/>
          <p:cNvSpPr txBox="1"/>
          <p:nvPr/>
        </p:nvSpPr>
        <p:spPr>
          <a:xfrm>
            <a:off x="10177272" y="3241584"/>
            <a:ext cx="3355848" cy="679728"/>
          </a:xfrm>
          <a:prstGeom prst="rect">
            <a:avLst/>
          </a:prstGeom>
          <a:noFill/>
          <a:ln/>
        </p:spPr>
        <p:txBody>
          <a:bodyPr wrap="square" lIns="25400" tIns="25400" rIns="25400" bIns="25400" rtlCol="0" anchor="t">
            <a:noAutofit/>
          </a:bodyPr>
          <a:lstStyle/>
          <a:p>
            <a:pPr algn="l" indent="0" marL="0">
              <a:lnSpc>
                <a:spcPct val="101250"/>
              </a:lnSpc>
              <a:buNone/>
            </a:pPr>
            <a:r>
              <a:rPr lang="en-US" sz="1900" dirty="0">
                <a:solidFill>
                  <a:srgbClr val="000000"/>
                </a:solidFill>
                <a:latin typeface="+mn-lt"/>
                <a:ea typeface="+mn-ea"/>
                <a:cs typeface="+mn-cs"/>
              </a:rPr>
              <a:t xml:space="preserve">Ask about anything unclear: </a:t>
            </a:r>
            <a:r>
              <a:rPr lang="en-US" sz="1900" i="1" dirty="0">
                <a:solidFill>
                  <a:srgbClr val="000000"/>
                </a:solidFill>
                <a:latin typeface="+mn-lt"/>
                <a:ea typeface="+mn-ea"/>
                <a:cs typeface="+mn-cs"/>
              </a:rPr>
              <a:t>Why RelTol 1e-3?</a:t>
            </a:r>
            <a:endParaRPr lang="en-US" sz="1900" dirty="0"/>
          </a:p>
        </p:txBody>
      </p:sp>
      <p:sp xmlns:p="http://schemas.openxmlformats.org/presentationml/2006/main" xmlns:a="http://schemas.openxmlformats.org/drawingml/2006/main" xmlns:r="http://schemas.openxmlformats.org/officeDocument/2006/relationships">
        <p:nvSpPr>
          <p:cNvPr id="11" name="Text 28"/>
          <p:cNvSpPr txBox="1"/>
          <p:nvPr/>
        </p:nvSpPr>
        <p:spPr>
          <a:xfrm>
            <a:off x="9646920" y="4085904"/>
            <a:ext cx="612648" cy="679728"/>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3</a:t>
            </a:r>
            <a:endParaRPr lang="en-US" sz="2200" dirty="0"/>
          </a:p>
        </p:txBody>
      </p:sp>
      <p:sp xmlns:p="http://schemas.openxmlformats.org/presentationml/2006/main" xmlns:a="http://schemas.openxmlformats.org/drawingml/2006/main" xmlns:r="http://schemas.openxmlformats.org/officeDocument/2006/relationships">
        <p:nvSpPr>
          <p:cNvPr id="12" name="Text 29"/>
          <p:cNvSpPr txBox="1"/>
          <p:nvPr/>
        </p:nvSpPr>
        <p:spPr>
          <a:xfrm>
            <a:off x="10177272" y="4085904"/>
            <a:ext cx="3355848" cy="679728"/>
          </a:xfrm>
          <a:prstGeom prst="rect">
            <a:avLst/>
          </a:prstGeom>
          <a:noFill/>
          <a:ln/>
        </p:spPr>
        <p:txBody>
          <a:bodyPr wrap="square" lIns="25400" tIns="25400" rIns="25400" bIns="25400" rtlCol="0" anchor="t">
            <a:noAutofit/>
          </a:bodyPr>
          <a:lstStyle/>
          <a:p>
            <a:pPr algn="l" indent="0" marL="0">
              <a:lnSpc>
                <a:spcPct val="101250"/>
              </a:lnSpc>
              <a:buNone/>
            </a:pPr>
            <a:r>
              <a:rPr lang="en-US" sz="1900" dirty="0">
                <a:solidFill>
                  <a:srgbClr val="000000"/>
                </a:solidFill>
                <a:latin typeface="+mn-lt"/>
                <a:ea typeface="+mn-ea"/>
                <a:cs typeface="+mn-cs"/>
              </a:rPr>
              <a:t xml:space="preserve">Create the </a:t>
            </a:r>
            <a:r>
              <a:rPr lang="en-US" sz="1900" b="1" dirty="0">
                <a:solidFill>
                  <a:srgbClr val="000000"/>
                </a:solidFill>
                <a:latin typeface="+mn-lt"/>
                <a:ea typeface="+mn-ea"/>
                <a:cs typeface="+mn-cs"/>
              </a:rPr>
              <a:t>pull request</a:t>
            </a:r>
            <a:r>
              <a:rPr lang="en-US" sz="1900" dirty="0">
                <a:solidFill>
                  <a:srgbClr val="000000"/>
                </a:solidFill>
                <a:latin typeface="+mn-lt"/>
                <a:ea typeface="+mn-ea"/>
                <a:cs typeface="+mn-cs"/>
              </a:rPr>
              <a:t xml:space="preserve"> from the task.</a:t>
            </a:r>
            <a:endParaRPr lang="en-US" sz="1900" dirty="0"/>
          </a:p>
        </p:txBody>
      </p:sp>
      <p:sp xmlns:p="http://schemas.openxmlformats.org/presentationml/2006/main" xmlns:a="http://schemas.openxmlformats.org/drawingml/2006/main" xmlns:r="http://schemas.openxmlformats.org/officeDocument/2006/relationships">
        <p:nvSpPr>
          <p:cNvPr id="13" name="Text 30"/>
          <p:cNvSpPr txBox="1"/>
          <p:nvPr/>
        </p:nvSpPr>
        <p:spPr>
          <a:xfrm>
            <a:off x="9646920" y="5067383"/>
            <a:ext cx="3886200" cy="1463040"/>
          </a:xfrm>
          <a:prstGeom prst="rect">
            <a:avLst/>
          </a:prstGeom>
          <a:noFill/>
          <a:ln/>
        </p:spPr>
        <p:txBody>
          <a:bodyPr wrap="square" lIns="25400" tIns="25400" rIns="25400" bIns="25400" rtlCol="0" anchor="t">
            <a:noAutofit/>
          </a:bodyPr>
          <a:lstStyle/>
          <a:p>
            <a:pPr algn="l" indent="0" marL="0">
              <a:buNone/>
            </a:pPr>
            <a:r>
              <a:rPr lang="en-US" sz="1800" dirty="0">
                <a:solidFill>
                  <a:srgbClr val="404040"/>
                </a:solidFill>
                <a:latin typeface="+mn-lt"/>
                <a:ea typeface="+mn-ea"/>
                <a:cs typeface="+mn-cs"/>
              </a:rPr>
              <a:t>You are accountable for every line you merge, as cadets are for every line they submit.</a:t>
            </a:r>
            <a:endParaRPr lang="en-US" sz="1800" dirty="0"/>
          </a:p>
        </p:txBody>
      </p:sp>
      <p:sp xmlns:p="http://schemas.openxmlformats.org/presentationml/2006/main" xmlns:a="http://schemas.openxmlformats.org/drawingml/2006/main" xmlns:r="http://schemas.openxmlformats.org/officeDocument/2006/relationships">
        <p:nvSpPr>
          <p:cNvPr id="14" name="Nav highlight"/>
          <p:cNvSpPr txBox="1"/>
          <p:nvPr userDrawn="1"/>
        </p:nvSpPr>
        <p:spPr>
          <a:xfrm>
            <a:off x="133350" y="3905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Generate</a:t>
            </a:r>
            <a:endParaRPr lang="en-US" sz="1800" b="1" dirty="0"/>
          </a:p>
        </p:txBody>
      </p:sp>
      <p:sp xmlns:p="http://schemas.openxmlformats.org/presentationml/2006/main" xmlns:a="http://schemas.openxmlformats.org/drawingml/2006/main" xmlns:r="http://schemas.openxmlformats.org/officeDocument/2006/relationships">
        <p:nvSpPr>
          <p:cNvPr id="15"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2</a:t>
            </a:r>
            <a:endParaRPr lang="en-US" sz="1800" dirty="0"/>
          </a:p>
        </p:txBody>
      </p:sp>
      <p:sp xmlns:p="http://schemas.openxmlformats.org/presentationml/2006/main" xmlns:a="http://schemas.openxmlformats.org/drawingml/2006/main" xmlns:r="http://schemas.openxmlformats.org/officeDocument/2006/relationships">
        <p:nvSpPr>
          <p:cNvPr id="16" name="Slide Number"/>
          <p:cNvSpPr>
            <a:spLocks noGrp="1"/>
          </p:cNvSpPr>
          <p:nvPr>
            <p:ph type="sldNum" sz="quarter" idx="12"/>
          </p:nvPr>
        </p:nvSpPr>
        <p:spPr/>
        <p:txBody>
          <a:bodyPr/>
          <a:lstStyle/>
          <a:p>
            <a:fld id="{B6F15528-21DE-4FAA-801E-634DDDAF4B2B}" type="slidenum">
              <a:rPr lang="en-US"/>
              <a:t>‹#›</a:t>
            </a:fld>
            <a:endParaRPr lang="en-US"/>
          </a:p>
        </p:txBody>
      </p:sp>
      <p:pic>
        <p:nvPicPr>
          <p:cNvPr id="17" name="Screenshot placeholder" descr="Screenshot to add: Codex task diff view with the control that creates the pull request"/>
          <p:cNvPicPr>
            <a:picLocks noChangeAspect="1"/>
          </p:cNvPicPr>
          <p:nvPr/>
        </p:nvPicPr>
        <p:blipFill>
          <a:blip r:embed="rId3"/>
          <a:stretch>
            <a:fillRect/>
          </a:stretch>
        </p:blipFill>
        <p:spPr>
          <a:xfrm>
            <a:off x="9646920" y="6720840"/>
            <a:ext cx="3886200" cy="26974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xmlns:p="http://schemas.openxmlformats.org/presentationml/2006/main" xmlns:a="http://schemas.openxmlformats.org/drawingml/2006/main" xmlns:r="http://schemas.openxmlformats.org/officeDocument/2006/relationships">
        <p:nvSpPr>
          <p:cNvPr id="2" name="Title"/>
          <p:cNvSpPr>
            <a:spLocks noGrp="1"/>
          </p:cNvSpPr>
          <p:nvPr>
            <p:ph type="title"/>
          </p:nvPr>
        </p:nvSpPr>
        <p:spPr/>
        <p:txBody>
          <a:bodyPr/>
          <a:lstStyle/>
          <a:p>
            <a:r>
              <a:rPr lang="en-US" dirty="0"/>
              <a:t>Agent Branches &amp; PRs</a:t>
            </a:r>
            <a:endParaRPr lang="en-US" dirty="0"/>
          </a:p>
        </p:txBody>
      </p:sp>
      <p:sp xmlns:p="http://schemas.openxmlformats.org/presentationml/2006/main" xmlns:a="http://schemas.openxmlformats.org/drawingml/2006/main" xmlns:r="http://schemas.openxmlformats.org/officeDocument/2006/relationships">
        <p:nvSpPr>
          <p:cNvPr id="3" name="Shape 20"/>
          <p:cNvSpPr/>
          <p:nvPr/>
        </p:nvSpPr>
        <p:spPr>
          <a:xfrm>
            <a:off x="2468880" y="3429000"/>
            <a:ext cx="10515600" cy="45720"/>
          </a:xfrm>
          <a:prstGeom prst="rect">
            <a:avLst/>
          </a:prstGeom>
          <a:solidFill>
            <a:srgbClr val="595959"/>
          </a:solidFill>
          <a:ln/>
        </p:spPr>
        <p:txBody>
          <a:bodyPr/>
          <a:p/>
        </p:txBody>
      </p:sp>
      <p:sp xmlns:p="http://schemas.openxmlformats.org/presentationml/2006/main" xmlns:a="http://schemas.openxmlformats.org/drawingml/2006/main" xmlns:r="http://schemas.openxmlformats.org/officeDocument/2006/relationships">
        <p:nvSpPr>
          <p:cNvPr id="4" name="Shape 21"/>
          <p:cNvSpPr/>
          <p:nvPr/>
        </p:nvSpPr>
        <p:spPr>
          <a:xfrm>
            <a:off x="3657600" y="2468880"/>
            <a:ext cx="45720" cy="978408"/>
          </a:xfrm>
          <a:prstGeom prst="rect">
            <a:avLst/>
          </a:prstGeom>
          <a:solidFill>
            <a:srgbClr val="1F6FB2"/>
          </a:solidFill>
          <a:ln/>
        </p:spPr>
        <p:txBody>
          <a:bodyPr/>
          <a:p/>
        </p:txBody>
      </p:sp>
      <p:sp xmlns:p="http://schemas.openxmlformats.org/presentationml/2006/main" xmlns:a="http://schemas.openxmlformats.org/drawingml/2006/main" xmlns:r="http://schemas.openxmlformats.org/officeDocument/2006/relationships">
        <p:nvSpPr>
          <p:cNvPr id="5" name="Shape 22"/>
          <p:cNvSpPr/>
          <p:nvPr/>
        </p:nvSpPr>
        <p:spPr>
          <a:xfrm>
            <a:off x="3657600" y="2468880"/>
            <a:ext cx="6400800" cy="45720"/>
          </a:xfrm>
          <a:prstGeom prst="rect">
            <a:avLst/>
          </a:prstGeom>
          <a:solidFill>
            <a:srgbClr val="1F6FB2"/>
          </a:solidFill>
          <a:ln/>
        </p:spPr>
        <p:txBody>
          <a:bodyPr/>
          <a:p/>
        </p:txBody>
      </p:sp>
      <p:sp xmlns:p="http://schemas.openxmlformats.org/presentationml/2006/main" xmlns:a="http://schemas.openxmlformats.org/drawingml/2006/main" xmlns:r="http://schemas.openxmlformats.org/officeDocument/2006/relationships">
        <p:nvSpPr>
          <p:cNvPr id="6" name="Shape 23"/>
          <p:cNvSpPr/>
          <p:nvPr/>
        </p:nvSpPr>
        <p:spPr>
          <a:xfrm>
            <a:off x="10040112" y="2468880"/>
            <a:ext cx="45720" cy="978408"/>
          </a:xfrm>
          <a:prstGeom prst="rect">
            <a:avLst/>
          </a:prstGeom>
          <a:solidFill>
            <a:srgbClr val="1F6FB2"/>
          </a:solidFill>
          <a:ln/>
        </p:spPr>
        <p:txBody>
          <a:bodyPr/>
          <a:p/>
        </p:txBody>
      </p:sp>
      <p:sp xmlns:p="http://schemas.openxmlformats.org/presentationml/2006/main" xmlns:a="http://schemas.openxmlformats.org/drawingml/2006/main" xmlns:r="http://schemas.openxmlformats.org/officeDocument/2006/relationships">
        <p:nvSpPr>
          <p:cNvPr id="7" name="Shape 24"/>
          <p:cNvSpPr/>
          <p:nvPr/>
        </p:nvSpPr>
        <p:spPr>
          <a:xfrm>
            <a:off x="3547872" y="3300984"/>
            <a:ext cx="274320" cy="274320"/>
          </a:xfrm>
          <a:prstGeom prst="ellipse">
            <a:avLst/>
          </a:prstGeom>
          <a:solidFill>
            <a:srgbClr val="FFFFFF"/>
          </a:solidFill>
          <a:ln w="25400">
            <a:solidFill>
              <a:srgbClr val="595959"/>
            </a:solidFill>
            <a:prstDash val="solid"/>
          </a:ln>
        </p:spPr>
        <p:txBody>
          <a:bodyPr/>
          <a:p/>
        </p:txBody>
      </p:sp>
      <p:sp xmlns:p="http://schemas.openxmlformats.org/presentationml/2006/main" xmlns:a="http://schemas.openxmlformats.org/drawingml/2006/main" xmlns:r="http://schemas.openxmlformats.org/officeDocument/2006/relationships">
        <p:nvSpPr>
          <p:cNvPr id="8" name="Text 25"/>
          <p:cNvSpPr txBox="1"/>
          <p:nvPr/>
        </p:nvSpPr>
        <p:spPr>
          <a:xfrm>
            <a:off x="2724912" y="3657600"/>
            <a:ext cx="1920240" cy="347472"/>
          </a:xfrm>
          <a:prstGeom prst="rect">
            <a:avLst/>
          </a:prstGeom>
          <a:noFill/>
          <a:ln/>
        </p:spPr>
        <p:txBody>
          <a:bodyPr wrap="square" lIns="25400" tIns="25400" rIns="25400" bIns="25400" rtlCol="0" anchor="t">
            <a:noAutofit/>
          </a:bodyPr>
          <a:lstStyle/>
          <a:p>
            <a:pPr algn="ctr" indent="0" marL="0">
              <a:buNone/>
            </a:pPr>
            <a:r>
              <a:rPr lang="en-US" sz="1600" b="1" dirty="0">
                <a:solidFill>
                  <a:srgbClr val="000000"/>
                </a:solidFill>
                <a:latin typeface="+mn-lt"/>
                <a:ea typeface="+mn-ea"/>
                <a:cs typeface="+mn-cs"/>
              </a:rPr>
              <a:t>Lesson 1 work</a:t>
            </a:r>
            <a:endParaRPr lang="en-US" sz="1600" dirty="0"/>
          </a:p>
        </p:txBody>
      </p:sp>
      <p:sp xmlns:p="http://schemas.openxmlformats.org/presentationml/2006/main" xmlns:a="http://schemas.openxmlformats.org/drawingml/2006/main" xmlns:r="http://schemas.openxmlformats.org/officeDocument/2006/relationships">
        <p:nvSpPr>
          <p:cNvPr id="9" name="Text 26"/>
          <p:cNvSpPr txBox="1"/>
          <p:nvPr/>
        </p:nvSpPr>
        <p:spPr>
          <a:xfrm>
            <a:off x="2724912" y="3977640"/>
            <a:ext cx="1920240" cy="320040"/>
          </a:xfrm>
          <a:prstGeom prst="rect">
            <a:avLst/>
          </a:prstGeom>
          <a:noFill/>
          <a:ln/>
        </p:spPr>
        <p:txBody>
          <a:bodyPr wrap="square" lIns="25400" tIns="25400" rIns="25400" bIns="25400" rtlCol="0" anchor="t">
            <a:noAutofit/>
          </a:bodyPr>
          <a:lstStyle/>
          <a:p>
            <a:pPr algn="ctr" indent="0" marL="0">
              <a:buNone/>
            </a:pPr>
            <a:r>
              <a:rPr lang="en-US" sz="1500" dirty="0">
                <a:solidFill>
                  <a:srgbClr val="404040"/>
                </a:solidFill>
                <a:latin typeface="+mn-lt"/>
                <a:ea typeface="+mn-ea"/>
                <a:cs typeface="+mn-cs"/>
              </a:rPr>
              <a:t>main</a:t>
            </a:r>
            <a:endParaRPr lang="en-US" sz="1500" dirty="0"/>
          </a:p>
        </p:txBody>
      </p:sp>
      <p:sp xmlns:p="http://schemas.openxmlformats.org/presentationml/2006/main" xmlns:a="http://schemas.openxmlformats.org/drawingml/2006/main" xmlns:r="http://schemas.openxmlformats.org/officeDocument/2006/relationships">
        <p:nvSpPr>
          <p:cNvPr id="10" name="Shape 27"/>
          <p:cNvSpPr/>
          <p:nvPr/>
        </p:nvSpPr>
        <p:spPr>
          <a:xfrm>
            <a:off x="9921240" y="3300984"/>
            <a:ext cx="274320" cy="274320"/>
          </a:xfrm>
          <a:prstGeom prst="ellipse">
            <a:avLst/>
          </a:prstGeom>
          <a:solidFill>
            <a:srgbClr val="FFFFFF"/>
          </a:solidFill>
          <a:ln w="25400">
            <a:solidFill>
              <a:srgbClr val="595959"/>
            </a:solidFill>
            <a:prstDash val="solid"/>
          </a:ln>
        </p:spPr>
        <p:txBody>
          <a:bodyPr/>
          <a:p/>
        </p:txBody>
      </p:sp>
      <p:sp xmlns:p="http://schemas.openxmlformats.org/presentationml/2006/main" xmlns:a="http://schemas.openxmlformats.org/drawingml/2006/main" xmlns:r="http://schemas.openxmlformats.org/officeDocument/2006/relationships">
        <p:nvSpPr>
          <p:cNvPr id="11" name="Text 28"/>
          <p:cNvSpPr txBox="1"/>
          <p:nvPr/>
        </p:nvSpPr>
        <p:spPr>
          <a:xfrm>
            <a:off x="9098280" y="3657600"/>
            <a:ext cx="1920240" cy="347472"/>
          </a:xfrm>
          <a:prstGeom prst="rect">
            <a:avLst/>
          </a:prstGeom>
          <a:noFill/>
          <a:ln/>
        </p:spPr>
        <p:txBody>
          <a:bodyPr wrap="square" lIns="25400" tIns="25400" rIns="25400" bIns="25400" rtlCol="0" anchor="t">
            <a:noAutofit/>
          </a:bodyPr>
          <a:lstStyle/>
          <a:p>
            <a:pPr algn="ctr" indent="0" marL="0">
              <a:buNone/>
            </a:pPr>
            <a:r>
              <a:rPr lang="en-US" sz="1600" b="1" dirty="0">
                <a:solidFill>
                  <a:srgbClr val="000000"/>
                </a:solidFill>
                <a:latin typeface="+mn-lt"/>
                <a:ea typeface="+mn-ea"/>
                <a:cs typeface="+mn-cs"/>
              </a:rPr>
              <a:t>Merge PR</a:t>
            </a:r>
            <a:endParaRPr lang="en-US" sz="1600" dirty="0"/>
          </a:p>
        </p:txBody>
      </p:sp>
      <p:sp xmlns:p="http://schemas.openxmlformats.org/presentationml/2006/main" xmlns:a="http://schemas.openxmlformats.org/drawingml/2006/main" xmlns:r="http://schemas.openxmlformats.org/officeDocument/2006/relationships">
        <p:nvSpPr>
          <p:cNvPr id="12" name="Text 29"/>
          <p:cNvSpPr txBox="1"/>
          <p:nvPr/>
        </p:nvSpPr>
        <p:spPr>
          <a:xfrm>
            <a:off x="9098280" y="3977640"/>
            <a:ext cx="1920240" cy="320040"/>
          </a:xfrm>
          <a:prstGeom prst="rect">
            <a:avLst/>
          </a:prstGeom>
          <a:noFill/>
          <a:ln/>
        </p:spPr>
        <p:txBody>
          <a:bodyPr wrap="square" lIns="25400" tIns="25400" rIns="25400" bIns="25400" rtlCol="0" anchor="t">
            <a:noAutofit/>
          </a:bodyPr>
          <a:lstStyle/>
          <a:p>
            <a:pPr algn="ctr" indent="0" marL="0">
              <a:buNone/>
            </a:pPr>
            <a:r>
              <a:rPr lang="en-US" sz="1500" dirty="0">
                <a:solidFill>
                  <a:srgbClr val="404040"/>
                </a:solidFill>
                <a:latin typeface="+mn-lt"/>
                <a:ea typeface="+mn-ea"/>
                <a:cs typeface="+mn-cs"/>
              </a:rPr>
              <a:t>main</a:t>
            </a:r>
            <a:endParaRPr lang="en-US" sz="1500" dirty="0"/>
          </a:p>
        </p:txBody>
      </p:sp>
      <p:sp xmlns:p="http://schemas.openxmlformats.org/presentationml/2006/main" xmlns:a="http://schemas.openxmlformats.org/drawingml/2006/main" xmlns:r="http://schemas.openxmlformats.org/officeDocument/2006/relationships">
        <p:nvSpPr>
          <p:cNvPr id="13" name="Shape 30"/>
          <p:cNvSpPr/>
          <p:nvPr/>
        </p:nvSpPr>
        <p:spPr>
          <a:xfrm>
            <a:off x="5943600" y="2350008"/>
            <a:ext cx="274320" cy="274320"/>
          </a:xfrm>
          <a:prstGeom prst="ellipse">
            <a:avLst/>
          </a:prstGeom>
          <a:solidFill>
            <a:srgbClr val="1F6FB2"/>
          </a:solidFill>
          <a:ln/>
        </p:spPr>
        <p:txBody>
          <a:bodyPr/>
          <a:p/>
        </p:txBody>
      </p:sp>
      <p:sp xmlns:p="http://schemas.openxmlformats.org/presentationml/2006/main" xmlns:a="http://schemas.openxmlformats.org/drawingml/2006/main" xmlns:r="http://schemas.openxmlformats.org/officeDocument/2006/relationships">
        <p:nvSpPr>
          <p:cNvPr id="14" name="Text 31"/>
          <p:cNvSpPr txBox="1"/>
          <p:nvPr/>
        </p:nvSpPr>
        <p:spPr>
          <a:xfrm>
            <a:off x="4846320" y="1874520"/>
            <a:ext cx="2468880" cy="365760"/>
          </a:xfrm>
          <a:prstGeom prst="rect">
            <a:avLst/>
          </a:prstGeom>
          <a:noFill/>
          <a:ln/>
        </p:spPr>
        <p:txBody>
          <a:bodyPr wrap="square" lIns="25400" tIns="25400" rIns="25400" bIns="25400" rtlCol="0" anchor="t">
            <a:noAutofit/>
          </a:bodyPr>
          <a:lstStyle/>
          <a:p>
            <a:pPr algn="ctr" indent="0" marL="0">
              <a:buNone/>
            </a:pPr>
            <a:r>
              <a:rPr lang="en-US" sz="1600" b="1" dirty="0">
                <a:solidFill>
                  <a:srgbClr val="000000"/>
                </a:solidFill>
                <a:latin typeface="+mn-lt"/>
                <a:ea typeface="+mn-ea"/>
                <a:cs typeface="+mn-cs"/>
              </a:rPr>
              <a:t>Add UDL deflection</a:t>
            </a:r>
            <a:endParaRPr lang="en-US" sz="1600" dirty="0"/>
          </a:p>
        </p:txBody>
      </p:sp>
      <p:sp xmlns:p="http://schemas.openxmlformats.org/presentationml/2006/main" xmlns:a="http://schemas.openxmlformats.org/drawingml/2006/main" xmlns:r="http://schemas.openxmlformats.org/officeDocument/2006/relationships">
        <p:nvSpPr>
          <p:cNvPr id="15" name="Text 32"/>
          <p:cNvSpPr txBox="1"/>
          <p:nvPr/>
        </p:nvSpPr>
        <p:spPr>
          <a:xfrm>
            <a:off x="4846320" y="2679192"/>
            <a:ext cx="2468880" cy="320040"/>
          </a:xfrm>
          <a:prstGeom prst="rect">
            <a:avLst/>
          </a:prstGeom>
          <a:noFill/>
          <a:ln/>
        </p:spPr>
        <p:txBody>
          <a:bodyPr wrap="square" lIns="25400" tIns="25400" rIns="25400" bIns="25400" rtlCol="0" anchor="t">
            <a:noAutofit/>
          </a:bodyPr>
          <a:lstStyle/>
          <a:p>
            <a:pPr algn="ctr" indent="0" marL="0">
              <a:buNone/>
            </a:pPr>
            <a:r>
              <a:rPr lang="en-US" sz="1500" dirty="0">
                <a:solidFill>
                  <a:srgbClr val="404040"/>
                </a:solidFill>
                <a:latin typeface="+mn-lt"/>
                <a:ea typeface="+mn-ea"/>
                <a:cs typeface="+mn-cs"/>
              </a:rPr>
              <a:t>a1b2c3d</a:t>
            </a:r>
            <a:endParaRPr lang="en-US" sz="1500" dirty="0"/>
          </a:p>
        </p:txBody>
      </p:sp>
      <p:sp xmlns:p="http://schemas.openxmlformats.org/presentationml/2006/main" xmlns:a="http://schemas.openxmlformats.org/drawingml/2006/main" xmlns:r="http://schemas.openxmlformats.org/officeDocument/2006/relationships">
        <p:nvSpPr>
          <p:cNvPr id="16" name="Shape 33"/>
          <p:cNvSpPr/>
          <p:nvPr/>
        </p:nvSpPr>
        <p:spPr>
          <a:xfrm>
            <a:off x="8503920" y="2350008"/>
            <a:ext cx="274320" cy="274320"/>
          </a:xfrm>
          <a:prstGeom prst="ellipse">
            <a:avLst/>
          </a:prstGeom>
          <a:solidFill>
            <a:srgbClr val="1F6FB2"/>
          </a:solidFill>
          <a:ln/>
        </p:spPr>
        <p:txBody>
          <a:bodyPr/>
          <a:p/>
        </p:txBody>
      </p:sp>
      <p:sp xmlns:p="http://schemas.openxmlformats.org/presentationml/2006/main" xmlns:a="http://schemas.openxmlformats.org/drawingml/2006/main" xmlns:r="http://schemas.openxmlformats.org/officeDocument/2006/relationships">
        <p:nvSpPr>
          <p:cNvPr id="17" name="Text 34"/>
          <p:cNvSpPr txBox="1"/>
          <p:nvPr/>
        </p:nvSpPr>
        <p:spPr>
          <a:xfrm>
            <a:off x="7406640" y="1874520"/>
            <a:ext cx="2468880" cy="365760"/>
          </a:xfrm>
          <a:prstGeom prst="rect">
            <a:avLst/>
          </a:prstGeom>
          <a:noFill/>
          <a:ln/>
        </p:spPr>
        <p:txBody>
          <a:bodyPr wrap="square" lIns="25400" tIns="25400" rIns="25400" bIns="25400" rtlCol="0" anchor="t">
            <a:noAutofit/>
          </a:bodyPr>
          <a:lstStyle/>
          <a:p>
            <a:pPr algn="ctr" indent="0" marL="0">
              <a:buNone/>
            </a:pPr>
            <a:r>
              <a:rPr lang="en-US" sz="1600" b="1" dirty="0">
                <a:solidFill>
                  <a:srgbClr val="000000"/>
                </a:solidFill>
                <a:latin typeface="+mn-lt"/>
                <a:ea typeface="+mn-ea"/>
                <a:cs typeface="+mn-cs"/>
              </a:rPr>
              <a:t>Fix test units</a:t>
            </a:r>
            <a:endParaRPr lang="en-US" sz="1600" dirty="0"/>
          </a:p>
        </p:txBody>
      </p:sp>
      <p:sp xmlns:p="http://schemas.openxmlformats.org/presentationml/2006/main" xmlns:a="http://schemas.openxmlformats.org/drawingml/2006/main" xmlns:r="http://schemas.openxmlformats.org/officeDocument/2006/relationships">
        <p:nvSpPr>
          <p:cNvPr id="18" name="Text 35"/>
          <p:cNvSpPr txBox="1"/>
          <p:nvPr/>
        </p:nvSpPr>
        <p:spPr>
          <a:xfrm>
            <a:off x="7406640" y="2679192"/>
            <a:ext cx="2468880" cy="320040"/>
          </a:xfrm>
          <a:prstGeom prst="rect">
            <a:avLst/>
          </a:prstGeom>
          <a:noFill/>
          <a:ln/>
        </p:spPr>
        <p:txBody>
          <a:bodyPr wrap="square" lIns="25400" tIns="25400" rIns="25400" bIns="25400" rtlCol="0" anchor="t">
            <a:noAutofit/>
          </a:bodyPr>
          <a:lstStyle/>
          <a:p>
            <a:pPr algn="ctr" indent="0" marL="0">
              <a:buNone/>
            </a:pPr>
            <a:r>
              <a:rPr lang="en-US" sz="1500" dirty="0">
                <a:solidFill>
                  <a:srgbClr val="404040"/>
                </a:solidFill>
                <a:latin typeface="+mn-lt"/>
                <a:ea typeface="+mn-ea"/>
                <a:cs typeface="+mn-cs"/>
              </a:rPr>
              <a:t>e4f5a6b</a:t>
            </a:r>
            <a:endParaRPr lang="en-US" sz="1500" dirty="0"/>
          </a:p>
        </p:txBody>
      </p:sp>
      <p:sp xmlns:p="http://schemas.openxmlformats.org/presentationml/2006/main" xmlns:a="http://schemas.openxmlformats.org/drawingml/2006/main" xmlns:r="http://schemas.openxmlformats.org/officeDocument/2006/relationships">
        <p:nvSpPr>
          <p:cNvPr id="19" name="Text 36"/>
          <p:cNvSpPr txBox="1"/>
          <p:nvPr/>
        </p:nvSpPr>
        <p:spPr>
          <a:xfrm>
            <a:off x="3794760" y="2788920"/>
            <a:ext cx="1280160" cy="365760"/>
          </a:xfrm>
          <a:prstGeom prst="rect">
            <a:avLst/>
          </a:prstGeom>
          <a:noFill/>
          <a:ln/>
        </p:spPr>
        <p:txBody>
          <a:bodyPr wrap="square" lIns="25400" tIns="25400" rIns="25400" bIns="25400" rtlCol="0" anchor="t">
            <a:noAutofit/>
          </a:bodyPr>
          <a:lstStyle/>
          <a:p>
            <a:pPr algn="l" indent="0" marL="0">
              <a:buNone/>
            </a:pPr>
            <a:r>
              <a:rPr lang="en-US" sz="1500" b="1" dirty="0">
                <a:solidFill>
                  <a:srgbClr val="1F6FB2"/>
                </a:solidFill>
                <a:latin typeface="+mn-lt"/>
                <a:ea typeface="+mn-ea"/>
                <a:cs typeface="+mn-cs"/>
              </a:rPr>
              <a:t>codex/…</a:t>
            </a:r>
            <a:endParaRPr lang="en-US" sz="1500" dirty="0"/>
          </a:p>
        </p:txBody>
      </p:sp>
      <p:sp xmlns:p="http://schemas.openxmlformats.org/presentationml/2006/main" xmlns:a="http://schemas.openxmlformats.org/drawingml/2006/main" xmlns:r="http://schemas.openxmlformats.org/officeDocument/2006/relationships">
        <p:nvSpPr>
          <p:cNvPr id="20" name="Text 37"/>
          <p:cNvSpPr txBox="1"/>
          <p:nvPr/>
        </p:nvSpPr>
        <p:spPr>
          <a:xfrm>
            <a:off x="1810512" y="3291840"/>
            <a:ext cx="731520" cy="320040"/>
          </a:xfrm>
          <a:prstGeom prst="rect">
            <a:avLst/>
          </a:prstGeom>
          <a:noFill/>
          <a:ln/>
        </p:spPr>
        <p:txBody>
          <a:bodyPr wrap="square" lIns="25400" tIns="25400" rIns="25400" bIns="25400" rtlCol="0" anchor="t">
            <a:noAutofit/>
          </a:bodyPr>
          <a:lstStyle/>
          <a:p>
            <a:pPr algn="l" indent="0" marL="0">
              <a:buNone/>
            </a:pPr>
            <a:r>
              <a:rPr lang="en-US" sz="1500" b="1" dirty="0">
                <a:solidFill>
                  <a:srgbClr val="000000"/>
                </a:solidFill>
                <a:latin typeface="+mn-lt"/>
                <a:ea typeface="+mn-ea"/>
                <a:cs typeface="+mn-cs"/>
              </a:rPr>
              <a:t>main</a:t>
            </a:r>
            <a:endParaRPr lang="en-US" sz="1500" dirty="0"/>
          </a:p>
        </p:txBody>
      </p:sp>
      <p:sp xmlns:p="http://schemas.openxmlformats.org/presentationml/2006/main" xmlns:a="http://schemas.openxmlformats.org/drawingml/2006/main" xmlns:r="http://schemas.openxmlformats.org/officeDocument/2006/relationships">
        <p:nvSpPr>
          <p:cNvPr id="21" name="Text 38"/>
          <p:cNvSpPr txBox="1"/>
          <p:nvPr/>
        </p:nvSpPr>
        <p:spPr>
          <a:xfrm>
            <a:off x="1810512" y="4663440"/>
            <a:ext cx="5669280" cy="411480"/>
          </a:xfrm>
          <a:prstGeom prst="rect">
            <a:avLst/>
          </a:prstGeom>
          <a:noFill/>
          <a:ln/>
        </p:spPr>
        <p:txBody>
          <a:bodyPr wrap="square" lIns="25400" tIns="25400" rIns="25400" bIns="25400" rtlCol="0" anchor="t">
            <a:noAutofit/>
          </a:bodyPr>
          <a:lstStyle/>
          <a:p>
            <a:pPr algn="l" indent="0" marL="0">
              <a:buNone/>
            </a:pPr>
            <a:r>
              <a:rPr lang="en-US" sz="2100" b="1" dirty="0">
                <a:solidFill>
                  <a:srgbClr val="000000"/>
                </a:solidFill>
                <a:latin typeface="+mn-lt"/>
                <a:ea typeface="+mn-ea"/>
                <a:cs typeface="+mn-cs"/>
              </a:rPr>
              <a:t>Branch</a:t>
            </a:r>
            <a:endParaRPr lang="en-US" sz="2100" dirty="0"/>
          </a:p>
        </p:txBody>
      </p:sp>
      <p:sp xmlns:p="http://schemas.openxmlformats.org/presentationml/2006/main" xmlns:a="http://schemas.openxmlformats.org/drawingml/2006/main" xmlns:r="http://schemas.openxmlformats.org/officeDocument/2006/relationships">
        <p:nvSpPr>
          <p:cNvPr id="22" name="Text 39"/>
          <p:cNvSpPr txBox="1"/>
          <p:nvPr/>
        </p:nvSpPr>
        <p:spPr>
          <a:xfrm>
            <a:off x="1810512" y="5120640"/>
            <a:ext cx="5669280" cy="2286000"/>
          </a:xfrm>
          <a:prstGeom prst="rect">
            <a:avLst/>
          </a:prstGeom>
          <a:noFill/>
          <a:ln/>
        </p:spPr>
        <p:txBody>
          <a:bodyPr wrap="square" lIns="25400" tIns="25400" rIns="25400" bIns="25400" rtlCol="0" anchor="t">
            <a:noAutofit/>
          </a:bodyPr>
          <a:lstStyle/>
          <a:p>
            <a:pPr algn="l" indent="0" marL="0">
              <a:spcAft>
                <a:spcPts val="800"/>
              </a:spcAft>
              <a:buNone/>
            </a:pPr>
            <a:r>
              <a:rPr lang="en-US" sz="1900" dirty="0">
                <a:solidFill>
                  <a:srgbClr val="000000"/>
                </a:solidFill>
                <a:latin typeface="+mn-lt"/>
                <a:ea typeface="+mn-ea"/>
                <a:cs typeface="+mn-cs"/>
              </a:rPr>
              <a:t>Codex puts each task’s changes on their own codex/… branch when you create the pull request.</a:t>
            </a:r>
            <a:endParaRPr lang="en-US" sz="1900" dirty="0"/>
          </a:p>
          <a:p>
            <a:pPr algn="l" indent="0" marL="0">
              <a:spcAft>
                <a:spcPts val="800"/>
              </a:spcAft>
              <a:buNone/>
            </a:pPr>
            <a:r>
              <a:rPr lang="en-US" sz="1900" dirty="0">
                <a:solidFill>
                  <a:srgbClr val="000000"/>
                </a:solidFill>
                <a:latin typeface="+mn-lt"/>
                <a:ea typeface="+mn-ea"/>
                <a:cs typeface="+mn-cs"/>
              </a:rPr>
              <a:t>For fixes, ask in the task or comment @codex on the PR. main is unchanged until you merge.</a:t>
            </a:r>
            <a:endParaRPr lang="en-US" sz="1900" dirty="0"/>
          </a:p>
        </p:txBody>
      </p:sp>
      <p:sp xmlns:p="http://schemas.openxmlformats.org/presentationml/2006/main" xmlns:a="http://schemas.openxmlformats.org/drawingml/2006/main" xmlns:r="http://schemas.openxmlformats.org/officeDocument/2006/relationships">
        <p:nvSpPr>
          <p:cNvPr id="23" name="Text 40"/>
          <p:cNvSpPr txBox="1"/>
          <p:nvPr/>
        </p:nvSpPr>
        <p:spPr>
          <a:xfrm>
            <a:off x="7818120" y="4663440"/>
            <a:ext cx="5669280" cy="411480"/>
          </a:xfrm>
          <a:prstGeom prst="rect">
            <a:avLst/>
          </a:prstGeom>
          <a:noFill/>
          <a:ln/>
        </p:spPr>
        <p:txBody>
          <a:bodyPr wrap="square" lIns="25400" tIns="25400" rIns="25400" bIns="25400" rtlCol="0" anchor="t">
            <a:noAutofit/>
          </a:bodyPr>
          <a:lstStyle/>
          <a:p>
            <a:pPr algn="l" indent="0" marL="0">
              <a:buNone/>
            </a:pPr>
            <a:r>
              <a:rPr lang="en-US" sz="2100" b="1" dirty="0">
                <a:solidFill>
                  <a:srgbClr val="000000"/>
                </a:solidFill>
                <a:latin typeface="+mn-lt"/>
                <a:ea typeface="+mn-ea"/>
                <a:cs typeface="+mn-cs"/>
              </a:rPr>
              <a:t>Pull request (PR)</a:t>
            </a:r>
            <a:endParaRPr lang="en-US" sz="2100" dirty="0"/>
          </a:p>
        </p:txBody>
      </p:sp>
      <p:sp xmlns:p="http://schemas.openxmlformats.org/presentationml/2006/main" xmlns:a="http://schemas.openxmlformats.org/drawingml/2006/main" xmlns:r="http://schemas.openxmlformats.org/officeDocument/2006/relationships">
        <p:nvSpPr>
          <p:cNvPr id="24" name="Text 41"/>
          <p:cNvSpPr txBox="1"/>
          <p:nvPr/>
        </p:nvSpPr>
        <p:spPr>
          <a:xfrm>
            <a:off x="7818120" y="5166360"/>
            <a:ext cx="612648" cy="420624"/>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1</a:t>
            </a:r>
            <a:endParaRPr lang="en-US" sz="2200" dirty="0"/>
          </a:p>
        </p:txBody>
      </p:sp>
      <p:sp xmlns:p="http://schemas.openxmlformats.org/presentationml/2006/main" xmlns:a="http://schemas.openxmlformats.org/drawingml/2006/main" xmlns:r="http://schemas.openxmlformats.org/officeDocument/2006/relationships">
        <p:nvSpPr>
          <p:cNvPr id="25" name="Text 42"/>
          <p:cNvSpPr txBox="1"/>
          <p:nvPr/>
        </p:nvSpPr>
        <p:spPr>
          <a:xfrm>
            <a:off x="8348472" y="5166360"/>
            <a:ext cx="5138928" cy="385584"/>
          </a:xfrm>
          <a:prstGeom prst="rect">
            <a:avLst/>
          </a:prstGeom>
          <a:noFill/>
          <a:ln/>
        </p:spPr>
        <p:txBody>
          <a:bodyPr wrap="square" lIns="25400" tIns="25400" rIns="25400" bIns="25400" rtlCol="0" anchor="t">
            <a:noAutofit/>
          </a:bodyPr>
          <a:lstStyle/>
          <a:p>
            <a:pPr algn="l" indent="0" marL="0">
              <a:lnSpc>
                <a:spcPct val="101250"/>
              </a:lnSpc>
              <a:buNone/>
            </a:pPr>
            <a:r>
              <a:rPr lang="en-US" sz="1900" dirty="0">
                <a:solidFill>
                  <a:srgbClr val="000000"/>
                </a:solidFill>
                <a:latin typeface="+mn-lt"/>
                <a:ea typeface="+mn-ea"/>
                <a:cs typeface="+mn-cs"/>
              </a:rPr>
              <a:t xml:space="preserve">Create the </a:t>
            </a:r>
            <a:r>
              <a:rPr lang="en-US" sz="1900" b="1" dirty="0">
                <a:solidFill>
                  <a:srgbClr val="000000"/>
                </a:solidFill>
                <a:latin typeface="+mn-lt"/>
                <a:ea typeface="+mn-ea"/>
                <a:cs typeface="+mn-cs"/>
              </a:rPr>
              <a:t>pull request</a:t>
            </a:r>
            <a:r>
              <a:rPr lang="en-US" sz="1900" dirty="0">
                <a:solidFill>
                  <a:srgbClr val="000000"/>
                </a:solidFill>
                <a:latin typeface="+mn-lt"/>
                <a:ea typeface="+mn-ea"/>
                <a:cs typeface="+mn-cs"/>
              </a:rPr>
              <a:t xml:space="preserve"> from the task.</a:t>
            </a:r>
            <a:endParaRPr lang="en-US" sz="1900" dirty="0"/>
          </a:p>
        </p:txBody>
      </p:sp>
      <p:sp xmlns:p="http://schemas.openxmlformats.org/presentationml/2006/main" xmlns:a="http://schemas.openxmlformats.org/drawingml/2006/main" xmlns:r="http://schemas.openxmlformats.org/officeDocument/2006/relationships">
        <p:nvSpPr>
          <p:cNvPr id="26" name="Text 43"/>
          <p:cNvSpPr txBox="1"/>
          <p:nvPr/>
        </p:nvSpPr>
        <p:spPr>
          <a:xfrm>
            <a:off x="7818120" y="5661672"/>
            <a:ext cx="612648" cy="420624"/>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2</a:t>
            </a:r>
            <a:endParaRPr lang="en-US" sz="2200" dirty="0"/>
          </a:p>
        </p:txBody>
      </p:sp>
      <p:sp xmlns:p="http://schemas.openxmlformats.org/presentationml/2006/main" xmlns:a="http://schemas.openxmlformats.org/drawingml/2006/main" xmlns:r="http://schemas.openxmlformats.org/officeDocument/2006/relationships">
        <p:nvSpPr>
          <p:cNvPr id="27" name="Text 44"/>
          <p:cNvSpPr txBox="1"/>
          <p:nvPr/>
        </p:nvSpPr>
        <p:spPr>
          <a:xfrm>
            <a:off x="8348472" y="5661672"/>
            <a:ext cx="5138928" cy="385584"/>
          </a:xfrm>
          <a:prstGeom prst="rect">
            <a:avLst/>
          </a:prstGeom>
          <a:noFill/>
          <a:ln/>
        </p:spPr>
        <p:txBody>
          <a:bodyPr wrap="square" lIns="25400" tIns="25400" rIns="25400" bIns="25400" rtlCol="0" anchor="t">
            <a:noAutofit/>
          </a:bodyPr>
          <a:lstStyle/>
          <a:p>
            <a:pPr algn="l" indent="0" marL="0">
              <a:lnSpc>
                <a:spcPct val="101250"/>
              </a:lnSpc>
              <a:buNone/>
            </a:pPr>
            <a:r>
              <a:rPr lang="en-US" sz="1900" dirty="0">
                <a:solidFill>
                  <a:srgbClr val="000000"/>
                </a:solidFill>
                <a:latin typeface="+mn-lt"/>
                <a:ea typeface="+mn-ea"/>
                <a:cs typeface="+mn-cs"/>
              </a:rPr>
              <a:t xml:space="preserve">On GitHub, read </a:t>
            </a:r>
            <a:r>
              <a:rPr lang="en-US" sz="1900" b="1" dirty="0">
                <a:solidFill>
                  <a:srgbClr val="000000"/>
                </a:solidFill>
                <a:latin typeface="+mn-lt"/>
                <a:ea typeface="+mn-ea"/>
                <a:cs typeface="+mn-cs"/>
              </a:rPr>
              <a:t>Files changed</a:t>
            </a:r>
            <a:r>
              <a:rPr lang="en-US" sz="1900" dirty="0">
                <a:solidFill>
                  <a:srgbClr val="000000"/>
                </a:solidFill>
                <a:latin typeface="+mn-lt"/>
                <a:ea typeface="+mn-ea"/>
                <a:cs typeface="+mn-cs"/>
              </a:rPr>
              <a:t>.</a:t>
            </a:r>
            <a:endParaRPr lang="en-US" sz="1900" dirty="0"/>
          </a:p>
        </p:txBody>
      </p:sp>
      <p:sp xmlns:p="http://schemas.openxmlformats.org/presentationml/2006/main" xmlns:a="http://schemas.openxmlformats.org/drawingml/2006/main" xmlns:r="http://schemas.openxmlformats.org/officeDocument/2006/relationships">
        <p:nvSpPr>
          <p:cNvPr id="28" name="Text 45"/>
          <p:cNvSpPr txBox="1"/>
          <p:nvPr/>
        </p:nvSpPr>
        <p:spPr>
          <a:xfrm>
            <a:off x="7818120" y="6156984"/>
            <a:ext cx="612648" cy="420624"/>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3</a:t>
            </a:r>
            <a:endParaRPr lang="en-US" sz="2200" dirty="0"/>
          </a:p>
        </p:txBody>
      </p:sp>
      <p:sp xmlns:p="http://schemas.openxmlformats.org/presentationml/2006/main" xmlns:a="http://schemas.openxmlformats.org/drawingml/2006/main" xmlns:r="http://schemas.openxmlformats.org/officeDocument/2006/relationships">
        <p:nvSpPr>
          <p:cNvPr id="29" name="Text 46"/>
          <p:cNvSpPr txBox="1"/>
          <p:nvPr/>
        </p:nvSpPr>
        <p:spPr>
          <a:xfrm>
            <a:off x="8348472" y="6156984"/>
            <a:ext cx="5138928" cy="385584"/>
          </a:xfrm>
          <a:prstGeom prst="rect">
            <a:avLst/>
          </a:prstGeom>
          <a:noFill/>
          <a:ln/>
        </p:spPr>
        <p:txBody>
          <a:bodyPr wrap="square" lIns="25400" tIns="25400" rIns="25400" bIns="25400" rtlCol="0" anchor="t">
            <a:noAutofit/>
          </a:bodyPr>
          <a:lstStyle/>
          <a:p>
            <a:pPr algn="l" indent="0" marL="0">
              <a:lnSpc>
                <a:spcPct val="101250"/>
              </a:lnSpc>
              <a:buNone/>
            </a:pPr>
            <a:r>
              <a:rPr lang="en-US" sz="1900" dirty="0">
                <a:solidFill>
                  <a:srgbClr val="000000"/>
                </a:solidFill>
                <a:latin typeface="+mn-lt"/>
                <a:ea typeface="+mn-ea"/>
                <a:cs typeface="+mn-cs"/>
              </a:rPr>
              <a:t>Test the branch yourself (next).</a:t>
            </a:r>
            <a:endParaRPr lang="en-US" sz="1900" dirty="0"/>
          </a:p>
        </p:txBody>
      </p:sp>
      <p:sp xmlns:p="http://schemas.openxmlformats.org/presentationml/2006/main" xmlns:a="http://schemas.openxmlformats.org/drawingml/2006/main" xmlns:r="http://schemas.openxmlformats.org/officeDocument/2006/relationships">
        <p:nvSpPr>
          <p:cNvPr id="30" name="Text 47"/>
          <p:cNvSpPr txBox="1"/>
          <p:nvPr/>
        </p:nvSpPr>
        <p:spPr>
          <a:xfrm>
            <a:off x="7818120" y="6652296"/>
            <a:ext cx="612648" cy="420624"/>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4</a:t>
            </a:r>
            <a:endParaRPr lang="en-US" sz="2200" dirty="0"/>
          </a:p>
        </p:txBody>
      </p:sp>
      <p:sp xmlns:p="http://schemas.openxmlformats.org/presentationml/2006/main" xmlns:a="http://schemas.openxmlformats.org/drawingml/2006/main" xmlns:r="http://schemas.openxmlformats.org/officeDocument/2006/relationships">
        <p:nvSpPr>
          <p:cNvPr id="31" name="Text 48"/>
          <p:cNvSpPr txBox="1"/>
          <p:nvPr/>
        </p:nvSpPr>
        <p:spPr>
          <a:xfrm>
            <a:off x="8348472" y="6652296"/>
            <a:ext cx="5138928" cy="385584"/>
          </a:xfrm>
          <a:prstGeom prst="rect">
            <a:avLst/>
          </a:prstGeom>
          <a:noFill/>
          <a:ln/>
        </p:spPr>
        <p:txBody>
          <a:bodyPr wrap="square" lIns="25400" tIns="25400" rIns="25400" bIns="25400" rtlCol="0" anchor="t">
            <a:noAutofit/>
          </a:bodyPr>
          <a:lstStyle/>
          <a:p>
            <a:pPr algn="l" indent="0" marL="0">
              <a:lnSpc>
                <a:spcPct val="101250"/>
              </a:lnSpc>
              <a:buNone/>
            </a:pPr>
            <a:r>
              <a:rPr lang="en-US" sz="1900" dirty="0">
                <a:solidFill>
                  <a:srgbClr val="000000"/>
                </a:solidFill>
                <a:latin typeface="+mn-lt"/>
                <a:ea typeface="+mn-ea"/>
                <a:cs typeface="+mn-cs"/>
              </a:rPr>
              <a:t>Merge only after it passes.</a:t>
            </a:r>
            <a:endParaRPr lang="en-US" sz="1900" dirty="0"/>
          </a:p>
        </p:txBody>
      </p:sp>
      <p:sp xmlns:p="http://schemas.openxmlformats.org/presentationml/2006/main" xmlns:a="http://schemas.openxmlformats.org/drawingml/2006/main" xmlns:r="http://schemas.openxmlformats.org/officeDocument/2006/relationships">
        <p:nvSpPr>
          <p:cNvPr id="32" name="Nav highlight"/>
          <p:cNvSpPr txBox="1"/>
          <p:nvPr userDrawn="1"/>
        </p:nvSpPr>
        <p:spPr>
          <a:xfrm>
            <a:off x="133350" y="3905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Generate</a:t>
            </a:r>
            <a:endParaRPr lang="en-US" sz="1800" b="1" dirty="0"/>
          </a:p>
        </p:txBody>
      </p:sp>
      <p:sp xmlns:p="http://schemas.openxmlformats.org/presentationml/2006/main" xmlns:a="http://schemas.openxmlformats.org/drawingml/2006/main" xmlns:r="http://schemas.openxmlformats.org/officeDocument/2006/relationships">
        <p:nvSpPr>
          <p:cNvPr id="33"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2</a:t>
            </a:r>
            <a:endParaRPr lang="en-US" sz="1800" dirty="0"/>
          </a:p>
        </p:txBody>
      </p:sp>
      <p:sp xmlns:p="http://schemas.openxmlformats.org/presentationml/2006/main" xmlns:a="http://schemas.openxmlformats.org/drawingml/2006/main" xmlns:r="http://schemas.openxmlformats.org/officeDocument/2006/relationships">
        <p:nvSpPr>
          <p:cNvPr id="34" name="Slide Number"/>
          <p:cNvSpPr>
            <a:spLocks noGrp="1"/>
          </p:cNvSpPr>
          <p:nvPr>
            <p:ph type="sldNum" sz="quarter" idx="12"/>
          </p:nvPr>
        </p:nvSpPr>
        <p:spPr/>
        <p:txBody>
          <a:bodyPr/>
          <a:lstStyle/>
          <a:p>
            <a:fld id="{B6F15528-21DE-4FAA-801E-634DDDAF4B2B}" type="slidenum">
              <a:rPr lang="en-US"/>
              <a:t>‹#›</a:t>
            </a:fld>
            <a:endParaRPr lang="en-US"/>
          </a:p>
        </p:txBody>
      </p:sp>
      <p:pic>
        <p:nvPicPr>
          <p:cNvPr id="35" name="Screenshot placeholder" descr="Screenshot to add: GitHub pull request for the codex/… branch: Files changed and the commit list"/>
          <p:cNvPicPr>
            <a:picLocks noChangeAspect="1"/>
          </p:cNvPicPr>
          <p:nvPr/>
        </p:nvPicPr>
        <p:blipFill>
          <a:blip r:embed="rId3"/>
          <a:stretch>
            <a:fillRect/>
          </a:stretch>
        </p:blipFill>
        <p:spPr>
          <a:xfrm>
            <a:off x="1810512" y="6858000"/>
            <a:ext cx="5669280" cy="25603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xmlns:p="http://schemas.openxmlformats.org/presentationml/2006/main" xmlns:a="http://schemas.openxmlformats.org/drawingml/2006/main" xmlns:r="http://schemas.openxmlformats.org/officeDocument/2006/relationships">
        <p:nvSpPr>
          <p:cNvPr id="2" name="Title"/>
          <p:cNvSpPr>
            <a:spLocks noGrp="1"/>
          </p:cNvSpPr>
          <p:nvPr>
            <p:ph type="title"/>
          </p:nvPr>
        </p:nvSpPr>
        <p:spPr/>
        <p:txBody>
          <a:bodyPr/>
          <a:lstStyle/>
          <a:p>
            <a:r>
              <a:rPr lang="en-US" dirty="0"/>
              <a:t>Exercise 6: Test It Yourself</a:t>
            </a:r>
            <a:endParaRPr lang="en-US" dirty="0"/>
          </a:p>
        </p:txBody>
      </p:sp>
      <p:sp xmlns:p="http://schemas.openxmlformats.org/presentationml/2006/main" xmlns:a="http://schemas.openxmlformats.org/drawingml/2006/main" xmlns:r="http://schemas.openxmlformats.org/officeDocument/2006/relationships">
        <p:nvSpPr>
          <p:cNvPr id="3" name="Shape 20"/>
          <p:cNvSpPr/>
          <p:nvPr/>
        </p:nvSpPr>
        <p:spPr>
          <a:xfrm>
            <a:off x="1810512" y="1527048"/>
            <a:ext cx="1353312" cy="381305"/>
          </a:xfrm>
          <a:prstGeom prst="roundRect">
            <a:avLst>
              <a:gd name="adj" fmla="val 15000"/>
            </a:avLst>
          </a:prstGeom>
          <a:solidFill>
            <a:srgbClr val="595959"/>
          </a:solidFill>
          <a:ln/>
        </p:spPr>
        <p:txBody>
          <a:bodyPr/>
          <a:p/>
        </p:txBody>
      </p:sp>
      <p:sp xmlns:p="http://schemas.openxmlformats.org/presentationml/2006/main" xmlns:a="http://schemas.openxmlformats.org/drawingml/2006/main" xmlns:r="http://schemas.openxmlformats.org/officeDocument/2006/relationships">
        <p:nvSpPr>
          <p:cNvPr id="4" name="Text 21"/>
          <p:cNvSpPr txBox="1"/>
          <p:nvPr/>
        </p:nvSpPr>
        <p:spPr>
          <a:xfrm>
            <a:off x="1837944" y="1563624"/>
            <a:ext cx="1298448" cy="342900"/>
          </a:xfrm>
          <a:prstGeom prst="rect">
            <a:avLst/>
          </a:prstGeom>
          <a:noFill/>
          <a:ln/>
        </p:spPr>
        <p:txBody>
          <a:bodyPr wrap="square" lIns="25400" tIns="25400" rIns="25400" bIns="25400" rtlCol="0" anchor="t">
            <a:noAutofit/>
          </a:bodyPr>
          <a:lstStyle/>
          <a:p>
            <a:pPr algn="ctr" indent="0" marL="0">
              <a:buNone/>
            </a:pPr>
            <a:r>
              <a:rPr lang="en-US" sz="1800" b="1" dirty="0">
                <a:solidFill>
                  <a:srgbClr val="FFFFFF"/>
                </a:solidFill>
                <a:latin typeface="+mn-lt"/>
                <a:ea typeface="+mn-ea"/>
                <a:cs typeface="+mn-cs"/>
              </a:rPr>
              <a:t>EXERCISE</a:t>
            </a:r>
            <a:endParaRPr lang="en-US" sz="1800" dirty="0"/>
          </a:p>
        </p:txBody>
      </p:sp>
      <p:sp xmlns:p="http://schemas.openxmlformats.org/presentationml/2006/main" xmlns:a="http://schemas.openxmlformats.org/drawingml/2006/main" xmlns:r="http://schemas.openxmlformats.org/officeDocument/2006/relationships">
        <p:nvSpPr>
          <p:cNvPr id="5" name="Text 22"/>
          <p:cNvSpPr txBox="1"/>
          <p:nvPr/>
        </p:nvSpPr>
        <p:spPr>
          <a:xfrm>
            <a:off x="1810512" y="2103120"/>
            <a:ext cx="612648" cy="420624"/>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1</a:t>
            </a:r>
            <a:endParaRPr lang="en-US" sz="2200" dirty="0"/>
          </a:p>
        </p:txBody>
      </p:sp>
      <p:sp xmlns:p="http://schemas.openxmlformats.org/presentationml/2006/main" xmlns:a="http://schemas.openxmlformats.org/drawingml/2006/main" xmlns:r="http://schemas.openxmlformats.org/officeDocument/2006/relationships">
        <p:nvSpPr>
          <p:cNvPr id="6" name="Text 23"/>
          <p:cNvSpPr txBox="1"/>
          <p:nvPr/>
        </p:nvSpPr>
        <p:spPr>
          <a:xfrm>
            <a:off x="2340864" y="2103120"/>
            <a:ext cx="11173968" cy="397350"/>
          </a:xfrm>
          <a:prstGeom prst="rect">
            <a:avLst/>
          </a:prstGeom>
          <a:noFill/>
          <a:ln/>
        </p:spPr>
        <p:txBody>
          <a:bodyPr wrap="square" lIns="25400" tIns="25400" rIns="25400" bIns="25400" rtlCol="0" anchor="t">
            <a:noAutofit/>
          </a:bodyPr>
          <a:lstStyle/>
          <a:p>
            <a:pPr algn="l" indent="0" marL="0">
              <a:lnSpc>
                <a:spcPct val="101250"/>
              </a:lnSpc>
              <a:buNone/>
            </a:pPr>
            <a:r>
              <a:rPr lang="en-US" sz="1900" dirty="0">
                <a:solidFill>
                  <a:srgbClr val="000000"/>
                </a:solidFill>
                <a:latin typeface="+mn-lt"/>
                <a:ea typeface="+mn-ea"/>
                <a:cs typeface="+mn-cs"/>
              </a:rPr>
              <a:t xml:space="preserve">GitHub Desktop: </a:t>
            </a:r>
            <a:r>
              <a:rPr lang="en-US" sz="1900" b="1" dirty="0">
                <a:solidFill>
                  <a:srgbClr val="000000"/>
                </a:solidFill>
                <a:latin typeface="+mn-lt"/>
                <a:ea typeface="+mn-ea"/>
                <a:cs typeface="+mn-cs"/>
              </a:rPr>
              <a:t>Fetch origin</a:t>
            </a:r>
            <a:r>
              <a:rPr lang="en-US" sz="1900" dirty="0">
                <a:solidFill>
                  <a:srgbClr val="000000"/>
                </a:solidFill>
                <a:latin typeface="+mn-lt"/>
                <a:ea typeface="+mn-ea"/>
                <a:cs typeface="+mn-cs"/>
              </a:rPr>
              <a:t xml:space="preserve">, then switch Current branch to </a:t>
            </a:r>
            <a:r>
              <a:rPr lang="en-US" sz="1900" b="1" dirty="0">
                <a:solidFill>
                  <a:srgbClr val="000000"/>
                </a:solidFill>
                <a:latin typeface="+mn-lt"/>
                <a:ea typeface="+mn-ea"/>
                <a:cs typeface="+mn-cs"/>
              </a:rPr>
              <a:t>codex/udl-deflection</a:t>
            </a:r>
            <a:r>
              <a:rPr lang="en-US" sz="1900" dirty="0">
                <a:solidFill>
                  <a:srgbClr val="000000"/>
                </a:solidFill>
                <a:latin typeface="+mn-lt"/>
                <a:ea typeface="+mn-ea"/>
                <a:cs typeface="+mn-cs"/>
              </a:rPr>
              <a:t>.</a:t>
            </a:r>
            <a:endParaRPr lang="en-US" sz="1900" dirty="0"/>
          </a:p>
        </p:txBody>
      </p:sp>
      <p:sp xmlns:p="http://schemas.openxmlformats.org/presentationml/2006/main" xmlns:a="http://schemas.openxmlformats.org/drawingml/2006/main" xmlns:r="http://schemas.openxmlformats.org/officeDocument/2006/relationships">
        <p:nvSpPr>
          <p:cNvPr id="7" name="Text 24"/>
          <p:cNvSpPr txBox="1"/>
          <p:nvPr/>
        </p:nvSpPr>
        <p:spPr>
          <a:xfrm>
            <a:off x="1810512" y="2665062"/>
            <a:ext cx="612648" cy="420624"/>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2</a:t>
            </a:r>
            <a:endParaRPr lang="en-US" sz="2200" dirty="0"/>
          </a:p>
        </p:txBody>
      </p:sp>
      <p:sp xmlns:p="http://schemas.openxmlformats.org/presentationml/2006/main" xmlns:a="http://schemas.openxmlformats.org/drawingml/2006/main" xmlns:r="http://schemas.openxmlformats.org/officeDocument/2006/relationships">
        <p:nvSpPr>
          <p:cNvPr id="8" name="Text 25"/>
          <p:cNvSpPr txBox="1"/>
          <p:nvPr/>
        </p:nvSpPr>
        <p:spPr>
          <a:xfrm>
            <a:off x="2340864" y="2665062"/>
            <a:ext cx="11173968" cy="397350"/>
          </a:xfrm>
          <a:prstGeom prst="rect">
            <a:avLst/>
          </a:prstGeom>
          <a:noFill/>
          <a:ln/>
        </p:spPr>
        <p:txBody>
          <a:bodyPr wrap="square" lIns="25400" tIns="25400" rIns="25400" bIns="25400" rtlCol="0" anchor="t">
            <a:noAutofit/>
          </a:bodyPr>
          <a:lstStyle/>
          <a:p>
            <a:pPr algn="l" indent="0" marL="0">
              <a:lnSpc>
                <a:spcPct val="101250"/>
              </a:lnSpc>
              <a:buNone/>
            </a:pPr>
            <a:r>
              <a:rPr lang="en-US" sz="1900" dirty="0">
                <a:solidFill>
                  <a:srgbClr val="000000"/>
                </a:solidFill>
                <a:latin typeface="+mn-lt"/>
                <a:ea typeface="+mn-ea"/>
                <a:cs typeface="+mn-cs"/>
              </a:rPr>
              <a:t xml:space="preserve">MATLAB: open the repo folder. Run </a:t>
            </a:r>
            <a:r>
              <a:rPr lang="en-US" sz="1900" dirty="0">
                <a:solidFill>
                  <a:srgbClr val="000000"/>
                </a:solidFill>
                <a:latin typeface="Consolas" pitchFamily="34" charset="0"/>
                <a:ea typeface="Consolas" pitchFamily="34" charset="-122"/>
                <a:cs typeface="Consolas" pitchFamily="34" charset="-120"/>
              </a:rPr>
              <a:t>beam</a:t>
            </a:r>
            <a:r>
              <a:rPr lang="en-US" sz="1900" dirty="0">
                <a:solidFill>
                  <a:srgbClr val="000000"/>
                </a:solidFill>
                <a:latin typeface="+mn-lt"/>
                <a:ea typeface="+mn-ea"/>
                <a:cs typeface="+mn-cs"/>
              </a:rPr>
              <a:t xml:space="preserve">, then </a:t>
            </a:r>
            <a:r>
              <a:rPr lang="en-US" sz="1900" dirty="0">
                <a:solidFill>
                  <a:srgbClr val="000000"/>
                </a:solidFill>
                <a:latin typeface="Consolas" pitchFamily="34" charset="0"/>
                <a:ea typeface="Consolas" pitchFamily="34" charset="-122"/>
                <a:cs typeface="Consolas" pitchFamily="34" charset="-120"/>
              </a:rPr>
              <a:t>runtests('tests')</a:t>
            </a:r>
            <a:r>
              <a:rPr lang="en-US" sz="1900" dirty="0">
                <a:solidFill>
                  <a:srgbClr val="000000"/>
                </a:solidFill>
                <a:latin typeface="+mn-lt"/>
                <a:ea typeface="+mn-ea"/>
                <a:cs typeface="+mn-cs"/>
              </a:rPr>
              <a:t>.</a:t>
            </a:r>
            <a:endParaRPr lang="en-US" sz="1900" dirty="0"/>
          </a:p>
        </p:txBody>
      </p:sp>
      <p:sp xmlns:p="http://schemas.openxmlformats.org/presentationml/2006/main" xmlns:a="http://schemas.openxmlformats.org/drawingml/2006/main" xmlns:r="http://schemas.openxmlformats.org/officeDocument/2006/relationships">
        <p:nvSpPr>
          <p:cNvPr id="9" name="Text 26"/>
          <p:cNvSpPr txBox="1"/>
          <p:nvPr/>
        </p:nvSpPr>
        <p:spPr>
          <a:xfrm>
            <a:off x="1810512" y="3227003"/>
            <a:ext cx="612648" cy="420624"/>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3</a:t>
            </a:r>
            <a:endParaRPr lang="en-US" sz="2200" dirty="0"/>
          </a:p>
        </p:txBody>
      </p:sp>
      <p:sp xmlns:p="http://schemas.openxmlformats.org/presentationml/2006/main" xmlns:a="http://schemas.openxmlformats.org/drawingml/2006/main" xmlns:r="http://schemas.openxmlformats.org/officeDocument/2006/relationships">
        <p:nvSpPr>
          <p:cNvPr id="10" name="Text 27"/>
          <p:cNvSpPr txBox="1"/>
          <p:nvPr/>
        </p:nvSpPr>
        <p:spPr>
          <a:xfrm>
            <a:off x="2340864" y="3227003"/>
            <a:ext cx="11173968" cy="397350"/>
          </a:xfrm>
          <a:prstGeom prst="rect">
            <a:avLst/>
          </a:prstGeom>
          <a:noFill/>
          <a:ln/>
        </p:spPr>
        <p:txBody>
          <a:bodyPr wrap="square" lIns="25400" tIns="25400" rIns="25400" bIns="25400" rtlCol="0" anchor="t">
            <a:noAutofit/>
          </a:bodyPr>
          <a:lstStyle/>
          <a:p>
            <a:pPr algn="l" indent="0" marL="0">
              <a:lnSpc>
                <a:spcPct val="101250"/>
              </a:lnSpc>
              <a:buNone/>
            </a:pPr>
            <a:r>
              <a:rPr lang="en-US" sz="1900" dirty="0">
                <a:solidFill>
                  <a:srgbClr val="000000"/>
                </a:solidFill>
                <a:latin typeface="+mn-lt"/>
                <a:ea typeface="+mn-ea"/>
                <a:cs typeface="+mn-cs"/>
              </a:rPr>
              <a:t>Check the result against your own hand calculation, not the agent’s.</a:t>
            </a:r>
            <a:endParaRPr lang="en-US" sz="1900" dirty="0"/>
          </a:p>
        </p:txBody>
      </p:sp>
      <p:sp xmlns:p="http://schemas.openxmlformats.org/presentationml/2006/main" xmlns:a="http://schemas.openxmlformats.org/drawingml/2006/main" xmlns:r="http://schemas.openxmlformats.org/officeDocument/2006/relationships">
        <p:nvSpPr>
          <p:cNvPr id="11" name="Text 28"/>
          <p:cNvSpPr txBox="1"/>
          <p:nvPr/>
        </p:nvSpPr>
        <p:spPr>
          <a:xfrm>
            <a:off x="1810512" y="4206240"/>
            <a:ext cx="11704320" cy="365760"/>
          </a:xfrm>
          <a:prstGeom prst="rect">
            <a:avLst/>
          </a:prstGeom>
          <a:noFill/>
          <a:ln/>
        </p:spPr>
        <p:txBody>
          <a:bodyPr wrap="square" lIns="25400" tIns="25400" rIns="25400" bIns="25400" rtlCol="0" anchor="t">
            <a:noAutofit/>
          </a:bodyPr>
          <a:lstStyle/>
          <a:p>
            <a:pPr algn="l" indent="0" marL="0">
              <a:buNone/>
            </a:pPr>
            <a:r>
              <a:rPr lang="en-US" sz="1600" b="1" dirty="0">
                <a:solidFill>
                  <a:srgbClr val="404040"/>
                </a:solidFill>
                <a:latin typeface="+mn-lt"/>
                <a:ea typeface="+mn-ea"/>
                <a:cs typeface="+mn-cs"/>
              </a:rPr>
              <a:t>PASS CRITERIA (FROM THE REQUIREMENT)</a:t>
            </a:r>
            <a:endParaRPr lang="en-US" sz="1600" dirty="0"/>
          </a:p>
        </p:txBody>
      </p:sp>
      <p:sp xmlns:p="http://schemas.openxmlformats.org/presentationml/2006/main" xmlns:a="http://schemas.openxmlformats.org/drawingml/2006/main" xmlns:r="http://schemas.openxmlformats.org/officeDocument/2006/relationships">
        <p:nvSpPr>
          <p:cNvPr id="12" name="Shape 29"/>
          <p:cNvSpPr/>
          <p:nvPr/>
        </p:nvSpPr>
        <p:spPr>
          <a:xfrm>
            <a:off x="1810512" y="4663440"/>
            <a:ext cx="338328" cy="338328"/>
          </a:xfrm>
          <a:prstGeom prst="rect">
            <a:avLst/>
          </a:prstGeom>
          <a:noFill/>
          <a:ln w="25400">
            <a:solidFill>
              <a:srgbClr val="152A47"/>
            </a:solidFill>
            <a:prstDash val="solid"/>
          </a:ln>
        </p:spPr>
        <p:txBody>
          <a:bodyPr/>
          <a:p/>
        </p:txBody>
      </p:sp>
      <p:sp xmlns:p="http://schemas.openxmlformats.org/presentationml/2006/main" xmlns:a="http://schemas.openxmlformats.org/drawingml/2006/main" xmlns:r="http://schemas.openxmlformats.org/officeDocument/2006/relationships">
        <p:nvSpPr>
          <p:cNvPr id="13" name="Text 30"/>
          <p:cNvSpPr txBox="1"/>
          <p:nvPr/>
        </p:nvSpPr>
        <p:spPr>
          <a:xfrm>
            <a:off x="2359152" y="4617720"/>
            <a:ext cx="11155680" cy="411480"/>
          </a:xfrm>
          <a:prstGeom prst="rect">
            <a:avLst/>
          </a:prstGeom>
          <a:noFill/>
          <a:ln/>
        </p:spPr>
        <p:txBody>
          <a:bodyPr wrap="square" lIns="25400" tIns="25400" rIns="25400" bIns="25400" rtlCol="0" anchor="t">
            <a:noAutofit/>
          </a:bodyPr>
          <a:lstStyle/>
          <a:p>
            <a:pPr algn="l" indent="0" marL="0">
              <a:buNone/>
            </a:pPr>
            <a:r>
              <a:rPr lang="en-US" sz="1900" dirty="0">
                <a:solidFill>
                  <a:srgbClr val="000000"/>
                </a:solidFill>
                <a:latin typeface="+mn-lt"/>
                <a:ea typeface="+mn-ea"/>
                <a:cs typeface="+mn-cs"/>
              </a:rPr>
              <a:t xml:space="preserve">All tests pass, including </a:t>
            </a:r>
            <a:r>
              <a:rPr lang="en-US" sz="1900" b="1" dirty="0">
                <a:solidFill>
                  <a:srgbClr val="000000"/>
                </a:solidFill>
                <a:latin typeface="+mn-lt"/>
                <a:ea typeface="+mn-ea"/>
                <a:cs typeface="+mn-cs"/>
              </a:rPr>
              <a:t>testUDLHandCalc</a:t>
            </a:r>
            <a:r>
              <a:rPr lang="en-US" sz="1900" dirty="0">
                <a:solidFill>
                  <a:srgbClr val="000000"/>
                </a:solidFill>
                <a:latin typeface="+mn-lt"/>
                <a:ea typeface="+mn-ea"/>
                <a:cs typeface="+mn-cs"/>
              </a:rPr>
              <a:t>.</a:t>
            </a:r>
            <a:endParaRPr lang="en-US" sz="1900" dirty="0"/>
          </a:p>
        </p:txBody>
      </p:sp>
      <p:sp xmlns:p="http://schemas.openxmlformats.org/presentationml/2006/main" xmlns:a="http://schemas.openxmlformats.org/drawingml/2006/main" xmlns:r="http://schemas.openxmlformats.org/officeDocument/2006/relationships">
        <p:nvSpPr>
          <p:cNvPr id="14" name="Shape 31"/>
          <p:cNvSpPr/>
          <p:nvPr/>
        </p:nvSpPr>
        <p:spPr>
          <a:xfrm>
            <a:off x="1810512" y="5166360"/>
            <a:ext cx="11676888"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15" name="Shape 32"/>
          <p:cNvSpPr/>
          <p:nvPr/>
        </p:nvSpPr>
        <p:spPr>
          <a:xfrm>
            <a:off x="1810512" y="5349240"/>
            <a:ext cx="338328" cy="338328"/>
          </a:xfrm>
          <a:prstGeom prst="rect">
            <a:avLst/>
          </a:prstGeom>
          <a:noFill/>
          <a:ln w="25400">
            <a:solidFill>
              <a:srgbClr val="152A47"/>
            </a:solidFill>
            <a:prstDash val="solid"/>
          </a:ln>
        </p:spPr>
        <p:txBody>
          <a:bodyPr/>
          <a:p/>
        </p:txBody>
      </p:sp>
      <p:sp xmlns:p="http://schemas.openxmlformats.org/presentationml/2006/main" xmlns:a="http://schemas.openxmlformats.org/drawingml/2006/main" xmlns:r="http://schemas.openxmlformats.org/officeDocument/2006/relationships">
        <p:nvSpPr>
          <p:cNvPr id="16" name="Text 33"/>
          <p:cNvSpPr txBox="1"/>
          <p:nvPr/>
        </p:nvSpPr>
        <p:spPr>
          <a:xfrm>
            <a:off x="2359152" y="5303520"/>
            <a:ext cx="11155680" cy="411480"/>
          </a:xfrm>
          <a:prstGeom prst="rect">
            <a:avLst/>
          </a:prstGeom>
          <a:noFill/>
          <a:ln/>
        </p:spPr>
        <p:txBody>
          <a:bodyPr wrap="square" lIns="25400" tIns="25400" rIns="25400" bIns="25400" rtlCol="0" anchor="t">
            <a:noAutofit/>
          </a:bodyPr>
          <a:lstStyle/>
          <a:p>
            <a:pPr algn="l" indent="0" marL="0">
              <a:buNone/>
            </a:pPr>
            <a:r>
              <a:rPr lang="en-US" sz="1900" dirty="0">
                <a:solidFill>
                  <a:srgbClr val="000000"/>
                </a:solidFill>
                <a:latin typeface="+mn-lt"/>
                <a:ea typeface="+mn-ea"/>
                <a:cs typeface="+mn-cs"/>
              </a:rPr>
              <a:t xml:space="preserve">Hand check: w = 1000 N/m, L = 2.0 m, steel, 50 × 100 mm → </a:t>
            </a:r>
            <a:r>
              <a:rPr lang="en-US" sz="1900" b="1" dirty="0">
                <a:solidFill>
                  <a:srgbClr val="000000"/>
                </a:solidFill>
                <a:latin typeface="+mn-lt"/>
                <a:ea typeface="+mn-ea"/>
                <a:cs typeface="+mn-cs"/>
              </a:rPr>
              <a:t>δ = 2.40 mm</a:t>
            </a:r>
            <a:r>
              <a:rPr lang="en-US" sz="1900" dirty="0">
                <a:solidFill>
                  <a:srgbClr val="000000"/>
                </a:solidFill>
                <a:latin typeface="+mn-lt"/>
                <a:ea typeface="+mn-ea"/>
                <a:cs typeface="+mn-cs"/>
              </a:rPr>
              <a:t>.</a:t>
            </a:r>
            <a:endParaRPr lang="en-US" sz="1900" dirty="0"/>
          </a:p>
        </p:txBody>
      </p:sp>
      <p:sp xmlns:p="http://schemas.openxmlformats.org/presentationml/2006/main" xmlns:a="http://schemas.openxmlformats.org/drawingml/2006/main" xmlns:r="http://schemas.openxmlformats.org/officeDocument/2006/relationships">
        <p:nvSpPr>
          <p:cNvPr id="17" name="Shape 34"/>
          <p:cNvSpPr/>
          <p:nvPr/>
        </p:nvSpPr>
        <p:spPr>
          <a:xfrm>
            <a:off x="1810512" y="5852160"/>
            <a:ext cx="11676888"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18" name="Shape 35"/>
          <p:cNvSpPr/>
          <p:nvPr/>
        </p:nvSpPr>
        <p:spPr>
          <a:xfrm>
            <a:off x="1810512" y="6035040"/>
            <a:ext cx="338328" cy="338328"/>
          </a:xfrm>
          <a:prstGeom prst="rect">
            <a:avLst/>
          </a:prstGeom>
          <a:noFill/>
          <a:ln w="25400">
            <a:solidFill>
              <a:srgbClr val="152A47"/>
            </a:solidFill>
            <a:prstDash val="solid"/>
          </a:ln>
        </p:spPr>
        <p:txBody>
          <a:bodyPr/>
          <a:p/>
        </p:txBody>
      </p:sp>
      <p:sp xmlns:p="http://schemas.openxmlformats.org/presentationml/2006/main" xmlns:a="http://schemas.openxmlformats.org/drawingml/2006/main" xmlns:r="http://schemas.openxmlformats.org/officeDocument/2006/relationships">
        <p:nvSpPr>
          <p:cNvPr id="19" name="Text 36"/>
          <p:cNvSpPr txBox="1"/>
          <p:nvPr/>
        </p:nvSpPr>
        <p:spPr>
          <a:xfrm>
            <a:off x="2359152" y="5989320"/>
            <a:ext cx="11155680" cy="411480"/>
          </a:xfrm>
          <a:prstGeom prst="rect">
            <a:avLst/>
          </a:prstGeom>
          <a:noFill/>
          <a:ln/>
        </p:spPr>
        <p:txBody>
          <a:bodyPr wrap="square" lIns="25400" tIns="25400" rIns="25400" bIns="25400" rtlCol="0" anchor="t">
            <a:noAutofit/>
          </a:bodyPr>
          <a:lstStyle/>
          <a:p>
            <a:pPr algn="l" indent="0" marL="0">
              <a:buNone/>
            </a:pPr>
            <a:r>
              <a:rPr lang="en-US" sz="1900" dirty="0">
                <a:solidFill>
                  <a:srgbClr val="000000"/>
                </a:solidFill>
                <a:latin typeface="+mn-lt"/>
                <a:ea typeface="+mn-ea"/>
                <a:cs typeface="+mn-cs"/>
              </a:rPr>
              <a:t xml:space="preserve">With P = wL, the distributed result is </a:t>
            </a:r>
            <a:r>
              <a:rPr lang="en-US" sz="1900" b="1" dirty="0">
                <a:solidFill>
                  <a:srgbClr val="000000"/>
                </a:solidFill>
                <a:latin typeface="+mn-lt"/>
                <a:ea typeface="+mn-ea"/>
                <a:cs typeface="+mn-cs"/>
              </a:rPr>
              <a:t>3/8</a:t>
            </a:r>
            <a:r>
              <a:rPr lang="en-US" sz="1900" dirty="0">
                <a:solidFill>
                  <a:srgbClr val="000000"/>
                </a:solidFill>
                <a:latin typeface="+mn-lt"/>
                <a:ea typeface="+mn-ea"/>
                <a:cs typeface="+mn-cs"/>
              </a:rPr>
              <a:t xml:space="preserve"> of the point-load result.</a:t>
            </a:r>
            <a:endParaRPr lang="en-US" sz="1900" dirty="0"/>
          </a:p>
        </p:txBody>
      </p:sp>
      <p:sp xmlns:p="http://schemas.openxmlformats.org/presentationml/2006/main" xmlns:a="http://schemas.openxmlformats.org/drawingml/2006/main" xmlns:r="http://schemas.openxmlformats.org/officeDocument/2006/relationships">
        <p:nvSpPr>
          <p:cNvPr id="20" name="Shape 37"/>
          <p:cNvSpPr/>
          <p:nvPr/>
        </p:nvSpPr>
        <p:spPr>
          <a:xfrm>
            <a:off x="1810512" y="6537960"/>
            <a:ext cx="11676888"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21" name="Shape 38"/>
          <p:cNvSpPr/>
          <p:nvPr/>
        </p:nvSpPr>
        <p:spPr>
          <a:xfrm>
            <a:off x="1810512" y="6720840"/>
            <a:ext cx="338328" cy="338328"/>
          </a:xfrm>
          <a:prstGeom prst="rect">
            <a:avLst/>
          </a:prstGeom>
          <a:noFill/>
          <a:ln w="25400">
            <a:solidFill>
              <a:srgbClr val="152A47"/>
            </a:solidFill>
            <a:prstDash val="solid"/>
          </a:ln>
        </p:spPr>
        <p:txBody>
          <a:bodyPr/>
          <a:p/>
        </p:txBody>
      </p:sp>
      <p:sp xmlns:p="http://schemas.openxmlformats.org/presentationml/2006/main" xmlns:a="http://schemas.openxmlformats.org/drawingml/2006/main" xmlns:r="http://schemas.openxmlformats.org/officeDocument/2006/relationships">
        <p:nvSpPr>
          <p:cNvPr id="22" name="Text 39"/>
          <p:cNvSpPr txBox="1"/>
          <p:nvPr/>
        </p:nvSpPr>
        <p:spPr>
          <a:xfrm>
            <a:off x="2359152" y="6675120"/>
            <a:ext cx="11155680" cy="411480"/>
          </a:xfrm>
          <a:prstGeom prst="rect">
            <a:avLst/>
          </a:prstGeom>
          <a:noFill/>
          <a:ln/>
        </p:spPr>
        <p:txBody>
          <a:bodyPr wrap="square" lIns="25400" tIns="25400" rIns="25400" bIns="25400" rtlCol="0" anchor="t">
            <a:noAutofit/>
          </a:bodyPr>
          <a:lstStyle/>
          <a:p>
            <a:pPr algn="l" indent="0" marL="0">
              <a:buNone/>
            </a:pPr>
            <a:r>
              <a:rPr lang="en-US" sz="1900" dirty="0">
                <a:solidFill>
                  <a:srgbClr val="000000"/>
                </a:solidFill>
                <a:latin typeface="+mn-lt"/>
                <a:ea typeface="+mn-ea"/>
                <a:cs typeface="+mn-cs"/>
              </a:rPr>
              <a:t>The point-load line prints the same value as on main.</a:t>
            </a:r>
            <a:endParaRPr lang="en-US" sz="1900" dirty="0"/>
          </a:p>
        </p:txBody>
      </p:sp>
      <p:sp xmlns:p="http://schemas.openxmlformats.org/presentationml/2006/main" xmlns:a="http://schemas.openxmlformats.org/drawingml/2006/main" xmlns:r="http://schemas.openxmlformats.org/officeDocument/2006/relationships">
        <p:nvSpPr>
          <p:cNvPr id="23" name="Shape 40"/>
          <p:cNvSpPr/>
          <p:nvPr/>
        </p:nvSpPr>
        <p:spPr>
          <a:xfrm>
            <a:off x="1810512" y="7223760"/>
            <a:ext cx="11676888"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24" name="Shape 41"/>
          <p:cNvSpPr/>
          <p:nvPr/>
        </p:nvSpPr>
        <p:spPr>
          <a:xfrm>
            <a:off x="1810512" y="7543800"/>
            <a:ext cx="11676888" cy="914400"/>
          </a:xfrm>
          <a:prstGeom prst="rect">
            <a:avLst/>
          </a:prstGeom>
          <a:solidFill>
            <a:srgbClr val="152A47"/>
          </a:solidFill>
          <a:ln/>
        </p:spPr>
        <p:txBody>
          <a:bodyPr/>
          <a:p/>
        </p:txBody>
      </p:sp>
      <p:sp xmlns:p="http://schemas.openxmlformats.org/presentationml/2006/main" xmlns:a="http://schemas.openxmlformats.org/drawingml/2006/main" xmlns:r="http://schemas.openxmlformats.org/officeDocument/2006/relationships">
        <p:nvSpPr>
          <p:cNvPr id="25" name="Text 42"/>
          <p:cNvSpPr txBox="1"/>
          <p:nvPr/>
        </p:nvSpPr>
        <p:spPr>
          <a:xfrm>
            <a:off x="2057400" y="7543800"/>
            <a:ext cx="11247120" cy="914400"/>
          </a:xfrm>
          <a:prstGeom prst="rect">
            <a:avLst/>
          </a:prstGeom>
          <a:noFill/>
          <a:ln/>
        </p:spPr>
        <p:txBody>
          <a:bodyPr wrap="square" lIns="25400" tIns="25400" rIns="25400" bIns="25400" rtlCol="0" anchor="ctr">
            <a:noAutofit/>
          </a:bodyPr>
          <a:lstStyle/>
          <a:p>
            <a:pPr algn="l" indent="0" marL="0">
              <a:buNone/>
            </a:pPr>
            <a:r>
              <a:rPr lang="en-US" sz="2000" b="1" dirty="0">
                <a:solidFill>
                  <a:srgbClr val="FFFFFF"/>
                </a:solidFill>
                <a:latin typeface="+mn-lt"/>
                <a:ea typeface="+mn-ea"/>
                <a:cs typeface="+mn-cs"/>
              </a:rPr>
              <a:t>Until you run it, the agent’s commit is a proposal.</a:t>
            </a:r>
            <a:endParaRPr lang="en-US" sz="2000" dirty="0"/>
          </a:p>
        </p:txBody>
      </p:sp>
      <p:sp xmlns:p="http://schemas.openxmlformats.org/presentationml/2006/main" xmlns:a="http://schemas.openxmlformats.org/drawingml/2006/main" xmlns:r="http://schemas.openxmlformats.org/officeDocument/2006/relationships">
        <p:nvSpPr>
          <p:cNvPr id="26" name="Nav highlight"/>
          <p:cNvSpPr txBox="1"/>
          <p:nvPr userDrawn="1"/>
        </p:nvSpPr>
        <p:spPr>
          <a:xfrm>
            <a:off x="133350" y="4286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Adjudicate</a:t>
            </a:r>
            <a:endParaRPr lang="en-US" sz="1800" b="1" dirty="0"/>
          </a:p>
        </p:txBody>
      </p:sp>
      <p:sp xmlns:p="http://schemas.openxmlformats.org/presentationml/2006/main" xmlns:a="http://schemas.openxmlformats.org/drawingml/2006/main" xmlns:r="http://schemas.openxmlformats.org/officeDocument/2006/relationships">
        <p:nvSpPr>
          <p:cNvPr id="27"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2</a:t>
            </a:r>
            <a:endParaRPr lang="en-US" sz="1800" dirty="0"/>
          </a:p>
        </p:txBody>
      </p:sp>
      <p:sp xmlns:p="http://schemas.openxmlformats.org/presentationml/2006/main" xmlns:a="http://schemas.openxmlformats.org/drawingml/2006/main" xmlns:r="http://schemas.openxmlformats.org/officeDocument/2006/relationships">
        <p:nvSpPr>
          <p:cNvPr id="28" name="Slide Numb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xmlns:p="http://schemas.openxmlformats.org/presentationml/2006/main" xmlns:a="http://schemas.openxmlformats.org/drawingml/2006/main" xmlns:r="http://schemas.openxmlformats.org/officeDocument/2006/relationships">
        <p:nvSpPr>
          <p:cNvPr id="2" name="Title"/>
          <p:cNvSpPr>
            <a:spLocks noGrp="1"/>
          </p:cNvSpPr>
          <p:nvPr>
            <p:ph type="title"/>
          </p:nvPr>
        </p:nvSpPr>
        <p:spPr/>
        <p:txBody>
          <a:bodyPr/>
          <a:lstStyle/>
          <a:p>
            <a:r>
              <a:rPr lang="en-US" dirty="0"/>
              <a:t>Iterate &amp; Merge</a:t>
            </a:r>
            <a:endParaRPr lang="en-US" dirty="0"/>
          </a:p>
        </p:txBody>
      </p:sp>
      <p:sp xmlns:p="http://schemas.openxmlformats.org/presentationml/2006/main" xmlns:a="http://schemas.openxmlformats.org/drawingml/2006/main" xmlns:r="http://schemas.openxmlformats.org/officeDocument/2006/relationships">
        <p:nvSpPr>
          <p:cNvPr id="3" name="Shape 20"/>
          <p:cNvSpPr/>
          <p:nvPr/>
        </p:nvSpPr>
        <p:spPr>
          <a:xfrm>
            <a:off x="1810512" y="1527048"/>
            <a:ext cx="1220724" cy="381305"/>
          </a:xfrm>
          <a:prstGeom prst="roundRect">
            <a:avLst>
              <a:gd name="adj" fmla="val 15000"/>
            </a:avLst>
          </a:prstGeom>
          <a:solidFill>
            <a:srgbClr val="152A47"/>
          </a:solidFill>
          <a:ln/>
        </p:spPr>
        <p:txBody>
          <a:bodyPr/>
          <a:p/>
        </p:txBody>
      </p:sp>
      <p:sp xmlns:p="http://schemas.openxmlformats.org/presentationml/2006/main" xmlns:a="http://schemas.openxmlformats.org/drawingml/2006/main" xmlns:r="http://schemas.openxmlformats.org/officeDocument/2006/relationships">
        <p:nvSpPr>
          <p:cNvPr id="4" name="Text 21"/>
          <p:cNvSpPr txBox="1"/>
          <p:nvPr/>
        </p:nvSpPr>
        <p:spPr>
          <a:xfrm>
            <a:off x="1837944" y="1563624"/>
            <a:ext cx="1165860" cy="342900"/>
          </a:xfrm>
          <a:prstGeom prst="rect">
            <a:avLst/>
          </a:prstGeom>
          <a:noFill/>
          <a:ln/>
        </p:spPr>
        <p:txBody>
          <a:bodyPr wrap="square" lIns="25400" tIns="25400" rIns="25400" bIns="25400" rtlCol="0" anchor="t">
            <a:noAutofit/>
          </a:bodyPr>
          <a:lstStyle/>
          <a:p>
            <a:pPr algn="ctr" indent="0" marL="0">
              <a:buNone/>
            </a:pPr>
            <a:r>
              <a:rPr lang="en-US" sz="1800" b="1" dirty="0">
                <a:solidFill>
                  <a:srgbClr val="FFFFFF"/>
                </a:solidFill>
                <a:latin typeface="+mn-lt"/>
                <a:ea typeface="+mn-ea"/>
                <a:cs typeface="+mn-cs"/>
              </a:rPr>
              <a:t>ITERATE</a:t>
            </a:r>
            <a:endParaRPr lang="en-US" sz="1800" dirty="0"/>
          </a:p>
        </p:txBody>
      </p:sp>
      <p:sp xmlns:p="http://schemas.openxmlformats.org/presentationml/2006/main" xmlns:a="http://schemas.openxmlformats.org/drawingml/2006/main" xmlns:r="http://schemas.openxmlformats.org/officeDocument/2006/relationships">
        <p:nvSpPr>
          <p:cNvPr id="5" name="Text 22"/>
          <p:cNvSpPr txBox="1"/>
          <p:nvPr/>
        </p:nvSpPr>
        <p:spPr>
          <a:xfrm>
            <a:off x="1810512" y="2103120"/>
            <a:ext cx="5852160" cy="411480"/>
          </a:xfrm>
          <a:prstGeom prst="rect">
            <a:avLst/>
          </a:prstGeom>
          <a:noFill/>
          <a:ln/>
        </p:spPr>
        <p:txBody>
          <a:bodyPr wrap="square" lIns="25400" tIns="25400" rIns="25400" bIns="25400" rtlCol="0" anchor="t">
            <a:noAutofit/>
          </a:bodyPr>
          <a:lstStyle/>
          <a:p>
            <a:pPr algn="l" indent="0" marL="0">
              <a:buNone/>
            </a:pPr>
            <a:r>
              <a:rPr lang="en-US" sz="2100" b="1" dirty="0">
                <a:solidFill>
                  <a:srgbClr val="000000"/>
                </a:solidFill>
                <a:latin typeface="+mn-lt"/>
                <a:ea typeface="+mn-ea"/>
                <a:cs typeface="+mn-cs"/>
              </a:rPr>
              <a:t>If it fails</a:t>
            </a:r>
            <a:endParaRPr lang="en-US" sz="2100" dirty="0"/>
          </a:p>
        </p:txBody>
      </p:sp>
      <p:sp xmlns:p="http://schemas.openxmlformats.org/presentationml/2006/main" xmlns:a="http://schemas.openxmlformats.org/drawingml/2006/main" xmlns:r="http://schemas.openxmlformats.org/officeDocument/2006/relationships">
        <p:nvSpPr>
          <p:cNvPr id="6" name="Text 23"/>
          <p:cNvSpPr txBox="1"/>
          <p:nvPr/>
        </p:nvSpPr>
        <p:spPr>
          <a:xfrm>
            <a:off x="1810512" y="2560320"/>
            <a:ext cx="5852160" cy="777240"/>
          </a:xfrm>
          <a:prstGeom prst="rect">
            <a:avLst/>
          </a:prstGeom>
          <a:noFill/>
          <a:ln/>
        </p:spPr>
        <p:txBody>
          <a:bodyPr wrap="square" lIns="25400" tIns="25400" rIns="25400" bIns="25400" rtlCol="0" anchor="t">
            <a:noAutofit/>
          </a:bodyPr>
          <a:lstStyle/>
          <a:p>
            <a:pPr algn="l" indent="0" marL="0">
              <a:buNone/>
            </a:pPr>
            <a:r>
              <a:rPr lang="en-US" sz="1900" dirty="0">
                <a:solidFill>
                  <a:srgbClr val="000000"/>
                </a:solidFill>
                <a:latin typeface="+mn-lt"/>
                <a:ea typeface="+mn-ea"/>
                <a:cs typeface="+mn-cs"/>
              </a:rPr>
              <a:t>Comment @codex on the PR with what you saw.</a:t>
            </a:r>
            <a:endParaRPr lang="en-US" sz="1900" dirty="0"/>
          </a:p>
        </p:txBody>
      </p:sp>
      <p:sp xmlns:p="http://schemas.openxmlformats.org/presentationml/2006/main" xmlns:a="http://schemas.openxmlformats.org/drawingml/2006/main" xmlns:r="http://schemas.openxmlformats.org/officeDocument/2006/relationships">
        <p:nvSpPr>
          <p:cNvPr id="7" name="Shape 24"/>
          <p:cNvSpPr/>
          <p:nvPr/>
        </p:nvSpPr>
        <p:spPr>
          <a:xfrm>
            <a:off x="1810512" y="3291840"/>
            <a:ext cx="5852160" cy="2029206"/>
          </a:xfrm>
          <a:prstGeom prst="roundRect">
            <a:avLst>
              <a:gd name="adj" fmla="val 4000"/>
            </a:avLst>
          </a:prstGeom>
          <a:solidFill>
            <a:srgbClr val="F2F2F2"/>
          </a:solidFill>
          <a:ln/>
        </p:spPr>
        <p:txBody>
          <a:bodyPr/>
          <a:p/>
        </p:txBody>
      </p:sp>
      <p:sp xmlns:p="http://schemas.openxmlformats.org/presentationml/2006/main" xmlns:a="http://schemas.openxmlformats.org/drawingml/2006/main" xmlns:r="http://schemas.openxmlformats.org/officeDocument/2006/relationships">
        <p:nvSpPr>
          <p:cNvPr id="8" name="Text 25"/>
          <p:cNvSpPr txBox="1"/>
          <p:nvPr/>
        </p:nvSpPr>
        <p:spPr>
          <a:xfrm>
            <a:off x="2011680" y="3429000"/>
            <a:ext cx="5486400" cy="347472"/>
          </a:xfrm>
          <a:prstGeom prst="rect">
            <a:avLst/>
          </a:prstGeom>
          <a:noFill/>
          <a:ln/>
        </p:spPr>
        <p:txBody>
          <a:bodyPr wrap="square" lIns="25400" tIns="25400" rIns="25400" bIns="25400" rtlCol="0" anchor="t">
            <a:noAutofit/>
          </a:bodyPr>
          <a:lstStyle/>
          <a:p>
            <a:pPr algn="l" indent="0" marL="0">
              <a:buNone/>
            </a:pPr>
            <a:r>
              <a:rPr lang="en-US" sz="1600" b="1" dirty="0">
                <a:solidFill>
                  <a:srgbClr val="1F6FB2"/>
                </a:solidFill>
                <a:latin typeface="+mn-lt"/>
                <a:ea typeface="+mn-ea"/>
                <a:cs typeface="+mn-cs"/>
              </a:rPr>
              <a:t>YOU</a:t>
            </a:r>
            <a:endParaRPr lang="en-US" sz="1600" dirty="0"/>
          </a:p>
        </p:txBody>
      </p:sp>
      <p:sp xmlns:p="http://schemas.openxmlformats.org/presentationml/2006/main" xmlns:a="http://schemas.openxmlformats.org/drawingml/2006/main" xmlns:r="http://schemas.openxmlformats.org/officeDocument/2006/relationships">
        <p:nvSpPr>
          <p:cNvPr id="9" name="Text 26"/>
          <p:cNvSpPr txBox="1"/>
          <p:nvPr/>
        </p:nvSpPr>
        <p:spPr>
          <a:xfrm>
            <a:off x="2011680" y="3794760"/>
            <a:ext cx="5486400" cy="1434846"/>
          </a:xfrm>
          <a:prstGeom prst="rect">
            <a:avLst/>
          </a:prstGeom>
          <a:noFill/>
          <a:ln/>
        </p:spPr>
        <p:txBody>
          <a:bodyPr wrap="square" lIns="25400" tIns="25400" rIns="25400" bIns="25400" rtlCol="0" anchor="t">
            <a:noAutofit/>
          </a:bodyPr>
          <a:lstStyle/>
          <a:p>
            <a:pPr algn="l" indent="0" marL="0">
              <a:spcAft>
                <a:spcPts val="400"/>
              </a:spcAft>
              <a:buNone/>
            </a:pPr>
            <a:r>
              <a:rPr lang="en-US" sz="1700" dirty="0">
                <a:solidFill>
                  <a:srgbClr val="000000"/>
                </a:solidFill>
                <a:latin typeface="+mn-lt"/>
                <a:ea typeface="+mn-ea"/>
                <a:cs typeface="+mn-cs"/>
              </a:rPr>
              <a:t>@codex testUDLHandCalc fails: expected 2.4000e-03, got 2.4000e-06. Output below. Find the cause and explain it before changing code.</a:t>
            </a:r>
            <a:endParaRPr lang="en-US" sz="1700" dirty="0"/>
          </a:p>
          <a:p>
            <a:pPr algn="l" indent="0" marL="0">
              <a:spcAft>
                <a:spcPts val="400"/>
              </a:spcAft>
              <a:buNone/>
            </a:pPr>
            <a:r>
              <a:rPr lang="en-US" sz="1700" dirty="0">
                <a:solidFill>
                  <a:srgbClr val="404040"/>
                </a:solidFill>
                <a:latin typeface="+mn-lt"/>
                <a:ea typeface="+mn-ea"/>
                <a:cs typeface="+mn-cs"/>
              </a:rPr>
              <a:t>[paste MATLAB output]</a:t>
            </a:r>
            <a:endParaRPr lang="en-US" sz="1700" dirty="0"/>
          </a:p>
        </p:txBody>
      </p:sp>
      <p:sp xmlns:p="http://schemas.openxmlformats.org/presentationml/2006/main" xmlns:a="http://schemas.openxmlformats.org/drawingml/2006/main" xmlns:r="http://schemas.openxmlformats.org/officeDocument/2006/relationships">
        <p:nvSpPr>
          <p:cNvPr id="10" name="Text 27"/>
          <p:cNvSpPr txBox="1"/>
          <p:nvPr/>
        </p:nvSpPr>
        <p:spPr>
          <a:xfrm>
            <a:off x="1810512" y="5549646"/>
            <a:ext cx="5852160" cy="1097280"/>
          </a:xfrm>
          <a:prstGeom prst="rect">
            <a:avLst/>
          </a:prstGeom>
          <a:noFill/>
          <a:ln/>
        </p:spPr>
        <p:txBody>
          <a:bodyPr wrap="square" lIns="25400" tIns="25400" rIns="25400" bIns="25400" rtlCol="0" anchor="t">
            <a:noAutofit/>
          </a:bodyPr>
          <a:lstStyle/>
          <a:p>
            <a:pPr algn="l" indent="0" marL="0">
              <a:buNone/>
            </a:pPr>
            <a:r>
              <a:rPr lang="en-US" sz="1900" dirty="0">
                <a:solidFill>
                  <a:srgbClr val="404040"/>
                </a:solidFill>
                <a:latin typeface="+mn-lt"/>
                <a:ea typeface="+mn-ea"/>
                <a:cs typeface="+mn-cs"/>
              </a:rPr>
              <a:t>Codex pushes a fix to the PR’s branch. Fetch, rerun, retest.</a:t>
            </a:r>
            <a:endParaRPr lang="en-US" sz="1900" dirty="0"/>
          </a:p>
        </p:txBody>
      </p:sp>
      <p:sp xmlns:p="http://schemas.openxmlformats.org/presentationml/2006/main" xmlns:a="http://schemas.openxmlformats.org/drawingml/2006/main" xmlns:r="http://schemas.openxmlformats.org/officeDocument/2006/relationships">
        <p:nvSpPr>
          <p:cNvPr id="11" name="Text 28"/>
          <p:cNvSpPr txBox="1"/>
          <p:nvPr/>
        </p:nvSpPr>
        <p:spPr>
          <a:xfrm>
            <a:off x="7818120" y="2103120"/>
            <a:ext cx="5669280" cy="411480"/>
          </a:xfrm>
          <a:prstGeom prst="rect">
            <a:avLst/>
          </a:prstGeom>
          <a:noFill/>
          <a:ln/>
        </p:spPr>
        <p:txBody>
          <a:bodyPr wrap="square" lIns="25400" tIns="25400" rIns="25400" bIns="25400" rtlCol="0" anchor="t">
            <a:noAutofit/>
          </a:bodyPr>
          <a:lstStyle/>
          <a:p>
            <a:pPr algn="l" indent="0" marL="0">
              <a:buNone/>
            </a:pPr>
            <a:r>
              <a:rPr lang="en-US" sz="2100" b="1" dirty="0">
                <a:solidFill>
                  <a:srgbClr val="000000"/>
                </a:solidFill>
                <a:latin typeface="+mn-lt"/>
                <a:ea typeface="+mn-ea"/>
                <a:cs typeface="+mn-cs"/>
              </a:rPr>
              <a:t>If it passes</a:t>
            </a:r>
            <a:endParaRPr lang="en-US" sz="2100" dirty="0"/>
          </a:p>
        </p:txBody>
      </p:sp>
      <p:sp xmlns:p="http://schemas.openxmlformats.org/presentationml/2006/main" xmlns:a="http://schemas.openxmlformats.org/drawingml/2006/main" xmlns:r="http://schemas.openxmlformats.org/officeDocument/2006/relationships">
        <p:nvSpPr>
          <p:cNvPr id="12" name="Text 29"/>
          <p:cNvSpPr txBox="1"/>
          <p:nvPr/>
        </p:nvSpPr>
        <p:spPr>
          <a:xfrm>
            <a:off x="7818120" y="2606040"/>
            <a:ext cx="612648" cy="420624"/>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1</a:t>
            </a:r>
            <a:endParaRPr lang="en-US" sz="2200" dirty="0"/>
          </a:p>
        </p:txBody>
      </p:sp>
      <p:sp xmlns:p="http://schemas.openxmlformats.org/presentationml/2006/main" xmlns:a="http://schemas.openxmlformats.org/drawingml/2006/main" xmlns:r="http://schemas.openxmlformats.org/officeDocument/2006/relationships">
        <p:nvSpPr>
          <p:cNvPr id="13" name="Text 30"/>
          <p:cNvSpPr txBox="1"/>
          <p:nvPr/>
        </p:nvSpPr>
        <p:spPr>
          <a:xfrm>
            <a:off x="8348472" y="2606040"/>
            <a:ext cx="5138928" cy="385584"/>
          </a:xfrm>
          <a:prstGeom prst="rect">
            <a:avLst/>
          </a:prstGeom>
          <a:noFill/>
          <a:ln/>
        </p:spPr>
        <p:txBody>
          <a:bodyPr wrap="square" lIns="25400" tIns="25400" rIns="25400" bIns="25400" rtlCol="0" anchor="t">
            <a:noAutofit/>
          </a:bodyPr>
          <a:lstStyle/>
          <a:p>
            <a:pPr algn="l" indent="0" marL="0">
              <a:lnSpc>
                <a:spcPct val="101250"/>
              </a:lnSpc>
              <a:buNone/>
            </a:pPr>
            <a:r>
              <a:rPr lang="en-US" sz="1900" dirty="0">
                <a:solidFill>
                  <a:srgbClr val="000000"/>
                </a:solidFill>
                <a:latin typeface="+mn-lt"/>
                <a:ea typeface="+mn-ea"/>
                <a:cs typeface="+mn-cs"/>
              </a:rPr>
              <a:t>Merge the PR on GitHub.</a:t>
            </a:r>
            <a:endParaRPr lang="en-US" sz="1900" dirty="0"/>
          </a:p>
        </p:txBody>
      </p:sp>
      <p:sp xmlns:p="http://schemas.openxmlformats.org/presentationml/2006/main" xmlns:a="http://schemas.openxmlformats.org/drawingml/2006/main" xmlns:r="http://schemas.openxmlformats.org/officeDocument/2006/relationships">
        <p:nvSpPr>
          <p:cNvPr id="14" name="Text 31"/>
          <p:cNvSpPr txBox="1"/>
          <p:nvPr/>
        </p:nvSpPr>
        <p:spPr>
          <a:xfrm>
            <a:off x="7818120" y="3128784"/>
            <a:ext cx="612648" cy="679728"/>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2</a:t>
            </a:r>
            <a:endParaRPr lang="en-US" sz="2200" dirty="0"/>
          </a:p>
        </p:txBody>
      </p:sp>
      <p:sp xmlns:p="http://schemas.openxmlformats.org/presentationml/2006/main" xmlns:a="http://schemas.openxmlformats.org/drawingml/2006/main" xmlns:r="http://schemas.openxmlformats.org/officeDocument/2006/relationships">
        <p:nvSpPr>
          <p:cNvPr id="15" name="Text 32"/>
          <p:cNvSpPr txBox="1"/>
          <p:nvPr/>
        </p:nvSpPr>
        <p:spPr>
          <a:xfrm>
            <a:off x="8348472" y="3128784"/>
            <a:ext cx="5138928" cy="679728"/>
          </a:xfrm>
          <a:prstGeom prst="rect">
            <a:avLst/>
          </a:prstGeom>
          <a:noFill/>
          <a:ln/>
        </p:spPr>
        <p:txBody>
          <a:bodyPr wrap="square" lIns="25400" tIns="25400" rIns="25400" bIns="25400" rtlCol="0" anchor="t">
            <a:noAutofit/>
          </a:bodyPr>
          <a:lstStyle/>
          <a:p>
            <a:pPr algn="l" indent="0" marL="0">
              <a:lnSpc>
                <a:spcPct val="101250"/>
              </a:lnSpc>
              <a:buNone/>
            </a:pPr>
            <a:r>
              <a:rPr lang="en-US" sz="1900" dirty="0">
                <a:solidFill>
                  <a:srgbClr val="000000"/>
                </a:solidFill>
                <a:latin typeface="+mn-lt"/>
                <a:ea typeface="+mn-ea"/>
                <a:cs typeface="+mn-cs"/>
              </a:rPr>
              <a:t xml:space="preserve">GitHub Desktop: switch to main, </a:t>
            </a:r>
            <a:r>
              <a:rPr lang="en-US" sz="1900" b="1" dirty="0">
                <a:solidFill>
                  <a:srgbClr val="000000"/>
                </a:solidFill>
                <a:latin typeface="+mn-lt"/>
                <a:ea typeface="+mn-ea"/>
                <a:cs typeface="+mn-cs"/>
              </a:rPr>
              <a:t>Pull origin</a:t>
            </a:r>
            <a:r>
              <a:rPr lang="en-US" sz="1900" dirty="0">
                <a:solidFill>
                  <a:srgbClr val="000000"/>
                </a:solidFill>
                <a:latin typeface="+mn-lt"/>
                <a:ea typeface="+mn-ea"/>
                <a:cs typeface="+mn-cs"/>
              </a:rPr>
              <a:t>.</a:t>
            </a:r>
            <a:endParaRPr lang="en-US" sz="1900" dirty="0"/>
          </a:p>
        </p:txBody>
      </p:sp>
      <p:sp xmlns:p="http://schemas.openxmlformats.org/presentationml/2006/main" xmlns:a="http://schemas.openxmlformats.org/drawingml/2006/main" xmlns:r="http://schemas.openxmlformats.org/officeDocument/2006/relationships">
        <p:nvSpPr>
          <p:cNvPr id="16" name="Text 33"/>
          <p:cNvSpPr txBox="1"/>
          <p:nvPr/>
        </p:nvSpPr>
        <p:spPr>
          <a:xfrm>
            <a:off x="7818120" y="3945672"/>
            <a:ext cx="612648" cy="679728"/>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3</a:t>
            </a:r>
            <a:endParaRPr lang="en-US" sz="2200" dirty="0"/>
          </a:p>
        </p:txBody>
      </p:sp>
      <p:sp xmlns:p="http://schemas.openxmlformats.org/presentationml/2006/main" xmlns:a="http://schemas.openxmlformats.org/drawingml/2006/main" xmlns:r="http://schemas.openxmlformats.org/officeDocument/2006/relationships">
        <p:nvSpPr>
          <p:cNvPr id="17" name="Text 34"/>
          <p:cNvSpPr txBox="1"/>
          <p:nvPr/>
        </p:nvSpPr>
        <p:spPr>
          <a:xfrm>
            <a:off x="8348472" y="3945672"/>
            <a:ext cx="5138928" cy="679728"/>
          </a:xfrm>
          <a:prstGeom prst="rect">
            <a:avLst/>
          </a:prstGeom>
          <a:noFill/>
          <a:ln/>
        </p:spPr>
        <p:txBody>
          <a:bodyPr wrap="square" lIns="25400" tIns="25400" rIns="25400" bIns="25400" rtlCol="0" anchor="t">
            <a:noAutofit/>
          </a:bodyPr>
          <a:lstStyle/>
          <a:p>
            <a:pPr algn="l" indent="0" marL="0">
              <a:lnSpc>
                <a:spcPct val="101250"/>
              </a:lnSpc>
              <a:buNone/>
            </a:pPr>
            <a:r>
              <a:rPr lang="en-US" sz="1900" dirty="0">
                <a:solidFill>
                  <a:srgbClr val="000000"/>
                </a:solidFill>
                <a:latin typeface="+mn-lt"/>
                <a:ea typeface="+mn-ea"/>
                <a:cs typeface="+mn-cs"/>
              </a:rPr>
              <a:t>Start a new task for the next requirement.</a:t>
            </a:r>
            <a:endParaRPr lang="en-US" sz="1900" dirty="0"/>
          </a:p>
        </p:txBody>
      </p:sp>
      <p:sp xmlns:p="http://schemas.openxmlformats.org/presentationml/2006/main" xmlns:a="http://schemas.openxmlformats.org/drawingml/2006/main" xmlns:r="http://schemas.openxmlformats.org/officeDocument/2006/relationships">
        <p:nvSpPr>
          <p:cNvPr id="18" name="Text 35"/>
          <p:cNvSpPr txBox="1"/>
          <p:nvPr/>
        </p:nvSpPr>
        <p:spPr>
          <a:xfrm>
            <a:off x="7818120" y="4762560"/>
            <a:ext cx="612648" cy="679728"/>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4</a:t>
            </a:r>
            <a:endParaRPr lang="en-US" sz="2200" dirty="0"/>
          </a:p>
        </p:txBody>
      </p:sp>
      <p:sp xmlns:p="http://schemas.openxmlformats.org/presentationml/2006/main" xmlns:a="http://schemas.openxmlformats.org/drawingml/2006/main" xmlns:r="http://schemas.openxmlformats.org/officeDocument/2006/relationships">
        <p:nvSpPr>
          <p:cNvPr id="19" name="Text 36"/>
          <p:cNvSpPr txBox="1"/>
          <p:nvPr/>
        </p:nvSpPr>
        <p:spPr>
          <a:xfrm>
            <a:off x="8348472" y="4762560"/>
            <a:ext cx="5138928" cy="679728"/>
          </a:xfrm>
          <a:prstGeom prst="rect">
            <a:avLst/>
          </a:prstGeom>
          <a:noFill/>
          <a:ln/>
        </p:spPr>
        <p:txBody>
          <a:bodyPr wrap="square" lIns="25400" tIns="25400" rIns="25400" bIns="25400" rtlCol="0" anchor="t">
            <a:noAutofit/>
          </a:bodyPr>
          <a:lstStyle/>
          <a:p>
            <a:pPr algn="l" indent="0" marL="0">
              <a:lnSpc>
                <a:spcPct val="101250"/>
              </a:lnSpc>
              <a:buNone/>
            </a:pPr>
            <a:r>
              <a:rPr lang="en-US" sz="1900" dirty="0">
                <a:solidFill>
                  <a:srgbClr val="000000"/>
                </a:solidFill>
                <a:latin typeface="+mn-lt"/>
                <a:ea typeface="+mn-ea"/>
                <a:cs typeface="+mn-cs"/>
              </a:rPr>
              <a:t>Add a rule to AGENTS.md for any mistake the agent made twice.</a:t>
            </a:r>
            <a:endParaRPr lang="en-US" sz="1900" dirty="0"/>
          </a:p>
        </p:txBody>
      </p:sp>
      <p:sp xmlns:p="http://schemas.openxmlformats.org/presentationml/2006/main" xmlns:a="http://schemas.openxmlformats.org/drawingml/2006/main" xmlns:r="http://schemas.openxmlformats.org/officeDocument/2006/relationships">
        <p:nvSpPr>
          <p:cNvPr id="20" name="Nav highlight"/>
          <p:cNvSpPr txBox="1"/>
          <p:nvPr userDrawn="1"/>
        </p:nvSpPr>
        <p:spPr>
          <a:xfrm>
            <a:off x="133350" y="4286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Adjudicate</a:t>
            </a:r>
            <a:endParaRPr lang="en-US" sz="1800" b="1" dirty="0"/>
          </a:p>
        </p:txBody>
      </p:sp>
      <p:sp xmlns:p="http://schemas.openxmlformats.org/presentationml/2006/main" xmlns:a="http://schemas.openxmlformats.org/drawingml/2006/main" xmlns:r="http://schemas.openxmlformats.org/officeDocument/2006/relationships">
        <p:nvSpPr>
          <p:cNvPr id="21"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2</a:t>
            </a:r>
            <a:endParaRPr lang="en-US" sz="1800" dirty="0"/>
          </a:p>
        </p:txBody>
      </p:sp>
      <p:sp xmlns:p="http://schemas.openxmlformats.org/presentationml/2006/main" xmlns:a="http://schemas.openxmlformats.org/drawingml/2006/main" xmlns:r="http://schemas.openxmlformats.org/officeDocument/2006/relationships">
        <p:nvSpPr>
          <p:cNvPr id="22" name="Slide Number"/>
          <p:cNvSpPr>
            <a:spLocks noGrp="1"/>
          </p:cNvSpPr>
          <p:nvPr>
            <p:ph type="sldNum" sz="quarter" idx="12"/>
          </p:nvPr>
        </p:nvSpPr>
        <p:spPr/>
        <p:txBody>
          <a:bodyPr/>
          <a:lstStyle/>
          <a:p>
            <a:fld id="{B6F15528-21DE-4FAA-801E-634DDDAF4B2B}" type="slidenum">
              <a:rPr lang="en-US"/>
              <a:t>‹#›</a:t>
            </a:fld>
            <a:endParaRPr lang="en-US"/>
          </a:p>
        </p:txBody>
      </p:sp>
      <p:pic>
        <p:nvPicPr>
          <p:cNvPr id="23" name="Screenshot placeholder" descr="Screenshot to add: GitHub pull request comment box with an @codex failure report"/>
          <p:cNvPicPr>
            <a:picLocks noChangeAspect="1"/>
          </p:cNvPicPr>
          <p:nvPr/>
        </p:nvPicPr>
        <p:blipFill>
          <a:blip r:embed="rId3"/>
          <a:stretch>
            <a:fillRect/>
          </a:stretch>
        </p:blipFill>
        <p:spPr>
          <a:xfrm>
            <a:off x="1810512" y="6812280"/>
            <a:ext cx="5852160" cy="26060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xmlns:p="http://schemas.openxmlformats.org/presentationml/2006/main" xmlns:a="http://schemas.openxmlformats.org/drawingml/2006/main" xmlns:r="http://schemas.openxmlformats.org/officeDocument/2006/relationships">
        <p:nvSpPr>
          <p:cNvPr id="2" name="Title"/>
          <p:cNvSpPr>
            <a:spLocks noGrp="1"/>
          </p:cNvSpPr>
          <p:nvPr>
            <p:ph type="title"/>
          </p:nvPr>
        </p:nvSpPr>
        <p:spPr/>
        <p:txBody>
          <a:bodyPr/>
          <a:lstStyle/>
          <a:p>
            <a:r>
              <a:rPr lang="en-US" dirty="0"/>
              <a:t>Common Failure Modes</a:t>
            </a:r>
            <a:endParaRPr lang="en-US" dirty="0"/>
          </a:p>
        </p:txBody>
      </p:sp>
      <p:sp xmlns:p="http://schemas.openxmlformats.org/presentationml/2006/main" xmlns:a="http://schemas.openxmlformats.org/drawingml/2006/main" xmlns:r="http://schemas.openxmlformats.org/officeDocument/2006/relationships">
        <p:nvSpPr>
          <p:cNvPr id="3" name="Shape 20"/>
          <p:cNvSpPr/>
          <p:nvPr/>
        </p:nvSpPr>
        <p:spPr>
          <a:xfrm>
            <a:off x="1810512" y="1572768"/>
            <a:ext cx="2651760" cy="612648"/>
          </a:xfrm>
          <a:prstGeom prst="rect">
            <a:avLst/>
          </a:prstGeom>
          <a:solidFill>
            <a:srgbClr val="152A47"/>
          </a:solidFill>
          <a:ln/>
        </p:spPr>
      </p:sp>
      <p:sp xmlns:p="http://schemas.openxmlformats.org/presentationml/2006/main" xmlns:a="http://schemas.openxmlformats.org/drawingml/2006/main" xmlns:r="http://schemas.openxmlformats.org/officeDocument/2006/relationships">
        <p:nvSpPr>
          <p:cNvPr id="4" name="Text 21"/>
          <p:cNvSpPr txBox="1"/>
          <p:nvPr/>
        </p:nvSpPr>
        <p:spPr>
          <a:xfrm>
            <a:off x="1984248" y="1705356"/>
            <a:ext cx="2423160" cy="347472"/>
          </a:xfrm>
          <a:prstGeom prst="rect">
            <a:avLst/>
          </a:prstGeom>
          <a:noFill/>
          <a:ln/>
        </p:spPr>
        <p:txBody>
          <a:bodyPr wrap="square" lIns="25400" tIns="25400" rIns="25400" bIns="25400" rtlCol="0" anchor="t">
            <a:noAutofit/>
          </a:bodyPr>
          <a:lstStyle/>
          <a:p>
            <a:pPr algn="l" indent="0" marL="0">
              <a:buNone/>
            </a:pPr>
            <a:r>
              <a:rPr lang="en-US" sz="1800" b="1" dirty="0">
                <a:solidFill>
                  <a:srgbClr val="FFFFFF"/>
                </a:solidFill>
                <a:latin typeface="+mn-lt"/>
                <a:ea typeface="+mn-ea"/>
                <a:cs typeface="+mn-cs"/>
              </a:rPr>
              <a:t>Failure</a:t>
            </a:r>
            <a:endParaRPr lang="en-US" sz="1800" dirty="0"/>
          </a:p>
        </p:txBody>
      </p:sp>
      <p:sp xmlns:p="http://schemas.openxmlformats.org/presentationml/2006/main" xmlns:a="http://schemas.openxmlformats.org/drawingml/2006/main" xmlns:r="http://schemas.openxmlformats.org/officeDocument/2006/relationships">
        <p:nvSpPr>
          <p:cNvPr id="5" name="Shape 22"/>
          <p:cNvSpPr/>
          <p:nvPr/>
        </p:nvSpPr>
        <p:spPr>
          <a:xfrm>
            <a:off x="4462272" y="1572768"/>
            <a:ext cx="4846320" cy="612648"/>
          </a:xfrm>
          <a:prstGeom prst="rect">
            <a:avLst/>
          </a:prstGeom>
          <a:solidFill>
            <a:srgbClr val="152A47"/>
          </a:solidFill>
          <a:ln/>
        </p:spPr>
      </p:sp>
      <p:sp xmlns:p="http://schemas.openxmlformats.org/presentationml/2006/main" xmlns:a="http://schemas.openxmlformats.org/drawingml/2006/main" xmlns:r="http://schemas.openxmlformats.org/officeDocument/2006/relationships">
        <p:nvSpPr>
          <p:cNvPr id="6" name="Text 23"/>
          <p:cNvSpPr txBox="1"/>
          <p:nvPr/>
        </p:nvSpPr>
        <p:spPr>
          <a:xfrm>
            <a:off x="4636008" y="1705356"/>
            <a:ext cx="4617720" cy="347472"/>
          </a:xfrm>
          <a:prstGeom prst="rect">
            <a:avLst/>
          </a:prstGeom>
          <a:noFill/>
          <a:ln/>
        </p:spPr>
        <p:txBody>
          <a:bodyPr wrap="square" lIns="25400" tIns="25400" rIns="25400" bIns="25400" rtlCol="0" anchor="t">
            <a:noAutofit/>
          </a:bodyPr>
          <a:lstStyle/>
          <a:p>
            <a:pPr algn="l" indent="0" marL="0">
              <a:buNone/>
            </a:pPr>
            <a:r>
              <a:rPr lang="en-US" sz="1800" b="1" dirty="0">
                <a:solidFill>
                  <a:srgbClr val="FFFFFF"/>
                </a:solidFill>
                <a:latin typeface="+mn-lt"/>
                <a:ea typeface="+mn-ea"/>
                <a:cs typeface="+mn-cs"/>
              </a:rPr>
              <a:t>beam-calc example</a:t>
            </a:r>
            <a:endParaRPr lang="en-US" sz="1800" dirty="0"/>
          </a:p>
        </p:txBody>
      </p:sp>
      <p:sp xmlns:p="http://schemas.openxmlformats.org/presentationml/2006/main" xmlns:a="http://schemas.openxmlformats.org/drawingml/2006/main" xmlns:r="http://schemas.openxmlformats.org/officeDocument/2006/relationships">
        <p:nvSpPr>
          <p:cNvPr id="7" name="Shape 24"/>
          <p:cNvSpPr/>
          <p:nvPr/>
        </p:nvSpPr>
        <p:spPr>
          <a:xfrm>
            <a:off x="9308592" y="1572768"/>
            <a:ext cx="4178808" cy="612648"/>
          </a:xfrm>
          <a:prstGeom prst="rect">
            <a:avLst/>
          </a:prstGeom>
          <a:solidFill>
            <a:srgbClr val="152A47"/>
          </a:solidFill>
          <a:ln/>
        </p:spPr>
      </p:sp>
      <p:sp xmlns:p="http://schemas.openxmlformats.org/presentationml/2006/main" xmlns:a="http://schemas.openxmlformats.org/drawingml/2006/main" xmlns:r="http://schemas.openxmlformats.org/officeDocument/2006/relationships">
        <p:nvSpPr>
          <p:cNvPr id="8" name="Text 25"/>
          <p:cNvSpPr txBox="1"/>
          <p:nvPr/>
        </p:nvSpPr>
        <p:spPr>
          <a:xfrm>
            <a:off x="9482328" y="1705356"/>
            <a:ext cx="3950208" cy="347472"/>
          </a:xfrm>
          <a:prstGeom prst="rect">
            <a:avLst/>
          </a:prstGeom>
          <a:noFill/>
          <a:ln/>
        </p:spPr>
        <p:txBody>
          <a:bodyPr wrap="square" lIns="25400" tIns="25400" rIns="25400" bIns="25400" rtlCol="0" anchor="t">
            <a:noAutofit/>
          </a:bodyPr>
          <a:lstStyle/>
          <a:p>
            <a:pPr algn="l" indent="0" marL="0">
              <a:buNone/>
            </a:pPr>
            <a:r>
              <a:rPr lang="en-US" sz="1800" b="1" dirty="0">
                <a:solidFill>
                  <a:srgbClr val="FFFFFF"/>
                </a:solidFill>
                <a:latin typeface="+mn-lt"/>
                <a:ea typeface="+mn-ea"/>
                <a:cs typeface="+mn-cs"/>
              </a:rPr>
              <a:t>How you catch it</a:t>
            </a:r>
            <a:endParaRPr lang="en-US" sz="1800" dirty="0"/>
          </a:p>
        </p:txBody>
      </p:sp>
      <p:sp xmlns:p="http://schemas.openxmlformats.org/presentationml/2006/main" xmlns:a="http://schemas.openxmlformats.org/drawingml/2006/main" xmlns:r="http://schemas.openxmlformats.org/officeDocument/2006/relationships">
        <p:nvSpPr>
          <p:cNvPr id="9" name="Text 26"/>
          <p:cNvSpPr txBox="1"/>
          <p:nvPr/>
        </p:nvSpPr>
        <p:spPr>
          <a:xfrm>
            <a:off x="1984248" y="2313432"/>
            <a:ext cx="2423160" cy="370332"/>
          </a:xfrm>
          <a:prstGeom prst="rect">
            <a:avLst/>
          </a:prstGeom>
          <a:noFill/>
          <a:ln/>
        </p:spPr>
        <p:txBody>
          <a:bodyPr wrap="square" lIns="25400" tIns="25400" rIns="25400" bIns="25400" rtlCol="0" anchor="t">
            <a:noAutofit/>
          </a:bodyPr>
          <a:lstStyle/>
          <a:p>
            <a:pPr algn="l" indent="0" marL="0">
              <a:buNone/>
            </a:pPr>
            <a:r>
              <a:rPr lang="en-US" sz="1800" b="1" dirty="0">
                <a:solidFill>
                  <a:srgbClr val="000000"/>
                </a:solidFill>
                <a:latin typeface="+mn-lt"/>
                <a:ea typeface="+mn-ea"/>
                <a:cs typeface="+mn-cs"/>
              </a:rPr>
              <a:t>Wrong formula</a:t>
            </a:r>
            <a:endParaRPr lang="en-US" sz="1800" dirty="0"/>
          </a:p>
        </p:txBody>
      </p:sp>
      <p:sp xmlns:p="http://schemas.openxmlformats.org/presentationml/2006/main" xmlns:a="http://schemas.openxmlformats.org/drawingml/2006/main" xmlns:r="http://schemas.openxmlformats.org/officeDocument/2006/relationships">
        <p:nvSpPr>
          <p:cNvPr id="10" name="Shape 27"/>
          <p:cNvSpPr/>
          <p:nvPr/>
        </p:nvSpPr>
        <p:spPr>
          <a:xfrm>
            <a:off x="1810512" y="3072384"/>
            <a:ext cx="2651760" cy="18288"/>
          </a:xfrm>
          <a:prstGeom prst="rect">
            <a:avLst/>
          </a:prstGeom>
          <a:solidFill>
            <a:srgbClr val="BFBFBF"/>
          </a:solidFill>
          <a:ln/>
        </p:spPr>
      </p:sp>
      <p:sp xmlns:p="http://schemas.openxmlformats.org/presentationml/2006/main" xmlns:a="http://schemas.openxmlformats.org/drawingml/2006/main" xmlns:r="http://schemas.openxmlformats.org/officeDocument/2006/relationships">
        <p:nvSpPr>
          <p:cNvPr id="11" name="Text 28"/>
          <p:cNvSpPr txBox="1"/>
          <p:nvPr/>
        </p:nvSpPr>
        <p:spPr>
          <a:xfrm>
            <a:off x="4636008" y="2313432"/>
            <a:ext cx="4617720" cy="649224"/>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w L⁴ / (3 E I): the point-load denominator reused</a:t>
            </a:r>
            <a:endParaRPr lang="en-US" sz="1800" dirty="0"/>
          </a:p>
        </p:txBody>
      </p:sp>
      <p:sp xmlns:p="http://schemas.openxmlformats.org/presentationml/2006/main" xmlns:a="http://schemas.openxmlformats.org/drawingml/2006/main" xmlns:r="http://schemas.openxmlformats.org/officeDocument/2006/relationships">
        <p:nvSpPr>
          <p:cNvPr id="12" name="Shape 29"/>
          <p:cNvSpPr/>
          <p:nvPr/>
        </p:nvSpPr>
        <p:spPr>
          <a:xfrm>
            <a:off x="4462272" y="3072384"/>
            <a:ext cx="4846320" cy="18288"/>
          </a:xfrm>
          <a:prstGeom prst="rect">
            <a:avLst/>
          </a:prstGeom>
          <a:solidFill>
            <a:srgbClr val="BFBFBF"/>
          </a:solidFill>
          <a:ln/>
        </p:spPr>
      </p:sp>
      <p:sp xmlns:p="http://schemas.openxmlformats.org/presentationml/2006/main" xmlns:a="http://schemas.openxmlformats.org/drawingml/2006/main" xmlns:r="http://schemas.openxmlformats.org/officeDocument/2006/relationships">
        <p:nvSpPr>
          <p:cNvPr id="13" name="Text 30"/>
          <p:cNvSpPr txBox="1"/>
          <p:nvPr/>
        </p:nvSpPr>
        <p:spPr>
          <a:xfrm>
            <a:off x="9482328" y="2313432"/>
            <a:ext cx="3950208" cy="370332"/>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Hand calc; the 3/8 ratio</a:t>
            </a:r>
            <a:endParaRPr lang="en-US" sz="1800" dirty="0"/>
          </a:p>
        </p:txBody>
      </p:sp>
      <p:sp xmlns:p="http://schemas.openxmlformats.org/presentationml/2006/main" xmlns:a="http://schemas.openxmlformats.org/drawingml/2006/main" xmlns:r="http://schemas.openxmlformats.org/officeDocument/2006/relationships">
        <p:nvSpPr>
          <p:cNvPr id="14" name="Shape 31"/>
          <p:cNvSpPr/>
          <p:nvPr/>
        </p:nvSpPr>
        <p:spPr>
          <a:xfrm>
            <a:off x="9308592" y="3072384"/>
            <a:ext cx="4178808" cy="18288"/>
          </a:xfrm>
          <a:prstGeom prst="rect">
            <a:avLst/>
          </a:prstGeom>
          <a:solidFill>
            <a:srgbClr val="BFBFBF"/>
          </a:solidFill>
          <a:ln/>
        </p:spPr>
      </p:sp>
      <p:sp xmlns:p="http://schemas.openxmlformats.org/presentationml/2006/main" xmlns:a="http://schemas.openxmlformats.org/drawingml/2006/main" xmlns:r="http://schemas.openxmlformats.org/officeDocument/2006/relationships">
        <p:nvSpPr>
          <p:cNvPr id="15" name="Text 32"/>
          <p:cNvSpPr txBox="1"/>
          <p:nvPr/>
        </p:nvSpPr>
        <p:spPr>
          <a:xfrm>
            <a:off x="1984248" y="3218688"/>
            <a:ext cx="2423160" cy="370332"/>
          </a:xfrm>
          <a:prstGeom prst="rect">
            <a:avLst/>
          </a:prstGeom>
          <a:noFill/>
          <a:ln/>
        </p:spPr>
        <p:txBody>
          <a:bodyPr wrap="square" lIns="25400" tIns="25400" rIns="25400" bIns="25400" rtlCol="0" anchor="t">
            <a:noAutofit/>
          </a:bodyPr>
          <a:lstStyle/>
          <a:p>
            <a:pPr algn="l" indent="0" marL="0">
              <a:buNone/>
            </a:pPr>
            <a:r>
              <a:rPr lang="en-US" sz="1800" b="1" dirty="0">
                <a:solidFill>
                  <a:srgbClr val="000000"/>
                </a:solidFill>
                <a:latin typeface="+mn-lt"/>
                <a:ea typeface="+mn-ea"/>
                <a:cs typeface="+mn-cs"/>
              </a:rPr>
              <a:t>Unit slip</a:t>
            </a:r>
            <a:endParaRPr lang="en-US" sz="1800" dirty="0"/>
          </a:p>
        </p:txBody>
      </p:sp>
      <p:sp xmlns:p="http://schemas.openxmlformats.org/presentationml/2006/main" xmlns:a="http://schemas.openxmlformats.org/drawingml/2006/main" xmlns:r="http://schemas.openxmlformats.org/officeDocument/2006/relationships">
        <p:nvSpPr>
          <p:cNvPr id="16" name="Shape 33"/>
          <p:cNvSpPr/>
          <p:nvPr/>
        </p:nvSpPr>
        <p:spPr>
          <a:xfrm>
            <a:off x="1810512" y="3698748"/>
            <a:ext cx="2651760" cy="18288"/>
          </a:xfrm>
          <a:prstGeom prst="rect">
            <a:avLst/>
          </a:prstGeom>
          <a:solidFill>
            <a:srgbClr val="BFBFBF"/>
          </a:solidFill>
          <a:ln/>
        </p:spPr>
      </p:sp>
      <p:sp xmlns:p="http://schemas.openxmlformats.org/presentationml/2006/main" xmlns:a="http://schemas.openxmlformats.org/drawingml/2006/main" xmlns:r="http://schemas.openxmlformats.org/officeDocument/2006/relationships">
        <p:nvSpPr>
          <p:cNvPr id="17" name="Text 34"/>
          <p:cNvSpPr txBox="1"/>
          <p:nvPr/>
        </p:nvSpPr>
        <p:spPr>
          <a:xfrm>
            <a:off x="4636008" y="3218688"/>
            <a:ext cx="4617720" cy="370332"/>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Section entered in mm in an SI file</a:t>
            </a:r>
            <a:endParaRPr lang="en-US" sz="1800" dirty="0"/>
          </a:p>
        </p:txBody>
      </p:sp>
      <p:sp xmlns:p="http://schemas.openxmlformats.org/presentationml/2006/main" xmlns:a="http://schemas.openxmlformats.org/drawingml/2006/main" xmlns:r="http://schemas.openxmlformats.org/officeDocument/2006/relationships">
        <p:nvSpPr>
          <p:cNvPr id="18" name="Shape 35"/>
          <p:cNvSpPr/>
          <p:nvPr/>
        </p:nvSpPr>
        <p:spPr>
          <a:xfrm>
            <a:off x="4462272" y="3698748"/>
            <a:ext cx="4846320" cy="18288"/>
          </a:xfrm>
          <a:prstGeom prst="rect">
            <a:avLst/>
          </a:prstGeom>
          <a:solidFill>
            <a:srgbClr val="BFBFBF"/>
          </a:solidFill>
          <a:ln/>
        </p:spPr>
      </p:sp>
      <p:sp xmlns:p="http://schemas.openxmlformats.org/presentationml/2006/main" xmlns:a="http://schemas.openxmlformats.org/drawingml/2006/main" xmlns:r="http://schemas.openxmlformats.org/officeDocument/2006/relationships">
        <p:nvSpPr>
          <p:cNvPr id="19" name="Text 36"/>
          <p:cNvSpPr txBox="1"/>
          <p:nvPr/>
        </p:nvSpPr>
        <p:spPr>
          <a:xfrm>
            <a:off x="9482328" y="3218688"/>
            <a:ext cx="3950208" cy="370332"/>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Result off by a power of 10</a:t>
            </a:r>
            <a:endParaRPr lang="en-US" sz="1800" dirty="0"/>
          </a:p>
        </p:txBody>
      </p:sp>
      <p:sp xmlns:p="http://schemas.openxmlformats.org/presentationml/2006/main" xmlns:a="http://schemas.openxmlformats.org/drawingml/2006/main" xmlns:r="http://schemas.openxmlformats.org/officeDocument/2006/relationships">
        <p:nvSpPr>
          <p:cNvPr id="20" name="Shape 37"/>
          <p:cNvSpPr/>
          <p:nvPr/>
        </p:nvSpPr>
        <p:spPr>
          <a:xfrm>
            <a:off x="9308592" y="3698748"/>
            <a:ext cx="4178808" cy="18288"/>
          </a:xfrm>
          <a:prstGeom prst="rect">
            <a:avLst/>
          </a:prstGeom>
          <a:solidFill>
            <a:srgbClr val="BFBFBF"/>
          </a:solidFill>
          <a:ln/>
        </p:spPr>
      </p:sp>
      <p:sp xmlns:p="http://schemas.openxmlformats.org/presentationml/2006/main" xmlns:a="http://schemas.openxmlformats.org/drawingml/2006/main" xmlns:r="http://schemas.openxmlformats.org/officeDocument/2006/relationships">
        <p:nvSpPr>
          <p:cNvPr id="21" name="Text 38"/>
          <p:cNvSpPr txBox="1"/>
          <p:nvPr/>
        </p:nvSpPr>
        <p:spPr>
          <a:xfrm>
            <a:off x="1984248" y="3845052"/>
            <a:ext cx="2423160" cy="370332"/>
          </a:xfrm>
          <a:prstGeom prst="rect">
            <a:avLst/>
          </a:prstGeom>
          <a:noFill/>
          <a:ln/>
        </p:spPr>
        <p:txBody>
          <a:bodyPr wrap="square" lIns="25400" tIns="25400" rIns="25400" bIns="25400" rtlCol="0" anchor="t">
            <a:noAutofit/>
          </a:bodyPr>
          <a:lstStyle/>
          <a:p>
            <a:pPr algn="l" indent="0" marL="0">
              <a:buNone/>
            </a:pPr>
            <a:r>
              <a:rPr lang="en-US" sz="1800" b="1" dirty="0">
                <a:solidFill>
                  <a:srgbClr val="000000"/>
                </a:solidFill>
                <a:latin typeface="+mn-lt"/>
                <a:ea typeface="+mn-ea"/>
                <a:cs typeface="+mn-cs"/>
              </a:rPr>
              <a:t>Weakened test</a:t>
            </a:r>
            <a:endParaRPr lang="en-US" sz="1800" dirty="0"/>
          </a:p>
        </p:txBody>
      </p:sp>
      <p:sp xmlns:p="http://schemas.openxmlformats.org/presentationml/2006/main" xmlns:a="http://schemas.openxmlformats.org/drawingml/2006/main" xmlns:r="http://schemas.openxmlformats.org/officeDocument/2006/relationships">
        <p:nvSpPr>
          <p:cNvPr id="22" name="Shape 39"/>
          <p:cNvSpPr/>
          <p:nvPr/>
        </p:nvSpPr>
        <p:spPr>
          <a:xfrm>
            <a:off x="1810512" y="4604004"/>
            <a:ext cx="2651760" cy="18288"/>
          </a:xfrm>
          <a:prstGeom prst="rect">
            <a:avLst/>
          </a:prstGeom>
          <a:solidFill>
            <a:srgbClr val="BFBFBF"/>
          </a:solidFill>
          <a:ln/>
        </p:spPr>
      </p:sp>
      <p:sp xmlns:p="http://schemas.openxmlformats.org/presentationml/2006/main" xmlns:a="http://schemas.openxmlformats.org/drawingml/2006/main" xmlns:r="http://schemas.openxmlformats.org/officeDocument/2006/relationships">
        <p:nvSpPr>
          <p:cNvPr id="23" name="Text 40"/>
          <p:cNvSpPr txBox="1"/>
          <p:nvPr/>
        </p:nvSpPr>
        <p:spPr>
          <a:xfrm>
            <a:off x="4636008" y="3845052"/>
            <a:ext cx="4617720" cy="649224"/>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Expected value or tolerance edited until the test passes</a:t>
            </a:r>
            <a:endParaRPr lang="en-US" sz="1800" dirty="0"/>
          </a:p>
        </p:txBody>
      </p:sp>
      <p:sp xmlns:p="http://schemas.openxmlformats.org/presentationml/2006/main" xmlns:a="http://schemas.openxmlformats.org/drawingml/2006/main" xmlns:r="http://schemas.openxmlformats.org/officeDocument/2006/relationships">
        <p:nvSpPr>
          <p:cNvPr id="24" name="Shape 41"/>
          <p:cNvSpPr/>
          <p:nvPr/>
        </p:nvSpPr>
        <p:spPr>
          <a:xfrm>
            <a:off x="4462272" y="4604004"/>
            <a:ext cx="4846320" cy="18288"/>
          </a:xfrm>
          <a:prstGeom prst="rect">
            <a:avLst/>
          </a:prstGeom>
          <a:solidFill>
            <a:srgbClr val="BFBFBF"/>
          </a:solidFill>
          <a:ln/>
        </p:spPr>
      </p:sp>
      <p:sp xmlns:p="http://schemas.openxmlformats.org/presentationml/2006/main" xmlns:a="http://schemas.openxmlformats.org/drawingml/2006/main" xmlns:r="http://schemas.openxmlformats.org/officeDocument/2006/relationships">
        <p:nvSpPr>
          <p:cNvPr id="25" name="Text 42"/>
          <p:cNvSpPr txBox="1"/>
          <p:nvPr/>
        </p:nvSpPr>
        <p:spPr>
          <a:xfrm>
            <a:off x="9482328" y="3845052"/>
            <a:ext cx="3950208" cy="370332"/>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Read test diffs line by line</a:t>
            </a:r>
            <a:endParaRPr lang="en-US" sz="1800" dirty="0"/>
          </a:p>
        </p:txBody>
      </p:sp>
      <p:sp xmlns:p="http://schemas.openxmlformats.org/presentationml/2006/main" xmlns:a="http://schemas.openxmlformats.org/drawingml/2006/main" xmlns:r="http://schemas.openxmlformats.org/officeDocument/2006/relationships">
        <p:nvSpPr>
          <p:cNvPr id="26" name="Shape 43"/>
          <p:cNvSpPr/>
          <p:nvPr/>
        </p:nvSpPr>
        <p:spPr>
          <a:xfrm>
            <a:off x="9308592" y="4604004"/>
            <a:ext cx="4178808" cy="18288"/>
          </a:xfrm>
          <a:prstGeom prst="rect">
            <a:avLst/>
          </a:prstGeom>
          <a:solidFill>
            <a:srgbClr val="BFBFBF"/>
          </a:solidFill>
          <a:ln/>
        </p:spPr>
      </p:sp>
      <p:sp xmlns:p="http://schemas.openxmlformats.org/presentationml/2006/main" xmlns:a="http://schemas.openxmlformats.org/drawingml/2006/main" xmlns:r="http://schemas.openxmlformats.org/officeDocument/2006/relationships">
        <p:nvSpPr>
          <p:cNvPr id="27" name="Text 44"/>
          <p:cNvSpPr txBox="1"/>
          <p:nvPr/>
        </p:nvSpPr>
        <p:spPr>
          <a:xfrm>
            <a:off x="1984248" y="4750308"/>
            <a:ext cx="2423160" cy="370332"/>
          </a:xfrm>
          <a:prstGeom prst="rect">
            <a:avLst/>
          </a:prstGeom>
          <a:noFill/>
          <a:ln/>
        </p:spPr>
        <p:txBody>
          <a:bodyPr wrap="square" lIns="25400" tIns="25400" rIns="25400" bIns="25400" rtlCol="0" anchor="t">
            <a:noAutofit/>
          </a:bodyPr>
          <a:lstStyle/>
          <a:p>
            <a:pPr algn="l" indent="0" marL="0">
              <a:buNone/>
            </a:pPr>
            <a:r>
              <a:rPr lang="en-US" sz="1800" b="1" dirty="0">
                <a:solidFill>
                  <a:srgbClr val="000000"/>
                </a:solidFill>
                <a:latin typeface="+mn-lt"/>
                <a:ea typeface="+mn-ea"/>
                <a:cs typeface="+mn-cs"/>
              </a:rPr>
              <a:t>Missing toolbox</a:t>
            </a:r>
            <a:endParaRPr lang="en-US" sz="1800" dirty="0"/>
          </a:p>
        </p:txBody>
      </p:sp>
      <p:sp xmlns:p="http://schemas.openxmlformats.org/presentationml/2006/main" xmlns:a="http://schemas.openxmlformats.org/drawingml/2006/main" xmlns:r="http://schemas.openxmlformats.org/officeDocument/2006/relationships">
        <p:nvSpPr>
          <p:cNvPr id="28" name="Shape 45"/>
          <p:cNvSpPr/>
          <p:nvPr/>
        </p:nvSpPr>
        <p:spPr>
          <a:xfrm>
            <a:off x="1810512" y="5509260"/>
            <a:ext cx="2651760" cy="18288"/>
          </a:xfrm>
          <a:prstGeom prst="rect">
            <a:avLst/>
          </a:prstGeom>
          <a:solidFill>
            <a:srgbClr val="BFBFBF"/>
          </a:solidFill>
          <a:ln/>
        </p:spPr>
      </p:sp>
      <p:sp xmlns:p="http://schemas.openxmlformats.org/presentationml/2006/main" xmlns:a="http://schemas.openxmlformats.org/drawingml/2006/main" xmlns:r="http://schemas.openxmlformats.org/officeDocument/2006/relationships">
        <p:nvSpPr>
          <p:cNvPr id="29" name="Text 46"/>
          <p:cNvSpPr txBox="1"/>
          <p:nvPr/>
        </p:nvSpPr>
        <p:spPr>
          <a:xfrm>
            <a:off x="4636008" y="4750308"/>
            <a:ext cx="4617720" cy="649224"/>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Calls a function from a toolbox you don’t have</a:t>
            </a:r>
            <a:endParaRPr lang="en-US" sz="1800" dirty="0"/>
          </a:p>
        </p:txBody>
      </p:sp>
      <p:sp xmlns:p="http://schemas.openxmlformats.org/presentationml/2006/main" xmlns:a="http://schemas.openxmlformats.org/drawingml/2006/main" xmlns:r="http://schemas.openxmlformats.org/officeDocument/2006/relationships">
        <p:nvSpPr>
          <p:cNvPr id="30" name="Shape 47"/>
          <p:cNvSpPr/>
          <p:nvPr/>
        </p:nvSpPr>
        <p:spPr>
          <a:xfrm>
            <a:off x="4462272" y="5509260"/>
            <a:ext cx="4846320" cy="18288"/>
          </a:xfrm>
          <a:prstGeom prst="rect">
            <a:avLst/>
          </a:prstGeom>
          <a:solidFill>
            <a:srgbClr val="BFBFBF"/>
          </a:solidFill>
          <a:ln/>
        </p:spPr>
      </p:sp>
      <p:sp xmlns:p="http://schemas.openxmlformats.org/presentationml/2006/main" xmlns:a="http://schemas.openxmlformats.org/drawingml/2006/main" xmlns:r="http://schemas.openxmlformats.org/officeDocument/2006/relationships">
        <p:nvSpPr>
          <p:cNvPr id="31" name="Text 48"/>
          <p:cNvSpPr txBox="1"/>
          <p:nvPr/>
        </p:nvSpPr>
        <p:spPr>
          <a:xfrm>
            <a:off x="9482328" y="4750308"/>
            <a:ext cx="3950208" cy="370332"/>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Run it; AGENTS.md toolbox rule</a:t>
            </a:r>
            <a:endParaRPr lang="en-US" sz="1800" dirty="0"/>
          </a:p>
        </p:txBody>
      </p:sp>
      <p:sp xmlns:p="http://schemas.openxmlformats.org/presentationml/2006/main" xmlns:a="http://schemas.openxmlformats.org/drawingml/2006/main" xmlns:r="http://schemas.openxmlformats.org/officeDocument/2006/relationships">
        <p:nvSpPr>
          <p:cNvPr id="32" name="Shape 49"/>
          <p:cNvSpPr/>
          <p:nvPr/>
        </p:nvSpPr>
        <p:spPr>
          <a:xfrm>
            <a:off x="9308592" y="5509260"/>
            <a:ext cx="4178808" cy="18288"/>
          </a:xfrm>
          <a:prstGeom prst="rect">
            <a:avLst/>
          </a:prstGeom>
          <a:solidFill>
            <a:srgbClr val="BFBFBF"/>
          </a:solidFill>
          <a:ln/>
        </p:spPr>
      </p:sp>
      <p:sp xmlns:p="http://schemas.openxmlformats.org/presentationml/2006/main" xmlns:a="http://schemas.openxmlformats.org/drawingml/2006/main" xmlns:r="http://schemas.openxmlformats.org/officeDocument/2006/relationships">
        <p:nvSpPr>
          <p:cNvPr id="33" name="Text 50"/>
          <p:cNvSpPr txBox="1"/>
          <p:nvPr/>
        </p:nvSpPr>
        <p:spPr>
          <a:xfrm>
            <a:off x="1984248" y="5655564"/>
            <a:ext cx="2423160" cy="370332"/>
          </a:xfrm>
          <a:prstGeom prst="rect">
            <a:avLst/>
          </a:prstGeom>
          <a:noFill/>
          <a:ln/>
        </p:spPr>
        <p:txBody>
          <a:bodyPr wrap="square" lIns="25400" tIns="25400" rIns="25400" bIns="25400" rtlCol="0" anchor="t">
            <a:noAutofit/>
          </a:bodyPr>
          <a:lstStyle/>
          <a:p>
            <a:pPr algn="l" indent="0" marL="0">
              <a:buNone/>
            </a:pPr>
            <a:r>
              <a:rPr lang="en-US" sz="1800" b="1" dirty="0">
                <a:solidFill>
                  <a:srgbClr val="000000"/>
                </a:solidFill>
                <a:latin typeface="+mn-lt"/>
                <a:ea typeface="+mn-ea"/>
                <a:cs typeface="+mn-cs"/>
              </a:rPr>
              <a:t>Scope creep</a:t>
            </a:r>
            <a:endParaRPr lang="en-US" sz="1800" dirty="0"/>
          </a:p>
        </p:txBody>
      </p:sp>
      <p:sp xmlns:p="http://schemas.openxmlformats.org/presentationml/2006/main" xmlns:a="http://schemas.openxmlformats.org/drawingml/2006/main" xmlns:r="http://schemas.openxmlformats.org/officeDocument/2006/relationships">
        <p:nvSpPr>
          <p:cNvPr id="34" name="Shape 51"/>
          <p:cNvSpPr/>
          <p:nvPr/>
        </p:nvSpPr>
        <p:spPr>
          <a:xfrm>
            <a:off x="1810512" y="6414516"/>
            <a:ext cx="2651760" cy="18288"/>
          </a:xfrm>
          <a:prstGeom prst="rect">
            <a:avLst/>
          </a:prstGeom>
          <a:solidFill>
            <a:srgbClr val="BFBFBF"/>
          </a:solidFill>
          <a:ln/>
        </p:spPr>
      </p:sp>
      <p:sp xmlns:p="http://schemas.openxmlformats.org/presentationml/2006/main" xmlns:a="http://schemas.openxmlformats.org/drawingml/2006/main" xmlns:r="http://schemas.openxmlformats.org/officeDocument/2006/relationships">
        <p:nvSpPr>
          <p:cNvPr id="35" name="Text 52"/>
          <p:cNvSpPr txBox="1"/>
          <p:nvPr/>
        </p:nvSpPr>
        <p:spPr>
          <a:xfrm>
            <a:off x="4636008" y="5655564"/>
            <a:ext cx="4617720" cy="370332"/>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Unrequested “cleanup” of beam.m</a:t>
            </a:r>
            <a:endParaRPr lang="en-US" sz="1800" dirty="0"/>
          </a:p>
        </p:txBody>
      </p:sp>
      <p:sp xmlns:p="http://schemas.openxmlformats.org/presentationml/2006/main" xmlns:a="http://schemas.openxmlformats.org/drawingml/2006/main" xmlns:r="http://schemas.openxmlformats.org/officeDocument/2006/relationships">
        <p:nvSpPr>
          <p:cNvPr id="36" name="Shape 53"/>
          <p:cNvSpPr/>
          <p:nvPr/>
        </p:nvSpPr>
        <p:spPr>
          <a:xfrm>
            <a:off x="4462272" y="6414516"/>
            <a:ext cx="4846320" cy="18288"/>
          </a:xfrm>
          <a:prstGeom prst="rect">
            <a:avLst/>
          </a:prstGeom>
          <a:solidFill>
            <a:srgbClr val="BFBFBF"/>
          </a:solidFill>
          <a:ln/>
        </p:spPr>
      </p:sp>
      <p:sp xmlns:p="http://schemas.openxmlformats.org/presentationml/2006/main" xmlns:a="http://schemas.openxmlformats.org/drawingml/2006/main" xmlns:r="http://schemas.openxmlformats.org/officeDocument/2006/relationships">
        <p:nvSpPr>
          <p:cNvPr id="37" name="Text 54"/>
          <p:cNvSpPr txBox="1"/>
          <p:nvPr/>
        </p:nvSpPr>
        <p:spPr>
          <a:xfrm>
            <a:off x="9482328" y="5655564"/>
            <a:ext cx="3950208" cy="649224"/>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Diff touches lines you didn’t expect</a:t>
            </a:r>
            <a:endParaRPr lang="en-US" sz="1800" dirty="0"/>
          </a:p>
        </p:txBody>
      </p:sp>
      <p:sp xmlns:p="http://schemas.openxmlformats.org/presentationml/2006/main" xmlns:a="http://schemas.openxmlformats.org/drawingml/2006/main" xmlns:r="http://schemas.openxmlformats.org/officeDocument/2006/relationships">
        <p:nvSpPr>
          <p:cNvPr id="38" name="Shape 55"/>
          <p:cNvSpPr/>
          <p:nvPr/>
        </p:nvSpPr>
        <p:spPr>
          <a:xfrm>
            <a:off x="9308592" y="6414516"/>
            <a:ext cx="4178808" cy="18288"/>
          </a:xfrm>
          <a:prstGeom prst="rect">
            <a:avLst/>
          </a:prstGeom>
          <a:solidFill>
            <a:srgbClr val="BFBFBF"/>
          </a:solidFill>
          <a:ln/>
        </p:spPr>
      </p:sp>
      <p:sp xmlns:p="http://schemas.openxmlformats.org/presentationml/2006/main" xmlns:a="http://schemas.openxmlformats.org/drawingml/2006/main" xmlns:r="http://schemas.openxmlformats.org/officeDocument/2006/relationships">
        <p:nvSpPr>
          <p:cNvPr id="39" name="Text 56"/>
          <p:cNvSpPr txBox="1"/>
          <p:nvPr/>
        </p:nvSpPr>
        <p:spPr>
          <a:xfrm>
            <a:off x="1984248" y="6560820"/>
            <a:ext cx="2423160" cy="370332"/>
          </a:xfrm>
          <a:prstGeom prst="rect">
            <a:avLst/>
          </a:prstGeom>
          <a:noFill/>
          <a:ln/>
        </p:spPr>
        <p:txBody>
          <a:bodyPr wrap="square" lIns="25400" tIns="25400" rIns="25400" bIns="25400" rtlCol="0" anchor="t">
            <a:noAutofit/>
          </a:bodyPr>
          <a:lstStyle/>
          <a:p>
            <a:pPr algn="l" indent="0" marL="0">
              <a:buNone/>
            </a:pPr>
            <a:r>
              <a:rPr lang="en-US" sz="1800" b="1" dirty="0">
                <a:solidFill>
                  <a:srgbClr val="000000"/>
                </a:solidFill>
                <a:latin typeface="+mn-lt"/>
                <a:ea typeface="+mn-ea"/>
                <a:cs typeface="+mn-cs"/>
              </a:rPr>
              <a:t>Unverified claim</a:t>
            </a:r>
            <a:endParaRPr lang="en-US" sz="1800" dirty="0"/>
          </a:p>
        </p:txBody>
      </p:sp>
      <p:sp xmlns:p="http://schemas.openxmlformats.org/presentationml/2006/main" xmlns:a="http://schemas.openxmlformats.org/drawingml/2006/main" xmlns:r="http://schemas.openxmlformats.org/officeDocument/2006/relationships">
        <p:nvSpPr>
          <p:cNvPr id="40" name="Shape 57"/>
          <p:cNvSpPr/>
          <p:nvPr/>
        </p:nvSpPr>
        <p:spPr>
          <a:xfrm>
            <a:off x="1810512" y="7040880"/>
            <a:ext cx="2651760" cy="18288"/>
          </a:xfrm>
          <a:prstGeom prst="rect">
            <a:avLst/>
          </a:prstGeom>
          <a:solidFill>
            <a:srgbClr val="BFBFBF"/>
          </a:solidFill>
          <a:ln/>
        </p:spPr>
      </p:sp>
      <p:sp xmlns:p="http://schemas.openxmlformats.org/presentationml/2006/main" xmlns:a="http://schemas.openxmlformats.org/drawingml/2006/main" xmlns:r="http://schemas.openxmlformats.org/officeDocument/2006/relationships">
        <p:nvSpPr>
          <p:cNvPr id="41" name="Text 58"/>
          <p:cNvSpPr txBox="1"/>
          <p:nvPr/>
        </p:nvSpPr>
        <p:spPr>
          <a:xfrm>
            <a:off x="4636008" y="6560820"/>
            <a:ext cx="4617720" cy="370332"/>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“All tests pass”</a:t>
            </a:r>
            <a:endParaRPr lang="en-US" sz="1800" dirty="0"/>
          </a:p>
        </p:txBody>
      </p:sp>
      <p:sp xmlns:p="http://schemas.openxmlformats.org/presentationml/2006/main" xmlns:a="http://schemas.openxmlformats.org/drawingml/2006/main" xmlns:r="http://schemas.openxmlformats.org/officeDocument/2006/relationships">
        <p:nvSpPr>
          <p:cNvPr id="42" name="Shape 59"/>
          <p:cNvSpPr/>
          <p:nvPr/>
        </p:nvSpPr>
        <p:spPr>
          <a:xfrm>
            <a:off x="4462272" y="7040880"/>
            <a:ext cx="4846320" cy="18288"/>
          </a:xfrm>
          <a:prstGeom prst="rect">
            <a:avLst/>
          </a:prstGeom>
          <a:solidFill>
            <a:srgbClr val="BFBFBF"/>
          </a:solidFill>
          <a:ln/>
        </p:spPr>
      </p:sp>
      <p:sp xmlns:p="http://schemas.openxmlformats.org/presentationml/2006/main" xmlns:a="http://schemas.openxmlformats.org/drawingml/2006/main" xmlns:r="http://schemas.openxmlformats.org/officeDocument/2006/relationships">
        <p:nvSpPr>
          <p:cNvPr id="43" name="Text 60"/>
          <p:cNvSpPr txBox="1"/>
          <p:nvPr/>
        </p:nvSpPr>
        <p:spPr>
          <a:xfrm>
            <a:off x="9482328" y="6560820"/>
            <a:ext cx="3950208" cy="370332"/>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It can’t run MATLAB; you run them</a:t>
            </a:r>
            <a:endParaRPr lang="en-US" sz="1800" dirty="0"/>
          </a:p>
        </p:txBody>
      </p:sp>
      <p:sp xmlns:p="http://schemas.openxmlformats.org/presentationml/2006/main" xmlns:a="http://schemas.openxmlformats.org/drawingml/2006/main" xmlns:r="http://schemas.openxmlformats.org/officeDocument/2006/relationships">
        <p:nvSpPr>
          <p:cNvPr id="44" name="Shape 61"/>
          <p:cNvSpPr/>
          <p:nvPr/>
        </p:nvSpPr>
        <p:spPr>
          <a:xfrm>
            <a:off x="9308592" y="7040880"/>
            <a:ext cx="4178808" cy="18288"/>
          </a:xfrm>
          <a:prstGeom prst="rect">
            <a:avLst/>
          </a:prstGeom>
          <a:solidFill>
            <a:srgbClr val="BFBFBF"/>
          </a:solidFill>
          <a:ln/>
        </p:spPr>
      </p:sp>
      <p:sp xmlns:p="http://schemas.openxmlformats.org/presentationml/2006/main" xmlns:a="http://schemas.openxmlformats.org/drawingml/2006/main" xmlns:r="http://schemas.openxmlformats.org/officeDocument/2006/relationships">
        <p:nvSpPr>
          <p:cNvPr id="45" name="Nav highlight"/>
          <p:cNvSpPr txBox="1"/>
          <p:nvPr userDrawn="1"/>
        </p:nvSpPr>
        <p:spPr>
          <a:xfrm>
            <a:off x="133350" y="4667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Pitfalls</a:t>
            </a:r>
            <a:endParaRPr lang="en-US" sz="1800" b="1" dirty="0"/>
          </a:p>
        </p:txBody>
      </p:sp>
      <p:sp xmlns:p="http://schemas.openxmlformats.org/presentationml/2006/main" xmlns:a="http://schemas.openxmlformats.org/drawingml/2006/main" xmlns:r="http://schemas.openxmlformats.org/officeDocument/2006/relationships">
        <p:nvSpPr>
          <p:cNvPr id="46"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2</a:t>
            </a:r>
            <a:endParaRPr lang="en-US" sz="1800" dirty="0"/>
          </a:p>
        </p:txBody>
      </p:sp>
      <p:sp xmlns:p="http://schemas.openxmlformats.org/presentationml/2006/main" xmlns:a="http://schemas.openxmlformats.org/drawingml/2006/main" xmlns:r="http://schemas.openxmlformats.org/officeDocument/2006/relationships">
        <p:nvSpPr>
          <p:cNvPr id="47" name="Slide Numb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xmlns:p="http://schemas.openxmlformats.org/presentationml/2006/main" xmlns:a="http://schemas.openxmlformats.org/drawingml/2006/main" xmlns:r="http://schemas.openxmlformats.org/officeDocument/2006/relationships">
        <p:nvSpPr>
          <p:cNvPr id="2" name="Title"/>
          <p:cNvSpPr>
            <a:spLocks noGrp="1"/>
          </p:cNvSpPr>
          <p:nvPr>
            <p:ph type="title"/>
          </p:nvPr>
        </p:nvSpPr>
        <p:spPr/>
        <p:txBody>
          <a:bodyPr/>
          <a:lstStyle/>
          <a:p>
            <a:r>
              <a:rPr lang="en-US" dirty="0"/>
              <a:t>Documenting GenAI Use</a:t>
            </a:r>
            <a:endParaRPr lang="en-US" dirty="0"/>
          </a:p>
        </p:txBody>
      </p:sp>
      <p:sp xmlns:p="http://schemas.openxmlformats.org/presentationml/2006/main" xmlns:a="http://schemas.openxmlformats.org/drawingml/2006/main" xmlns:r="http://schemas.openxmlformats.org/officeDocument/2006/relationships">
        <p:nvSpPr>
          <p:cNvPr id="3" name="Text 20"/>
          <p:cNvSpPr txBox="1"/>
          <p:nvPr/>
        </p:nvSpPr>
        <p:spPr>
          <a:xfrm>
            <a:off x="1810512" y="1572768"/>
            <a:ext cx="11704320" cy="822960"/>
          </a:xfrm>
          <a:prstGeom prst="rect">
            <a:avLst/>
          </a:prstGeom>
          <a:noFill/>
          <a:ln/>
        </p:spPr>
        <p:txBody>
          <a:bodyPr wrap="square" lIns="25400" tIns="25400" rIns="25400" bIns="25400" rtlCol="0" anchor="t">
            <a:noAutofit/>
          </a:bodyPr>
          <a:lstStyle/>
          <a:p>
            <a:pPr algn="l" indent="0" marL="0">
              <a:buNone/>
            </a:pPr>
            <a:r>
              <a:rPr lang="en-US" sz="2000" dirty="0">
                <a:solidFill>
                  <a:srgbClr val="000000"/>
                </a:solidFill>
                <a:latin typeface="+mn-lt"/>
                <a:ea typeface="+mn-ea"/>
                <a:cs typeface="+mn-cs"/>
              </a:rPr>
              <a:t>Model the documentation you require of cadets. Follow current USAFA and department guidance for your course.</a:t>
            </a:r>
            <a:endParaRPr lang="en-US" sz="2000" dirty="0"/>
          </a:p>
        </p:txBody>
      </p:sp>
      <p:sp xmlns:p="http://schemas.openxmlformats.org/presentationml/2006/main" xmlns:a="http://schemas.openxmlformats.org/drawingml/2006/main" xmlns:r="http://schemas.openxmlformats.org/officeDocument/2006/relationships">
        <p:nvSpPr>
          <p:cNvPr id="4" name="Text 21"/>
          <p:cNvSpPr txBox="1"/>
          <p:nvPr/>
        </p:nvSpPr>
        <p:spPr>
          <a:xfrm>
            <a:off x="1810512" y="2468880"/>
            <a:ext cx="11704320" cy="411480"/>
          </a:xfrm>
          <a:prstGeom prst="rect">
            <a:avLst/>
          </a:prstGeom>
          <a:noFill/>
          <a:ln/>
        </p:spPr>
        <p:txBody>
          <a:bodyPr wrap="square" lIns="25400" tIns="25400" rIns="25400" bIns="25400" rtlCol="0" anchor="t">
            <a:noAutofit/>
          </a:bodyPr>
          <a:lstStyle/>
          <a:p>
            <a:pPr algn="l" indent="0" marL="0">
              <a:buNone/>
            </a:pPr>
            <a:r>
              <a:rPr lang="en-US" sz="2000" dirty="0">
                <a:solidFill>
                  <a:srgbClr val="000000"/>
                </a:solidFill>
                <a:latin typeface="+mn-lt"/>
                <a:ea typeface="+mn-ea"/>
                <a:cs typeface="+mn-cs"/>
              </a:rPr>
              <a:t xml:space="preserve">Keep an </a:t>
            </a:r>
            <a:r>
              <a:rPr lang="en-US" sz="2000" b="1" dirty="0">
                <a:solidFill>
                  <a:srgbClr val="000000"/>
                </a:solidFill>
                <a:latin typeface="+mn-lt"/>
                <a:ea typeface="+mn-ea"/>
                <a:cs typeface="+mn-cs"/>
              </a:rPr>
              <a:t>AI_LOG.md</a:t>
            </a:r>
            <a:r>
              <a:rPr lang="en-US" sz="2000" dirty="0">
                <a:solidFill>
                  <a:srgbClr val="000000"/>
                </a:solidFill>
                <a:latin typeface="+mn-lt"/>
                <a:ea typeface="+mn-ea"/>
                <a:cs typeface="+mn-cs"/>
              </a:rPr>
              <a:t xml:space="preserve"> in the repo, with one entry per task:</a:t>
            </a:r>
            <a:endParaRPr lang="en-US" sz="2000" dirty="0"/>
          </a:p>
        </p:txBody>
      </p:sp>
      <p:sp xmlns:p="http://schemas.openxmlformats.org/presentationml/2006/main" xmlns:a="http://schemas.openxmlformats.org/drawingml/2006/main" xmlns:r="http://schemas.openxmlformats.org/officeDocument/2006/relationships">
        <p:nvSpPr>
          <p:cNvPr id="5" name="Shape 22"/>
          <p:cNvSpPr/>
          <p:nvPr/>
        </p:nvSpPr>
        <p:spPr>
          <a:xfrm>
            <a:off x="1810512" y="3063240"/>
            <a:ext cx="11676888" cy="2987230"/>
          </a:xfrm>
          <a:prstGeom prst="roundRect">
            <a:avLst>
              <a:gd name="adj" fmla="val 6887"/>
            </a:avLst>
          </a:prstGeom>
          <a:solidFill>
            <a:srgbClr val="1E1E1E"/>
          </a:solidFill>
          <a:ln/>
        </p:spPr>
        <p:txBody>
          <a:bodyPr/>
          <a:p/>
        </p:txBody>
      </p:sp>
      <p:sp xmlns:p="http://schemas.openxmlformats.org/presentationml/2006/main" xmlns:a="http://schemas.openxmlformats.org/drawingml/2006/main" xmlns:r="http://schemas.openxmlformats.org/officeDocument/2006/relationships">
        <p:nvSpPr>
          <p:cNvPr id="6" name="Text 23"/>
          <p:cNvSpPr txBox="1"/>
          <p:nvPr/>
        </p:nvSpPr>
        <p:spPr>
          <a:xfrm>
            <a:off x="2039112" y="3291840"/>
            <a:ext cx="11219688" cy="2530030"/>
          </a:xfrm>
          <a:prstGeom prst="rect">
            <a:avLst/>
          </a:prstGeom>
          <a:noFill/>
          <a:ln/>
        </p:spPr>
        <p:txBody>
          <a:bodyPr wrap="none" lIns="25400" tIns="25400" rIns="25400" bIns="25400" rtlCol="0" anchor="t">
            <a:noAutofit/>
          </a:bodyPr>
          <a:lstStyle/>
          <a:p>
            <a:pPr algn="l" indent="0" marL="0">
              <a:lnSpc>
                <a:spcPct val="135000"/>
              </a:lnSpc>
              <a:buNone/>
            </a:pPr>
            <a:r>
              <a:rPr lang="en-US" sz="1700" dirty="0">
                <a:solidFill>
                  <a:srgbClr val="00B0F0"/>
                </a:solidFill>
                <a:latin typeface="Consolas" pitchFamily="34" charset="0"/>
                <a:ea typeface="Consolas" pitchFamily="34" charset="-122"/>
                <a:cs typeface="Consolas" pitchFamily="34" charset="-120"/>
              </a:rPr>
              <a:t>## 2026-10-14 · UDL tip deflection</a:t>
            </a:r>
            <a:endParaRPr lang="en-US" sz="1700" dirty="0"/>
          </a:p>
          <a:p>
            <a:pPr algn="l" indent="0" marL="0">
              <a:lnSpc>
                <a:spcPct val="135000"/>
              </a:lnSpc>
              <a:buNone/>
            </a:pPr>
            <a:r>
              <a:rPr lang="en-US" sz="1700" dirty="0">
                <a:solidFill>
                  <a:srgbClr val="D4D4D4"/>
                </a:solidFill>
                <a:latin typeface="Consolas" pitchFamily="34" charset="0"/>
                <a:ea typeface="Consolas" pitchFamily="34" charset="-122"/>
                <a:cs typeface="Consolas" pitchFamily="34" charset="-120"/>
              </a:rPr>
              <a:t>Task:         chatgpt.com/codex link</a:t>
            </a:r>
            <a:endParaRPr lang="en-US" sz="1700" dirty="0"/>
          </a:p>
          <a:p>
            <a:pPr algn="l" indent="0" marL="0">
              <a:lnSpc>
                <a:spcPct val="135000"/>
              </a:lnSpc>
              <a:buNone/>
            </a:pPr>
            <a:r>
              <a:rPr lang="en-US" sz="1700" dirty="0">
                <a:solidFill>
                  <a:srgbClr val="D4D4D4"/>
                </a:solidFill>
                <a:latin typeface="Consolas" pitchFamily="34" charset="0"/>
                <a:ea typeface="Consolas" pitchFamily="34" charset="-122"/>
                <a:cs typeface="Consolas" pitchFamily="34" charset="-120"/>
              </a:rPr>
              <a:t>Prompts:      orientation, plan, implement, fix test units</a:t>
            </a:r>
            <a:endParaRPr lang="en-US" sz="1700" dirty="0"/>
          </a:p>
          <a:p>
            <a:pPr algn="l" indent="0" marL="0">
              <a:lnSpc>
                <a:spcPct val="135000"/>
              </a:lnSpc>
              <a:buNone/>
            </a:pPr>
            <a:r>
              <a:rPr lang="en-US" sz="1700" dirty="0">
                <a:solidFill>
                  <a:srgbClr val="D4D4D4"/>
                </a:solidFill>
                <a:latin typeface="Consolas" pitchFamily="34" charset="0"/>
                <a:ea typeface="Consolas" pitchFamily="34" charset="-122"/>
                <a:cs typeface="Consolas" pitchFamily="34" charset="-120"/>
              </a:rPr>
              <a:t>Agent made:   commits a1b2c3d, e4f5a6b (PR #2)</a:t>
            </a:r>
            <a:endParaRPr lang="en-US" sz="1700" dirty="0"/>
          </a:p>
          <a:p>
            <a:pPr algn="l" indent="0" marL="0">
              <a:lnSpc>
                <a:spcPct val="135000"/>
              </a:lnSpc>
              <a:buNone/>
            </a:pPr>
            <a:r>
              <a:rPr lang="en-US" sz="1700" dirty="0">
                <a:solidFill>
                  <a:srgbClr val="D4D4D4"/>
                </a:solidFill>
                <a:latin typeface="Consolas" pitchFamily="34" charset="0"/>
                <a:ea typeface="Consolas" pitchFamily="34" charset="-122"/>
                <a:cs typeface="Consolas" pitchFamily="34" charset="-120"/>
              </a:rPr>
              <a:t>I decided:    load acts over the full length</a:t>
            </a:r>
            <a:endParaRPr lang="en-US" sz="1700" dirty="0"/>
          </a:p>
          <a:p>
            <a:pPr algn="l" indent="0" marL="0">
              <a:lnSpc>
                <a:spcPct val="135000"/>
              </a:lnSpc>
              <a:buNone/>
            </a:pPr>
            <a:r>
              <a:rPr lang="en-US" sz="1700" dirty="0">
                <a:solidFill>
                  <a:srgbClr val="D4D4D4"/>
                </a:solidFill>
                <a:latin typeface="Consolas" pitchFamily="34" charset="0"/>
                <a:ea typeface="Consolas" pitchFamily="34" charset="-122"/>
                <a:cs typeface="Consolas" pitchFamily="34" charset="-120"/>
              </a:rPr>
              <a:t>Verified:     runtests passes; hand calc 2.40 mm; 3/8 ratio</a:t>
            </a:r>
            <a:endParaRPr lang="en-US" sz="1700" dirty="0"/>
          </a:p>
          <a:p>
            <a:pPr algn="l" indent="0" marL="0">
              <a:lnSpc>
                <a:spcPct val="135000"/>
              </a:lnSpc>
              <a:buNone/>
            </a:pPr>
            <a:r>
              <a:rPr lang="en-US" sz="1700" dirty="0">
                <a:solidFill>
                  <a:srgbClr val="D4D4D4"/>
                </a:solidFill>
                <a:latin typeface="Consolas" pitchFamily="34" charset="0"/>
                <a:ea typeface="Consolas" pitchFamily="34" charset="-122"/>
                <a:cs typeface="Consolas" pitchFamily="34" charset="-120"/>
              </a:rPr>
              <a:t>Issue found:  test section entered in mm on first try</a:t>
            </a:r>
            <a:endParaRPr lang="en-US" sz="1700" dirty="0"/>
          </a:p>
        </p:txBody>
      </p:sp>
      <p:sp xmlns:p="http://schemas.openxmlformats.org/presentationml/2006/main" xmlns:a="http://schemas.openxmlformats.org/drawingml/2006/main" xmlns:r="http://schemas.openxmlformats.org/officeDocument/2006/relationships">
        <p:nvSpPr>
          <p:cNvPr id="7" name="Text 24"/>
          <p:cNvSpPr txBox="1"/>
          <p:nvPr/>
        </p:nvSpPr>
        <p:spPr>
          <a:xfrm>
            <a:off x="1810512" y="6400800"/>
            <a:ext cx="11704320" cy="411480"/>
          </a:xfrm>
          <a:prstGeom prst="rect">
            <a:avLst/>
          </a:prstGeom>
          <a:noFill/>
          <a:ln/>
        </p:spPr>
        <p:txBody>
          <a:bodyPr wrap="square" lIns="25400" tIns="25400" rIns="25400" bIns="25400" rtlCol="0" anchor="t">
            <a:noAutofit/>
          </a:bodyPr>
          <a:lstStyle/>
          <a:p>
            <a:pPr algn="l" indent="0" marL="0">
              <a:buNone/>
            </a:pPr>
            <a:r>
              <a:rPr lang="en-US" sz="1900" dirty="0">
                <a:solidFill>
                  <a:srgbClr val="404040"/>
                </a:solidFill>
                <a:latin typeface="+mn-lt"/>
                <a:ea typeface="+mn-ea"/>
                <a:cs typeface="+mn-cs"/>
              </a:rPr>
              <a:t>The commit history and PR discussion are also part of the record.</a:t>
            </a:r>
            <a:endParaRPr lang="en-US" sz="1900" dirty="0"/>
          </a:p>
        </p:txBody>
      </p:sp>
      <p:sp xmlns:p="http://schemas.openxmlformats.org/presentationml/2006/main" xmlns:a="http://schemas.openxmlformats.org/drawingml/2006/main" xmlns:r="http://schemas.openxmlformats.org/officeDocument/2006/relationships">
        <p:nvSpPr>
          <p:cNvPr id="8" name="Nav highlight"/>
          <p:cNvSpPr txBox="1"/>
          <p:nvPr userDrawn="1"/>
        </p:nvSpPr>
        <p:spPr>
          <a:xfrm>
            <a:off x="133350" y="5048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GenAI Use</a:t>
            </a:r>
            <a:endParaRPr lang="en-US" sz="1800" b="1" dirty="0"/>
          </a:p>
        </p:txBody>
      </p:sp>
      <p:sp xmlns:p="http://schemas.openxmlformats.org/presentationml/2006/main" xmlns:a="http://schemas.openxmlformats.org/drawingml/2006/main" xmlns:r="http://schemas.openxmlformats.org/officeDocument/2006/relationships">
        <p:nvSpPr>
          <p:cNvPr id="9"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2</a:t>
            </a:r>
            <a:endParaRPr lang="en-US" sz="1800" dirty="0"/>
          </a:p>
        </p:txBody>
      </p:sp>
      <p:sp xmlns:p="http://schemas.openxmlformats.org/presentationml/2006/main" xmlns:a="http://schemas.openxmlformats.org/drawingml/2006/main" xmlns:r="http://schemas.openxmlformats.org/officeDocument/2006/relationships">
        <p:nvSpPr>
          <p:cNvPr id="10" name="Slide Numb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xmlns:p="http://schemas.openxmlformats.org/presentationml/2006/main" xmlns:a="http://schemas.openxmlformats.org/drawingml/2006/main" xmlns:r="http://schemas.openxmlformats.org/officeDocument/2006/relationships">
        <p:nvSpPr>
          <p:cNvPr id="2" name="Title"/>
          <p:cNvSpPr>
            <a:spLocks noGrp="1"/>
          </p:cNvSpPr>
          <p:nvPr>
            <p:ph type="title"/>
          </p:nvPr>
        </p:nvSpPr>
        <p:spPr/>
        <p:txBody>
          <a:bodyPr/>
          <a:lstStyle/>
          <a:p>
            <a:r>
              <a:rPr lang="en-US" dirty="0"/>
              <a:t>Exercise 7: Your Own Repo</a:t>
            </a:r>
            <a:endParaRPr lang="en-US" dirty="0"/>
          </a:p>
        </p:txBody>
      </p:sp>
      <p:sp xmlns:p="http://schemas.openxmlformats.org/presentationml/2006/main" xmlns:a="http://schemas.openxmlformats.org/drawingml/2006/main" xmlns:r="http://schemas.openxmlformats.org/officeDocument/2006/relationships">
        <p:nvSpPr>
          <p:cNvPr id="3" name="Shape 20"/>
          <p:cNvSpPr/>
          <p:nvPr/>
        </p:nvSpPr>
        <p:spPr>
          <a:xfrm>
            <a:off x="1810512" y="1527048"/>
            <a:ext cx="1353312" cy="381305"/>
          </a:xfrm>
          <a:prstGeom prst="roundRect">
            <a:avLst>
              <a:gd name="adj" fmla="val 15000"/>
            </a:avLst>
          </a:prstGeom>
          <a:solidFill>
            <a:srgbClr val="595959"/>
          </a:solidFill>
          <a:ln/>
        </p:spPr>
        <p:txBody>
          <a:bodyPr/>
          <a:p/>
        </p:txBody>
      </p:sp>
      <p:sp xmlns:p="http://schemas.openxmlformats.org/presentationml/2006/main" xmlns:a="http://schemas.openxmlformats.org/drawingml/2006/main" xmlns:r="http://schemas.openxmlformats.org/officeDocument/2006/relationships">
        <p:nvSpPr>
          <p:cNvPr id="4" name="Text 21"/>
          <p:cNvSpPr txBox="1"/>
          <p:nvPr/>
        </p:nvSpPr>
        <p:spPr>
          <a:xfrm>
            <a:off x="1837944" y="1563624"/>
            <a:ext cx="1298448" cy="342900"/>
          </a:xfrm>
          <a:prstGeom prst="rect">
            <a:avLst/>
          </a:prstGeom>
          <a:noFill/>
          <a:ln/>
        </p:spPr>
        <p:txBody>
          <a:bodyPr wrap="square" lIns="25400" tIns="25400" rIns="25400" bIns="25400" rtlCol="0" anchor="t">
            <a:noAutofit/>
          </a:bodyPr>
          <a:lstStyle/>
          <a:p>
            <a:pPr algn="ctr" indent="0" marL="0">
              <a:buNone/>
            </a:pPr>
            <a:r>
              <a:rPr lang="en-US" sz="1800" b="1" dirty="0">
                <a:solidFill>
                  <a:srgbClr val="FFFFFF"/>
                </a:solidFill>
                <a:latin typeface="+mn-lt"/>
                <a:ea typeface="+mn-ea"/>
                <a:cs typeface="+mn-cs"/>
              </a:rPr>
              <a:t>EXERCISE</a:t>
            </a:r>
            <a:endParaRPr lang="en-US" sz="1800" dirty="0"/>
          </a:p>
        </p:txBody>
      </p:sp>
      <p:sp xmlns:p="http://schemas.openxmlformats.org/presentationml/2006/main" xmlns:a="http://schemas.openxmlformats.org/drawingml/2006/main" xmlns:r="http://schemas.openxmlformats.org/officeDocument/2006/relationships">
        <p:nvSpPr>
          <p:cNvPr id="5" name="Text 22"/>
          <p:cNvSpPr txBox="1"/>
          <p:nvPr/>
        </p:nvSpPr>
        <p:spPr>
          <a:xfrm>
            <a:off x="1810512" y="2103120"/>
            <a:ext cx="612648" cy="420624"/>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1</a:t>
            </a:r>
            <a:endParaRPr lang="en-US" sz="2200" dirty="0"/>
          </a:p>
        </p:txBody>
      </p:sp>
      <p:sp xmlns:p="http://schemas.openxmlformats.org/presentationml/2006/main" xmlns:a="http://schemas.openxmlformats.org/drawingml/2006/main" xmlns:r="http://schemas.openxmlformats.org/officeDocument/2006/relationships">
        <p:nvSpPr>
          <p:cNvPr id="6" name="Text 23"/>
          <p:cNvSpPr txBox="1"/>
          <p:nvPr/>
        </p:nvSpPr>
        <p:spPr>
          <a:xfrm>
            <a:off x="2340864" y="2103120"/>
            <a:ext cx="6053328" cy="397350"/>
          </a:xfrm>
          <a:prstGeom prst="rect">
            <a:avLst/>
          </a:prstGeom>
          <a:noFill/>
          <a:ln/>
        </p:spPr>
        <p:txBody>
          <a:bodyPr wrap="square" lIns="25400" tIns="25400" rIns="25400" bIns="25400" rtlCol="0" anchor="t">
            <a:noAutofit/>
          </a:bodyPr>
          <a:lstStyle/>
          <a:p>
            <a:pPr algn="l" indent="0" marL="0">
              <a:lnSpc>
                <a:spcPct val="101250"/>
              </a:lnSpc>
              <a:buNone/>
            </a:pPr>
            <a:r>
              <a:rPr lang="en-US" sz="1900" dirty="0">
                <a:solidFill>
                  <a:srgbClr val="000000"/>
                </a:solidFill>
                <a:latin typeface="+mn-lt"/>
                <a:ea typeface="+mn-ea"/>
                <a:cs typeface="+mn-cs"/>
              </a:rPr>
              <a:t>Open your Agent-Ready repo from Lesson 1.</a:t>
            </a:r>
            <a:endParaRPr lang="en-US" sz="1900" dirty="0"/>
          </a:p>
        </p:txBody>
      </p:sp>
      <p:sp xmlns:p="http://schemas.openxmlformats.org/presentationml/2006/main" xmlns:a="http://schemas.openxmlformats.org/drawingml/2006/main" xmlns:r="http://schemas.openxmlformats.org/officeDocument/2006/relationships">
        <p:nvSpPr>
          <p:cNvPr id="7" name="Text 24"/>
          <p:cNvSpPr txBox="1"/>
          <p:nvPr/>
        </p:nvSpPr>
        <p:spPr>
          <a:xfrm>
            <a:off x="1810512" y="2646774"/>
            <a:ext cx="612648" cy="703259"/>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2</a:t>
            </a:r>
            <a:endParaRPr lang="en-US" sz="2200" dirty="0"/>
          </a:p>
        </p:txBody>
      </p:sp>
      <p:sp xmlns:p="http://schemas.openxmlformats.org/presentationml/2006/main" xmlns:a="http://schemas.openxmlformats.org/drawingml/2006/main" xmlns:r="http://schemas.openxmlformats.org/officeDocument/2006/relationships">
        <p:nvSpPr>
          <p:cNvPr id="8" name="Text 25"/>
          <p:cNvSpPr txBox="1"/>
          <p:nvPr/>
        </p:nvSpPr>
        <p:spPr>
          <a:xfrm>
            <a:off x="2340864" y="2646774"/>
            <a:ext cx="6053328" cy="703259"/>
          </a:xfrm>
          <a:prstGeom prst="rect">
            <a:avLst/>
          </a:prstGeom>
          <a:noFill/>
          <a:ln/>
        </p:spPr>
        <p:txBody>
          <a:bodyPr wrap="square" lIns="25400" tIns="25400" rIns="25400" bIns="25400" rtlCol="0" anchor="t">
            <a:noAutofit/>
          </a:bodyPr>
          <a:lstStyle/>
          <a:p>
            <a:pPr algn="l" indent="0" marL="0">
              <a:lnSpc>
                <a:spcPct val="101250"/>
              </a:lnSpc>
              <a:buNone/>
            </a:pPr>
            <a:r>
              <a:rPr lang="en-US" sz="1900" dirty="0">
                <a:solidFill>
                  <a:srgbClr val="000000"/>
                </a:solidFill>
                <a:latin typeface="+mn-lt"/>
                <a:ea typeface="+mn-ea"/>
                <a:cs typeface="+mn-cs"/>
              </a:rPr>
              <a:t xml:space="preserve">Write one small requirement </a:t>
            </a:r>
            <a:r>
              <a:rPr lang="en-US" sz="1900" b="1" dirty="0">
                <a:solidFill>
                  <a:srgbClr val="000000"/>
                </a:solidFill>
                <a:latin typeface="+mn-lt"/>
                <a:ea typeface="+mn-ea"/>
                <a:cs typeface="+mn-cs"/>
              </a:rPr>
              <a:t>and how you’ll verify it</a:t>
            </a:r>
            <a:r>
              <a:rPr lang="en-US" sz="1900" dirty="0">
                <a:solidFill>
                  <a:srgbClr val="000000"/>
                </a:solidFill>
                <a:latin typeface="+mn-lt"/>
                <a:ea typeface="+mn-ea"/>
                <a:cs typeface="+mn-cs"/>
              </a:rPr>
              <a:t>, before starting a task.</a:t>
            </a:r>
            <a:endParaRPr lang="en-US" sz="1900" dirty="0"/>
          </a:p>
        </p:txBody>
      </p:sp>
      <p:sp xmlns:p="http://schemas.openxmlformats.org/presentationml/2006/main" xmlns:a="http://schemas.openxmlformats.org/drawingml/2006/main" xmlns:r="http://schemas.openxmlformats.org/officeDocument/2006/relationships">
        <p:nvSpPr>
          <p:cNvPr id="9" name="Text 26"/>
          <p:cNvSpPr txBox="1"/>
          <p:nvPr/>
        </p:nvSpPr>
        <p:spPr>
          <a:xfrm>
            <a:off x="1810512" y="3496337"/>
            <a:ext cx="612648" cy="420624"/>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3</a:t>
            </a:r>
            <a:endParaRPr lang="en-US" sz="2200" dirty="0"/>
          </a:p>
        </p:txBody>
      </p:sp>
      <p:sp xmlns:p="http://schemas.openxmlformats.org/presentationml/2006/main" xmlns:a="http://schemas.openxmlformats.org/drawingml/2006/main" xmlns:r="http://schemas.openxmlformats.org/officeDocument/2006/relationships">
        <p:nvSpPr>
          <p:cNvPr id="10" name="Text 27"/>
          <p:cNvSpPr txBox="1"/>
          <p:nvPr/>
        </p:nvSpPr>
        <p:spPr>
          <a:xfrm>
            <a:off x="2340864" y="3496337"/>
            <a:ext cx="6053328" cy="397350"/>
          </a:xfrm>
          <a:prstGeom prst="rect">
            <a:avLst/>
          </a:prstGeom>
          <a:noFill/>
          <a:ln/>
        </p:spPr>
        <p:txBody>
          <a:bodyPr wrap="square" lIns="25400" tIns="25400" rIns="25400" bIns="25400" rtlCol="0" anchor="t">
            <a:noAutofit/>
          </a:bodyPr>
          <a:lstStyle/>
          <a:p>
            <a:pPr algn="l" indent="0" marL="0">
              <a:lnSpc>
                <a:spcPct val="101250"/>
              </a:lnSpc>
              <a:buNone/>
            </a:pPr>
            <a:r>
              <a:rPr lang="en-US" sz="1900" dirty="0">
                <a:solidFill>
                  <a:srgbClr val="000000"/>
                </a:solidFill>
                <a:latin typeface="+mn-lt"/>
                <a:ea typeface="+mn-ea"/>
                <a:cs typeface="+mn-cs"/>
              </a:rPr>
              <a:t xml:space="preserve">Improve </a:t>
            </a:r>
            <a:r>
              <a:rPr lang="en-US" sz="1900" b="1" dirty="0">
                <a:solidFill>
                  <a:srgbClr val="000000"/>
                </a:solidFill>
                <a:latin typeface="+mn-lt"/>
                <a:ea typeface="+mn-ea"/>
                <a:cs typeface="+mn-cs"/>
              </a:rPr>
              <a:t>AGENTS.md</a:t>
            </a:r>
            <a:r>
              <a:rPr lang="en-US" sz="1900" dirty="0">
                <a:solidFill>
                  <a:srgbClr val="000000"/>
                </a:solidFill>
                <a:latin typeface="+mn-lt"/>
                <a:ea typeface="+mn-ea"/>
                <a:cs typeface="+mn-cs"/>
              </a:rPr>
              <a:t xml:space="preserve">, or have Codex draft one.</a:t>
            </a:r>
            <a:endParaRPr lang="en-US" sz="1900" dirty="0"/>
          </a:p>
        </p:txBody>
      </p:sp>
      <p:sp xmlns:p="http://schemas.openxmlformats.org/presentationml/2006/main" xmlns:a="http://schemas.openxmlformats.org/drawingml/2006/main" xmlns:r="http://schemas.openxmlformats.org/officeDocument/2006/relationships">
        <p:nvSpPr>
          <p:cNvPr id="11" name="Text 28"/>
          <p:cNvSpPr txBox="1"/>
          <p:nvPr/>
        </p:nvSpPr>
        <p:spPr>
          <a:xfrm>
            <a:off x="1810512" y="4039991"/>
            <a:ext cx="612648" cy="420624"/>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4</a:t>
            </a:r>
            <a:endParaRPr lang="en-US" sz="2200" dirty="0"/>
          </a:p>
        </p:txBody>
      </p:sp>
      <p:sp xmlns:p="http://schemas.openxmlformats.org/presentationml/2006/main" xmlns:a="http://schemas.openxmlformats.org/drawingml/2006/main" xmlns:r="http://schemas.openxmlformats.org/officeDocument/2006/relationships">
        <p:nvSpPr>
          <p:cNvPr id="12" name="Text 29"/>
          <p:cNvSpPr txBox="1"/>
          <p:nvPr/>
        </p:nvSpPr>
        <p:spPr>
          <a:xfrm>
            <a:off x="2340864" y="4039991"/>
            <a:ext cx="6053328" cy="397350"/>
          </a:xfrm>
          <a:prstGeom prst="rect">
            <a:avLst/>
          </a:prstGeom>
          <a:noFill/>
          <a:ln/>
        </p:spPr>
        <p:txBody>
          <a:bodyPr wrap="square" lIns="25400" tIns="25400" rIns="25400" bIns="25400" rtlCol="0" anchor="t">
            <a:noAutofit/>
          </a:bodyPr>
          <a:lstStyle/>
          <a:p>
            <a:pPr algn="l" indent="0" marL="0">
              <a:lnSpc>
                <a:spcPct val="101250"/>
              </a:lnSpc>
              <a:buNone/>
            </a:pPr>
            <a:r>
              <a:rPr lang="en-US" sz="1900" dirty="0">
                <a:solidFill>
                  <a:srgbClr val="000000"/>
                </a:solidFill>
                <a:latin typeface="+mn-lt"/>
                <a:ea typeface="+mn-ea"/>
                <a:cs typeface="+mn-cs"/>
              </a:rPr>
              <a:t>Orient → plan → implement.</a:t>
            </a:r>
            <a:endParaRPr lang="en-US" sz="1900" dirty="0"/>
          </a:p>
        </p:txBody>
      </p:sp>
      <p:sp xmlns:p="http://schemas.openxmlformats.org/presentationml/2006/main" xmlns:a="http://schemas.openxmlformats.org/drawingml/2006/main" xmlns:r="http://schemas.openxmlformats.org/officeDocument/2006/relationships">
        <p:nvSpPr>
          <p:cNvPr id="13" name="Text 30"/>
          <p:cNvSpPr txBox="1"/>
          <p:nvPr/>
        </p:nvSpPr>
        <p:spPr>
          <a:xfrm>
            <a:off x="1810512" y="4583644"/>
            <a:ext cx="612648" cy="703259"/>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5</a:t>
            </a:r>
            <a:endParaRPr lang="en-US" sz="2200" dirty="0"/>
          </a:p>
        </p:txBody>
      </p:sp>
      <p:sp xmlns:p="http://schemas.openxmlformats.org/presentationml/2006/main" xmlns:a="http://schemas.openxmlformats.org/drawingml/2006/main" xmlns:r="http://schemas.openxmlformats.org/officeDocument/2006/relationships">
        <p:nvSpPr>
          <p:cNvPr id="14" name="Text 31"/>
          <p:cNvSpPr txBox="1"/>
          <p:nvPr/>
        </p:nvSpPr>
        <p:spPr>
          <a:xfrm>
            <a:off x="2340864" y="4583644"/>
            <a:ext cx="6053328" cy="703259"/>
          </a:xfrm>
          <a:prstGeom prst="rect">
            <a:avLst/>
          </a:prstGeom>
          <a:noFill/>
          <a:ln/>
        </p:spPr>
        <p:txBody>
          <a:bodyPr wrap="square" lIns="25400" tIns="25400" rIns="25400" bIns="25400" rtlCol="0" anchor="t">
            <a:noAutofit/>
          </a:bodyPr>
          <a:lstStyle/>
          <a:p>
            <a:pPr algn="l" indent="0" marL="0">
              <a:lnSpc>
                <a:spcPct val="101250"/>
              </a:lnSpc>
              <a:buNone/>
            </a:pPr>
            <a:r>
              <a:rPr lang="en-US" sz="1900" dirty="0">
                <a:solidFill>
                  <a:srgbClr val="000000"/>
                </a:solidFill>
                <a:latin typeface="+mn-lt"/>
                <a:ea typeface="+mn-ea"/>
                <a:cs typeface="+mn-cs"/>
              </a:rPr>
              <a:t>Review the PR and test it yourself. Merge only if it passes.</a:t>
            </a:r>
            <a:endParaRPr lang="en-US" sz="1900" dirty="0"/>
          </a:p>
        </p:txBody>
      </p:sp>
      <p:sp xmlns:p="http://schemas.openxmlformats.org/presentationml/2006/main" xmlns:a="http://schemas.openxmlformats.org/drawingml/2006/main" xmlns:r="http://schemas.openxmlformats.org/officeDocument/2006/relationships">
        <p:nvSpPr>
          <p:cNvPr id="15" name="Text 32"/>
          <p:cNvSpPr txBox="1"/>
          <p:nvPr/>
        </p:nvSpPr>
        <p:spPr>
          <a:xfrm>
            <a:off x="1810512" y="5433208"/>
            <a:ext cx="612648" cy="420624"/>
          </a:xfrm>
          <a:prstGeom prst="rect">
            <a:avLst/>
          </a:prstGeom>
          <a:noFill/>
          <a:ln/>
        </p:spPr>
        <p:txBody>
          <a:bodyPr wrap="square" lIns="25400" tIns="25400" rIns="25400" bIns="25400" rtlCol="0" anchor="t">
            <a:noAutofit/>
          </a:bodyPr>
          <a:lstStyle/>
          <a:p>
            <a:pPr algn="l" indent="0" marL="0">
              <a:lnSpc>
                <a:spcPct val="101250"/>
              </a:lnSpc>
              <a:buNone/>
            </a:pPr>
            <a:r>
              <a:rPr lang="en-US" sz="2200" b="1" dirty="0">
                <a:solidFill>
                  <a:srgbClr val="1F6FB2"/>
                </a:solidFill>
                <a:latin typeface="+mn-lt"/>
                <a:ea typeface="+mn-ea"/>
                <a:cs typeface="+mn-cs"/>
              </a:rPr>
              <a:t>6</a:t>
            </a:r>
            <a:endParaRPr lang="en-US" sz="2200" dirty="0"/>
          </a:p>
        </p:txBody>
      </p:sp>
      <p:sp xmlns:p="http://schemas.openxmlformats.org/presentationml/2006/main" xmlns:a="http://schemas.openxmlformats.org/drawingml/2006/main" xmlns:r="http://schemas.openxmlformats.org/officeDocument/2006/relationships">
        <p:nvSpPr>
          <p:cNvPr id="16" name="Text 33"/>
          <p:cNvSpPr txBox="1"/>
          <p:nvPr/>
        </p:nvSpPr>
        <p:spPr>
          <a:xfrm>
            <a:off x="2340864" y="5433208"/>
            <a:ext cx="6053328" cy="397350"/>
          </a:xfrm>
          <a:prstGeom prst="rect">
            <a:avLst/>
          </a:prstGeom>
          <a:noFill/>
          <a:ln/>
        </p:spPr>
        <p:txBody>
          <a:bodyPr wrap="square" lIns="25400" tIns="25400" rIns="25400" bIns="25400" rtlCol="0" anchor="t">
            <a:noAutofit/>
          </a:bodyPr>
          <a:lstStyle/>
          <a:p>
            <a:pPr algn="l" indent="0" marL="0">
              <a:lnSpc>
                <a:spcPct val="101250"/>
              </a:lnSpc>
              <a:buNone/>
            </a:pPr>
            <a:r>
              <a:rPr lang="en-US" sz="1900" dirty="0">
                <a:solidFill>
                  <a:srgbClr val="000000"/>
                </a:solidFill>
                <a:latin typeface="+mn-lt"/>
                <a:ea typeface="+mn-ea"/>
                <a:cs typeface="+mn-cs"/>
              </a:rPr>
              <a:t>Add an entry to AI_LOG.md.</a:t>
            </a:r>
            <a:endParaRPr lang="en-US" sz="1900" dirty="0"/>
          </a:p>
        </p:txBody>
      </p:sp>
      <p:sp xmlns:p="http://schemas.openxmlformats.org/presentationml/2006/main" xmlns:a="http://schemas.openxmlformats.org/drawingml/2006/main" xmlns:r="http://schemas.openxmlformats.org/officeDocument/2006/relationships">
        <p:nvSpPr>
          <p:cNvPr id="17" name="Shape 34"/>
          <p:cNvSpPr/>
          <p:nvPr/>
        </p:nvSpPr>
        <p:spPr>
          <a:xfrm>
            <a:off x="8778240" y="1527048"/>
            <a:ext cx="4709160" cy="3429000"/>
          </a:xfrm>
          <a:prstGeom prst="rect">
            <a:avLst/>
          </a:prstGeom>
          <a:solidFill>
            <a:srgbClr val="F2F2F2"/>
          </a:solidFill>
          <a:ln/>
        </p:spPr>
        <p:txBody>
          <a:bodyPr/>
          <a:p/>
        </p:txBody>
      </p:sp>
      <p:sp xmlns:p="http://schemas.openxmlformats.org/presentationml/2006/main" xmlns:a="http://schemas.openxmlformats.org/drawingml/2006/main" xmlns:r="http://schemas.openxmlformats.org/officeDocument/2006/relationships">
        <p:nvSpPr>
          <p:cNvPr id="18" name="Text 35"/>
          <p:cNvSpPr txBox="1"/>
          <p:nvPr/>
        </p:nvSpPr>
        <p:spPr>
          <a:xfrm>
            <a:off x="8979408" y="1709928"/>
            <a:ext cx="4343400" cy="384048"/>
          </a:xfrm>
          <a:prstGeom prst="rect">
            <a:avLst/>
          </a:prstGeom>
          <a:noFill/>
          <a:ln/>
        </p:spPr>
        <p:txBody>
          <a:bodyPr wrap="square" lIns="25400" tIns="25400" rIns="25400" bIns="25400" rtlCol="0" anchor="t">
            <a:noAutofit/>
          </a:bodyPr>
          <a:lstStyle/>
          <a:p>
            <a:pPr algn="l" indent="0" marL="0">
              <a:buNone/>
            </a:pPr>
            <a:r>
              <a:rPr lang="en-US" sz="1900" b="1" dirty="0">
                <a:solidFill>
                  <a:srgbClr val="152A47"/>
                </a:solidFill>
                <a:latin typeface="+mn-lt"/>
                <a:ea typeface="+mn-ea"/>
                <a:cs typeface="+mn-cs"/>
              </a:rPr>
              <a:t>Good first requests</a:t>
            </a:r>
            <a:endParaRPr lang="en-US" sz="1900" dirty="0"/>
          </a:p>
        </p:txBody>
      </p:sp>
      <p:sp xmlns:p="http://schemas.openxmlformats.org/presentationml/2006/main" xmlns:a="http://schemas.openxmlformats.org/drawingml/2006/main" xmlns:r="http://schemas.openxmlformats.org/officeDocument/2006/relationships">
        <p:nvSpPr>
          <p:cNvPr id="19" name="Text 36"/>
          <p:cNvSpPr txBox="1"/>
          <p:nvPr/>
        </p:nvSpPr>
        <p:spPr>
          <a:xfrm>
            <a:off x="8979408" y="2167128"/>
            <a:ext cx="4343400" cy="2697480"/>
          </a:xfrm>
          <a:prstGeom prst="rect">
            <a:avLst/>
          </a:prstGeom>
          <a:noFill/>
          <a:ln/>
        </p:spPr>
        <p:txBody>
          <a:bodyPr wrap="square" lIns="25400" tIns="25400" rIns="25400" bIns="25400" rtlCol="0" anchor="t">
            <a:noAutofit/>
          </a:bodyPr>
          <a:lstStyle/>
          <a:p>
            <a:pPr algn="l" indent="0" marL="0">
              <a:spcAft>
                <a:spcPts val="800"/>
              </a:spcAft>
              <a:buNone/>
            </a:pPr>
            <a:r>
              <a:rPr lang="en-US" sz="1700" dirty="0">
                <a:solidFill>
                  <a:srgbClr val="000000"/>
                </a:solidFill>
                <a:latin typeface="+mn-lt"/>
                <a:ea typeface="+mn-ea"/>
                <a:cs typeface="+mn-cs"/>
              </a:rPr>
              <a:t>Add a test for an existing function</a:t>
            </a:r>
            <a:endParaRPr lang="en-US" sz="1700" dirty="0"/>
          </a:p>
          <a:p>
            <a:pPr algn="l" indent="0" marL="0">
              <a:spcAft>
                <a:spcPts val="800"/>
              </a:spcAft>
              <a:buNone/>
            </a:pPr>
            <a:r>
              <a:rPr lang="en-US" sz="1700" dirty="0">
                <a:solidFill>
                  <a:srgbClr val="000000"/>
                </a:solidFill>
                <a:latin typeface="+mn-lt"/>
                <a:ea typeface="+mn-ea"/>
                <a:cs typeface="+mn-cs"/>
              </a:rPr>
              <a:t>Add input checks with clear errors</a:t>
            </a:r>
            <a:endParaRPr lang="en-US" sz="1700" dirty="0"/>
          </a:p>
          <a:p>
            <a:pPr algn="l" indent="0" marL="0">
              <a:spcAft>
                <a:spcPts val="800"/>
              </a:spcAft>
              <a:buNone/>
            </a:pPr>
            <a:r>
              <a:rPr lang="en-US" sz="1700" dirty="0">
                <a:solidFill>
                  <a:srgbClr val="000000"/>
                </a:solidFill>
                <a:latin typeface="+mn-lt"/>
                <a:ea typeface="+mn-ea"/>
                <a:cs typeface="+mn-cs"/>
              </a:rPr>
              <a:t>Explain how to run it in the README</a:t>
            </a:r>
            <a:endParaRPr lang="en-US" sz="1700" dirty="0"/>
          </a:p>
          <a:p>
            <a:pPr algn="l" indent="0" marL="0">
              <a:spcAft>
                <a:spcPts val="800"/>
              </a:spcAft>
              <a:buNone/>
            </a:pPr>
            <a:r>
              <a:rPr lang="en-US" sz="1700" dirty="0">
                <a:solidFill>
                  <a:srgbClr val="000000"/>
                </a:solidFill>
                <a:latin typeface="+mn-lt"/>
                <a:ea typeface="+mn-ea"/>
                <a:cs typeface="+mn-cs"/>
              </a:rPr>
              <a:t>Replace hard-coded values with parameters</a:t>
            </a:r>
            <a:endParaRPr lang="en-US" sz="1700" dirty="0"/>
          </a:p>
        </p:txBody>
      </p:sp>
      <p:sp xmlns:p="http://schemas.openxmlformats.org/presentationml/2006/main" xmlns:a="http://schemas.openxmlformats.org/drawingml/2006/main" xmlns:r="http://schemas.openxmlformats.org/officeDocument/2006/relationships">
        <p:nvSpPr>
          <p:cNvPr id="20" name="Shape 37"/>
          <p:cNvSpPr/>
          <p:nvPr/>
        </p:nvSpPr>
        <p:spPr>
          <a:xfrm>
            <a:off x="8778240" y="5184648"/>
            <a:ext cx="4709160" cy="2377440"/>
          </a:xfrm>
          <a:prstGeom prst="rect">
            <a:avLst/>
          </a:prstGeom>
          <a:solidFill>
            <a:srgbClr val="F2F2F2"/>
          </a:solidFill>
          <a:ln/>
        </p:spPr>
        <p:txBody>
          <a:bodyPr/>
          <a:p/>
        </p:txBody>
      </p:sp>
      <p:sp xmlns:p="http://schemas.openxmlformats.org/presentationml/2006/main" xmlns:a="http://schemas.openxmlformats.org/drawingml/2006/main" xmlns:r="http://schemas.openxmlformats.org/officeDocument/2006/relationships">
        <p:nvSpPr>
          <p:cNvPr id="21" name="Text 38"/>
          <p:cNvSpPr txBox="1"/>
          <p:nvPr/>
        </p:nvSpPr>
        <p:spPr>
          <a:xfrm>
            <a:off x="8979408" y="5367528"/>
            <a:ext cx="4343400" cy="384048"/>
          </a:xfrm>
          <a:prstGeom prst="rect">
            <a:avLst/>
          </a:prstGeom>
          <a:noFill/>
          <a:ln/>
        </p:spPr>
        <p:txBody>
          <a:bodyPr wrap="square" lIns="25400" tIns="25400" rIns="25400" bIns="25400" rtlCol="0" anchor="t">
            <a:noAutofit/>
          </a:bodyPr>
          <a:lstStyle/>
          <a:p>
            <a:pPr algn="l" indent="0" marL="0">
              <a:buNone/>
            </a:pPr>
            <a:r>
              <a:rPr lang="en-US" sz="1900" b="1" dirty="0">
                <a:solidFill>
                  <a:srgbClr val="152A47"/>
                </a:solidFill>
                <a:latin typeface="+mn-lt"/>
                <a:ea typeface="+mn-ea"/>
                <a:cs typeface="+mn-cs"/>
              </a:rPr>
              <a:t>Avoid for now</a:t>
            </a:r>
            <a:endParaRPr lang="en-US" sz="1900" dirty="0"/>
          </a:p>
        </p:txBody>
      </p:sp>
      <p:sp xmlns:p="http://schemas.openxmlformats.org/presentationml/2006/main" xmlns:a="http://schemas.openxmlformats.org/drawingml/2006/main" xmlns:r="http://schemas.openxmlformats.org/officeDocument/2006/relationships">
        <p:nvSpPr>
          <p:cNvPr id="22" name="Text 39"/>
          <p:cNvSpPr txBox="1"/>
          <p:nvPr/>
        </p:nvSpPr>
        <p:spPr>
          <a:xfrm>
            <a:off x="8979408" y="5824728"/>
            <a:ext cx="4343400" cy="1645920"/>
          </a:xfrm>
          <a:prstGeom prst="rect">
            <a:avLst/>
          </a:prstGeom>
          <a:noFill/>
          <a:ln/>
        </p:spPr>
        <p:txBody>
          <a:bodyPr wrap="square" lIns="25400" tIns="25400" rIns="25400" bIns="25400" rtlCol="0" anchor="t">
            <a:noAutofit/>
          </a:bodyPr>
          <a:lstStyle/>
          <a:p>
            <a:pPr algn="l" indent="0" marL="0">
              <a:spcAft>
                <a:spcPts val="800"/>
              </a:spcAft>
              <a:buNone/>
            </a:pPr>
            <a:r>
              <a:rPr lang="en-US" sz="1700" dirty="0">
                <a:solidFill>
                  <a:srgbClr val="000000"/>
                </a:solidFill>
                <a:latin typeface="+mn-lt"/>
                <a:ea typeface="+mn-ea"/>
                <a:cs typeface="+mn-cs"/>
              </a:rPr>
              <a:t>“Rewrite the whole project”</a:t>
            </a:r>
            <a:endParaRPr lang="en-US" sz="1700" dirty="0"/>
          </a:p>
          <a:p>
            <a:pPr algn="l" indent="0" marL="0">
              <a:spcAft>
                <a:spcPts val="800"/>
              </a:spcAft>
              <a:buNone/>
            </a:pPr>
            <a:r>
              <a:rPr lang="en-US" sz="1700" dirty="0">
                <a:solidFill>
                  <a:srgbClr val="000000"/>
                </a:solidFill>
                <a:latin typeface="+mn-lt"/>
                <a:ea typeface="+mn-ea"/>
                <a:cs typeface="+mn-cs"/>
              </a:rPr>
              <a:t>Anything you can’t check yourself</a:t>
            </a:r>
            <a:endParaRPr lang="en-US" sz="1700" dirty="0"/>
          </a:p>
        </p:txBody>
      </p:sp>
      <p:sp xmlns:p="http://schemas.openxmlformats.org/presentationml/2006/main" xmlns:a="http://schemas.openxmlformats.org/drawingml/2006/main" xmlns:r="http://schemas.openxmlformats.org/officeDocument/2006/relationships">
        <p:nvSpPr>
          <p:cNvPr id="23" name="Nav highlight"/>
          <p:cNvSpPr txBox="1"/>
          <p:nvPr userDrawn="1"/>
        </p:nvSpPr>
        <p:spPr>
          <a:xfrm>
            <a:off x="133350" y="5429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Your Repo</a:t>
            </a:r>
            <a:endParaRPr lang="en-US" sz="1800" b="1" dirty="0"/>
          </a:p>
        </p:txBody>
      </p:sp>
      <p:sp xmlns:p="http://schemas.openxmlformats.org/presentationml/2006/main" xmlns:a="http://schemas.openxmlformats.org/drawingml/2006/main" xmlns:r="http://schemas.openxmlformats.org/officeDocument/2006/relationships">
        <p:nvSpPr>
          <p:cNvPr id="24"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2</a:t>
            </a:r>
            <a:endParaRPr lang="en-US" sz="1800" dirty="0"/>
          </a:p>
        </p:txBody>
      </p:sp>
      <p:sp xmlns:p="http://schemas.openxmlformats.org/presentationml/2006/main" xmlns:a="http://schemas.openxmlformats.org/drawingml/2006/main" xmlns:r="http://schemas.openxmlformats.org/officeDocument/2006/relationships">
        <p:nvSpPr>
          <p:cNvPr id="25" name="Slide Numb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xmlns:p="http://schemas.openxmlformats.org/presentationml/2006/main" xmlns:a="http://schemas.openxmlformats.org/drawingml/2006/main" xmlns:r="http://schemas.openxmlformats.org/officeDocument/2006/relationships">
        <p:nvSpPr>
          <p:cNvPr id="2" name="Title"/>
          <p:cNvSpPr>
            <a:spLocks noGrp="1"/>
          </p:cNvSpPr>
          <p:nvPr>
            <p:ph type="title"/>
          </p:nvPr>
        </p:nvSpPr>
        <p:spPr/>
        <p:txBody>
          <a:bodyPr/>
          <a:lstStyle/>
          <a:p>
            <a:r>
              <a:rPr lang="en-US" dirty="0"/>
              <a:t>Cadet Teams &amp; Agents</a:t>
            </a:r>
            <a:endParaRPr lang="en-US" dirty="0"/>
          </a:p>
        </p:txBody>
      </p:sp>
      <p:sp xmlns:p="http://schemas.openxmlformats.org/presentationml/2006/main" xmlns:a="http://schemas.openxmlformats.org/drawingml/2006/main" xmlns:r="http://schemas.openxmlformats.org/officeDocument/2006/relationships">
        <p:nvSpPr>
          <p:cNvPr id="3" name="Text 20"/>
          <p:cNvSpPr txBox="1"/>
          <p:nvPr/>
        </p:nvSpPr>
        <p:spPr>
          <a:xfrm>
            <a:off x="1810512" y="1572768"/>
            <a:ext cx="11704320" cy="822960"/>
          </a:xfrm>
          <a:prstGeom prst="rect">
            <a:avLst/>
          </a:prstGeom>
          <a:noFill/>
          <a:ln/>
        </p:spPr>
        <p:txBody>
          <a:bodyPr wrap="square" lIns="25400" tIns="25400" rIns="25400" bIns="25400" rtlCol="0" anchor="t">
            <a:noAutofit/>
          </a:bodyPr>
          <a:lstStyle/>
          <a:p>
            <a:pPr algn="l" indent="0" marL="0">
              <a:buNone/>
            </a:pPr>
            <a:r>
              <a:rPr lang="en-US" sz="2000" dirty="0">
                <a:solidFill>
                  <a:srgbClr val="000000"/>
                </a:solidFill>
                <a:latin typeface="+mn-lt"/>
                <a:ea typeface="+mn-ea"/>
                <a:cs typeface="+mn-cs"/>
              </a:rPr>
              <a:t>A Codex task belongs to one ChatGPT account; teammates can’t join it. The GitHub repo is the team’s shared workspace.</a:t>
            </a:r>
            <a:endParaRPr lang="en-US" sz="2000" dirty="0"/>
          </a:p>
        </p:txBody>
      </p:sp>
      <p:sp xmlns:p="http://schemas.openxmlformats.org/presentationml/2006/main" xmlns:a="http://schemas.openxmlformats.org/drawingml/2006/main" xmlns:r="http://schemas.openxmlformats.org/officeDocument/2006/relationships">
        <p:nvSpPr>
          <p:cNvPr id="4" name="Shape 21"/>
          <p:cNvSpPr/>
          <p:nvPr/>
        </p:nvSpPr>
        <p:spPr>
          <a:xfrm>
            <a:off x="1810512" y="2606040"/>
            <a:ext cx="5669280" cy="3520440"/>
          </a:xfrm>
          <a:prstGeom prst="rect">
            <a:avLst/>
          </a:prstGeom>
          <a:solidFill>
            <a:srgbClr val="F2F2F2"/>
          </a:solidFill>
          <a:ln/>
        </p:spPr>
        <p:txBody>
          <a:bodyPr/>
          <a:p/>
        </p:txBody>
      </p:sp>
      <p:sp xmlns:p="http://schemas.openxmlformats.org/presentationml/2006/main" xmlns:a="http://schemas.openxmlformats.org/drawingml/2006/main" xmlns:r="http://schemas.openxmlformats.org/officeDocument/2006/relationships">
        <p:nvSpPr>
          <p:cNvPr id="5" name="Text 22"/>
          <p:cNvSpPr txBox="1"/>
          <p:nvPr/>
        </p:nvSpPr>
        <p:spPr>
          <a:xfrm>
            <a:off x="2011680" y="2743200"/>
            <a:ext cx="5303520" cy="347472"/>
          </a:xfrm>
          <a:prstGeom prst="rect">
            <a:avLst/>
          </a:prstGeom>
          <a:noFill/>
          <a:ln/>
        </p:spPr>
        <p:txBody>
          <a:bodyPr wrap="square" lIns="25400" tIns="25400" rIns="25400" bIns="25400" rtlCol="0" anchor="t">
            <a:noAutofit/>
          </a:bodyPr>
          <a:lstStyle/>
          <a:p>
            <a:pPr algn="l" indent="0" marL="0">
              <a:buNone/>
            </a:pPr>
            <a:r>
              <a:rPr lang="en-US" sz="1600" b="1" dirty="0">
                <a:solidFill>
                  <a:srgbClr val="404040"/>
                </a:solidFill>
                <a:latin typeface="+mn-lt"/>
                <a:ea typeface="+mn-ea"/>
                <a:cs typeface="+mn-cs"/>
              </a:rPr>
              <a:t>OPTION A</a:t>
            </a:r>
            <a:endParaRPr lang="en-US" sz="1600" dirty="0"/>
          </a:p>
        </p:txBody>
      </p:sp>
      <p:sp xmlns:p="http://schemas.openxmlformats.org/presentationml/2006/main" xmlns:a="http://schemas.openxmlformats.org/drawingml/2006/main" xmlns:r="http://schemas.openxmlformats.org/officeDocument/2006/relationships">
        <p:nvSpPr>
          <p:cNvPr id="6" name="Text 23"/>
          <p:cNvSpPr txBox="1"/>
          <p:nvPr/>
        </p:nvSpPr>
        <p:spPr>
          <a:xfrm>
            <a:off x="2011680" y="3090672"/>
            <a:ext cx="5303520" cy="438912"/>
          </a:xfrm>
          <a:prstGeom prst="rect">
            <a:avLst/>
          </a:prstGeom>
          <a:noFill/>
          <a:ln/>
        </p:spPr>
        <p:txBody>
          <a:bodyPr wrap="square" lIns="25400" tIns="25400" rIns="25400" bIns="25400" rtlCol="0" anchor="t">
            <a:noAutofit/>
          </a:bodyPr>
          <a:lstStyle/>
          <a:p>
            <a:pPr algn="l" indent="0" marL="0">
              <a:buNone/>
            </a:pPr>
            <a:r>
              <a:rPr lang="en-US" sz="2200" b="1" dirty="0">
                <a:solidFill>
                  <a:srgbClr val="152A47"/>
                </a:solidFill>
                <a:latin typeface="+mn-lt"/>
                <a:ea typeface="+mn-ea"/>
                <a:cs typeface="+mn-cs"/>
              </a:rPr>
              <a:t>One driver</a:t>
            </a:r>
            <a:endParaRPr lang="en-US" sz="2200" dirty="0"/>
          </a:p>
        </p:txBody>
      </p:sp>
      <p:sp xmlns:p="http://schemas.openxmlformats.org/presentationml/2006/main" xmlns:a="http://schemas.openxmlformats.org/drawingml/2006/main" xmlns:r="http://schemas.openxmlformats.org/officeDocument/2006/relationships">
        <p:nvSpPr>
          <p:cNvPr id="7" name="Text 24"/>
          <p:cNvSpPr txBox="1"/>
          <p:nvPr/>
        </p:nvSpPr>
        <p:spPr>
          <a:xfrm>
            <a:off x="2011680" y="3657600"/>
            <a:ext cx="5303520" cy="2377440"/>
          </a:xfrm>
          <a:prstGeom prst="rect">
            <a:avLst/>
          </a:prstGeom>
          <a:noFill/>
          <a:ln/>
        </p:spPr>
        <p:txBody>
          <a:bodyPr wrap="square" lIns="25400" tIns="25400" rIns="25400" bIns="25400" rtlCol="0" anchor="t">
            <a:noAutofit/>
          </a:bodyPr>
          <a:lstStyle/>
          <a:p>
            <a:pPr algn="l" indent="0" marL="0">
              <a:spcAft>
                <a:spcPts val="800"/>
              </a:spcAft>
              <a:buNone/>
            </a:pPr>
            <a:r>
              <a:rPr lang="en-US" sz="1800" dirty="0">
                <a:solidFill>
                  <a:srgbClr val="000000"/>
                </a:solidFill>
                <a:latin typeface="+mn-lt"/>
                <a:ea typeface="+mn-ea"/>
                <a:cs typeface="+mn-cs"/>
              </a:rPr>
              <a:t>One cadet with agent access runs the tasks.</a:t>
            </a:r>
            <a:endParaRPr lang="en-US" sz="1800" dirty="0"/>
          </a:p>
          <a:p>
            <a:pPr algn="l" indent="0" marL="0">
              <a:spcAft>
                <a:spcPts val="800"/>
              </a:spcAft>
              <a:buNone/>
            </a:pPr>
            <a:r>
              <a:rPr lang="en-US" sz="1800" dirty="0">
                <a:solidFill>
                  <a:srgbClr val="000000"/>
                </a:solidFill>
                <a:latin typeface="+mn-lt"/>
                <a:ea typeface="+mn-ea"/>
                <a:cs typeface="+mn-cs"/>
              </a:rPr>
              <a:t>The others review plans and PRs, and test.</a:t>
            </a:r>
            <a:endParaRPr lang="en-US" sz="1800" dirty="0"/>
          </a:p>
          <a:p>
            <a:pPr algn="l" indent="0" marL="0">
              <a:spcAft>
                <a:spcPts val="800"/>
              </a:spcAft>
              <a:buNone/>
            </a:pPr>
            <a:r>
              <a:rPr lang="en-US" sz="1800" dirty="0">
                <a:solidFill>
                  <a:srgbClr val="000000"/>
                </a:solidFill>
                <a:latin typeface="+mn-lt"/>
                <a:ea typeface="+mn-ea"/>
                <a:cs typeface="+mn-cs"/>
              </a:rPr>
              <a:t>Rotate the driver each requirement.</a:t>
            </a:r>
            <a:endParaRPr lang="en-US" sz="1800" dirty="0"/>
          </a:p>
        </p:txBody>
      </p:sp>
      <p:sp xmlns:p="http://schemas.openxmlformats.org/presentationml/2006/main" xmlns:a="http://schemas.openxmlformats.org/drawingml/2006/main" xmlns:r="http://schemas.openxmlformats.org/officeDocument/2006/relationships">
        <p:nvSpPr>
          <p:cNvPr id="8" name="Shape 25"/>
          <p:cNvSpPr/>
          <p:nvPr/>
        </p:nvSpPr>
        <p:spPr>
          <a:xfrm>
            <a:off x="7818120" y="2606040"/>
            <a:ext cx="5669280" cy="3520440"/>
          </a:xfrm>
          <a:prstGeom prst="rect">
            <a:avLst/>
          </a:prstGeom>
          <a:solidFill>
            <a:srgbClr val="F2F2F2"/>
          </a:solidFill>
          <a:ln/>
        </p:spPr>
        <p:txBody>
          <a:bodyPr/>
          <a:p/>
        </p:txBody>
      </p:sp>
      <p:sp xmlns:p="http://schemas.openxmlformats.org/presentationml/2006/main" xmlns:a="http://schemas.openxmlformats.org/drawingml/2006/main" xmlns:r="http://schemas.openxmlformats.org/officeDocument/2006/relationships">
        <p:nvSpPr>
          <p:cNvPr id="9" name="Text 26"/>
          <p:cNvSpPr txBox="1"/>
          <p:nvPr/>
        </p:nvSpPr>
        <p:spPr>
          <a:xfrm>
            <a:off x="8019288" y="2743200"/>
            <a:ext cx="5303520" cy="347472"/>
          </a:xfrm>
          <a:prstGeom prst="rect">
            <a:avLst/>
          </a:prstGeom>
          <a:noFill/>
          <a:ln/>
        </p:spPr>
        <p:txBody>
          <a:bodyPr wrap="square" lIns="25400" tIns="25400" rIns="25400" bIns="25400" rtlCol="0" anchor="t">
            <a:noAutofit/>
          </a:bodyPr>
          <a:lstStyle/>
          <a:p>
            <a:pPr algn="l" indent="0" marL="0">
              <a:buNone/>
            </a:pPr>
            <a:r>
              <a:rPr lang="en-US" sz="1600" b="1" dirty="0">
                <a:solidFill>
                  <a:srgbClr val="404040"/>
                </a:solidFill>
                <a:latin typeface="+mn-lt"/>
                <a:ea typeface="+mn-ea"/>
                <a:cs typeface="+mn-cs"/>
              </a:rPr>
              <a:t>OPTION B</a:t>
            </a:r>
            <a:endParaRPr lang="en-US" sz="1600" dirty="0"/>
          </a:p>
        </p:txBody>
      </p:sp>
      <p:sp xmlns:p="http://schemas.openxmlformats.org/presentationml/2006/main" xmlns:a="http://schemas.openxmlformats.org/drawingml/2006/main" xmlns:r="http://schemas.openxmlformats.org/officeDocument/2006/relationships">
        <p:nvSpPr>
          <p:cNvPr id="10" name="Text 27"/>
          <p:cNvSpPr txBox="1"/>
          <p:nvPr/>
        </p:nvSpPr>
        <p:spPr>
          <a:xfrm>
            <a:off x="8019288" y="3090672"/>
            <a:ext cx="5303520" cy="438912"/>
          </a:xfrm>
          <a:prstGeom prst="rect">
            <a:avLst/>
          </a:prstGeom>
          <a:noFill/>
          <a:ln/>
        </p:spPr>
        <p:txBody>
          <a:bodyPr wrap="square" lIns="25400" tIns="25400" rIns="25400" bIns="25400" rtlCol="0" anchor="t">
            <a:noAutofit/>
          </a:bodyPr>
          <a:lstStyle/>
          <a:p>
            <a:pPr algn="l" indent="0" marL="0">
              <a:buNone/>
            </a:pPr>
            <a:r>
              <a:rPr lang="en-US" sz="2200" b="1" dirty="0">
                <a:solidFill>
                  <a:srgbClr val="152A47"/>
                </a:solidFill>
                <a:latin typeface="+mn-lt"/>
                <a:ea typeface="+mn-ea"/>
                <a:cs typeface="+mn-cs"/>
              </a:rPr>
              <a:t>Parallel drivers</a:t>
            </a:r>
            <a:endParaRPr lang="en-US" sz="2200" dirty="0"/>
          </a:p>
        </p:txBody>
      </p:sp>
      <p:sp xmlns:p="http://schemas.openxmlformats.org/presentationml/2006/main" xmlns:a="http://schemas.openxmlformats.org/drawingml/2006/main" xmlns:r="http://schemas.openxmlformats.org/officeDocument/2006/relationships">
        <p:nvSpPr>
          <p:cNvPr id="11" name="Text 28"/>
          <p:cNvSpPr txBox="1"/>
          <p:nvPr/>
        </p:nvSpPr>
        <p:spPr>
          <a:xfrm>
            <a:off x="8019288" y="3657600"/>
            <a:ext cx="5303520" cy="2377440"/>
          </a:xfrm>
          <a:prstGeom prst="rect">
            <a:avLst/>
          </a:prstGeom>
          <a:noFill/>
          <a:ln/>
        </p:spPr>
        <p:txBody>
          <a:bodyPr wrap="square" lIns="25400" tIns="25400" rIns="25400" bIns="25400" rtlCol="0" anchor="t">
            <a:noAutofit/>
          </a:bodyPr>
          <a:lstStyle/>
          <a:p>
            <a:pPr algn="l" indent="0" marL="0">
              <a:spcAft>
                <a:spcPts val="800"/>
              </a:spcAft>
              <a:buNone/>
            </a:pPr>
            <a:r>
              <a:rPr lang="en-US" sz="1800" dirty="0">
                <a:solidFill>
                  <a:srgbClr val="000000"/>
                </a:solidFill>
                <a:latin typeface="+mn-lt"/>
                <a:ea typeface="+mn-ea"/>
                <a:cs typeface="+mn-cs"/>
              </a:rPr>
              <a:t>Each cadet runs tasks on their own requirement and branch.</a:t>
            </a:r>
            <a:endParaRPr lang="en-US" sz="1800" dirty="0"/>
          </a:p>
          <a:p>
            <a:pPr algn="l" indent="0" marL="0">
              <a:spcAft>
                <a:spcPts val="800"/>
              </a:spcAft>
              <a:buNone/>
            </a:pPr>
            <a:r>
              <a:rPr lang="en-US" sz="1800" dirty="0">
                <a:solidFill>
                  <a:srgbClr val="000000"/>
                </a:solidFill>
                <a:latin typeface="+mn-lt"/>
                <a:ea typeface="+mn-ea"/>
                <a:cs typeface="+mn-cs"/>
              </a:rPr>
              <a:t>Merge through PRs.</a:t>
            </a:r>
            <a:endParaRPr lang="en-US" sz="1800" dirty="0"/>
          </a:p>
          <a:p>
            <a:pPr algn="l" indent="0" marL="0">
              <a:spcAft>
                <a:spcPts val="800"/>
              </a:spcAft>
              <a:buNone/>
            </a:pPr>
            <a:r>
              <a:rPr lang="en-US" sz="1800" dirty="0">
                <a:solidFill>
                  <a:srgbClr val="000000"/>
                </a:solidFill>
                <a:latin typeface="+mn-lt"/>
                <a:ea typeface="+mn-ea"/>
                <a:cs typeface="+mn-cs"/>
              </a:rPr>
              <a:t>Don’t let two tasks edit the same function.</a:t>
            </a:r>
            <a:endParaRPr lang="en-US" sz="1800" dirty="0"/>
          </a:p>
        </p:txBody>
      </p:sp>
      <p:sp xmlns:p="http://schemas.openxmlformats.org/presentationml/2006/main" xmlns:a="http://schemas.openxmlformats.org/drawingml/2006/main" xmlns:r="http://schemas.openxmlformats.org/officeDocument/2006/relationships">
        <p:nvSpPr>
          <p:cNvPr id="12" name="Shape 29"/>
          <p:cNvSpPr/>
          <p:nvPr/>
        </p:nvSpPr>
        <p:spPr>
          <a:xfrm>
            <a:off x="1810512" y="6355080"/>
            <a:ext cx="11676888" cy="1371600"/>
          </a:xfrm>
          <a:prstGeom prst="rect">
            <a:avLst/>
          </a:prstGeom>
          <a:solidFill>
            <a:srgbClr val="152A47"/>
          </a:solidFill>
          <a:ln/>
        </p:spPr>
        <p:txBody>
          <a:bodyPr/>
          <a:p/>
        </p:txBody>
      </p:sp>
      <p:sp xmlns:p="http://schemas.openxmlformats.org/presentationml/2006/main" xmlns:a="http://schemas.openxmlformats.org/drawingml/2006/main" xmlns:r="http://schemas.openxmlformats.org/officeDocument/2006/relationships">
        <p:nvSpPr>
          <p:cNvPr id="13" name="Text 30"/>
          <p:cNvSpPr txBox="1"/>
          <p:nvPr/>
        </p:nvSpPr>
        <p:spPr>
          <a:xfrm>
            <a:off x="2057400" y="6355080"/>
            <a:ext cx="11247120" cy="1371600"/>
          </a:xfrm>
          <a:prstGeom prst="rect">
            <a:avLst/>
          </a:prstGeom>
          <a:noFill/>
          <a:ln/>
        </p:spPr>
        <p:txBody>
          <a:bodyPr wrap="square" lIns="25400" tIns="25400" rIns="25400" bIns="25400" rtlCol="0" anchor="ctr">
            <a:noAutofit/>
          </a:bodyPr>
          <a:lstStyle/>
          <a:p>
            <a:pPr algn="l" indent="0" marL="0">
              <a:spcAft>
                <a:spcPts val="600"/>
              </a:spcAft>
              <a:buNone/>
            </a:pPr>
            <a:r>
              <a:rPr lang="en-US" sz="1900" b="1" dirty="0">
                <a:solidFill>
                  <a:srgbClr val="FFFFFF"/>
                </a:solidFill>
                <a:latin typeface="+mn-lt"/>
                <a:ea typeface="+mn-ea"/>
                <a:cs typeface="+mn-cs"/>
              </a:rPr>
              <a:t>Grade the process:</a:t>
            </a:r>
            <a:r>
              <a:rPr lang="en-US" sz="1900" dirty="0">
                <a:solidFill>
                  <a:srgbClr val="FFFFFF"/>
                </a:solidFill>
                <a:latin typeface="+mn-lt"/>
                <a:ea typeface="+mn-ea"/>
                <a:cs typeface="+mn-cs"/>
              </a:rPr>
              <a:t xml:space="preserve"> requirement, plan, PR review, test evidence, AI_LOG.md.</a:t>
            </a:r>
            <a:endParaRPr lang="en-US" sz="1900" dirty="0"/>
          </a:p>
          <a:p>
            <a:pPr algn="l" indent="0" marL="0">
              <a:spcAft>
                <a:spcPts val="600"/>
              </a:spcAft>
              <a:buNone/>
            </a:pPr>
            <a:r>
              <a:rPr lang="en-US" sz="1900" dirty="0">
                <a:solidFill>
                  <a:srgbClr val="FFFFFF"/>
                </a:solidFill>
                <a:latin typeface="+mn-lt"/>
                <a:ea typeface="+mn-ea"/>
                <a:cs typeface="+mn-cs"/>
              </a:rPr>
              <a:t>Add every teammate as a repo collaborator. Never share agent account logins.</a:t>
            </a:r>
            <a:endParaRPr lang="en-US" sz="1900" dirty="0"/>
          </a:p>
        </p:txBody>
      </p:sp>
      <p:sp xmlns:p="http://schemas.openxmlformats.org/presentationml/2006/main" xmlns:a="http://schemas.openxmlformats.org/drawingml/2006/main" xmlns:r="http://schemas.openxmlformats.org/officeDocument/2006/relationships">
        <p:nvSpPr>
          <p:cNvPr id="14" name="Nav highlight"/>
          <p:cNvSpPr txBox="1"/>
          <p:nvPr userDrawn="1"/>
        </p:nvSpPr>
        <p:spPr>
          <a:xfrm>
            <a:off x="133350" y="5810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Teaching</a:t>
            </a:r>
            <a:endParaRPr lang="en-US" sz="1800" b="1" dirty="0"/>
          </a:p>
        </p:txBody>
      </p:sp>
      <p:sp xmlns:p="http://schemas.openxmlformats.org/presentationml/2006/main" xmlns:a="http://schemas.openxmlformats.org/drawingml/2006/main" xmlns:r="http://schemas.openxmlformats.org/officeDocument/2006/relationships">
        <p:nvSpPr>
          <p:cNvPr id="15"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2</a:t>
            </a:r>
            <a:endParaRPr lang="en-US" sz="1800" dirty="0"/>
          </a:p>
        </p:txBody>
      </p:sp>
      <p:sp xmlns:p="http://schemas.openxmlformats.org/presentationml/2006/main" xmlns:a="http://schemas.openxmlformats.org/drawingml/2006/main" xmlns:r="http://schemas.openxmlformats.org/officeDocument/2006/relationships">
        <p:nvSpPr>
          <p:cNvPr id="16" name="Slide Numb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xmlns:p="http://schemas.openxmlformats.org/presentationml/2006/main" xmlns:a="http://schemas.openxmlformats.org/drawingml/2006/main" xmlns:r="http://schemas.openxmlformats.org/officeDocument/2006/relationships">
        <p:nvSpPr>
          <p:cNvPr id="2" name="Title"/>
          <p:cNvSpPr>
            <a:spLocks noGrp="1"/>
          </p:cNvSpPr>
          <p:nvPr>
            <p:ph type="title"/>
          </p:nvPr>
        </p:nvSpPr>
        <p:spPr/>
        <p:txBody>
          <a:bodyPr/>
          <a:lstStyle/>
          <a:p>
            <a:r>
              <a:rPr lang="en-US" dirty="0"/>
              <a:t>Troubleshooting</a:t>
            </a:r>
            <a:endParaRPr lang="en-US" dirty="0"/>
          </a:p>
        </p:txBody>
      </p:sp>
      <p:sp xmlns:p="http://schemas.openxmlformats.org/presentationml/2006/main" xmlns:a="http://schemas.openxmlformats.org/drawingml/2006/main" xmlns:r="http://schemas.openxmlformats.org/officeDocument/2006/relationships">
        <p:nvSpPr>
          <p:cNvPr id="3" name="Shape 20"/>
          <p:cNvSpPr/>
          <p:nvPr/>
        </p:nvSpPr>
        <p:spPr>
          <a:xfrm>
            <a:off x="1810512" y="1572768"/>
            <a:ext cx="4572000" cy="612648"/>
          </a:xfrm>
          <a:prstGeom prst="rect">
            <a:avLst/>
          </a:prstGeom>
          <a:solidFill>
            <a:srgbClr val="152A47"/>
          </a:solidFill>
          <a:ln/>
        </p:spPr>
        <p:txBody>
          <a:bodyPr/>
          <a:p/>
        </p:txBody>
      </p:sp>
      <p:sp xmlns:p="http://schemas.openxmlformats.org/presentationml/2006/main" xmlns:a="http://schemas.openxmlformats.org/drawingml/2006/main" xmlns:r="http://schemas.openxmlformats.org/officeDocument/2006/relationships">
        <p:nvSpPr>
          <p:cNvPr id="4" name="Text 21"/>
          <p:cNvSpPr txBox="1"/>
          <p:nvPr/>
        </p:nvSpPr>
        <p:spPr>
          <a:xfrm>
            <a:off x="1984248" y="1705356"/>
            <a:ext cx="4343400" cy="347472"/>
          </a:xfrm>
          <a:prstGeom prst="rect">
            <a:avLst/>
          </a:prstGeom>
          <a:noFill/>
          <a:ln/>
        </p:spPr>
        <p:txBody>
          <a:bodyPr wrap="square" lIns="25400" tIns="25400" rIns="25400" bIns="25400" rtlCol="0" anchor="t">
            <a:noAutofit/>
          </a:bodyPr>
          <a:lstStyle/>
          <a:p>
            <a:pPr algn="l" indent="0" marL="0">
              <a:buNone/>
            </a:pPr>
            <a:r>
              <a:rPr lang="en-US" sz="1800" b="1" dirty="0">
                <a:solidFill>
                  <a:srgbClr val="FFFFFF"/>
                </a:solidFill>
                <a:latin typeface="+mn-lt"/>
                <a:ea typeface="+mn-ea"/>
                <a:cs typeface="+mn-cs"/>
              </a:rPr>
              <a:t>Symptom</a:t>
            </a:r>
            <a:endParaRPr lang="en-US" sz="1800" dirty="0"/>
          </a:p>
        </p:txBody>
      </p:sp>
      <p:sp xmlns:p="http://schemas.openxmlformats.org/presentationml/2006/main" xmlns:a="http://schemas.openxmlformats.org/drawingml/2006/main" xmlns:r="http://schemas.openxmlformats.org/officeDocument/2006/relationships">
        <p:nvSpPr>
          <p:cNvPr id="5" name="Shape 22"/>
          <p:cNvSpPr/>
          <p:nvPr/>
        </p:nvSpPr>
        <p:spPr>
          <a:xfrm>
            <a:off x="6382512" y="1572768"/>
            <a:ext cx="7104888" cy="612648"/>
          </a:xfrm>
          <a:prstGeom prst="rect">
            <a:avLst/>
          </a:prstGeom>
          <a:solidFill>
            <a:srgbClr val="152A47"/>
          </a:solidFill>
          <a:ln/>
        </p:spPr>
        <p:txBody>
          <a:bodyPr/>
          <a:p/>
        </p:txBody>
      </p:sp>
      <p:sp xmlns:p="http://schemas.openxmlformats.org/presentationml/2006/main" xmlns:a="http://schemas.openxmlformats.org/drawingml/2006/main" xmlns:r="http://schemas.openxmlformats.org/officeDocument/2006/relationships">
        <p:nvSpPr>
          <p:cNvPr id="6" name="Text 23"/>
          <p:cNvSpPr txBox="1"/>
          <p:nvPr/>
        </p:nvSpPr>
        <p:spPr>
          <a:xfrm>
            <a:off x="6556248" y="1705356"/>
            <a:ext cx="6876288" cy="347472"/>
          </a:xfrm>
          <a:prstGeom prst="rect">
            <a:avLst/>
          </a:prstGeom>
          <a:noFill/>
          <a:ln/>
        </p:spPr>
        <p:txBody>
          <a:bodyPr wrap="square" lIns="25400" tIns="25400" rIns="25400" bIns="25400" rtlCol="0" anchor="t">
            <a:noAutofit/>
          </a:bodyPr>
          <a:lstStyle/>
          <a:p>
            <a:pPr algn="l" indent="0" marL="0">
              <a:buNone/>
            </a:pPr>
            <a:r>
              <a:rPr lang="en-US" sz="1800" b="1" dirty="0">
                <a:solidFill>
                  <a:srgbClr val="FFFFFF"/>
                </a:solidFill>
                <a:latin typeface="+mn-lt"/>
                <a:ea typeface="+mn-ea"/>
                <a:cs typeface="+mn-cs"/>
              </a:rPr>
              <a:t>Fix</a:t>
            </a:r>
            <a:endParaRPr lang="en-US" sz="1800" dirty="0"/>
          </a:p>
        </p:txBody>
      </p:sp>
      <p:sp xmlns:p="http://schemas.openxmlformats.org/presentationml/2006/main" xmlns:a="http://schemas.openxmlformats.org/drawingml/2006/main" xmlns:r="http://schemas.openxmlformats.org/officeDocument/2006/relationships">
        <p:nvSpPr>
          <p:cNvPr id="7" name="Text 24"/>
          <p:cNvSpPr txBox="1"/>
          <p:nvPr/>
        </p:nvSpPr>
        <p:spPr>
          <a:xfrm>
            <a:off x="1984248" y="2304288"/>
            <a:ext cx="4343400" cy="370332"/>
          </a:xfrm>
          <a:prstGeom prst="rect">
            <a:avLst/>
          </a:prstGeom>
          <a:noFill/>
          <a:ln/>
        </p:spPr>
        <p:txBody>
          <a:bodyPr wrap="square" lIns="25400" tIns="25400" rIns="25400" bIns="25400" rtlCol="0" anchor="t">
            <a:noAutofit/>
          </a:bodyPr>
          <a:lstStyle/>
          <a:p>
            <a:pPr algn="l" indent="0" marL="0">
              <a:buNone/>
            </a:pPr>
            <a:r>
              <a:rPr lang="en-US" sz="1800" b="1" dirty="0">
                <a:solidFill>
                  <a:srgbClr val="000000"/>
                </a:solidFill>
                <a:latin typeface="+mn-lt"/>
                <a:ea typeface="+mn-ea"/>
                <a:cs typeface="+mn-cs"/>
              </a:rPr>
              <a:t>Repo missing in Codex</a:t>
            </a:r>
            <a:endParaRPr lang="en-US" sz="1800" dirty="0"/>
          </a:p>
        </p:txBody>
      </p:sp>
      <p:sp xmlns:p="http://schemas.openxmlformats.org/presentationml/2006/main" xmlns:a="http://schemas.openxmlformats.org/drawingml/2006/main" xmlns:r="http://schemas.openxmlformats.org/officeDocument/2006/relationships">
        <p:nvSpPr>
          <p:cNvPr id="8" name="Shape 25"/>
          <p:cNvSpPr/>
          <p:nvPr/>
        </p:nvSpPr>
        <p:spPr>
          <a:xfrm>
            <a:off x="1810512" y="3054096"/>
            <a:ext cx="457200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9" name="Text 26"/>
          <p:cNvSpPr txBox="1"/>
          <p:nvPr/>
        </p:nvSpPr>
        <p:spPr>
          <a:xfrm>
            <a:off x="6556248" y="2304288"/>
            <a:ext cx="6876288" cy="649224"/>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Give ChatGPT’s GitHub app access to that repo (GitHub › Settings › Applications).</a:t>
            </a:r>
            <a:endParaRPr lang="en-US" sz="1800" dirty="0"/>
          </a:p>
        </p:txBody>
      </p:sp>
      <p:sp xmlns:p="http://schemas.openxmlformats.org/presentationml/2006/main" xmlns:a="http://schemas.openxmlformats.org/drawingml/2006/main" xmlns:r="http://schemas.openxmlformats.org/officeDocument/2006/relationships">
        <p:nvSpPr>
          <p:cNvPr id="10" name="Shape 27"/>
          <p:cNvSpPr/>
          <p:nvPr/>
        </p:nvSpPr>
        <p:spPr>
          <a:xfrm>
            <a:off x="6382512" y="3054096"/>
            <a:ext cx="7104888"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11" name="Text 28"/>
          <p:cNvSpPr txBox="1"/>
          <p:nvPr/>
        </p:nvSpPr>
        <p:spPr>
          <a:xfrm>
            <a:off x="1984248" y="3191256"/>
            <a:ext cx="4343400" cy="370332"/>
          </a:xfrm>
          <a:prstGeom prst="rect">
            <a:avLst/>
          </a:prstGeom>
          <a:noFill/>
          <a:ln/>
        </p:spPr>
        <p:txBody>
          <a:bodyPr wrap="square" lIns="25400" tIns="25400" rIns="25400" bIns="25400" rtlCol="0" anchor="t">
            <a:noAutofit/>
          </a:bodyPr>
          <a:lstStyle/>
          <a:p>
            <a:pPr algn="l" indent="0" marL="0">
              <a:buNone/>
            </a:pPr>
            <a:r>
              <a:rPr lang="en-US" sz="1800" b="1" dirty="0">
                <a:solidFill>
                  <a:srgbClr val="000000"/>
                </a:solidFill>
                <a:latin typeface="+mn-lt"/>
                <a:ea typeface="+mn-ea"/>
                <a:cs typeface="+mn-cs"/>
              </a:rPr>
              <a:t>Agent ignores your rules</a:t>
            </a:r>
            <a:endParaRPr lang="en-US" sz="1800" dirty="0"/>
          </a:p>
        </p:txBody>
      </p:sp>
      <p:sp xmlns:p="http://schemas.openxmlformats.org/presentationml/2006/main" xmlns:a="http://schemas.openxmlformats.org/drawingml/2006/main" xmlns:r="http://schemas.openxmlformats.org/officeDocument/2006/relationships">
        <p:nvSpPr>
          <p:cNvPr id="12" name="Shape 29"/>
          <p:cNvSpPr/>
          <p:nvPr/>
        </p:nvSpPr>
        <p:spPr>
          <a:xfrm>
            <a:off x="1810512" y="3941064"/>
            <a:ext cx="457200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13" name="Text 30"/>
          <p:cNvSpPr txBox="1"/>
          <p:nvPr/>
        </p:nvSpPr>
        <p:spPr>
          <a:xfrm>
            <a:off x="6556248" y="3191256"/>
            <a:ext cx="6876288" cy="649224"/>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Check AGENTS.md is at the repo root on the branch the task uses. Shorten it.</a:t>
            </a:r>
            <a:endParaRPr lang="en-US" sz="1800" dirty="0"/>
          </a:p>
        </p:txBody>
      </p:sp>
      <p:sp xmlns:p="http://schemas.openxmlformats.org/presentationml/2006/main" xmlns:a="http://schemas.openxmlformats.org/drawingml/2006/main" xmlns:r="http://schemas.openxmlformats.org/officeDocument/2006/relationships">
        <p:nvSpPr>
          <p:cNvPr id="14" name="Shape 31"/>
          <p:cNvSpPr/>
          <p:nvPr/>
        </p:nvSpPr>
        <p:spPr>
          <a:xfrm>
            <a:off x="6382512" y="3941064"/>
            <a:ext cx="7104888"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15" name="Text 32"/>
          <p:cNvSpPr txBox="1"/>
          <p:nvPr/>
        </p:nvSpPr>
        <p:spPr>
          <a:xfrm>
            <a:off x="1984248" y="4078224"/>
            <a:ext cx="4343400" cy="370332"/>
          </a:xfrm>
          <a:prstGeom prst="rect">
            <a:avLst/>
          </a:prstGeom>
          <a:noFill/>
          <a:ln/>
        </p:spPr>
        <p:txBody>
          <a:bodyPr wrap="square" lIns="25400" tIns="25400" rIns="25400" bIns="25400" rtlCol="0" anchor="t">
            <a:noAutofit/>
          </a:bodyPr>
          <a:lstStyle/>
          <a:p>
            <a:pPr algn="l" indent="0" marL="0">
              <a:buNone/>
            </a:pPr>
            <a:r>
              <a:rPr lang="en-US" sz="1800" b="1" dirty="0">
                <a:solidFill>
                  <a:srgbClr val="000000"/>
                </a:solidFill>
                <a:latin typeface="+mn-lt"/>
                <a:ea typeface="+mn-ea"/>
                <a:cs typeface="+mn-cs"/>
              </a:rPr>
              <a:t>Agent’s branch not in GitHub Desktop</a:t>
            </a:r>
            <a:endParaRPr lang="en-US" sz="1800" dirty="0"/>
          </a:p>
        </p:txBody>
      </p:sp>
      <p:sp xmlns:p="http://schemas.openxmlformats.org/presentationml/2006/main" xmlns:a="http://schemas.openxmlformats.org/drawingml/2006/main" xmlns:r="http://schemas.openxmlformats.org/officeDocument/2006/relationships">
        <p:nvSpPr>
          <p:cNvPr id="16" name="Shape 33"/>
          <p:cNvSpPr/>
          <p:nvPr/>
        </p:nvSpPr>
        <p:spPr>
          <a:xfrm>
            <a:off x="1810512" y="4549140"/>
            <a:ext cx="457200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17" name="Text 34"/>
          <p:cNvSpPr txBox="1"/>
          <p:nvPr/>
        </p:nvSpPr>
        <p:spPr>
          <a:xfrm>
            <a:off x="6556248" y="4078224"/>
            <a:ext cx="6876288" cy="370332"/>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Create the pull request first, then Fetch origin.</a:t>
            </a:r>
            <a:endParaRPr lang="en-US" sz="1800" dirty="0"/>
          </a:p>
        </p:txBody>
      </p:sp>
      <p:sp xmlns:p="http://schemas.openxmlformats.org/presentationml/2006/main" xmlns:a="http://schemas.openxmlformats.org/drawingml/2006/main" xmlns:r="http://schemas.openxmlformats.org/officeDocument/2006/relationships">
        <p:nvSpPr>
          <p:cNvPr id="18" name="Shape 35"/>
          <p:cNvSpPr/>
          <p:nvPr/>
        </p:nvSpPr>
        <p:spPr>
          <a:xfrm>
            <a:off x="6382512" y="4549140"/>
            <a:ext cx="7104888"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19" name="Text 36"/>
          <p:cNvSpPr txBox="1"/>
          <p:nvPr/>
        </p:nvSpPr>
        <p:spPr>
          <a:xfrm>
            <a:off x="1984248" y="4686300"/>
            <a:ext cx="4343400" cy="370332"/>
          </a:xfrm>
          <a:prstGeom prst="rect">
            <a:avLst/>
          </a:prstGeom>
          <a:noFill/>
          <a:ln/>
        </p:spPr>
        <p:txBody>
          <a:bodyPr wrap="square" lIns="25400" tIns="25400" rIns="25400" bIns="25400" rtlCol="0" anchor="t">
            <a:noAutofit/>
          </a:bodyPr>
          <a:lstStyle/>
          <a:p>
            <a:pPr algn="l" indent="0" marL="0">
              <a:buNone/>
            </a:pPr>
            <a:r>
              <a:rPr lang="en-US" sz="1800" b="1" dirty="0">
                <a:solidFill>
                  <a:srgbClr val="000000"/>
                </a:solidFill>
                <a:latin typeface="+mn-lt"/>
                <a:ea typeface="+mn-ea"/>
                <a:cs typeface="+mn-cs"/>
              </a:rPr>
              <a:t>Agent says tests pass</a:t>
            </a:r>
            <a:endParaRPr lang="en-US" sz="1800" dirty="0"/>
          </a:p>
        </p:txBody>
      </p:sp>
      <p:sp xmlns:p="http://schemas.openxmlformats.org/presentationml/2006/main" xmlns:a="http://schemas.openxmlformats.org/drawingml/2006/main" xmlns:r="http://schemas.openxmlformats.org/officeDocument/2006/relationships">
        <p:nvSpPr>
          <p:cNvPr id="20" name="Shape 37"/>
          <p:cNvSpPr/>
          <p:nvPr/>
        </p:nvSpPr>
        <p:spPr>
          <a:xfrm>
            <a:off x="1810512" y="5157216"/>
            <a:ext cx="457200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21" name="Text 38"/>
          <p:cNvSpPr txBox="1"/>
          <p:nvPr/>
        </p:nvSpPr>
        <p:spPr>
          <a:xfrm>
            <a:off x="6556248" y="4686300"/>
            <a:ext cx="6876288" cy="370332"/>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It can’t run MATLAB. Run runtests('tests') yourself.</a:t>
            </a:r>
            <a:endParaRPr lang="en-US" sz="1800" dirty="0"/>
          </a:p>
        </p:txBody>
      </p:sp>
      <p:sp xmlns:p="http://schemas.openxmlformats.org/presentationml/2006/main" xmlns:a="http://schemas.openxmlformats.org/drawingml/2006/main" xmlns:r="http://schemas.openxmlformats.org/officeDocument/2006/relationships">
        <p:nvSpPr>
          <p:cNvPr id="22" name="Shape 39"/>
          <p:cNvSpPr/>
          <p:nvPr/>
        </p:nvSpPr>
        <p:spPr>
          <a:xfrm>
            <a:off x="6382512" y="5157216"/>
            <a:ext cx="7104888"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23" name="Text 40"/>
          <p:cNvSpPr txBox="1"/>
          <p:nvPr/>
        </p:nvSpPr>
        <p:spPr>
          <a:xfrm>
            <a:off x="1984248" y="5294376"/>
            <a:ext cx="4343400" cy="370332"/>
          </a:xfrm>
          <a:prstGeom prst="rect">
            <a:avLst/>
          </a:prstGeom>
          <a:noFill/>
          <a:ln/>
        </p:spPr>
        <p:txBody>
          <a:bodyPr wrap="square" lIns="25400" tIns="25400" rIns="25400" bIns="25400" rtlCol="0" anchor="t">
            <a:noAutofit/>
          </a:bodyPr>
          <a:lstStyle/>
          <a:p>
            <a:pPr algn="l" indent="0" marL="0">
              <a:buNone/>
            </a:pPr>
            <a:r>
              <a:rPr lang="en-US" sz="1800" b="1" dirty="0">
                <a:solidFill>
                  <a:srgbClr val="000000"/>
                </a:solidFill>
                <a:latin typeface="+mn-lt"/>
                <a:ea typeface="+mn-ea"/>
                <a:cs typeface="+mn-cs"/>
              </a:rPr>
              <a:t>PR changes lines you didn’t ask for</a:t>
            </a:r>
            <a:endParaRPr lang="en-US" sz="1800" dirty="0"/>
          </a:p>
        </p:txBody>
      </p:sp>
      <p:sp xmlns:p="http://schemas.openxmlformats.org/presentationml/2006/main" xmlns:a="http://schemas.openxmlformats.org/drawingml/2006/main" xmlns:r="http://schemas.openxmlformats.org/officeDocument/2006/relationships">
        <p:nvSpPr>
          <p:cNvPr id="24" name="Shape 41"/>
          <p:cNvSpPr/>
          <p:nvPr/>
        </p:nvSpPr>
        <p:spPr>
          <a:xfrm>
            <a:off x="1810512" y="6044184"/>
            <a:ext cx="457200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25" name="Text 42"/>
          <p:cNvSpPr txBox="1"/>
          <p:nvPr/>
        </p:nvSpPr>
        <p:spPr>
          <a:xfrm>
            <a:off x="6556248" y="5294376"/>
            <a:ext cx="6876288" cy="649224"/>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Comment on those lines in the PR, or ask the agent to revert them.</a:t>
            </a:r>
            <a:endParaRPr lang="en-US" sz="1800" dirty="0"/>
          </a:p>
        </p:txBody>
      </p:sp>
      <p:sp xmlns:p="http://schemas.openxmlformats.org/presentationml/2006/main" xmlns:a="http://schemas.openxmlformats.org/drawingml/2006/main" xmlns:r="http://schemas.openxmlformats.org/officeDocument/2006/relationships">
        <p:nvSpPr>
          <p:cNvPr id="26" name="Shape 43"/>
          <p:cNvSpPr/>
          <p:nvPr/>
        </p:nvSpPr>
        <p:spPr>
          <a:xfrm>
            <a:off x="6382512" y="6044184"/>
            <a:ext cx="7104888"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27" name="Text 44"/>
          <p:cNvSpPr txBox="1"/>
          <p:nvPr/>
        </p:nvSpPr>
        <p:spPr>
          <a:xfrm>
            <a:off x="1984248" y="6181344"/>
            <a:ext cx="4343400" cy="370332"/>
          </a:xfrm>
          <a:prstGeom prst="rect">
            <a:avLst/>
          </a:prstGeom>
          <a:noFill/>
          <a:ln/>
        </p:spPr>
        <p:txBody>
          <a:bodyPr wrap="square" lIns="25400" tIns="25400" rIns="25400" bIns="25400" rtlCol="0" anchor="t">
            <a:noAutofit/>
          </a:bodyPr>
          <a:lstStyle/>
          <a:p>
            <a:pPr algn="l" indent="0" marL="0">
              <a:buNone/>
            </a:pPr>
            <a:r>
              <a:rPr lang="en-US" sz="1800" b="1" dirty="0">
                <a:solidFill>
                  <a:srgbClr val="000000"/>
                </a:solidFill>
                <a:latin typeface="+mn-lt"/>
                <a:ea typeface="+mn-ea"/>
                <a:cs typeface="+mn-cs"/>
              </a:rPr>
              <a:t>Answers drift in a long task</a:t>
            </a:r>
            <a:endParaRPr lang="en-US" sz="1800" dirty="0"/>
          </a:p>
        </p:txBody>
      </p:sp>
      <p:sp xmlns:p="http://schemas.openxmlformats.org/presentationml/2006/main" xmlns:a="http://schemas.openxmlformats.org/drawingml/2006/main" xmlns:r="http://schemas.openxmlformats.org/officeDocument/2006/relationships">
        <p:nvSpPr>
          <p:cNvPr id="28" name="Shape 45"/>
          <p:cNvSpPr/>
          <p:nvPr/>
        </p:nvSpPr>
        <p:spPr>
          <a:xfrm>
            <a:off x="1810512" y="6652260"/>
            <a:ext cx="457200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29" name="Text 46"/>
          <p:cNvSpPr txBox="1"/>
          <p:nvPr/>
        </p:nvSpPr>
        <p:spPr>
          <a:xfrm>
            <a:off x="6556248" y="6181344"/>
            <a:ext cx="6876288" cy="370332"/>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Merge what works, then start a new task per requirement.</a:t>
            </a:r>
            <a:endParaRPr lang="en-US" sz="1800" dirty="0"/>
          </a:p>
        </p:txBody>
      </p:sp>
      <p:sp xmlns:p="http://schemas.openxmlformats.org/presentationml/2006/main" xmlns:a="http://schemas.openxmlformats.org/drawingml/2006/main" xmlns:r="http://schemas.openxmlformats.org/officeDocument/2006/relationships">
        <p:nvSpPr>
          <p:cNvPr id="30" name="Shape 47"/>
          <p:cNvSpPr/>
          <p:nvPr/>
        </p:nvSpPr>
        <p:spPr>
          <a:xfrm>
            <a:off x="6382512" y="6652260"/>
            <a:ext cx="7104888"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31" name="Nav highlight"/>
          <p:cNvSpPr txBox="1"/>
          <p:nvPr userDrawn="1"/>
        </p:nvSpPr>
        <p:spPr>
          <a:xfrm>
            <a:off x="133350" y="6191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Review</a:t>
            </a:r>
            <a:endParaRPr lang="en-US" sz="1800" b="1" dirty="0"/>
          </a:p>
        </p:txBody>
      </p:sp>
      <p:sp xmlns:p="http://schemas.openxmlformats.org/presentationml/2006/main" xmlns:a="http://schemas.openxmlformats.org/drawingml/2006/main" xmlns:r="http://schemas.openxmlformats.org/officeDocument/2006/relationships">
        <p:nvSpPr>
          <p:cNvPr id="32"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2</a:t>
            </a:r>
            <a:endParaRPr lang="en-US" sz="1800" dirty="0"/>
          </a:p>
        </p:txBody>
      </p:sp>
      <p:sp xmlns:p="http://schemas.openxmlformats.org/presentationml/2006/main" xmlns:a="http://schemas.openxmlformats.org/drawingml/2006/main" xmlns:r="http://schemas.openxmlformats.org/officeDocument/2006/relationships">
        <p:nvSpPr>
          <p:cNvPr id="33" name="Slide Numb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xmlns:p="http://schemas.openxmlformats.org/presentationml/2006/main" xmlns:a="http://schemas.openxmlformats.org/drawingml/2006/main" xmlns:r="http://schemas.openxmlformats.org/officeDocument/2006/relationships">
        <p:nvSpPr>
          <p:cNvPr id="2" name="Title"/>
          <p:cNvSpPr>
            <a:spLocks noGrp="1"/>
          </p:cNvSpPr>
          <p:nvPr>
            <p:ph type="title"/>
          </p:nvPr>
        </p:nvSpPr>
        <p:spPr/>
        <p:txBody>
          <a:bodyPr/>
          <a:lstStyle/>
          <a:p>
            <a:r>
              <a:rPr lang="en-US" dirty="0"/>
              <a:t>Quick Reference</a:t>
            </a:r>
            <a:endParaRPr lang="en-US" dirty="0"/>
          </a:p>
        </p:txBody>
      </p:sp>
      <p:sp xmlns:p="http://schemas.openxmlformats.org/presentationml/2006/main" xmlns:a="http://schemas.openxmlformats.org/drawingml/2006/main" xmlns:r="http://schemas.openxmlformats.org/officeDocument/2006/relationships">
        <p:nvSpPr>
          <p:cNvPr id="3" name="Shape 20"/>
          <p:cNvSpPr/>
          <p:nvPr/>
        </p:nvSpPr>
        <p:spPr>
          <a:xfrm>
            <a:off x="1810512" y="1572768"/>
            <a:ext cx="3383280" cy="612648"/>
          </a:xfrm>
          <a:prstGeom prst="rect">
            <a:avLst/>
          </a:prstGeom>
          <a:solidFill>
            <a:srgbClr val="152A47"/>
          </a:solidFill>
          <a:ln/>
        </p:spPr>
        <p:txBody>
          <a:bodyPr/>
          <a:p/>
        </p:txBody>
      </p:sp>
      <p:sp xmlns:p="http://schemas.openxmlformats.org/presentationml/2006/main" xmlns:a="http://schemas.openxmlformats.org/drawingml/2006/main" xmlns:r="http://schemas.openxmlformats.org/officeDocument/2006/relationships">
        <p:nvSpPr>
          <p:cNvPr id="4" name="Text 21"/>
          <p:cNvSpPr txBox="1"/>
          <p:nvPr/>
        </p:nvSpPr>
        <p:spPr>
          <a:xfrm>
            <a:off x="1984248" y="1705356"/>
            <a:ext cx="3154680" cy="347472"/>
          </a:xfrm>
          <a:prstGeom prst="rect">
            <a:avLst/>
          </a:prstGeom>
          <a:noFill/>
          <a:ln/>
        </p:spPr>
        <p:txBody>
          <a:bodyPr wrap="square" lIns="25400" tIns="25400" rIns="25400" bIns="25400" rtlCol="0" anchor="t">
            <a:noAutofit/>
          </a:bodyPr>
          <a:lstStyle/>
          <a:p>
            <a:pPr algn="l" indent="0" marL="0">
              <a:buNone/>
            </a:pPr>
            <a:r>
              <a:rPr lang="en-US" sz="1800" b="1" dirty="0">
                <a:solidFill>
                  <a:srgbClr val="FFFFFF"/>
                </a:solidFill>
                <a:latin typeface="+mn-lt"/>
                <a:ea typeface="+mn-ea"/>
                <a:cs typeface="+mn-cs"/>
              </a:rPr>
              <a:t>To…</a:t>
            </a:r>
            <a:endParaRPr lang="en-US" sz="1800" dirty="0"/>
          </a:p>
        </p:txBody>
      </p:sp>
      <p:sp xmlns:p="http://schemas.openxmlformats.org/presentationml/2006/main" xmlns:a="http://schemas.openxmlformats.org/drawingml/2006/main" xmlns:r="http://schemas.openxmlformats.org/officeDocument/2006/relationships">
        <p:nvSpPr>
          <p:cNvPr id="5" name="Shape 22"/>
          <p:cNvSpPr/>
          <p:nvPr/>
        </p:nvSpPr>
        <p:spPr>
          <a:xfrm>
            <a:off x="5193792" y="1572768"/>
            <a:ext cx="8293608" cy="612648"/>
          </a:xfrm>
          <a:prstGeom prst="rect">
            <a:avLst/>
          </a:prstGeom>
          <a:solidFill>
            <a:srgbClr val="152A47"/>
          </a:solidFill>
          <a:ln/>
        </p:spPr>
        <p:txBody>
          <a:bodyPr/>
          <a:p/>
        </p:txBody>
      </p:sp>
      <p:sp xmlns:p="http://schemas.openxmlformats.org/presentationml/2006/main" xmlns:a="http://schemas.openxmlformats.org/drawingml/2006/main" xmlns:r="http://schemas.openxmlformats.org/officeDocument/2006/relationships">
        <p:nvSpPr>
          <p:cNvPr id="6" name="Text 23"/>
          <p:cNvSpPr txBox="1"/>
          <p:nvPr/>
        </p:nvSpPr>
        <p:spPr>
          <a:xfrm>
            <a:off x="5367528" y="1705356"/>
            <a:ext cx="8065008" cy="347472"/>
          </a:xfrm>
          <a:prstGeom prst="rect">
            <a:avLst/>
          </a:prstGeom>
          <a:noFill/>
          <a:ln/>
        </p:spPr>
        <p:txBody>
          <a:bodyPr wrap="square" lIns="25400" tIns="25400" rIns="25400" bIns="25400" rtlCol="0" anchor="t">
            <a:noAutofit/>
          </a:bodyPr>
          <a:lstStyle/>
          <a:p>
            <a:pPr algn="l" indent="0" marL="0">
              <a:buNone/>
            </a:pPr>
            <a:r>
              <a:rPr lang="en-US" sz="1800" b="1" dirty="0">
                <a:solidFill>
                  <a:srgbClr val="FFFFFF"/>
                </a:solidFill>
                <a:latin typeface="+mn-lt"/>
                <a:ea typeface="+mn-ea"/>
                <a:cs typeface="+mn-cs"/>
              </a:rPr>
              <a:t>Prompt or action</a:t>
            </a:r>
            <a:endParaRPr lang="en-US" sz="1800" dirty="0"/>
          </a:p>
        </p:txBody>
      </p:sp>
      <p:sp xmlns:p="http://schemas.openxmlformats.org/presentationml/2006/main" xmlns:a="http://schemas.openxmlformats.org/drawingml/2006/main" xmlns:r="http://schemas.openxmlformats.org/officeDocument/2006/relationships">
        <p:nvSpPr>
          <p:cNvPr id="7" name="Text 24"/>
          <p:cNvSpPr txBox="1"/>
          <p:nvPr/>
        </p:nvSpPr>
        <p:spPr>
          <a:xfrm>
            <a:off x="1984248" y="2295144"/>
            <a:ext cx="3154680" cy="370332"/>
          </a:xfrm>
          <a:prstGeom prst="rect">
            <a:avLst/>
          </a:prstGeom>
          <a:noFill/>
          <a:ln/>
        </p:spPr>
        <p:txBody>
          <a:bodyPr wrap="square" lIns="25400" tIns="25400" rIns="25400" bIns="25400" rtlCol="0" anchor="t">
            <a:noAutofit/>
          </a:bodyPr>
          <a:lstStyle/>
          <a:p>
            <a:pPr algn="l" indent="0" marL="0">
              <a:buNone/>
            </a:pPr>
            <a:r>
              <a:rPr lang="en-US" sz="1800" b="1" dirty="0">
                <a:solidFill>
                  <a:srgbClr val="000000"/>
                </a:solidFill>
                <a:latin typeface="+mn-lt"/>
                <a:ea typeface="+mn-ea"/>
                <a:cs typeface="+mn-cs"/>
              </a:rPr>
              <a:t>Orient the agent</a:t>
            </a:r>
            <a:endParaRPr lang="en-US" sz="1800" dirty="0"/>
          </a:p>
        </p:txBody>
      </p:sp>
      <p:sp xmlns:p="http://schemas.openxmlformats.org/presentationml/2006/main" xmlns:a="http://schemas.openxmlformats.org/drawingml/2006/main" xmlns:r="http://schemas.openxmlformats.org/officeDocument/2006/relationships">
        <p:nvSpPr>
          <p:cNvPr id="8" name="Shape 25"/>
          <p:cNvSpPr/>
          <p:nvPr/>
        </p:nvSpPr>
        <p:spPr>
          <a:xfrm>
            <a:off x="1810512" y="2756916"/>
            <a:ext cx="338328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9" name="Text 26"/>
          <p:cNvSpPr txBox="1"/>
          <p:nvPr/>
        </p:nvSpPr>
        <p:spPr>
          <a:xfrm>
            <a:off x="5367528" y="2295144"/>
            <a:ext cx="8065008" cy="370332"/>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“Read AGENTS.md and … Summarize … Don’t change any files.”</a:t>
            </a:r>
            <a:endParaRPr lang="en-US" sz="1800" dirty="0"/>
          </a:p>
        </p:txBody>
      </p:sp>
      <p:sp xmlns:p="http://schemas.openxmlformats.org/presentationml/2006/main" xmlns:a="http://schemas.openxmlformats.org/drawingml/2006/main" xmlns:r="http://schemas.openxmlformats.org/officeDocument/2006/relationships">
        <p:nvSpPr>
          <p:cNvPr id="10" name="Shape 27"/>
          <p:cNvSpPr/>
          <p:nvPr/>
        </p:nvSpPr>
        <p:spPr>
          <a:xfrm>
            <a:off x="5193792" y="2756916"/>
            <a:ext cx="8293608"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11" name="Text 28"/>
          <p:cNvSpPr txBox="1"/>
          <p:nvPr/>
        </p:nvSpPr>
        <p:spPr>
          <a:xfrm>
            <a:off x="1984248" y="2884932"/>
            <a:ext cx="3154680" cy="370332"/>
          </a:xfrm>
          <a:prstGeom prst="rect">
            <a:avLst/>
          </a:prstGeom>
          <a:noFill/>
          <a:ln/>
        </p:spPr>
        <p:txBody>
          <a:bodyPr wrap="square" lIns="25400" tIns="25400" rIns="25400" bIns="25400" rtlCol="0" anchor="t">
            <a:noAutofit/>
          </a:bodyPr>
          <a:lstStyle/>
          <a:p>
            <a:pPr algn="l" indent="0" marL="0">
              <a:buNone/>
            </a:pPr>
            <a:r>
              <a:rPr lang="en-US" sz="1800" b="1" dirty="0">
                <a:solidFill>
                  <a:srgbClr val="000000"/>
                </a:solidFill>
                <a:latin typeface="+mn-lt"/>
                <a:ea typeface="+mn-ea"/>
                <a:cs typeface="+mn-cs"/>
              </a:rPr>
              <a:t>Get a plan</a:t>
            </a:r>
            <a:endParaRPr lang="en-US" sz="1800" dirty="0"/>
          </a:p>
        </p:txBody>
      </p:sp>
      <p:sp xmlns:p="http://schemas.openxmlformats.org/presentationml/2006/main" xmlns:a="http://schemas.openxmlformats.org/drawingml/2006/main" xmlns:r="http://schemas.openxmlformats.org/officeDocument/2006/relationships">
        <p:nvSpPr>
          <p:cNvPr id="12" name="Shape 29"/>
          <p:cNvSpPr/>
          <p:nvPr/>
        </p:nvSpPr>
        <p:spPr>
          <a:xfrm>
            <a:off x="1810512" y="3625596"/>
            <a:ext cx="338328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13" name="Text 30"/>
          <p:cNvSpPr txBox="1"/>
          <p:nvPr/>
        </p:nvSpPr>
        <p:spPr>
          <a:xfrm>
            <a:off x="5367528" y="2884932"/>
            <a:ext cx="8065008" cy="649224"/>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“Don’t write code yet. Give me a plan: files, functions, and questions.”</a:t>
            </a:r>
            <a:endParaRPr lang="en-US" sz="1800" dirty="0"/>
          </a:p>
        </p:txBody>
      </p:sp>
      <p:sp xmlns:p="http://schemas.openxmlformats.org/presentationml/2006/main" xmlns:a="http://schemas.openxmlformats.org/drawingml/2006/main" xmlns:r="http://schemas.openxmlformats.org/officeDocument/2006/relationships">
        <p:nvSpPr>
          <p:cNvPr id="14" name="Shape 31"/>
          <p:cNvSpPr/>
          <p:nvPr/>
        </p:nvSpPr>
        <p:spPr>
          <a:xfrm>
            <a:off x="5193792" y="3625596"/>
            <a:ext cx="8293608"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15" name="Text 32"/>
          <p:cNvSpPr txBox="1"/>
          <p:nvPr/>
        </p:nvSpPr>
        <p:spPr>
          <a:xfrm>
            <a:off x="1984248" y="3753612"/>
            <a:ext cx="3154680" cy="370332"/>
          </a:xfrm>
          <a:prstGeom prst="rect">
            <a:avLst/>
          </a:prstGeom>
          <a:noFill/>
          <a:ln/>
        </p:spPr>
        <p:txBody>
          <a:bodyPr wrap="square" lIns="25400" tIns="25400" rIns="25400" bIns="25400" rtlCol="0" anchor="t">
            <a:noAutofit/>
          </a:bodyPr>
          <a:lstStyle/>
          <a:p>
            <a:pPr algn="l" indent="0" marL="0">
              <a:buNone/>
            </a:pPr>
            <a:r>
              <a:rPr lang="en-US" sz="1800" b="1" dirty="0">
                <a:solidFill>
                  <a:srgbClr val="000000"/>
                </a:solidFill>
                <a:latin typeface="+mn-lt"/>
                <a:ea typeface="+mn-ea"/>
                <a:cs typeface="+mn-cs"/>
              </a:rPr>
              <a:t>Approve the plan</a:t>
            </a:r>
            <a:endParaRPr lang="en-US" sz="1800" dirty="0"/>
          </a:p>
        </p:txBody>
      </p:sp>
      <p:sp xmlns:p="http://schemas.openxmlformats.org/presentationml/2006/main" xmlns:a="http://schemas.openxmlformats.org/drawingml/2006/main" xmlns:r="http://schemas.openxmlformats.org/officeDocument/2006/relationships">
        <p:nvSpPr>
          <p:cNvPr id="16" name="Shape 33"/>
          <p:cNvSpPr/>
          <p:nvPr/>
        </p:nvSpPr>
        <p:spPr>
          <a:xfrm>
            <a:off x="1810512" y="4215384"/>
            <a:ext cx="338328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17" name="Text 34"/>
          <p:cNvSpPr txBox="1"/>
          <p:nvPr/>
        </p:nvSpPr>
        <p:spPr>
          <a:xfrm>
            <a:off x="5367528" y="3753612"/>
            <a:ext cx="8065008" cy="370332"/>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“Plan approved. Implement it and commit.”</a:t>
            </a:r>
            <a:endParaRPr lang="en-US" sz="1800" dirty="0"/>
          </a:p>
        </p:txBody>
      </p:sp>
      <p:sp xmlns:p="http://schemas.openxmlformats.org/presentationml/2006/main" xmlns:a="http://schemas.openxmlformats.org/drawingml/2006/main" xmlns:r="http://schemas.openxmlformats.org/officeDocument/2006/relationships">
        <p:nvSpPr>
          <p:cNvPr id="18" name="Shape 35"/>
          <p:cNvSpPr/>
          <p:nvPr/>
        </p:nvSpPr>
        <p:spPr>
          <a:xfrm>
            <a:off x="5193792" y="4215384"/>
            <a:ext cx="8293608"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19" name="Text 36"/>
          <p:cNvSpPr txBox="1"/>
          <p:nvPr/>
        </p:nvSpPr>
        <p:spPr>
          <a:xfrm>
            <a:off x="1984248" y="4343400"/>
            <a:ext cx="3154680" cy="370332"/>
          </a:xfrm>
          <a:prstGeom prst="rect">
            <a:avLst/>
          </a:prstGeom>
          <a:noFill/>
          <a:ln/>
        </p:spPr>
        <p:txBody>
          <a:bodyPr wrap="square" lIns="25400" tIns="25400" rIns="25400" bIns="25400" rtlCol="0" anchor="t">
            <a:noAutofit/>
          </a:bodyPr>
          <a:lstStyle/>
          <a:p>
            <a:pPr algn="l" indent="0" marL="0">
              <a:buNone/>
            </a:pPr>
            <a:r>
              <a:rPr lang="en-US" sz="1800" b="1" dirty="0">
                <a:solidFill>
                  <a:srgbClr val="000000"/>
                </a:solidFill>
                <a:latin typeface="+mn-lt"/>
                <a:ea typeface="+mn-ea"/>
                <a:cs typeface="+mn-cs"/>
              </a:rPr>
              <a:t>Report a failure (PR comment)</a:t>
            </a:r>
            <a:endParaRPr lang="en-US" sz="1800" dirty="0"/>
          </a:p>
        </p:txBody>
      </p:sp>
      <p:sp xmlns:p="http://schemas.openxmlformats.org/presentationml/2006/main" xmlns:a="http://schemas.openxmlformats.org/drawingml/2006/main" xmlns:r="http://schemas.openxmlformats.org/officeDocument/2006/relationships">
        <p:nvSpPr>
          <p:cNvPr id="20" name="Shape 37"/>
          <p:cNvSpPr/>
          <p:nvPr/>
        </p:nvSpPr>
        <p:spPr>
          <a:xfrm>
            <a:off x="1810512" y="5084064"/>
            <a:ext cx="338328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21" name="Text 38"/>
          <p:cNvSpPr txBox="1"/>
          <p:nvPr/>
        </p:nvSpPr>
        <p:spPr>
          <a:xfrm>
            <a:off x="5367528" y="4343400"/>
            <a:ext cx="8065008" cy="649224"/>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“@codex Observed …; expected …. Output below. Find the cause and explain it before changing code.”</a:t>
            </a:r>
            <a:endParaRPr lang="en-US" sz="1800" dirty="0"/>
          </a:p>
        </p:txBody>
      </p:sp>
      <p:sp xmlns:p="http://schemas.openxmlformats.org/presentationml/2006/main" xmlns:a="http://schemas.openxmlformats.org/drawingml/2006/main" xmlns:r="http://schemas.openxmlformats.org/officeDocument/2006/relationships">
        <p:nvSpPr>
          <p:cNvPr id="22" name="Shape 39"/>
          <p:cNvSpPr/>
          <p:nvPr/>
        </p:nvSpPr>
        <p:spPr>
          <a:xfrm>
            <a:off x="5193792" y="5084064"/>
            <a:ext cx="8293608"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23" name="Text 40"/>
          <p:cNvSpPr txBox="1"/>
          <p:nvPr/>
        </p:nvSpPr>
        <p:spPr>
          <a:xfrm>
            <a:off x="1984248" y="5212080"/>
            <a:ext cx="3154680" cy="370332"/>
          </a:xfrm>
          <a:prstGeom prst="rect">
            <a:avLst/>
          </a:prstGeom>
          <a:noFill/>
          <a:ln/>
        </p:spPr>
        <p:txBody>
          <a:bodyPr wrap="square" lIns="25400" tIns="25400" rIns="25400" bIns="25400" rtlCol="0" anchor="t">
            <a:noAutofit/>
          </a:bodyPr>
          <a:lstStyle/>
          <a:p>
            <a:pPr algn="l" indent="0" marL="0">
              <a:buNone/>
            </a:pPr>
            <a:r>
              <a:rPr lang="en-US" sz="1800" b="1" dirty="0">
                <a:solidFill>
                  <a:srgbClr val="000000"/>
                </a:solidFill>
                <a:latin typeface="+mn-lt"/>
                <a:ea typeface="+mn-ea"/>
                <a:cs typeface="+mn-cs"/>
              </a:rPr>
              <a:t>Draft AGENTS.md</a:t>
            </a:r>
            <a:endParaRPr lang="en-US" sz="1800" dirty="0"/>
          </a:p>
        </p:txBody>
      </p:sp>
      <p:sp xmlns:p="http://schemas.openxmlformats.org/presentationml/2006/main" xmlns:a="http://schemas.openxmlformats.org/drawingml/2006/main" xmlns:r="http://schemas.openxmlformats.org/officeDocument/2006/relationships">
        <p:nvSpPr>
          <p:cNvPr id="24" name="Shape 41"/>
          <p:cNvSpPr/>
          <p:nvPr/>
        </p:nvSpPr>
        <p:spPr>
          <a:xfrm>
            <a:off x="1810512" y="5673852"/>
            <a:ext cx="338328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25" name="Text 42"/>
          <p:cNvSpPr txBox="1"/>
          <p:nvPr/>
        </p:nvSpPr>
        <p:spPr>
          <a:xfrm>
            <a:off x="5367528" y="5212080"/>
            <a:ext cx="8065008" cy="370332"/>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Ask Codex to draft one, then correct it</a:t>
            </a:r>
            <a:endParaRPr lang="en-US" sz="1800" dirty="0"/>
          </a:p>
        </p:txBody>
      </p:sp>
      <p:sp xmlns:p="http://schemas.openxmlformats.org/presentationml/2006/main" xmlns:a="http://schemas.openxmlformats.org/drawingml/2006/main" xmlns:r="http://schemas.openxmlformats.org/officeDocument/2006/relationships">
        <p:nvSpPr>
          <p:cNvPr id="26" name="Shape 43"/>
          <p:cNvSpPr/>
          <p:nvPr/>
        </p:nvSpPr>
        <p:spPr>
          <a:xfrm>
            <a:off x="5193792" y="5673852"/>
            <a:ext cx="8293608"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27" name="Text 44"/>
          <p:cNvSpPr txBox="1"/>
          <p:nvPr/>
        </p:nvSpPr>
        <p:spPr>
          <a:xfrm>
            <a:off x="1984248" y="5801868"/>
            <a:ext cx="3154680" cy="370332"/>
          </a:xfrm>
          <a:prstGeom prst="rect">
            <a:avLst/>
          </a:prstGeom>
          <a:noFill/>
          <a:ln/>
        </p:spPr>
        <p:txBody>
          <a:bodyPr wrap="square" lIns="25400" tIns="25400" rIns="25400" bIns="25400" rtlCol="0" anchor="t">
            <a:noAutofit/>
          </a:bodyPr>
          <a:lstStyle/>
          <a:p>
            <a:pPr algn="l" indent="0" marL="0">
              <a:buNone/>
            </a:pPr>
            <a:r>
              <a:rPr lang="en-US" sz="1800" b="1" dirty="0">
                <a:solidFill>
                  <a:srgbClr val="000000"/>
                </a:solidFill>
                <a:latin typeface="+mn-lt"/>
                <a:ea typeface="+mn-ea"/>
                <a:cs typeface="+mn-cs"/>
              </a:rPr>
              <a:t>Open a PR</a:t>
            </a:r>
            <a:endParaRPr lang="en-US" sz="1800" dirty="0"/>
          </a:p>
        </p:txBody>
      </p:sp>
      <p:sp xmlns:p="http://schemas.openxmlformats.org/presentationml/2006/main" xmlns:a="http://schemas.openxmlformats.org/drawingml/2006/main" xmlns:r="http://schemas.openxmlformats.org/officeDocument/2006/relationships">
        <p:nvSpPr>
          <p:cNvPr id="28" name="Shape 45"/>
          <p:cNvSpPr/>
          <p:nvPr/>
        </p:nvSpPr>
        <p:spPr>
          <a:xfrm>
            <a:off x="1810512" y="6263640"/>
            <a:ext cx="338328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29" name="Text 46"/>
          <p:cNvSpPr txBox="1"/>
          <p:nvPr/>
        </p:nvSpPr>
        <p:spPr>
          <a:xfrm>
            <a:off x="5367528" y="5801868"/>
            <a:ext cx="8065008" cy="370332"/>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Create the pull request from the task</a:t>
            </a:r>
            <a:endParaRPr lang="en-US" sz="1800" dirty="0"/>
          </a:p>
        </p:txBody>
      </p:sp>
      <p:sp xmlns:p="http://schemas.openxmlformats.org/presentationml/2006/main" xmlns:a="http://schemas.openxmlformats.org/drawingml/2006/main" xmlns:r="http://schemas.openxmlformats.org/officeDocument/2006/relationships">
        <p:nvSpPr>
          <p:cNvPr id="30" name="Shape 47"/>
          <p:cNvSpPr/>
          <p:nvPr/>
        </p:nvSpPr>
        <p:spPr>
          <a:xfrm>
            <a:off x="5193792" y="6263640"/>
            <a:ext cx="8293608"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31" name="Text 48"/>
          <p:cNvSpPr txBox="1"/>
          <p:nvPr/>
        </p:nvSpPr>
        <p:spPr>
          <a:xfrm>
            <a:off x="1984248" y="6391656"/>
            <a:ext cx="3154680" cy="370332"/>
          </a:xfrm>
          <a:prstGeom prst="rect">
            <a:avLst/>
          </a:prstGeom>
          <a:noFill/>
          <a:ln/>
        </p:spPr>
        <p:txBody>
          <a:bodyPr wrap="square" lIns="25400" tIns="25400" rIns="25400" bIns="25400" rtlCol="0" anchor="t">
            <a:noAutofit/>
          </a:bodyPr>
          <a:lstStyle/>
          <a:p>
            <a:pPr algn="l" indent="0" marL="0">
              <a:buNone/>
            </a:pPr>
            <a:r>
              <a:rPr lang="en-US" sz="1800" b="1" dirty="0">
                <a:solidFill>
                  <a:srgbClr val="000000"/>
                </a:solidFill>
                <a:latin typeface="+mn-lt"/>
                <a:ea typeface="+mn-ea"/>
                <a:cs typeface="+mn-cs"/>
              </a:rPr>
              <a:t>Test the agent’s branch</a:t>
            </a:r>
            <a:endParaRPr lang="en-US" sz="1800" dirty="0"/>
          </a:p>
        </p:txBody>
      </p:sp>
      <p:sp xmlns:p="http://schemas.openxmlformats.org/presentationml/2006/main" xmlns:a="http://schemas.openxmlformats.org/drawingml/2006/main" xmlns:r="http://schemas.openxmlformats.org/officeDocument/2006/relationships">
        <p:nvSpPr>
          <p:cNvPr id="32" name="Shape 49"/>
          <p:cNvSpPr/>
          <p:nvPr/>
        </p:nvSpPr>
        <p:spPr>
          <a:xfrm>
            <a:off x="1810512" y="6853428"/>
            <a:ext cx="338328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33" name="Text 50"/>
          <p:cNvSpPr txBox="1"/>
          <p:nvPr/>
        </p:nvSpPr>
        <p:spPr>
          <a:xfrm>
            <a:off x="5367528" y="6391656"/>
            <a:ext cx="8065008" cy="370332"/>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Fetch origin › Current branch › codex/…</a:t>
            </a:r>
            <a:endParaRPr lang="en-US" sz="1800" dirty="0"/>
          </a:p>
        </p:txBody>
      </p:sp>
      <p:sp xmlns:p="http://schemas.openxmlformats.org/presentationml/2006/main" xmlns:a="http://schemas.openxmlformats.org/drawingml/2006/main" xmlns:r="http://schemas.openxmlformats.org/officeDocument/2006/relationships">
        <p:nvSpPr>
          <p:cNvPr id="34" name="Shape 51"/>
          <p:cNvSpPr/>
          <p:nvPr/>
        </p:nvSpPr>
        <p:spPr>
          <a:xfrm>
            <a:off x="5193792" y="6853428"/>
            <a:ext cx="8293608"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35" name="Text 52"/>
          <p:cNvSpPr txBox="1"/>
          <p:nvPr/>
        </p:nvSpPr>
        <p:spPr>
          <a:xfrm>
            <a:off x="1984248" y="6981444"/>
            <a:ext cx="3154680" cy="370332"/>
          </a:xfrm>
          <a:prstGeom prst="rect">
            <a:avLst/>
          </a:prstGeom>
          <a:noFill/>
          <a:ln/>
        </p:spPr>
        <p:txBody>
          <a:bodyPr wrap="square" lIns="25400" tIns="25400" rIns="25400" bIns="25400" rtlCol="0" anchor="t">
            <a:noAutofit/>
          </a:bodyPr>
          <a:lstStyle/>
          <a:p>
            <a:pPr algn="l" indent="0" marL="0">
              <a:buNone/>
            </a:pPr>
            <a:r>
              <a:rPr lang="en-US" sz="1800" b="1" dirty="0">
                <a:solidFill>
                  <a:srgbClr val="000000"/>
                </a:solidFill>
                <a:latin typeface="+mn-lt"/>
                <a:ea typeface="+mn-ea"/>
                <a:cs typeface="+mn-cs"/>
              </a:rPr>
              <a:t>Finish</a:t>
            </a:r>
            <a:endParaRPr lang="en-US" sz="1800" dirty="0"/>
          </a:p>
        </p:txBody>
      </p:sp>
      <p:sp xmlns:p="http://schemas.openxmlformats.org/presentationml/2006/main" xmlns:a="http://schemas.openxmlformats.org/drawingml/2006/main" xmlns:r="http://schemas.openxmlformats.org/officeDocument/2006/relationships">
        <p:nvSpPr>
          <p:cNvPr id="36" name="Shape 53"/>
          <p:cNvSpPr/>
          <p:nvPr/>
        </p:nvSpPr>
        <p:spPr>
          <a:xfrm>
            <a:off x="1810512" y="7443216"/>
            <a:ext cx="3383280"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37" name="Text 54"/>
          <p:cNvSpPr txBox="1"/>
          <p:nvPr/>
        </p:nvSpPr>
        <p:spPr>
          <a:xfrm>
            <a:off x="5367528" y="6981444"/>
            <a:ext cx="8065008" cy="370332"/>
          </a:xfrm>
          <a:prstGeom prst="rect">
            <a:avLst/>
          </a:prstGeom>
          <a:noFill/>
          <a:ln/>
        </p:spPr>
        <p:txBody>
          <a:bodyPr wrap="square" lIns="25400" tIns="25400" rIns="25400" bIns="25400" rtlCol="0" anchor="t">
            <a:noAutofit/>
          </a:bodyPr>
          <a:lstStyle/>
          <a:p>
            <a:pPr algn="l" indent="0" marL="0">
              <a:buNone/>
            </a:pPr>
            <a:r>
              <a:rPr lang="en-US" sz="1800" dirty="0">
                <a:solidFill>
                  <a:srgbClr val="000000"/>
                </a:solidFill>
                <a:latin typeface="+mn-lt"/>
                <a:ea typeface="+mn-ea"/>
                <a:cs typeface="+mn-cs"/>
              </a:rPr>
              <a:t>Merge the PR, switch to main, Pull origin</a:t>
            </a:r>
            <a:endParaRPr lang="en-US" sz="1800" dirty="0"/>
          </a:p>
        </p:txBody>
      </p:sp>
      <p:sp xmlns:p="http://schemas.openxmlformats.org/presentationml/2006/main" xmlns:a="http://schemas.openxmlformats.org/drawingml/2006/main" xmlns:r="http://schemas.openxmlformats.org/officeDocument/2006/relationships">
        <p:nvSpPr>
          <p:cNvPr id="38" name="Shape 55"/>
          <p:cNvSpPr/>
          <p:nvPr/>
        </p:nvSpPr>
        <p:spPr>
          <a:xfrm>
            <a:off x="5193792" y="7443216"/>
            <a:ext cx="8293608" cy="18288"/>
          </a:xfrm>
          <a:prstGeom prst="rect">
            <a:avLst/>
          </a:prstGeom>
          <a:solidFill>
            <a:srgbClr val="BFBFBF"/>
          </a:solidFill>
          <a:ln/>
        </p:spPr>
        <p:txBody>
          <a:bodyPr/>
          <a:p/>
        </p:txBody>
      </p:sp>
      <p:sp xmlns:p="http://schemas.openxmlformats.org/presentationml/2006/main" xmlns:a="http://schemas.openxmlformats.org/drawingml/2006/main" xmlns:r="http://schemas.openxmlformats.org/officeDocument/2006/relationships">
        <p:nvSpPr>
          <p:cNvPr id="39" name="Nav highlight"/>
          <p:cNvSpPr txBox="1"/>
          <p:nvPr userDrawn="1"/>
        </p:nvSpPr>
        <p:spPr>
          <a:xfrm>
            <a:off x="133350" y="6191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Review</a:t>
            </a:r>
            <a:endParaRPr lang="en-US" sz="1800" b="1" dirty="0"/>
          </a:p>
        </p:txBody>
      </p:sp>
      <p:sp xmlns:p="http://schemas.openxmlformats.org/presentationml/2006/main" xmlns:a="http://schemas.openxmlformats.org/drawingml/2006/main" xmlns:r="http://schemas.openxmlformats.org/officeDocument/2006/relationships">
        <p:nvSpPr>
          <p:cNvPr id="40"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2</a:t>
            </a:r>
            <a:endParaRPr lang="en-US" sz="1800" dirty="0"/>
          </a:p>
        </p:txBody>
      </p:sp>
      <p:sp xmlns:p="http://schemas.openxmlformats.org/presentationml/2006/main" xmlns:a="http://schemas.openxmlformats.org/drawingml/2006/main" xmlns:r="http://schemas.openxmlformats.org/officeDocument/2006/relationships">
        <p:nvSpPr>
          <p:cNvPr id="41" name="Slide Numb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xmlns:p="http://schemas.openxmlformats.org/presentationml/2006/main" xmlns:a="http://schemas.openxmlformats.org/drawingml/2006/main" xmlns:r="http://schemas.openxmlformats.org/officeDocument/2006/relationships">
        <p:nvSpPr>
          <p:cNvPr id="2" name="Title"/>
          <p:cNvSpPr>
            <a:spLocks noGrp="1"/>
          </p:cNvSpPr>
          <p:nvPr>
            <p:ph type="title"/>
          </p:nvPr>
        </p:nvSpPr>
        <p:spPr/>
        <p:txBody>
          <a:bodyPr/>
          <a:lstStyle/>
          <a:p>
            <a:r>
              <a:rPr lang="en-US" dirty="0"/>
              <a:t>Knowledge Check</a:t>
            </a:r>
            <a:endParaRPr lang="en-US" dirty="0"/>
          </a:p>
        </p:txBody>
      </p:sp>
      <p:sp xmlns:p="http://schemas.openxmlformats.org/presentationml/2006/main" xmlns:a="http://schemas.openxmlformats.org/drawingml/2006/main" xmlns:r="http://schemas.openxmlformats.org/officeDocument/2006/relationships">
        <p:nvSpPr>
          <p:cNvPr id="3" name="Text 20"/>
          <p:cNvSpPr txBox="1"/>
          <p:nvPr/>
        </p:nvSpPr>
        <p:spPr>
          <a:xfrm>
            <a:off x="1810512" y="1719072"/>
            <a:ext cx="612648" cy="466344"/>
          </a:xfrm>
          <a:prstGeom prst="rect">
            <a:avLst/>
          </a:prstGeom>
          <a:noFill/>
          <a:ln/>
        </p:spPr>
        <p:txBody>
          <a:bodyPr wrap="square" lIns="25400" tIns="25400" rIns="25400" bIns="25400" rtlCol="0" anchor="t">
            <a:noAutofit/>
          </a:bodyPr>
          <a:lstStyle/>
          <a:p>
            <a:pPr algn="l" indent="0" marL="0">
              <a:buNone/>
            </a:pPr>
            <a:r>
              <a:rPr lang="en-US" sz="2400" b="1" dirty="0">
                <a:solidFill>
                  <a:srgbClr val="1F6FB2"/>
                </a:solidFill>
                <a:latin typeface="+mn-lt"/>
                <a:ea typeface="+mn-ea"/>
                <a:cs typeface="+mn-cs"/>
              </a:rPr>
              <a:t>1</a:t>
            </a:r>
            <a:endParaRPr lang="en-US" sz="2400" dirty="0"/>
          </a:p>
        </p:txBody>
      </p:sp>
      <p:sp xmlns:p="http://schemas.openxmlformats.org/presentationml/2006/main" xmlns:a="http://schemas.openxmlformats.org/drawingml/2006/main" xmlns:r="http://schemas.openxmlformats.org/officeDocument/2006/relationships">
        <p:nvSpPr>
          <p:cNvPr id="4" name="Text 21"/>
          <p:cNvSpPr txBox="1"/>
          <p:nvPr/>
        </p:nvSpPr>
        <p:spPr>
          <a:xfrm>
            <a:off x="2340864" y="1719072"/>
            <a:ext cx="11155680" cy="765429"/>
          </a:xfrm>
          <a:prstGeom prst="rect">
            <a:avLst/>
          </a:prstGeom>
          <a:noFill/>
          <a:ln/>
        </p:spPr>
        <p:txBody>
          <a:bodyPr wrap="square" lIns="25400" tIns="25400" rIns="25400" bIns="25400" rtlCol="0" anchor="t">
            <a:noAutofit/>
          </a:bodyPr>
          <a:lstStyle/>
          <a:p>
            <a:pPr algn="l" indent="0" marL="0">
              <a:buNone/>
            </a:pPr>
            <a:r>
              <a:rPr lang="en-US" sz="2200" dirty="0">
                <a:solidFill>
                  <a:srgbClr val="000000"/>
                </a:solidFill>
                <a:latin typeface="+mn-lt"/>
                <a:ea typeface="+mn-ea"/>
                <a:cs typeface="+mn-cs"/>
              </a:rPr>
              <a:t>What can a coding agent do that a chat LLM can’t, and how does that change your role?</a:t>
            </a:r>
            <a:endParaRPr lang="en-US" sz="2200" dirty="0"/>
          </a:p>
        </p:txBody>
      </p:sp>
      <p:sp xmlns:p="http://schemas.openxmlformats.org/presentationml/2006/main" xmlns:a="http://schemas.openxmlformats.org/drawingml/2006/main" xmlns:r="http://schemas.openxmlformats.org/officeDocument/2006/relationships">
        <p:nvSpPr>
          <p:cNvPr id="5" name="Text 22"/>
          <p:cNvSpPr txBox="1"/>
          <p:nvPr/>
        </p:nvSpPr>
        <p:spPr>
          <a:xfrm>
            <a:off x="1810512" y="2822829"/>
            <a:ext cx="612648" cy="466344"/>
          </a:xfrm>
          <a:prstGeom prst="rect">
            <a:avLst/>
          </a:prstGeom>
          <a:noFill/>
          <a:ln/>
        </p:spPr>
        <p:txBody>
          <a:bodyPr wrap="square" lIns="25400" tIns="25400" rIns="25400" bIns="25400" rtlCol="0" anchor="t">
            <a:noAutofit/>
          </a:bodyPr>
          <a:lstStyle/>
          <a:p>
            <a:pPr algn="l" indent="0" marL="0">
              <a:buNone/>
            </a:pPr>
            <a:r>
              <a:rPr lang="en-US" sz="2400" b="1" dirty="0">
                <a:solidFill>
                  <a:srgbClr val="1F6FB2"/>
                </a:solidFill>
                <a:latin typeface="+mn-lt"/>
                <a:ea typeface="+mn-ea"/>
                <a:cs typeface="+mn-cs"/>
              </a:rPr>
              <a:t>2</a:t>
            </a:r>
            <a:endParaRPr lang="en-US" sz="2400" dirty="0"/>
          </a:p>
        </p:txBody>
      </p:sp>
      <p:sp xmlns:p="http://schemas.openxmlformats.org/presentationml/2006/main" xmlns:a="http://schemas.openxmlformats.org/drawingml/2006/main" xmlns:r="http://schemas.openxmlformats.org/officeDocument/2006/relationships">
        <p:nvSpPr>
          <p:cNvPr id="6" name="Text 23"/>
          <p:cNvSpPr txBox="1"/>
          <p:nvPr/>
        </p:nvSpPr>
        <p:spPr>
          <a:xfrm>
            <a:off x="2340864" y="2822829"/>
            <a:ext cx="11155680" cy="428434"/>
          </a:xfrm>
          <a:prstGeom prst="rect">
            <a:avLst/>
          </a:prstGeom>
          <a:noFill/>
          <a:ln/>
        </p:spPr>
        <p:txBody>
          <a:bodyPr wrap="square" lIns="25400" tIns="25400" rIns="25400" bIns="25400" rtlCol="0" anchor="t">
            <a:noAutofit/>
          </a:bodyPr>
          <a:lstStyle/>
          <a:p>
            <a:pPr algn="l" indent="0" marL="0">
              <a:buNone/>
            </a:pPr>
            <a:r>
              <a:rPr lang="en-US" sz="2200" dirty="0">
                <a:solidFill>
                  <a:srgbClr val="000000"/>
                </a:solidFill>
                <a:latin typeface="+mn-lt"/>
                <a:ea typeface="+mn-ea"/>
                <a:cs typeface="+mn-cs"/>
              </a:rPr>
              <a:t>What belongs in AGENTS.md, and why keep it short?</a:t>
            </a:r>
            <a:endParaRPr lang="en-US" sz="2200" dirty="0"/>
          </a:p>
        </p:txBody>
      </p:sp>
      <p:sp xmlns:p="http://schemas.openxmlformats.org/presentationml/2006/main" xmlns:a="http://schemas.openxmlformats.org/drawingml/2006/main" xmlns:r="http://schemas.openxmlformats.org/officeDocument/2006/relationships">
        <p:nvSpPr>
          <p:cNvPr id="7" name="Text 24"/>
          <p:cNvSpPr txBox="1"/>
          <p:nvPr/>
        </p:nvSpPr>
        <p:spPr>
          <a:xfrm>
            <a:off x="1810512" y="3627501"/>
            <a:ext cx="612648" cy="466344"/>
          </a:xfrm>
          <a:prstGeom prst="rect">
            <a:avLst/>
          </a:prstGeom>
          <a:noFill/>
          <a:ln/>
        </p:spPr>
        <p:txBody>
          <a:bodyPr wrap="square" lIns="25400" tIns="25400" rIns="25400" bIns="25400" rtlCol="0" anchor="t">
            <a:noAutofit/>
          </a:bodyPr>
          <a:lstStyle/>
          <a:p>
            <a:pPr algn="l" indent="0" marL="0">
              <a:buNone/>
            </a:pPr>
            <a:r>
              <a:rPr lang="en-US" sz="2400" b="1" dirty="0">
                <a:solidFill>
                  <a:srgbClr val="1F6FB2"/>
                </a:solidFill>
                <a:latin typeface="+mn-lt"/>
                <a:ea typeface="+mn-ea"/>
                <a:cs typeface="+mn-cs"/>
              </a:rPr>
              <a:t>3</a:t>
            </a:r>
            <a:endParaRPr lang="en-US" sz="2400" dirty="0"/>
          </a:p>
        </p:txBody>
      </p:sp>
      <p:sp xmlns:p="http://schemas.openxmlformats.org/presentationml/2006/main" xmlns:a="http://schemas.openxmlformats.org/drawingml/2006/main" xmlns:r="http://schemas.openxmlformats.org/officeDocument/2006/relationships">
        <p:nvSpPr>
          <p:cNvPr id="8" name="Text 25"/>
          <p:cNvSpPr txBox="1"/>
          <p:nvPr/>
        </p:nvSpPr>
        <p:spPr>
          <a:xfrm>
            <a:off x="2340864" y="3627501"/>
            <a:ext cx="11155680" cy="428434"/>
          </a:xfrm>
          <a:prstGeom prst="rect">
            <a:avLst/>
          </a:prstGeom>
          <a:noFill/>
          <a:ln/>
        </p:spPr>
        <p:txBody>
          <a:bodyPr wrap="square" lIns="25400" tIns="25400" rIns="25400" bIns="25400" rtlCol="0" anchor="t">
            <a:noAutofit/>
          </a:bodyPr>
          <a:lstStyle/>
          <a:p>
            <a:pPr algn="l" indent="0" marL="0">
              <a:buNone/>
            </a:pPr>
            <a:r>
              <a:rPr lang="en-US" sz="2200" dirty="0">
                <a:solidFill>
                  <a:srgbClr val="000000"/>
                </a:solidFill>
                <a:latin typeface="+mn-lt"/>
                <a:ea typeface="+mn-ea"/>
                <a:cs typeface="+mn-cs"/>
              </a:rPr>
              <a:t>Why ask for a plan before any code is written?</a:t>
            </a:r>
            <a:endParaRPr lang="en-US" sz="2200" dirty="0"/>
          </a:p>
        </p:txBody>
      </p:sp>
      <p:sp xmlns:p="http://schemas.openxmlformats.org/presentationml/2006/main" xmlns:a="http://schemas.openxmlformats.org/drawingml/2006/main" xmlns:r="http://schemas.openxmlformats.org/officeDocument/2006/relationships">
        <p:nvSpPr>
          <p:cNvPr id="9" name="Text 26"/>
          <p:cNvSpPr txBox="1"/>
          <p:nvPr/>
        </p:nvSpPr>
        <p:spPr>
          <a:xfrm>
            <a:off x="1810512" y="4432173"/>
            <a:ext cx="612648" cy="466344"/>
          </a:xfrm>
          <a:prstGeom prst="rect">
            <a:avLst/>
          </a:prstGeom>
          <a:noFill/>
          <a:ln/>
        </p:spPr>
        <p:txBody>
          <a:bodyPr wrap="square" lIns="25400" tIns="25400" rIns="25400" bIns="25400" rtlCol="0" anchor="t">
            <a:noAutofit/>
          </a:bodyPr>
          <a:lstStyle/>
          <a:p>
            <a:pPr algn="l" indent="0" marL="0">
              <a:buNone/>
            </a:pPr>
            <a:r>
              <a:rPr lang="en-US" sz="2400" b="1" dirty="0">
                <a:solidFill>
                  <a:srgbClr val="1F6FB2"/>
                </a:solidFill>
                <a:latin typeface="+mn-lt"/>
                <a:ea typeface="+mn-ea"/>
                <a:cs typeface="+mn-cs"/>
              </a:rPr>
              <a:t>4</a:t>
            </a:r>
            <a:endParaRPr lang="en-US" sz="2400" dirty="0"/>
          </a:p>
        </p:txBody>
      </p:sp>
      <p:sp xmlns:p="http://schemas.openxmlformats.org/presentationml/2006/main" xmlns:a="http://schemas.openxmlformats.org/drawingml/2006/main" xmlns:r="http://schemas.openxmlformats.org/officeDocument/2006/relationships">
        <p:nvSpPr>
          <p:cNvPr id="10" name="Text 27"/>
          <p:cNvSpPr txBox="1"/>
          <p:nvPr/>
        </p:nvSpPr>
        <p:spPr>
          <a:xfrm>
            <a:off x="2340864" y="4432173"/>
            <a:ext cx="11155680" cy="428434"/>
          </a:xfrm>
          <a:prstGeom prst="rect">
            <a:avLst/>
          </a:prstGeom>
          <a:noFill/>
          <a:ln/>
        </p:spPr>
        <p:txBody>
          <a:bodyPr wrap="square" lIns="25400" tIns="25400" rIns="25400" bIns="25400" rtlCol="0" anchor="t">
            <a:noAutofit/>
          </a:bodyPr>
          <a:lstStyle/>
          <a:p>
            <a:pPr algn="l" indent="0" marL="0">
              <a:buNone/>
            </a:pPr>
            <a:r>
              <a:rPr lang="en-US" sz="2200" dirty="0">
                <a:solidFill>
                  <a:srgbClr val="000000"/>
                </a:solidFill>
                <a:latin typeface="+mn-lt"/>
                <a:ea typeface="+mn-ea"/>
                <a:cs typeface="+mn-cs"/>
              </a:rPr>
              <a:t>The agent reports “All tests pass.” What do you do?</a:t>
            </a:r>
            <a:endParaRPr lang="en-US" sz="2200" dirty="0"/>
          </a:p>
        </p:txBody>
      </p:sp>
      <p:sp xmlns:p="http://schemas.openxmlformats.org/presentationml/2006/main" xmlns:a="http://schemas.openxmlformats.org/drawingml/2006/main" xmlns:r="http://schemas.openxmlformats.org/officeDocument/2006/relationships">
        <p:nvSpPr>
          <p:cNvPr id="11" name="Text 28"/>
          <p:cNvSpPr txBox="1"/>
          <p:nvPr/>
        </p:nvSpPr>
        <p:spPr>
          <a:xfrm>
            <a:off x="1810512" y="5236845"/>
            <a:ext cx="612648" cy="466344"/>
          </a:xfrm>
          <a:prstGeom prst="rect">
            <a:avLst/>
          </a:prstGeom>
          <a:noFill/>
          <a:ln/>
        </p:spPr>
        <p:txBody>
          <a:bodyPr wrap="square" lIns="25400" tIns="25400" rIns="25400" bIns="25400" rtlCol="0" anchor="t">
            <a:noAutofit/>
          </a:bodyPr>
          <a:lstStyle/>
          <a:p>
            <a:pPr algn="l" indent="0" marL="0">
              <a:buNone/>
            </a:pPr>
            <a:r>
              <a:rPr lang="en-US" sz="2400" b="1" dirty="0">
                <a:solidFill>
                  <a:srgbClr val="1F6FB2"/>
                </a:solidFill>
                <a:latin typeface="+mn-lt"/>
                <a:ea typeface="+mn-ea"/>
                <a:cs typeface="+mn-cs"/>
              </a:rPr>
              <a:t>5</a:t>
            </a:r>
            <a:endParaRPr lang="en-US" sz="2400" dirty="0"/>
          </a:p>
        </p:txBody>
      </p:sp>
      <p:sp xmlns:p="http://schemas.openxmlformats.org/presentationml/2006/main" xmlns:a="http://schemas.openxmlformats.org/drawingml/2006/main" xmlns:r="http://schemas.openxmlformats.org/officeDocument/2006/relationships">
        <p:nvSpPr>
          <p:cNvPr id="12" name="Text 29"/>
          <p:cNvSpPr txBox="1"/>
          <p:nvPr/>
        </p:nvSpPr>
        <p:spPr>
          <a:xfrm>
            <a:off x="2340864" y="5236845"/>
            <a:ext cx="11155680" cy="428434"/>
          </a:xfrm>
          <a:prstGeom prst="rect">
            <a:avLst/>
          </a:prstGeom>
          <a:noFill/>
          <a:ln/>
        </p:spPr>
        <p:txBody>
          <a:bodyPr wrap="square" lIns="25400" tIns="25400" rIns="25400" bIns="25400" rtlCol="0" anchor="t">
            <a:noAutofit/>
          </a:bodyPr>
          <a:lstStyle/>
          <a:p>
            <a:pPr algn="l" indent="0" marL="0">
              <a:buNone/>
            </a:pPr>
            <a:r>
              <a:rPr lang="en-US" sz="2200" dirty="0">
                <a:solidFill>
                  <a:srgbClr val="000000"/>
                </a:solidFill>
                <a:latin typeface="+mn-lt"/>
                <a:ea typeface="+mn-ea"/>
                <a:cs typeface="+mn-cs"/>
              </a:rPr>
              <a:t>A PR changes a test’s expected value so the test passes. Merge it?</a:t>
            </a:r>
            <a:endParaRPr lang="en-US" sz="2200" dirty="0"/>
          </a:p>
        </p:txBody>
      </p:sp>
      <p:sp xmlns:p="http://schemas.openxmlformats.org/presentationml/2006/main" xmlns:a="http://schemas.openxmlformats.org/drawingml/2006/main" xmlns:r="http://schemas.openxmlformats.org/officeDocument/2006/relationships">
        <p:nvSpPr>
          <p:cNvPr id="13" name="Shape 30"/>
          <p:cNvSpPr/>
          <p:nvPr/>
        </p:nvSpPr>
        <p:spPr>
          <a:xfrm>
            <a:off x="1810512" y="6217920"/>
            <a:ext cx="11676888" cy="1143000"/>
          </a:xfrm>
          <a:prstGeom prst="rect">
            <a:avLst/>
          </a:prstGeom>
          <a:solidFill>
            <a:srgbClr val="152A47"/>
          </a:solidFill>
          <a:ln/>
        </p:spPr>
        <p:txBody>
          <a:bodyPr/>
          <a:p/>
        </p:txBody>
      </p:sp>
      <p:sp xmlns:p="http://schemas.openxmlformats.org/presentationml/2006/main" xmlns:a="http://schemas.openxmlformats.org/drawingml/2006/main" xmlns:r="http://schemas.openxmlformats.org/officeDocument/2006/relationships">
        <p:nvSpPr>
          <p:cNvPr id="14" name="Text 31"/>
          <p:cNvSpPr txBox="1"/>
          <p:nvPr/>
        </p:nvSpPr>
        <p:spPr>
          <a:xfrm>
            <a:off x="2057400" y="6217920"/>
            <a:ext cx="11338560" cy="1143000"/>
          </a:xfrm>
          <a:prstGeom prst="rect">
            <a:avLst/>
          </a:prstGeom>
          <a:noFill/>
          <a:ln/>
        </p:spPr>
        <p:txBody>
          <a:bodyPr wrap="square" lIns="25400" tIns="25400" rIns="25400" bIns="25400" rtlCol="0" anchor="ctr">
            <a:noAutofit/>
          </a:bodyPr>
          <a:lstStyle/>
          <a:p>
            <a:pPr algn="l" indent="0" marL="0">
              <a:buNone/>
            </a:pPr>
            <a:r>
              <a:rPr lang="en-US" sz="2000" b="1" dirty="0">
                <a:solidFill>
                  <a:srgbClr val="FFFFFF"/>
                </a:solidFill>
                <a:latin typeface="+mn-lt"/>
                <a:ea typeface="+mn-ea"/>
                <a:cs typeface="+mn-cs"/>
              </a:rPr>
              <a:t>Next: Lesson 3</a:t>
            </a:r>
            <a:r>
              <a:rPr lang="en-US" sz="2000" dirty="0">
                <a:solidFill>
                  <a:srgbClr val="FFFFFF"/>
                </a:solidFill>
                <a:latin typeface="+mn-lt"/>
                <a:ea typeface="+mn-ea"/>
                <a:cs typeface="+mn-cs"/>
              </a:rPr>
              <a:t xml:space="preserve"> · Agentic AI for course app development using GitHub Pages.</a:t>
            </a:r>
            <a:endParaRPr lang="en-US" sz="2000" dirty="0"/>
          </a:p>
        </p:txBody>
      </p:sp>
      <p:sp xmlns:p="http://schemas.openxmlformats.org/presentationml/2006/main" xmlns:a="http://schemas.openxmlformats.org/drawingml/2006/main" xmlns:r="http://schemas.openxmlformats.org/officeDocument/2006/relationships">
        <p:nvSpPr>
          <p:cNvPr id="15" name="Nav highlight"/>
          <p:cNvSpPr txBox="1"/>
          <p:nvPr userDrawn="1"/>
        </p:nvSpPr>
        <p:spPr>
          <a:xfrm>
            <a:off x="133350" y="6191250"/>
            <a:ext cx="1409700" cy="381000"/>
          </a:xfrm>
          <a:prstGeom prst="rect">
            <a:avLst/>
          </a:prstGeom>
          <a:solidFill>
            <a:srgbClr val="E6E6E6"/>
          </a:solidFill>
        </p:spPr>
        <p:txBody>
          <a:bodyPr wrap="square" lIns="25400" tIns="0" rIns="0" bIns="0" rtlCol="0" anchor="t">
            <a:noAutofit/>
          </a:bodyPr>
          <a:lstStyle/>
          <a:p>
            <a:pPr>
              <a:lnSpc>
                <a:spcPts val="3000"/>
              </a:lnSpc>
            </a:pPr>
            <a:r>
              <a:rPr lang="en-US" sz="1800" b="1" dirty="0">
                <a:solidFill>
                  <a:schemeClr val="accent2"/>
                </a:solidFill>
              </a:rPr>
              <a:t>Review</a:t>
            </a:r>
            <a:endParaRPr lang="en-US" sz="1800" b="1" dirty="0"/>
          </a:p>
        </p:txBody>
      </p:sp>
      <p:sp xmlns:p="http://schemas.openxmlformats.org/presentationml/2006/main" xmlns:a="http://schemas.openxmlformats.org/drawingml/2006/main" xmlns:r="http://schemas.openxmlformats.org/officeDocument/2006/relationships">
        <p:nvSpPr>
          <p:cNvPr id="16" name="Footer"/>
          <p:cNvSpPr>
            <a:spLocks noGrp="1"/>
          </p:cNvSpPr>
          <p:nvPr>
            <p:ph type="ftr" sz="quarter" idx="11"/>
          </p:nvPr>
        </p:nvSpPr>
        <p:spPr/>
        <p:txBody>
          <a:bodyPr/>
          <a:lstStyle/>
          <a:p>
            <a:pPr algn="ctr"/>
            <a:r>
              <a:rPr lang="en-US" sz="1800" dirty="0">
                <a:solidFill>
                  <a:srgbClr val="2E2E2E"/>
                </a:solidFill>
                <a:latin typeface="+mn-lt"/>
                <a:ea typeface="+mn-ea"/>
                <a:cs typeface="+mn-cs"/>
              </a:rPr>
              <a:t>Agentic AI for Engineering · Lesson 2</a:t>
            </a:r>
            <a:endParaRPr lang="en-US" sz="1800" dirty="0"/>
          </a:p>
        </p:txBody>
      </p:sp>
      <p:sp xmlns:p="http://schemas.openxmlformats.org/presentationml/2006/main" xmlns:a="http://schemas.openxmlformats.org/drawingml/2006/main" xmlns:r="http://schemas.openxmlformats.org/officeDocument/2006/relationships">
        <p:nvSpPr>
          <p:cNvPr id="17" name="Slide Number"/>
          <p:cNvSpPr>
            <a:spLocks noGrp="1"/>
          </p:cNvSpPr>
          <p:nvPr>
            <p:ph type="sldNum" sz="quarter" idx="12"/>
          </p:nvPr>
        </p:nvSpPr>
        <p:spPr/>
        <p:txBody>
          <a:bodyPr/>
          <a:lstStyle/>
          <a:p>
            <a:fld id="{B6F15528-21DE-4FAA-801E-634DDDAF4B2B}" type="slidenum">
              <a:rPr lang="en-US"/>
              <a:t>‹#›</a:t>
            </a:fld>
            <a:endParaRPr lang="en-US"/>
          </a:p>
        </p:txBody>
      </p:sp>
    </p:spTree>
  </p:cSld>
  <p:clrMapOvr>
    <a:masterClrMapping/>
  </p:clrMapOvr>
</p:sld>
</file>

<file path=ppt/theme/theme1.xml><?xml version="1.0" encoding="utf-8"?>
<a:theme xmlns:a="http://schemas.openxmlformats.org/drawingml/2006/main" name="Agentic AI for Engineering">
  <a:themeElements>
    <a:clrScheme name="Agentic AI for Engineering">
      <a:dk1>
        <a:srgbClr val="000000"/>
      </a:dk1>
      <a:lt1>
        <a:srgbClr val="FFFFFF"/>
      </a:lt1>
      <a:dk2>
        <a:srgbClr val="152A47"/>
      </a:dk2>
      <a:lt2>
        <a:srgbClr val="F2F2F2"/>
      </a:lt2>
      <a:accent1>
        <a:srgbClr val="1F6FB2"/>
      </a:accent1>
      <a:accent2>
        <a:srgbClr val="00B0F0"/>
      </a:accent2>
      <a:accent3>
        <a:srgbClr val="595959"/>
      </a:accent3>
      <a:accent4>
        <a:srgbClr val="1E1E1E"/>
      </a:accent4>
      <a:accent5>
        <a:srgbClr val="BFBFBF"/>
      </a:accent5>
      <a:accent6>
        <a:srgbClr val="404040"/>
      </a:accent6>
      <a:hlink>
        <a:srgbClr val="1F6FB2"/>
      </a:hlink>
      <a:folHlink>
        <a:srgbClr val="595959"/>
      </a:folHlink>
    </a:clrScheme>
    <a:fontScheme name="Agentic AI for Engineering">
      <a:majorFont>
        <a:latin typeface="Calibri" panose="020F05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gentic AI for Engineering">
  <a:themeElements>
    <a:clrScheme name="Agentic AI for Engineering">
      <a:dk1>
        <a:srgbClr val="000000"/>
      </a:dk1>
      <a:lt1>
        <a:srgbClr val="FFFFFF"/>
      </a:lt1>
      <a:dk2>
        <a:srgbClr val="152A47"/>
      </a:dk2>
      <a:lt2>
        <a:srgbClr val="F2F2F2"/>
      </a:lt2>
      <a:accent1>
        <a:srgbClr val="1F6FB2"/>
      </a:accent1>
      <a:accent2>
        <a:srgbClr val="00B0F0"/>
      </a:accent2>
      <a:accent3>
        <a:srgbClr val="595959"/>
      </a:accent3>
      <a:accent4>
        <a:srgbClr val="1E1E1E"/>
      </a:accent4>
      <a:accent5>
        <a:srgbClr val="BFBFBF"/>
      </a:accent5>
      <a:accent6>
        <a:srgbClr val="404040"/>
      </a:accent6>
      <a:hlink>
        <a:srgbClr val="1F6FB2"/>
      </a:hlink>
      <a:folHlink>
        <a:srgbClr val="595959"/>
      </a:folHlink>
    </a:clrScheme>
    <a:fontScheme name="Agentic AI for Engineering">
      <a:majorFont>
        <a:latin typeface="Calibri" panose="020F05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Slides>22</Slides>
  <Notes>22</Notes>
</Properties>
</file>

<file path=docProps/core.xml><?xml version="1.0" encoding="utf-8"?>
<cp:coreProperties xmlns:cp="http://schemas.openxmlformats.org/package/2006/metadata/core-properties" xmlns:dc="http://purl.org/dc/elements/1.1/" xmlns:dcterms="http://purl.org/dc/terms/" xmlns:xsi="http://www.w3.org/2001/XMLSchema-instance">
  <dc:title>Agentic AI for Engineering · Lesson 2</dc:title>
  <dc:creator>Agentic AI for Engineering</dc:creator>
</cp:coreProperties>
</file>