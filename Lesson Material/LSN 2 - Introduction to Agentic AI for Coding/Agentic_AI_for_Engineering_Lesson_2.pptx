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Default Extension="jpg" ContentType="image/jpe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M"/>
  </p:sldMasterIdLst>
  <p:notesMasterIdLst>
    <p:notesMasterId r:id="rIdN"/>
  </p:notes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M" Type="http://schemas.openxmlformats.org/officeDocument/2006/relationships/slideMaster" Target="slideMasters/slideMaster1.xml"/><Relationship Id="rIdN" Type="http://schemas.openxmlformats.org/officeDocument/2006/relationships/notesMaster" Target="notesMasters/notesMaster1.xml"/><Relationship Id="rIdT" Type="http://schemas.openxmlformats.org/officeDocument/2006/relationships/theme" Target="theme/theme1.xml"/><Relationship Id="rIdP" Type="http://schemas.openxmlformats.org/officeDocument/2006/relationships/presProps" Target="presProps.xml"/><Relationship Id="rIdV" Type="http://schemas.openxmlformats.org/officeDocument/2006/relationships/viewProps" Target="viewProps.xml"/><Relationship Id="rIdTS"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connects the repo from Lesson 1 to a coding agent. The goal is a repeatable loop: specify a verifiable change, let the agent generate it on a branch, and verify it yourself before it reaches main. Everything we do today with beam-calc applies to your own course code in Exercise 7.</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gave everyone a repo on GitHub and the habit of working through branches and pull requests. This lesson puts a coding agent on the other side of that loop. The worked example continues with beam-calc so nobody is debugging unfamiliar code; the last exercise moves to each instructor’s own project. Emphasize objective 4: the engineer, not the agent, owns verification.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account is the usual blocker; sort it out before class. Use whatever account type your organization directs. MATLAB is optional but strongly recommended: the agent cannot run MATLAB in its cloud sandbox, so the instructor is the only one who can execute the tests. That gap is the point of the Adjudicate step.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instructors have used chat LLMs. The shift is that the agent works directly in the repo, so the human job moves from integrating code to specifying and verifying it. That is the same shift we ask of cadets when they move from writing every line to engineering a system.</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Generate, Implement, Adjudicate, then Iterate. The agent is good at Generate. Specify and Adjudicate stay with the engineer; Implement means trusted tools (MATLAB, the compiler, test suites, hardware) turn the proposal into evidence. The five steps are the mechanics; every remaining slide maps to one of them.</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on the web is the worked example because it runs entirely from a GitHub repo, which is what Lesson 1 set up. The method transfers to any agent. Codex reads AGENTS.md, which is why the beam-calc repo already has one; CLAUDE.md can import it. Verify current plans before recommending a tool to colleagues or cadets.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small feature carried through every exercise. The requirement is written so it can be verified before any code exists: a named function, units, and a test with a tolerance. The hand check uses the Lesson 1 section (50 × 100 mm steel, L = 2 m), so it does not depend on what instructors changed in beam.m during Lesson 1. Point out the 3/8 ratio: an independent sanity check the agent did not write.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CLAUDE.md is the most effective single thing you can do to improve agent output. It is plain Markdown at the repo root. The @AGENTS.md line pulls in the Lesson 1 file, so Codex and Claude Code follow the same conventions without duplicating them. Alternative: type /init in a session and the agent drafts CLAUDE.md by scanning the repo; then correct it and add what it can’t see, like the fact that it can’t run MATLAB. About me sets the explanation level; in any prompt you can also ask it to explain like you are new to Git.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architecture: the agent never touches the laptop. GitHub is the hand-off point between the cloud session and your machine, which is why Lesson 1 spent so long on push, fetch, and pull. Grant the GitHub App access to selected repositories only, not your whole account.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orientation prompt costs one message and tells you whether the agent understands the code. A good answer names the formula, the units, the test, and its own limits. If the summary is wrong, fix CLAUDE.md before going further.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Asking for a plan first is cheap and catches wrong assumptions before code is written. Good plans name files, functions, and open questions. The engineer answers the questions; the agent should not guess. Here the load extent is a real modeling decision that belongs to the instructor.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pushes to a new claude/ branch, never directly to main. Walk through the diff line by line. Look hardest at the test: an agent that writes both the code and its test can make them agree with each other and still be wrong. Here the expected value 2.40e-3 m comes from our hand calculation, not from the code. The ... in the fprintf lines is shortened for the slide.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branches and pull requests as Lesson 1, with the agent as the other contributor. The agent never commits to main. Each session gets its own branch, and every commit in that session, including fixes, goes there. The pull request is where the review happens, and where the change is merged after the test passes.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step that tests the requirement. MATLAB and the test suite are the trusted tools; the hand calculation and the 3/8 ratio are independent checks the agent did not produce. If an instructor has no MATLAB, they can still review the test logic and the hand calculation, but should record the change as unverified.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Failure reports should contain observations and logs, not just ‘it doesn’t work’. Asking for an explanation before a fix keeps the engineer in the loop and often exposes a wrong assumption (here, a section dimension entered in mm). One requirement per session keeps context small and commits easy to review.</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pattern seen with engineering code. Agents produce plausible code; plausible is not the same as correct. The weakened test is the most dangerous because the green check mark looks like evidence. The independent checks (hand calculation, units, running the suite yourself) are what catch these.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Instructors who document their own agent use are better placed to set and grade the same expectation for cadets. An AI_LOG.md, one entry per session, records how GenAI contributed and what the human did to evaluate it. Check the current USAFA and department GenAI policy for the exact wording your course requires.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from the shared example to each instructor’s own project. Coach toward small, checkable requirements; the first session is about learning the loop, not shipping a large feature. Walk the room and look at requirements before people open sessions: a requirement with no verification is the most common problem.</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bring this to a course, decide the team model up front. A session belongs to one account; teammates cannot join it live, so the repo is where collaboration happens. Grading the artifacts of the process (requirement, plan, review, verification, log) rewards the engineering judgment we care about rather than the volume of generated code.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problems instructors hit most often in a first session. Most come back to two ideas: GitHub is the hand-off point, so fetch before you look for agent work; and the agent cannot run MATLAB, so verification is always yours.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summary of the prompts and actions from today. Suggest instructors keep it open during Exercise 7 and when they first use an agent on their own.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answers. 1: it reads the repo, edits files, runs commands, and commits; you move from integrator to specifier, reviewer, and tester. 2: project context, environment limits, and rules; CLAUDE.md can import AGENTS.md so every agent shares one set of rules. 3: it catches wrong assumptions and open questions cheaply, before code exists. 4: verify it yourself; the agent cannot run MATLAB. 5: not without an independent reason the old value was wrong; a test edited to pass is not evidence.</a:t>
            </a:r>
          </a:p>
        </p:txBody>
      </p:sp>
    </p:spTree>
  </p:cSld>
  <p:clrMapOvr>
    <a:masterClrMapping/>
  </p:clrMapOvr>
</p:notes>
</file>

<file path=ppt/slideLayouts/_rels/slideLayout1.xml.rels><?xml version="1.0" encoding="UTF-8" standalone="yes"?>
<Relationships xmlns="http://schemas.openxmlformats.org/package/2006/relationships"><Relationship Id="rIdMaster"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Course title"/>
          <p:cNvSpPr>
            <a:spLocks noGrp="1"/>
          </p:cNvSpPr>
          <p:nvPr>
            <p:ph type="title"/>
          </p:nvPr>
        </p:nvSpPr>
        <p:spPr>
          <a:xfrm>
            <a:off x="1673225" y="155575"/>
            <a:ext cx="11523663" cy="1106488"/>
          </a:xfrm>
        </p:spPr>
        <p:txBody>
          <a:bodyPr wrap="square" lIns="25400" tIns="25400" rIns="25400" bIns="25400" anchor="ctr">
            <a:normAutofit/>
          </a:bodyPr>
          <a:lstStyle>
            <a:lvl1pPr>
              <a:defRPr sz="5400"/>
            </a:lvl1pPr>
          </a:lstStyle>
          <a:p>
            <a:r>
              <a:rPr lang="en-US" dirty="0"/>
              <a:t>Agentic AI for Engineering</a:t>
            </a:r>
            <a:endParaRPr lang="en-US" dirty="0"/>
          </a:p>
        </p:txBody>
      </p:sp>
      <p:sp>
        <p:nvSpPr>
          <p:cNvPr id="6" name="Lesson number"/>
          <p:cNvSpPr>
            <a:spLocks noGrp="1"/>
          </p:cNvSpPr>
          <p:nvPr>
            <p:ph type="body" idx="1"/>
          </p:nvPr>
        </p:nvSpPr>
        <p:spPr>
          <a:xfrm>
            <a:off x="1657350" y="2286000"/>
            <a:ext cx="11925300" cy="1371600"/>
          </a:xfrm>
        </p:spPr>
        <p:txBody>
          <a:bodyPr wrap="square" lIns="25400" tIns="25400" rIns="25400" bIns="25400">
            <a:noAutofit/>
          </a:bodyPr>
          <a:lstStyle>
            <a:lvl1pPr marL="0" indent="0" algn="ctr">
              <a:spcAft>
                <a:spcPts val="0"/>
              </a:spcAft>
              <a:buNone/>
              <a:defRPr sz="9000" b="1">
                <a:solidFill>
                  <a:schemeClr val="tx1"/>
                </a:solidFill>
              </a:defRPr>
            </a:lvl1pPr>
          </a:lstStyle>
          <a:p>
            <a:r>
              <a:rPr lang="en-US" dirty="0"/>
              <a:t>Lesson N</a:t>
            </a:r>
            <a:endParaRPr lang="en-US" dirty="0"/>
          </a:p>
        </p:txBody>
      </p:sp>
      <p:sp>
        <p:nvSpPr>
          <p:cNvPr id="7" name="Lesson title"/>
          <p:cNvSpPr>
            <a:spLocks noGrp="1"/>
          </p:cNvSpPr>
          <p:nvPr>
            <p:ph type="body" idx="2"/>
          </p:nvPr>
        </p:nvSpPr>
        <p:spPr>
          <a:xfrm>
            <a:off x="1657350" y="3771900"/>
            <a:ext cx="11925300" cy="990600"/>
          </a:xfrm>
        </p:spPr>
        <p:txBody>
          <a:bodyPr wrap="square" lIns="25400" tIns="25400" rIns="25400" bIns="25400">
            <a:noAutofit/>
          </a:bodyPr>
          <a:lstStyle>
            <a:lvl1pPr marL="0" indent="0" algn="ctr">
              <a:spcAft>
                <a:spcPts val="0"/>
              </a:spcAft>
              <a:buNone/>
              <a:defRPr sz="4400" b="1">
                <a:solidFill>
                  <a:schemeClr val="tx1"/>
                </a:solidFill>
              </a:defRPr>
            </a:lvl1pPr>
          </a:lstStyle>
          <a:p>
            <a:r>
              <a:rPr lang="en-US" dirty="0"/>
              <a:t>Lesson title</a:t>
            </a:r>
            <a:endParaRPr lang="en-US" dirty="0"/>
          </a:p>
        </p:txBody>
      </p:sp>
      <p:sp>
        <p:nvSpPr>
          <p:cNvPr id="8" name="Subtitle"/>
          <p:cNvSpPr>
            <a:spLocks noGrp="1"/>
          </p:cNvSpPr>
          <p:nvPr>
            <p:ph type="body" idx="3"/>
          </p:nvPr>
        </p:nvSpPr>
        <p:spPr>
          <a:xfrm>
            <a:off x="1657350" y="4838700"/>
            <a:ext cx="11925300" cy="685800"/>
          </a:xfrm>
        </p:spPr>
        <p:txBody>
          <a:bodyPr wrap="square" lIns="25400" tIns="25400" rIns="25400" bIns="25400">
            <a:noAutofit/>
          </a:bodyPr>
          <a:lstStyle>
            <a:lvl1pPr marL="0" indent="0" algn="ctr">
              <a:spcAft>
                <a:spcPts val="0"/>
              </a:spcAft>
              <a:buNone/>
              <a:defRPr sz="3200" b="1">
                <a:solidFill>
                  <a:schemeClr val="tx1"/>
                </a:solidFill>
              </a:defRPr>
            </a:lvl1pPr>
          </a:lstStyle>
          <a:p>
            <a:r>
              <a:rPr lang="en-US" dirty="0"/>
              <a:t>Subtitle</a:t>
            </a:r>
            <a:endParaRPr lang="en-US" dirty="0"/>
          </a:p>
        </p:txBody>
      </p:sp>
      <p:sp>
        <p:nvSpPr>
          <p:cNvPr id="9" name="Tagline"/>
          <p:cNvSpPr>
            <a:spLocks noGrp="1"/>
          </p:cNvSpPr>
          <p:nvPr>
            <p:ph type="body" idx="4"/>
          </p:nvPr>
        </p:nvSpPr>
        <p:spPr>
          <a:xfrm>
            <a:off x="1657350" y="5600700"/>
            <a:ext cx="11925300" cy="609600"/>
          </a:xfrm>
        </p:spPr>
        <p:txBody>
          <a:bodyPr wrap="square" lIns="25400" tIns="25400" rIns="25400" bIns="25400">
            <a:noAutofit/>
          </a:bodyPr>
          <a:lstStyle>
            <a:lvl1pPr marL="0" indent="0" algn="ctr">
              <a:spcAft>
                <a:spcPts val="0"/>
              </a:spcAft>
              <a:buNone/>
              <a:defRPr sz="2700">
                <a:solidFill>
                  <a:schemeClr val="accent6"/>
                </a:solidFill>
              </a:defRPr>
            </a:lvl1pPr>
          </a:lstStyle>
          <a:p>
            <a:r>
              <a:rPr lang="en-US" dirty="0"/>
              <a:t>One-line description</a:t>
            </a:r>
            <a:endParaRPr lang="en-US" dirty="0"/>
          </a:p>
        </p:txBody>
      </p:sp>
      <p:sp>
        <p:nvSpPr>
          <p:cNvPr id="10" name="Course line"/>
          <p:cNvSpPr>
            <a:spLocks noGrp="1"/>
          </p:cNvSpPr>
          <p:nvPr>
            <p:ph type="body" idx="5"/>
          </p:nvPr>
        </p:nvSpPr>
        <p:spPr>
          <a:xfrm>
            <a:off x="1657350" y="9334500"/>
            <a:ext cx="11925300" cy="609600"/>
          </a:xfrm>
        </p:spPr>
        <p:txBody>
          <a:bodyPr wrap="square" lIns="25400" tIns="25400" rIns="25400" bIns="25400">
            <a:noAutofit/>
          </a:bodyPr>
          <a:lstStyle>
            <a:lvl1pPr marL="0" indent="0" algn="ctr">
              <a:spcAft>
                <a:spcPts val="0"/>
              </a:spcAft>
              <a:buNone/>
              <a:defRPr sz="3000" b="1">
                <a:solidFill>
                  <a:schemeClr val="tx1"/>
                </a:solidFill>
              </a:defRPr>
            </a:lvl1pPr>
          </a:lstStyle>
          <a:p>
            <a:r>
              <a:rPr lang="en-US" dirty="0"/>
              <a:t>USAFA Instructor Short Course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ontent"/>
          <p:cNvSpPr>
            <a:spLocks noGrp="1"/>
          </p:cNvSpPr>
          <p:nvPr>
            <p:ph type="body" idx="1"/>
          </p:nvPr>
        </p:nvSpPr>
        <p:spPr/>
        <p:txBody>
          <a:bodyPr wrap="square" lIns="25400" tIns="25400" rIns="25400" bIns="25400">
            <a:noAutofit/>
          </a:bodyPr>
          <a:lstStyle/>
          <a:p>
            <a:endParaRPr lang="en-US" dirty="0"/>
          </a:p>
        </p:txBody>
      </p:sp>
      <p:sp>
        <p:nvSpPr>
          <p:cNvPr id="4" name="Footer"/>
          <p:cNvSpPr>
            <a:spLocks noGrp="1"/>
          </p:cNvSpPr>
          <p:nvPr>
            <p:ph type="ftr" sz="quarter" idx="11"/>
          </p:nvPr>
        </p:nvSpPr>
        <p:spPr/>
        <p:txBody>
          <a:bodyPr/>
          <a:lstStyle/>
          <a:p>
            <a:endParaRPr lang="en-US" dirty="0"/>
          </a:p>
        </p:txBody>
      </p:sp>
      <p:sp>
        <p:nvSpPr>
          <p:cNvPr id="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Left content"/>
          <p:cNvSpPr>
            <a:spLocks noGrp="1"/>
          </p:cNvSpPr>
          <p:nvPr>
            <p:ph type="body" idx="1"/>
          </p:nvPr>
        </p:nvSpPr>
        <p:spPr>
          <a:xfrm>
            <a:off x="1809750" y="1600200"/>
            <a:ext cx="5715000" cy="7962900"/>
          </a:xfrm>
        </p:spPr>
        <p:txBody>
          <a:bodyPr wrap="square" lIns="25400" tIns="25400" rIns="25400" bIns="25400">
            <a:noAutofit/>
          </a:bodyPr>
          <a:lstStyle/>
          <a:p>
            <a:endParaRPr lang="en-US" dirty="0"/>
          </a:p>
        </p:txBody>
      </p:sp>
      <p:sp>
        <p:nvSpPr>
          <p:cNvPr id="4" name="Right content"/>
          <p:cNvSpPr>
            <a:spLocks noGrp="1"/>
          </p:cNvSpPr>
          <p:nvPr>
            <p:ph type="body" idx="2"/>
          </p:nvPr>
        </p:nvSpPr>
        <p:spPr>
          <a:xfrm>
            <a:off x="7867650" y="1600200"/>
            <a:ext cx="5715000" cy="7962900"/>
          </a:xfrm>
        </p:spPr>
        <p:txBody>
          <a:bodyPr wrap="square" lIns="25400" tIns="25400" rIns="25400" bIns="25400">
            <a:noAutofit/>
          </a:bodyPr>
          <a:lstStyle/>
          <a:p>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p:cSld name="Chip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117729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p:cSld name="Chip, Steps, and Code">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60960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25"/>
            </a:lvl1pPr>
          </a:lstStyle>
          <a:p>
            <a:r>
              <a:rPr lang="en-US" dirty="0"/>
              <a:t>Numbered step</a:t>
            </a:r>
            <a:endParaRPr lang="en-US" dirty="0"/>
          </a:p>
        </p:txBody>
      </p:sp>
      <p:sp>
        <p:nvSpPr>
          <p:cNvPr id="5" name="Code"/>
          <p:cNvSpPr>
            <a:spLocks noGrp="1"/>
          </p:cNvSpPr>
          <p:nvPr>
            <p:ph type="body" idx="14"/>
          </p:nvPr>
        </p:nvSpPr>
        <p:spPr>
          <a:xfrm>
            <a:off x="8153400" y="1524000"/>
            <a:ext cx="5429250" cy="8039100"/>
          </a:xfrm>
          <a:prstGeom prst="roundRect">
            <a:avLst>
              <a:gd name="adj" fmla="val 3000"/>
            </a:avLst>
          </a:prstGeom>
          <a:solidFill>
            <a:srgbClr val="1E1E1E"/>
          </a:solidFill>
          <a:ln>
            <a:noFill/>
          </a:ln>
        </p:spPr>
        <p:txBody>
          <a:bodyPr wrap="square" lIns="228600" tIns="228600" rIns="228600" bIns="228600">
            <a:noAutofit/>
          </a:bodyPr>
          <a:lstStyle>
            <a:lvl1pPr marL="0" indent="0">
              <a:lnSpc>
                <a:spcPct val="115000"/>
              </a:lnSpc>
              <a:spcAft>
                <a:spcPts val="0"/>
              </a:spcAft>
              <a:buNone/>
              <a:defRPr sz="1650">
                <a:solidFill>
                  <a:srgbClr val="D4D4D4"/>
                </a:solidFill>
                <a:latin typeface="Consolas"/>
                <a:ea typeface="Consolas"/>
                <a:cs typeface="Consolas"/>
              </a:defRPr>
            </a:lvl1pPr>
          </a:lstStyle>
          <a:p>
            <a:r>
              <a:rPr lang="en-US" dirty="0"/>
              <a:t>% code or file contents</a:t>
            </a:r>
            <a:endParaRPr lang="en-US" dirty="0"/>
          </a:p>
        </p:txBody>
      </p:sp>
      <p:sp>
        <p:nvSpPr>
          <p:cNvPr id="6" name="Footer"/>
          <p:cNvSpPr>
            <a:spLocks noGrp="1"/>
          </p:cNvSpPr>
          <p:nvPr>
            <p:ph type="ftr" sz="quarter" idx="11"/>
          </p:nvPr>
        </p:nvSpPr>
        <p:spPr/>
        <p:txBody>
          <a:bodyPr/>
          <a:lstStyle/>
          <a:p>
            <a:endParaRPr lang="en-US" dirty="0"/>
          </a:p>
        </p:txBody>
      </p:sp>
      <p:sp>
        <p:nvSpPr>
          <p:cNvPr id="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Footer"/>
          <p:cNvSpPr>
            <a:spLocks noGrp="1"/>
          </p:cNvSpPr>
          <p:nvPr>
            <p:ph type="ftr" sz="quarter" idx="11"/>
          </p:nvPr>
        </p:nvSpPr>
        <p:spPr/>
        <p:txBody>
          <a:bodyPr/>
          <a:lstStyle/>
          <a:p>
            <a:endParaRPr lang="en-US" dirty="0"/>
          </a:p>
        </p:txBody>
      </p:sp>
      <p:sp>
        <p:nvSpPr>
          <p:cNvPr id="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Theme" Type="http://schemas.openxmlformats.org/officeDocument/2006/relationships/theme" Target="../theme/theme1.xml"/><Relationship Id="rIdLogo"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Title Placeholder"/>
          <p:cNvSpPr>
            <a:spLocks noGrp="1"/>
          </p:cNvSpPr>
          <p:nvPr>
            <p:ph type="title"/>
          </p:nvPr>
        </p:nvSpPr>
        <p:spPr>
          <a:xfrm>
            <a:off x="1657350" y="200025"/>
            <a:ext cx="10858500" cy="1057275"/>
          </a:xfrm>
        </p:spPr>
        <p:txBody>
          <a:bodyPr vert="horz" wrap="square" lIns="25400" tIns="25400" rIns="25400" bIns="25400" anchor="ctr">
            <a:normAutofit/>
          </a:bodyPr>
          <a:lstStyle/>
          <a:p>
            <a:r>
              <a:rPr lang="en-US" dirty="0"/>
              <a:t>Click to edit title</a:t>
            </a:r>
            <a:endParaRPr lang="en-US" dirty="0"/>
          </a:p>
        </p:txBody>
      </p:sp>
      <p:sp>
        <p:nvSpPr>
          <p:cNvPr id="6" name="Text Placeholder"/>
          <p:cNvSpPr>
            <a:spLocks noGrp="1"/>
          </p:cNvSpPr>
          <p:nvPr>
            <p:ph type="body" idx="1"/>
          </p:nvPr>
        </p:nvSpPr>
        <p:spPr>
          <a:xfrm>
            <a:off x="1809750" y="1600200"/>
            <a:ext cx="11772900" cy="7962900"/>
          </a:xfrm>
        </p:spPr>
        <p:txBody>
          <a:bodyPr vert="horz" wrap="square" lIns="25400" tIns="25400" rIns="25400" bIns="25400">
            <a:noAutofit/>
          </a:bodyPr>
          <a:lstStyle/>
          <a:p>
            <a:r>
              <a:rPr lang="en-US" dirty="0"/>
              <a:t>Body text: plain paragraphs</a:t>
            </a:r>
            <a:endParaRPr lang="en-US" dirty="0"/>
          </a:p>
          <a:p>
            <a:pPr lvl="1"/>
            <a:r>
              <a:rPr lang="en-US"/>
              <a:t>Second level: bullets</a:t>
            </a:r>
          </a:p>
        </p:txBody>
      </p:sp>
      <p:sp>
        <p:nvSpPr>
          <p:cNvPr id="7" name="Footer Placeholder"/>
          <p:cNvSpPr>
            <a:spLocks noGrp="1"/>
          </p:cNvSpPr>
          <p:nvPr>
            <p:ph type="ftr" sz="quarter" idx="11"/>
          </p:nvPr>
        </p:nvSpPr>
        <p:spPr>
          <a:xfrm>
            <a:off x="1054418" y="9810750"/>
            <a:ext cx="13264515" cy="342900"/>
          </a:xfrm>
        </p:spPr>
        <p:txBody>
          <a:bodyPr wrap="square" lIns="25400" tIns="25400" rIns="25400" bIns="25400" anchor="t"/>
          <a:lstStyle>
            <a:lvl1pPr algn="ctr">
              <a:defRPr sz="1800">
                <a:solidFill>
                  <a:srgbClr val="2E2E2E"/>
                </a:solidFill>
                <a:latin typeface="+mn-lt"/>
                <a:ea typeface="+mn-ea"/>
                <a:cs typeface="+mn-cs"/>
              </a:defRPr>
            </a:lvl1pPr>
          </a:lstStyle>
          <a:p>
            <a:endParaRPr lang="en-US" dirty="0"/>
          </a:p>
        </p:txBody>
      </p:sp>
      <p:sp>
        <p:nvSpPr>
          <p:cNvPr id="8" name="Slide Number Placeholder"/>
          <p:cNvSpPr>
            <a:spLocks noGrp="1"/>
          </p:cNvSpPr>
          <p:nvPr>
            <p:ph type="sldNum" sz="quarter" idx="12"/>
          </p:nvPr>
        </p:nvSpPr>
        <p:spPr>
          <a:xfrm>
            <a:off x="12900000" y="9810750"/>
            <a:ext cx="758850" cy="342900"/>
          </a:xfrm>
        </p:spPr>
        <p:txBody>
          <a:bodyPr wrap="square" lIns="25400" tIns="25400" rIns="25400" bIns="25400" anchor="t"/>
          <a:lstStyle>
            <a:lvl1pPr algn="r">
              <a:defRPr sz="1800">
                <a:solidFill>
                  <a:srgbClr val="2E2E2E"/>
                </a:solidFill>
                <a:latin typeface="+mn-lt"/>
                <a:ea typeface="+mn-ea"/>
                <a:cs typeface="+mn-cs"/>
              </a:defRPr>
            </a:lvl1pPr>
          </a:lstStyle>
          <a:p>
            <a:fld id="{B6F15528-21DE-4FAA-801E-634DDDAF4B2B}" type="slidenum">
              <a:rPr lang="en-US"/>
              <a:t>‹#›</a:t>
            </a:fld>
            <a:endParaRPr lang="en-US"/>
          </a:p>
        </p:txBody>
      </p:sp>
      <p:sp>
        <p:nvSpPr>
          <p:cNvPr id="9" name="Lesson tag"/>
          <p:cNvSpPr txBox="1"/>
          <p:nvPr userDrawn="1"/>
        </p:nvSpPr>
        <p:spPr>
          <a:xfrm>
            <a:off x="11658600" y="133350"/>
            <a:ext cx="2000250" cy="393700"/>
          </a:xfrm>
          <a:prstGeom prst="rect">
            <a:avLst/>
          </a:prstGeom>
          <a:noFill/>
        </p:spPr>
        <p:txBody>
          <a:bodyPr wrap="square" lIns="25400" tIns="25400" rIns="25400" bIns="25400" rtlCol="0" anchor="t">
            <a:noAutofit/>
          </a:bodyPr>
          <a:lstStyle/>
          <a:p>
            <a:pPr algn="r"/>
            <a:r>
              <a:rPr lang="en-US" sz="2100" b="1" dirty="0"/>
              <a:t>Lesson 2</a:t>
            </a:r>
            <a:endParaRPr lang="en-US" sz="2100" b="1" dirty="0"/>
          </a:p>
        </p:txBody>
      </p:sp>
      <p:sp>
        <p:nvSpPr>
          <p:cNvPr id="10" name="Section list"/>
          <p:cNvSpPr txBox="1"/>
          <p:nvPr userDrawn="1"/>
        </p:nvSpPr>
        <p:spPr>
          <a:xfrm>
            <a:off x="133350" y="2381250"/>
            <a:ext cx="1442184" cy="4191000"/>
          </a:xfrm>
          <a:prstGeom prst="rect">
            <a:avLst/>
          </a:prstGeom>
          <a:noFill/>
        </p:spPr>
        <p:txBody>
          <a:bodyPr wrap="square" lIns="25400" tIns="0" rIns="0" bIns="0" rtlCol="0" anchor="t">
            <a:noAutofit/>
          </a:bodyPr>
          <a:lstStyle/>
          <a:p>
            <a:pPr>
              <a:lnSpc>
                <a:spcPts val="3000"/>
              </a:lnSpc>
            </a:pPr>
            <a:r>
              <a:rPr lang="en-US" sz="1800" dirty="0"/>
              <a:t>Overview</a:t>
            </a:r>
            <a:endParaRPr lang="en-US" sz="1800" dirty="0"/>
          </a:p>
          <a:p>
            <a:pPr>
              <a:lnSpc>
                <a:spcPts val="3000"/>
              </a:lnSpc>
            </a:pPr>
            <a:r>
              <a:rPr lang="en-US" sz="1800" dirty="0"/>
              <a:t>Concepts</a:t>
            </a:r>
            <a:endParaRPr lang="en-US" sz="1800" dirty="0"/>
          </a:p>
          <a:p>
            <a:pPr>
              <a:lnSpc>
                <a:spcPts val="3000"/>
              </a:lnSpc>
            </a:pPr>
            <a:r>
              <a:rPr lang="en-US" sz="1800" dirty="0"/>
              <a:t>Specify</a:t>
            </a:r>
            <a:endParaRPr lang="en-US" sz="1800" dirty="0"/>
          </a:p>
          <a:p>
            <a:pPr>
              <a:lnSpc>
                <a:spcPts val="3000"/>
              </a:lnSpc>
            </a:pPr>
            <a:r>
              <a:rPr lang="en-US" sz="1800" dirty="0"/>
              <a:t>Setup</a:t>
            </a:r>
            <a:endParaRPr lang="en-US" sz="1800" dirty="0"/>
          </a:p>
          <a:p>
            <a:pPr>
              <a:lnSpc>
                <a:spcPts val="3000"/>
              </a:lnSpc>
            </a:pPr>
            <a:r>
              <a:rPr lang="en-US" sz="1800" dirty="0"/>
              <a:t>Generate</a:t>
            </a:r>
            <a:endParaRPr lang="en-US" sz="1800" dirty="0"/>
          </a:p>
          <a:p>
            <a:pPr>
              <a:lnSpc>
                <a:spcPts val="3000"/>
              </a:lnSpc>
            </a:pPr>
            <a:r>
              <a:rPr lang="en-US" sz="1800" dirty="0"/>
              <a:t>Adjudicate</a:t>
            </a:r>
            <a:endParaRPr lang="en-US" sz="1800" dirty="0"/>
          </a:p>
          <a:p>
            <a:pPr>
              <a:lnSpc>
                <a:spcPts val="3000"/>
              </a:lnSpc>
            </a:pPr>
            <a:r>
              <a:rPr lang="en-US" sz="1800" dirty="0"/>
              <a:t>Pitfalls</a:t>
            </a:r>
            <a:endParaRPr lang="en-US" sz="1800" dirty="0"/>
          </a:p>
          <a:p>
            <a:pPr>
              <a:lnSpc>
                <a:spcPts val="3000"/>
              </a:lnSpc>
            </a:pPr>
            <a:r>
              <a:rPr lang="en-US" sz="1800" dirty="0"/>
              <a:t>GenAI Use</a:t>
            </a:r>
            <a:endParaRPr lang="en-US" sz="1800" dirty="0"/>
          </a:p>
          <a:p>
            <a:pPr>
              <a:lnSpc>
                <a:spcPts val="3000"/>
              </a:lnSpc>
            </a:pPr>
            <a:r>
              <a:rPr lang="en-US" sz="1800" dirty="0"/>
              <a:t>Your Repo</a:t>
            </a:r>
            <a:endParaRPr lang="en-US" sz="1800" dirty="0"/>
          </a:p>
          <a:p>
            <a:pPr>
              <a:lnSpc>
                <a:spcPts val="3000"/>
              </a:lnSpc>
            </a:pPr>
            <a:r>
              <a:rPr lang="en-US" sz="1800" dirty="0"/>
              <a:t>Teaching</a:t>
            </a:r>
            <a:endParaRPr lang="en-US" sz="1800" dirty="0"/>
          </a:p>
          <a:p>
            <a:pPr>
              <a:lnSpc>
                <a:spcPts val="3000"/>
              </a:lnSpc>
            </a:pPr>
            <a:r>
              <a:rPr lang="en-US" sz="1800" dirty="0"/>
              <a:t>Review</a:t>
            </a:r>
            <a:endParaRPr lang="en-US" sz="18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hdr="0" dt="0"/>
  <p:txStyles>
    <p:title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p:titleStyle>
    <p:bodyStyle>
      <a:lvl1pPr marL="0" indent="0" algn="l" defTabSz="914400" rtl="0" eaLnBrk="1" latinLnBrk="0" hangingPunct="1">
        <a:spcBef>
          <a:spcPts val="0"/>
        </a:spcBef>
        <a:spcAft>
          <a:spcPts val="600"/>
        </a:spcAft>
        <a:buNone/>
        <a:defRPr sz="2100" kern="1200">
          <a:solidFill>
            <a:schemeClr val="tx1"/>
          </a:solidFill>
          <a:latin typeface="+mn-lt"/>
          <a:ea typeface="+mn-ea"/>
          <a:cs typeface="+mn-cs"/>
        </a:defRPr>
      </a:lvl1pPr>
      <a:lvl2pPr marL="342900" indent="-342900" algn="l" defTabSz="914400" rtl="0" eaLnBrk="1" latinLnBrk="0" hangingPunct="1">
        <a:spcBef>
          <a:spcPts val="0"/>
        </a:spcBef>
        <a:spcAft>
          <a:spcPts val="600"/>
        </a:spcAft>
        <a:buClr>
          <a:schemeClr val="tx2"/>
        </a:buClr>
        <a:buFont typeface="Arial"/>
        <a:buChar char="•"/>
        <a:defRPr sz="1950" kern="1200">
          <a:solidFill>
            <a:schemeClr val="tx1"/>
          </a:solidFill>
          <a:latin typeface="+mn-lt"/>
          <a:ea typeface="+mn-ea"/>
          <a:cs typeface="+mn-cs"/>
        </a:defRPr>
      </a:lvl2pPr>
      <a:lvl3pPr marL="6858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3pPr>
      <a:lvl4pPr marL="10287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4pPr>
      <a:lvl5pPr marL="13716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5pPr>
      <a:lvl6pPr marL="17145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6pPr>
      <a:lvl7pPr marL="20574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7pPr>
      <a:lvl8pPr marL="24003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8pPr>
      <a:lvl9pPr marL="27432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urse title"/>
          <p:cNvSpPr>
            <a:spLocks noGrp="1"/>
          </p:cNvSpPr>
          <p:nvPr>
            <p:ph type="title"/>
          </p:nvPr>
        </p:nvSpPr>
        <p:spPr/>
        <p:txBody>
          <a:bodyPr/>
          <a:lstStyle/>
          <a:p>
            <a:r>
              <a:rPr lang="en-US" dirty="0"/>
              <a:t>Agentic AI for Engineering</a:t>
            </a:r>
            <a:endParaRPr lang="en-US" dirty="0"/>
          </a:p>
        </p:txBody>
      </p:sp>
      <p:sp>
        <p:nvSpPr>
          <p:cNvPr id="3" name="Text 1"/>
          <p:cNvSpPr>
            <a:spLocks noGrp="1"/>
          </p:cNvSpPr>
          <p:nvPr>
            <p:ph type="body" idx="1"/>
          </p:nvPr>
        </p:nvSpPr>
        <p:spPr/>
        <p:txBody>
          <a:bodyPr/>
          <a:lstStyle/>
          <a:p>
            <a:r>
              <a:rPr lang="en-US" dirty="0"/>
              <a:t>Lesson 2</a:t>
            </a:r>
            <a:endParaRPr lang="en-US" dirty="0"/>
          </a:p>
        </p:txBody>
      </p:sp>
      <p:sp>
        <p:nvSpPr>
          <p:cNvPr id="4" name="Text 2"/>
          <p:cNvSpPr>
            <a:spLocks noGrp="1"/>
          </p:cNvSpPr>
          <p:nvPr>
            <p:ph type="body" idx="2"/>
          </p:nvPr>
        </p:nvSpPr>
        <p:spPr/>
        <p:txBody>
          <a:bodyPr/>
          <a:lstStyle/>
          <a:p>
            <a:r>
              <a:rPr lang="en-US" dirty="0"/>
              <a:t>Introduction to Agentic AI for Coding</a:t>
            </a:r>
            <a:endParaRPr lang="en-US" dirty="0"/>
          </a:p>
        </p:txBody>
      </p:sp>
      <p:sp>
        <p:nvSpPr>
          <p:cNvPr id="5" name="Text 3"/>
          <p:cNvSpPr>
            <a:spLocks noGrp="1"/>
          </p:cNvSpPr>
          <p:nvPr>
            <p:ph type="body" idx="3"/>
          </p:nvPr>
        </p:nvSpPr>
        <p:spPr/>
        <p:txBody>
          <a:bodyPr/>
          <a:lstStyle/>
          <a:p>
            <a:r>
              <a:rPr lang="en-US" dirty="0"/>
              <a:t>Hands-on with Claude Code on the web</a:t>
            </a:r>
            <a:endParaRPr lang="en-US" dirty="0"/>
          </a:p>
        </p:txBody>
      </p:sp>
      <p:sp>
        <p:nvSpPr>
          <p:cNvPr id="6" name="Text 4"/>
          <p:cNvSpPr>
            <a:spLocks noGrp="1"/>
          </p:cNvSpPr>
          <p:nvPr>
            <p:ph type="body" idx="4"/>
          </p:nvPr>
        </p:nvSpPr>
        <p:spPr/>
        <p:txBody>
          <a:bodyPr/>
          <a:lstStyle/>
          <a:p>
            <a:r>
              <a:rPr lang="en-US" dirty="0"/>
              <a:t>Specify, generate, and verify changes with a coding agent</a:t>
            </a:r>
            <a:endParaRPr lang="en-US" dirty="0"/>
          </a:p>
        </p:txBody>
      </p:sp>
      <p:sp>
        <p:nvSpPr>
          <p:cNvPr id="7" name="Text 5"/>
          <p:cNvSpPr>
            <a:spLocks noGrp="1"/>
          </p:cNvSpPr>
          <p:nvPr>
            <p:ph type="body" idx="5"/>
          </p:nvPr>
        </p:nvSpPr>
        <p:spPr/>
        <p:txBody>
          <a:bodyPr/>
          <a:lstStyle/>
          <a:p>
            <a:r>
              <a:rPr lang="en-US" dirty="0"/>
              <a:t>USAFA Instructor Short Course</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Lesson Objectives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618488"/>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By the end of this lesson you can:</a:t>
            </a:r>
            <a:endParaRPr lang="en-US" sz="2100"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1810512" y="2185416"/>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2340864" y="2212848"/>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Explain how a coding agent differs from a chat LLM, and how your role changes</a:t>
            </a:r>
            <a:endParaRPr lang="en-US" sz="21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729484"/>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340864" y="2756916"/>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Give an agent your project’s context with CLAUDE.md (and AGENTS.md)</a:t>
            </a:r>
            <a:endParaRPr lang="en-US" sz="21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810512" y="3273552"/>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340864" y="3300984"/>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Specify a change as a verifiable requirement, and get a plan before any code</a:t>
            </a:r>
            <a:endParaRPr lang="en-US" sz="21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3817620"/>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2340864" y="3845052"/>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Review an agent’s diff and pull request, then verify the result yourself</a:t>
            </a:r>
            <a:endParaRPr lang="en-US" sz="21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810512" y="4361688"/>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2340864" y="4389120"/>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Document GenAI use, and plan how cadets will use agents in your course</a:t>
            </a:r>
            <a:endParaRPr lang="en-US" sz="21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5148072"/>
            <a:ext cx="12847320" cy="393192"/>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Agenda (50 min)</a:t>
            </a:r>
            <a:endParaRPr lang="en-US" sz="210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5715000"/>
            <a:ext cx="3456432" cy="987552"/>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6" name="Text 33"/>
          <p:cNvSpPr txBox="1"/>
          <p:nvPr/>
        </p:nvSpPr>
        <p:spPr>
          <a:xfrm>
            <a:off x="2002536" y="5888736"/>
            <a:ext cx="3273552"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0–15 min</a:t>
            </a:r>
            <a:endParaRPr lang="en-US" sz="180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2002536" y="6227064"/>
            <a:ext cx="3273552"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Concepts</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5340096" y="5715000"/>
            <a:ext cx="6912864" cy="987552"/>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9" name="Text 36"/>
          <p:cNvSpPr txBox="1"/>
          <p:nvPr/>
        </p:nvSpPr>
        <p:spPr>
          <a:xfrm>
            <a:off x="5532120" y="5888736"/>
            <a:ext cx="6729984"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15–45 min</a:t>
            </a:r>
            <a:endParaRPr lang="en-US" sz="18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5532120" y="6227064"/>
            <a:ext cx="6729984"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Guided exercises in Claude Code</a:t>
            </a:r>
            <a:endParaRPr lang="en-US" sz="1800" dirty="0"/>
          </a:p>
        </p:txBody>
      </p:sp>
      <p:sp xmlns:p="http://schemas.openxmlformats.org/presentationml/2006/main" xmlns:a="http://schemas.openxmlformats.org/drawingml/2006/main" xmlns:r="http://schemas.openxmlformats.org/officeDocument/2006/relationships">
        <p:nvSpPr>
          <p:cNvPr id="21" name="Shape 38"/>
          <p:cNvSpPr/>
          <p:nvPr/>
        </p:nvSpPr>
        <p:spPr>
          <a:xfrm>
            <a:off x="12335256" y="5715000"/>
            <a:ext cx="1152144" cy="987552"/>
          </a:xfrm>
          <a:prstGeom prst="rect">
            <a:avLst/>
          </a:prstGeom>
          <a:solidFill>
            <a:srgbClr val="595959"/>
          </a:solidFill>
          <a:ln/>
        </p:spPr>
      </p:sp>
      <p:sp xmlns:p="http://schemas.openxmlformats.org/presentationml/2006/main" xmlns:a="http://schemas.openxmlformats.org/drawingml/2006/main" xmlns:r="http://schemas.openxmlformats.org/officeDocument/2006/relationships">
        <p:nvSpPr>
          <p:cNvPr id="22" name="Text 39"/>
          <p:cNvSpPr txBox="1"/>
          <p:nvPr/>
        </p:nvSpPr>
        <p:spPr>
          <a:xfrm>
            <a:off x="12444984" y="5888736"/>
            <a:ext cx="969264"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45–50</a:t>
            </a:r>
            <a:endParaRPr lang="en-US" sz="1800"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12444984" y="6227064"/>
            <a:ext cx="969264"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Review</a:t>
            </a:r>
            <a:endParaRPr lang="en-US" sz="1800" dirty="0"/>
          </a:p>
        </p:txBody>
      </p:sp>
      <p:sp xmlns:p="http://schemas.openxmlformats.org/presentationml/2006/main" xmlns:a="http://schemas.openxmlformats.org/drawingml/2006/main" xmlns:r="http://schemas.openxmlformats.org/officeDocument/2006/relationships">
        <p:nvSpPr>
          <p:cNvPr id="24"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Prerequisites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618488"/>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Complete before class:</a:t>
            </a:r>
            <a:endParaRPr lang="en-US" sz="2100" dirty="0"/>
          </a:p>
        </p:txBody>
      </p:sp>
      <p:sp xmlns:p="http://schemas.openxmlformats.org/presentationml/2006/main" xmlns:a="http://schemas.openxmlformats.org/drawingml/2006/main" xmlns:r="http://schemas.openxmlformats.org/officeDocument/2006/relationships">
        <p:nvSpPr>
          <p:cNvPr id="4" name="Shape 21"/>
          <p:cNvSpPr/>
          <p:nvPr/>
        </p:nvSpPr>
        <p:spPr>
          <a:xfrm>
            <a:off x="1810512" y="2167128"/>
            <a:ext cx="11676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 name="Text 22"/>
          <p:cNvSpPr txBox="1"/>
          <p:nvPr/>
        </p:nvSpPr>
        <p:spPr>
          <a:xfrm>
            <a:off x="1984248" y="2350008"/>
            <a:ext cx="2898648" cy="695706"/>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Lesson 1 repo</a:t>
            </a:r>
            <a:endParaRPr lang="en-US" sz="19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5120640" y="2350008"/>
            <a:ext cx="8449056" cy="695706"/>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Your private copy of </a:t>
            </a:r>
            <a:r>
              <a:rPr lang="en-US" sz="1950" b="1" dirty="0">
                <a:solidFill>
                  <a:srgbClr val="000000"/>
                </a:solidFill>
                <a:latin typeface="+mn-lt"/>
                <a:ea typeface="+mn-ea"/>
                <a:cs typeface="+mn-cs"/>
              </a:rPr>
              <a:t>beam-calc</a:t>
            </a:r>
            <a:r>
              <a:rPr lang="en-US" sz="1950" dirty="0">
                <a:solidFill>
                  <a:srgbClr val="000000"/>
                </a:solidFill>
                <a:latin typeface="+mn-lt"/>
                <a:ea typeface="+mn-ea"/>
                <a:cs typeface="+mn-cs"/>
              </a:rPr>
              <a:t xml:space="preserve"> on GitHub, cloned with GitHub Desktop.</a:t>
            </a:r>
            <a:endParaRPr lang="en-US" sz="1950" dirty="0"/>
          </a:p>
        </p:txBody>
      </p:sp>
      <p:sp xmlns:p="http://schemas.openxmlformats.org/presentationml/2006/main" xmlns:a="http://schemas.openxmlformats.org/drawingml/2006/main" xmlns:r="http://schemas.openxmlformats.org/officeDocument/2006/relationships">
        <p:nvSpPr>
          <p:cNvPr id="7" name="Shape 24"/>
          <p:cNvSpPr/>
          <p:nvPr/>
        </p:nvSpPr>
        <p:spPr>
          <a:xfrm>
            <a:off x="1810512" y="3210306"/>
            <a:ext cx="3145536"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8" name="Shape 25"/>
          <p:cNvSpPr/>
          <p:nvPr/>
        </p:nvSpPr>
        <p:spPr>
          <a:xfrm>
            <a:off x="4956048" y="3210306"/>
            <a:ext cx="8531352"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9" name="Text 26"/>
          <p:cNvSpPr txBox="1"/>
          <p:nvPr/>
        </p:nvSpPr>
        <p:spPr>
          <a:xfrm>
            <a:off x="1984248" y="3393186"/>
            <a:ext cx="2898648" cy="997839"/>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Agent account</a:t>
            </a:r>
            <a:endParaRPr lang="en-US" sz="19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5120640" y="3393186"/>
            <a:ext cx="8449056" cy="997839"/>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Claude Pro or higher for Claude Code on the web. Use the account type your organization directs. Other tools: see Agent Tool Options.</a:t>
            </a:r>
            <a:endParaRPr lang="en-US" sz="1950" dirty="0"/>
          </a:p>
        </p:txBody>
      </p:sp>
      <p:sp xmlns:p="http://schemas.openxmlformats.org/presentationml/2006/main" xmlns:a="http://schemas.openxmlformats.org/drawingml/2006/main" xmlns:r="http://schemas.openxmlformats.org/officeDocument/2006/relationships">
        <p:nvSpPr>
          <p:cNvPr id="11" name="Shape 28"/>
          <p:cNvSpPr/>
          <p:nvPr/>
        </p:nvSpPr>
        <p:spPr>
          <a:xfrm>
            <a:off x="1810512" y="4555617"/>
            <a:ext cx="3145536"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2" name="Shape 29"/>
          <p:cNvSpPr/>
          <p:nvPr/>
        </p:nvSpPr>
        <p:spPr>
          <a:xfrm>
            <a:off x="4956048" y="4555617"/>
            <a:ext cx="8531352"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3" name="Text 30"/>
          <p:cNvSpPr txBox="1"/>
          <p:nvPr/>
        </p:nvSpPr>
        <p:spPr>
          <a:xfrm>
            <a:off x="1984248" y="4738497"/>
            <a:ext cx="2898648" cy="695706"/>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GitHub Desktop + VS Code</a:t>
            </a:r>
            <a:endParaRPr lang="en-US" sz="195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5120640" y="4738497"/>
            <a:ext cx="8449056" cy="695706"/>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Installed and signed in (Lesson 1).</a:t>
            </a:r>
            <a:endParaRPr lang="en-US" sz="195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5598795"/>
            <a:ext cx="3145536"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6" name="Shape 33"/>
          <p:cNvSpPr/>
          <p:nvPr/>
        </p:nvSpPr>
        <p:spPr>
          <a:xfrm>
            <a:off x="4956048" y="5598795"/>
            <a:ext cx="8531352"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1984248" y="5781675"/>
            <a:ext cx="2898648" cy="393573"/>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MATLAB (optional)</a:t>
            </a:r>
            <a:endParaRPr lang="en-US" sz="195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5120640" y="5781675"/>
            <a:ext cx="8449056" cy="393573"/>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To run the tests yourself. The agent’s cloud sandbox has no MATLAB.</a:t>
            </a:r>
            <a:endParaRPr lang="en-US" sz="1950" dirty="0"/>
          </a:p>
        </p:txBody>
      </p:sp>
      <p:sp xmlns:p="http://schemas.openxmlformats.org/presentationml/2006/main" xmlns:a="http://schemas.openxmlformats.org/drawingml/2006/main" xmlns:r="http://schemas.openxmlformats.org/officeDocument/2006/relationships">
        <p:nvSpPr>
          <p:cNvPr id="19" name="Shape 36"/>
          <p:cNvSpPr/>
          <p:nvPr/>
        </p:nvSpPr>
        <p:spPr>
          <a:xfrm>
            <a:off x="1810512" y="6339840"/>
            <a:ext cx="3145536"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0" name="Shape 37"/>
          <p:cNvSpPr/>
          <p:nvPr/>
        </p:nvSpPr>
        <p:spPr>
          <a:xfrm>
            <a:off x="4956048" y="6339840"/>
            <a:ext cx="8531352"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Text 38"/>
          <p:cNvSpPr txBox="1"/>
          <p:nvPr/>
        </p:nvSpPr>
        <p:spPr>
          <a:xfrm>
            <a:off x="1984248" y="6522720"/>
            <a:ext cx="2898648" cy="393573"/>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Your own project</a:t>
            </a:r>
            <a:endParaRPr lang="en-US" sz="195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5120640" y="6522720"/>
            <a:ext cx="8449056" cy="393573"/>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The repo from Lesson 1’s Agent-Ready Checklist, for Exercise 7.</a:t>
            </a:r>
            <a:endParaRPr lang="en-US" sz="1950" dirty="0"/>
          </a:p>
        </p:txBody>
      </p:sp>
      <p:sp xmlns:p="http://schemas.openxmlformats.org/presentationml/2006/main" xmlns:a="http://schemas.openxmlformats.org/drawingml/2006/main" xmlns:r="http://schemas.openxmlformats.org/officeDocument/2006/relationships">
        <p:nvSpPr>
          <p:cNvPr id="23" name="Shape 40"/>
          <p:cNvSpPr/>
          <p:nvPr/>
        </p:nvSpPr>
        <p:spPr>
          <a:xfrm>
            <a:off x="1810512" y="7080885"/>
            <a:ext cx="3145536"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Shape 41"/>
          <p:cNvSpPr/>
          <p:nvPr/>
        </p:nvSpPr>
        <p:spPr>
          <a:xfrm>
            <a:off x="4956048" y="7080885"/>
            <a:ext cx="8531352"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5" name="Text 42"/>
          <p:cNvSpPr txBox="1"/>
          <p:nvPr/>
        </p:nvSpPr>
        <p:spPr>
          <a:xfrm>
            <a:off x="1810512" y="7355205"/>
            <a:ext cx="11887200" cy="73152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mn-lt"/>
                <a:ea typeface="+mn-ea"/>
                <a:cs typeface="+mn-cs"/>
              </a:rPr>
              <a:t>Follow current USAFA guidance on GenAI tools and data handling before you connect a repo to an agent.</a:t>
            </a:r>
            <a:endParaRPr lang="en-US" sz="1950"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238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Chat LLM vs. Coding Agent</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429000" cy="148132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993392"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1F6FB2"/>
                </a:solidFill>
                <a:latin typeface="+mn-lt"/>
                <a:ea typeface="+mn-ea"/>
                <a:cs typeface="+mn-cs"/>
              </a:rPr>
              <a:t>Chat LLM</a:t>
            </a:r>
            <a:endParaRPr lang="en-US" sz="21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993392"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Answers in text. You copy, paste, and debug.</a:t>
            </a:r>
            <a:endParaRPr lang="en-US" sz="1725" dirty="0"/>
          </a:p>
        </p:txBody>
      </p:sp>
      <p:sp xmlns:p="http://schemas.openxmlformats.org/presentationml/2006/main" xmlns:a="http://schemas.openxmlformats.org/drawingml/2006/main" xmlns:r="http://schemas.openxmlformats.org/officeDocument/2006/relationships">
        <p:nvSpPr>
          <p:cNvPr id="6" name="Shape 23"/>
          <p:cNvSpPr/>
          <p:nvPr/>
        </p:nvSpPr>
        <p:spPr>
          <a:xfrm>
            <a:off x="5330952" y="2148840"/>
            <a:ext cx="384048" cy="329184"/>
          </a:xfrm>
          <a:prstGeom prst="rightArrow">
            <a:avLst/>
          </a:prstGeom>
          <a:solidFill>
            <a:srgbClr val="1F6FB2"/>
          </a:solidFill>
          <a:ln/>
        </p:spPr>
      </p:sp>
      <p:sp xmlns:p="http://schemas.openxmlformats.org/presentationml/2006/main" xmlns:a="http://schemas.openxmlformats.org/drawingml/2006/main" xmlns:r="http://schemas.openxmlformats.org/officeDocument/2006/relationships">
        <p:nvSpPr>
          <p:cNvPr id="7" name="Shape 24"/>
          <p:cNvSpPr/>
          <p:nvPr/>
        </p:nvSpPr>
        <p:spPr>
          <a:xfrm>
            <a:off x="5797296" y="1572768"/>
            <a:ext cx="3429000" cy="1481328"/>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8" name="Text 25"/>
          <p:cNvSpPr txBox="1"/>
          <p:nvPr/>
        </p:nvSpPr>
        <p:spPr>
          <a:xfrm>
            <a:off x="5980176"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1F6FB2"/>
                </a:solidFill>
                <a:latin typeface="+mn-lt"/>
                <a:ea typeface="+mn-ea"/>
                <a:cs typeface="+mn-cs"/>
              </a:rPr>
              <a:t>LLM + tools</a:t>
            </a:r>
            <a:endParaRPr lang="en-US" sz="21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5980176"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Writes and runs code in the chat. You still integrate it.</a:t>
            </a:r>
            <a:endParaRPr lang="en-US" sz="1725" dirty="0"/>
          </a:p>
        </p:txBody>
      </p:sp>
      <p:sp xmlns:p="http://schemas.openxmlformats.org/presentationml/2006/main" xmlns:a="http://schemas.openxmlformats.org/drawingml/2006/main" xmlns:r="http://schemas.openxmlformats.org/officeDocument/2006/relationships">
        <p:nvSpPr>
          <p:cNvPr id="10" name="Shape 27"/>
          <p:cNvSpPr/>
          <p:nvPr/>
        </p:nvSpPr>
        <p:spPr>
          <a:xfrm>
            <a:off x="9317736" y="2148840"/>
            <a:ext cx="384048" cy="329184"/>
          </a:xfrm>
          <a:prstGeom prst="rightArrow">
            <a:avLst/>
          </a:prstGeom>
          <a:solidFill>
            <a:srgbClr val="1F6FB2"/>
          </a:solidFill>
          <a:ln/>
        </p:spPr>
      </p:sp>
      <p:sp xmlns:p="http://schemas.openxmlformats.org/presentationml/2006/main" xmlns:a="http://schemas.openxmlformats.org/drawingml/2006/main" xmlns:r="http://schemas.openxmlformats.org/officeDocument/2006/relationships">
        <p:nvSpPr>
          <p:cNvPr id="11" name="Shape 28"/>
          <p:cNvSpPr/>
          <p:nvPr/>
        </p:nvSpPr>
        <p:spPr>
          <a:xfrm>
            <a:off x="9784080" y="1572768"/>
            <a:ext cx="3429000" cy="148132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2" name="Text 29"/>
          <p:cNvSpPr txBox="1"/>
          <p:nvPr/>
        </p:nvSpPr>
        <p:spPr>
          <a:xfrm>
            <a:off x="9966960"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B0F0"/>
                </a:solidFill>
                <a:latin typeface="+mn-lt"/>
                <a:ea typeface="+mn-ea"/>
                <a:cs typeface="+mn-cs"/>
              </a:rPr>
              <a:t>Coding agent</a:t>
            </a:r>
            <a:endParaRPr lang="en-US" sz="21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966960" y="2139696"/>
            <a:ext cx="3108960" cy="868680"/>
          </a:xfrm>
          <a:prstGeom prst="rect">
            <a:avLst/>
          </a:prstGeom>
          <a:noFill/>
          <a:ln/>
        </p:spPr>
        <p:txBody>
          <a:bodyPr wrap="square" lIns="25400" tIns="25400" rIns="25400" bIns="25400" rtlCol="0" anchor="t">
            <a:noAutofit/>
          </a:bodyPr>
          <a:lstStyle/>
          <a:p>
            <a:pPr algn="l" indent="0" marL="0">
              <a:buNone/>
            </a:pPr>
            <a:r>
              <a:rPr lang="en-US" sz="1725" dirty="0">
                <a:solidFill>
                  <a:srgbClr val="FFFFFF"/>
                </a:solidFill>
                <a:latin typeface="+mn-lt"/>
                <a:ea typeface="+mn-ea"/>
                <a:cs typeface="+mn-cs"/>
              </a:rPr>
              <a:t>Reads your repo, edits files, runs commands, commits. You review.</a:t>
            </a:r>
            <a:endParaRPr lang="en-US" sz="1725" dirty="0"/>
          </a:p>
        </p:txBody>
      </p:sp>
      <p:sp xmlns:p="http://schemas.openxmlformats.org/presentationml/2006/main" xmlns:a="http://schemas.openxmlformats.org/drawingml/2006/main" xmlns:r="http://schemas.openxmlformats.org/officeDocument/2006/relationships">
        <p:nvSpPr>
          <p:cNvPr id="14" name="Shape 31"/>
          <p:cNvSpPr/>
          <p:nvPr/>
        </p:nvSpPr>
        <p:spPr>
          <a:xfrm>
            <a:off x="1810512" y="3337560"/>
            <a:ext cx="265176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5" name="Text 32"/>
          <p:cNvSpPr txBox="1"/>
          <p:nvPr/>
        </p:nvSpPr>
        <p:spPr>
          <a:xfrm>
            <a:off x="1984248" y="3470148"/>
            <a:ext cx="2423160" cy="347472"/>
          </a:xfrm>
          <a:prstGeom prst="rect">
            <a:avLst/>
          </a:prstGeom>
          <a:noFill/>
          <a:ln/>
        </p:spPr>
        <p:txBody>
          <a:bodyPr wrap="square" lIns="25400" tIns="25400" rIns="25400" bIns="25400" rtlCol="0" anchor="t">
            <a:noAutofit/>
          </a:bodyPr>
          <a:lstStyle/>
          <a:p>
            <a:pPr algn="l" indent="0" marL="0">
              <a:buNone/>
            </a:pP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4462272" y="3337560"/>
            <a:ext cx="438912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4636008" y="3470148"/>
            <a:ext cx="416052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Chat LLM (copy/paste)</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8851392" y="3337560"/>
            <a:ext cx="4636008"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9" name="Text 36"/>
          <p:cNvSpPr txBox="1"/>
          <p:nvPr/>
        </p:nvSpPr>
        <p:spPr>
          <a:xfrm>
            <a:off x="9025128" y="3470148"/>
            <a:ext cx="44074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Coding agent (Claude Code)</a:t>
            </a:r>
            <a:endParaRPr lang="en-US" sz="18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1984248" y="405079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Sees your code</a:t>
            </a:r>
            <a:endParaRPr lang="en-US" sz="1800" dirty="0"/>
          </a:p>
        </p:txBody>
      </p:sp>
      <p:sp xmlns:p="http://schemas.openxmlformats.org/presentationml/2006/main" xmlns:a="http://schemas.openxmlformats.org/drawingml/2006/main" xmlns:r="http://schemas.openxmlformats.org/officeDocument/2006/relationships">
        <p:nvSpPr>
          <p:cNvPr id="21" name="Shape 38"/>
          <p:cNvSpPr/>
          <p:nvPr/>
        </p:nvSpPr>
        <p:spPr>
          <a:xfrm>
            <a:off x="1810512" y="4503420"/>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2" name="Text 39"/>
          <p:cNvSpPr txBox="1"/>
          <p:nvPr/>
        </p:nvSpPr>
        <p:spPr>
          <a:xfrm>
            <a:off x="4636008" y="4050792"/>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Only what you paste in</a:t>
            </a:r>
            <a:endParaRPr lang="en-US" sz="1800" dirty="0"/>
          </a:p>
        </p:txBody>
      </p:sp>
      <p:sp xmlns:p="http://schemas.openxmlformats.org/presentationml/2006/main" xmlns:a="http://schemas.openxmlformats.org/drawingml/2006/main" xmlns:r="http://schemas.openxmlformats.org/officeDocument/2006/relationships">
        <p:nvSpPr>
          <p:cNvPr id="23" name="Shape 40"/>
          <p:cNvSpPr/>
          <p:nvPr/>
        </p:nvSpPr>
        <p:spPr>
          <a:xfrm>
            <a:off x="4462272" y="4503420"/>
            <a:ext cx="43891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Text 41"/>
          <p:cNvSpPr txBox="1"/>
          <p:nvPr/>
        </p:nvSpPr>
        <p:spPr>
          <a:xfrm>
            <a:off x="9025128" y="4050792"/>
            <a:ext cx="44074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Reads the whole repo itself</a:t>
            </a:r>
            <a:endParaRPr lang="en-US" sz="1800" dirty="0"/>
          </a:p>
        </p:txBody>
      </p:sp>
      <p:sp xmlns:p="http://schemas.openxmlformats.org/presentationml/2006/main" xmlns:a="http://schemas.openxmlformats.org/drawingml/2006/main" xmlns:r="http://schemas.openxmlformats.org/officeDocument/2006/relationships">
        <p:nvSpPr>
          <p:cNvPr id="25" name="Shape 42"/>
          <p:cNvSpPr/>
          <p:nvPr/>
        </p:nvSpPr>
        <p:spPr>
          <a:xfrm>
            <a:off x="8851392" y="4503420"/>
            <a:ext cx="46360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6" name="Text 43"/>
          <p:cNvSpPr txBox="1"/>
          <p:nvPr/>
        </p:nvSpPr>
        <p:spPr>
          <a:xfrm>
            <a:off x="1984248" y="462229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Edits code</a:t>
            </a:r>
            <a:endParaRPr lang="en-US" sz="1800" dirty="0"/>
          </a:p>
        </p:txBody>
      </p:sp>
      <p:sp xmlns:p="http://schemas.openxmlformats.org/presentationml/2006/main" xmlns:a="http://schemas.openxmlformats.org/drawingml/2006/main" xmlns:r="http://schemas.openxmlformats.org/officeDocument/2006/relationships">
        <p:nvSpPr>
          <p:cNvPr id="27" name="Shape 44"/>
          <p:cNvSpPr/>
          <p:nvPr/>
        </p:nvSpPr>
        <p:spPr>
          <a:xfrm>
            <a:off x="1810512" y="5353812"/>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8" name="Text 45"/>
          <p:cNvSpPr txBox="1"/>
          <p:nvPr/>
        </p:nvSpPr>
        <p:spPr>
          <a:xfrm>
            <a:off x="4636008" y="4622292"/>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You copy, paste, and merge by hand</a:t>
            </a:r>
            <a:endParaRPr lang="en-US" sz="1800" dirty="0"/>
          </a:p>
        </p:txBody>
      </p:sp>
      <p:sp xmlns:p="http://schemas.openxmlformats.org/presentationml/2006/main" xmlns:a="http://schemas.openxmlformats.org/drawingml/2006/main" xmlns:r="http://schemas.openxmlformats.org/officeDocument/2006/relationships">
        <p:nvSpPr>
          <p:cNvPr id="29" name="Shape 46"/>
          <p:cNvSpPr/>
          <p:nvPr/>
        </p:nvSpPr>
        <p:spPr>
          <a:xfrm>
            <a:off x="4462272" y="5353812"/>
            <a:ext cx="43891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0" name="Text 47"/>
          <p:cNvSpPr txBox="1"/>
          <p:nvPr/>
        </p:nvSpPr>
        <p:spPr>
          <a:xfrm>
            <a:off x="9025128" y="4622292"/>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Edits files and commits them to a branch</a:t>
            </a:r>
            <a:endParaRPr lang="en-US" sz="1800" dirty="0"/>
          </a:p>
        </p:txBody>
      </p:sp>
      <p:sp xmlns:p="http://schemas.openxmlformats.org/presentationml/2006/main" xmlns:a="http://schemas.openxmlformats.org/drawingml/2006/main" xmlns:r="http://schemas.openxmlformats.org/officeDocument/2006/relationships">
        <p:nvSpPr>
          <p:cNvPr id="31" name="Shape 48"/>
          <p:cNvSpPr/>
          <p:nvPr/>
        </p:nvSpPr>
        <p:spPr>
          <a:xfrm>
            <a:off x="8851392" y="5353812"/>
            <a:ext cx="46360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2" name="Text 49"/>
          <p:cNvSpPr txBox="1"/>
          <p:nvPr/>
        </p:nvSpPr>
        <p:spPr>
          <a:xfrm>
            <a:off x="1984248" y="5472684"/>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Runs commands</a:t>
            </a:r>
            <a:endParaRPr lang="en-US" sz="1800" dirty="0"/>
          </a:p>
        </p:txBody>
      </p:sp>
      <p:sp xmlns:p="http://schemas.openxmlformats.org/presentationml/2006/main" xmlns:a="http://schemas.openxmlformats.org/drawingml/2006/main" xmlns:r="http://schemas.openxmlformats.org/officeDocument/2006/relationships">
        <p:nvSpPr>
          <p:cNvPr id="33" name="Shape 50"/>
          <p:cNvSpPr/>
          <p:nvPr/>
        </p:nvSpPr>
        <p:spPr>
          <a:xfrm>
            <a:off x="1810512" y="6204204"/>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4" name="Text 51"/>
          <p:cNvSpPr txBox="1"/>
          <p:nvPr/>
        </p:nvSpPr>
        <p:spPr>
          <a:xfrm>
            <a:off x="4636008" y="5472684"/>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No</a:t>
            </a:r>
            <a:endParaRPr lang="en-US" sz="1800" dirty="0"/>
          </a:p>
        </p:txBody>
      </p:sp>
      <p:sp xmlns:p="http://schemas.openxmlformats.org/presentationml/2006/main" xmlns:a="http://schemas.openxmlformats.org/drawingml/2006/main" xmlns:r="http://schemas.openxmlformats.org/officeDocument/2006/relationships">
        <p:nvSpPr>
          <p:cNvPr id="35" name="Shape 52"/>
          <p:cNvSpPr/>
          <p:nvPr/>
        </p:nvSpPr>
        <p:spPr>
          <a:xfrm>
            <a:off x="4462272" y="6204204"/>
            <a:ext cx="43891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6" name="Text 53"/>
          <p:cNvSpPr txBox="1"/>
          <p:nvPr/>
        </p:nvSpPr>
        <p:spPr>
          <a:xfrm>
            <a:off x="9025128" y="5472684"/>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Yes, in a cloud sandbox (search, scripts)</a:t>
            </a:r>
            <a:endParaRPr lang="en-US" sz="1800" dirty="0"/>
          </a:p>
        </p:txBody>
      </p:sp>
      <p:sp xmlns:p="http://schemas.openxmlformats.org/presentationml/2006/main" xmlns:a="http://schemas.openxmlformats.org/drawingml/2006/main" xmlns:r="http://schemas.openxmlformats.org/officeDocument/2006/relationships">
        <p:nvSpPr>
          <p:cNvPr id="37" name="Shape 54"/>
          <p:cNvSpPr/>
          <p:nvPr/>
        </p:nvSpPr>
        <p:spPr>
          <a:xfrm>
            <a:off x="8851392" y="6204204"/>
            <a:ext cx="46360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8" name="Text 55"/>
          <p:cNvSpPr txBox="1"/>
          <p:nvPr/>
        </p:nvSpPr>
        <p:spPr>
          <a:xfrm>
            <a:off x="1984248" y="6323076"/>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Project rules</a:t>
            </a:r>
            <a:endParaRPr lang="en-US" sz="1800" dirty="0"/>
          </a:p>
        </p:txBody>
      </p:sp>
      <p:sp xmlns:p="http://schemas.openxmlformats.org/presentationml/2006/main" xmlns:a="http://schemas.openxmlformats.org/drawingml/2006/main" xmlns:r="http://schemas.openxmlformats.org/officeDocument/2006/relationships">
        <p:nvSpPr>
          <p:cNvPr id="39" name="Shape 56"/>
          <p:cNvSpPr/>
          <p:nvPr/>
        </p:nvSpPr>
        <p:spPr>
          <a:xfrm>
            <a:off x="1810512" y="7054596"/>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0" name="Text 57"/>
          <p:cNvSpPr txBox="1"/>
          <p:nvPr/>
        </p:nvSpPr>
        <p:spPr>
          <a:xfrm>
            <a:off x="4636008" y="6323076"/>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Re-explained in every chat</a:t>
            </a:r>
            <a:endParaRPr lang="en-US" sz="1800" dirty="0"/>
          </a:p>
        </p:txBody>
      </p:sp>
      <p:sp xmlns:p="http://schemas.openxmlformats.org/presentationml/2006/main" xmlns:a="http://schemas.openxmlformats.org/drawingml/2006/main" xmlns:r="http://schemas.openxmlformats.org/officeDocument/2006/relationships">
        <p:nvSpPr>
          <p:cNvPr id="41" name="Shape 58"/>
          <p:cNvSpPr/>
          <p:nvPr/>
        </p:nvSpPr>
        <p:spPr>
          <a:xfrm>
            <a:off x="4462272" y="7054596"/>
            <a:ext cx="43891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2" name="Text 59"/>
          <p:cNvSpPr txBox="1"/>
          <p:nvPr/>
        </p:nvSpPr>
        <p:spPr>
          <a:xfrm>
            <a:off x="9025128" y="6323076"/>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Written once in CLAUDE.md, read every session</a:t>
            </a:r>
            <a:endParaRPr lang="en-US" sz="1800" dirty="0"/>
          </a:p>
        </p:txBody>
      </p:sp>
      <p:sp xmlns:p="http://schemas.openxmlformats.org/presentationml/2006/main" xmlns:a="http://schemas.openxmlformats.org/drawingml/2006/main" xmlns:r="http://schemas.openxmlformats.org/officeDocument/2006/relationships">
        <p:nvSpPr>
          <p:cNvPr id="43" name="Shape 60"/>
          <p:cNvSpPr/>
          <p:nvPr/>
        </p:nvSpPr>
        <p:spPr>
          <a:xfrm>
            <a:off x="8851392" y="7054596"/>
            <a:ext cx="46360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4" name="Text 61"/>
          <p:cNvSpPr txBox="1"/>
          <p:nvPr/>
        </p:nvSpPr>
        <p:spPr>
          <a:xfrm>
            <a:off x="1984248" y="717346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Your role</a:t>
            </a:r>
            <a:endParaRPr lang="en-US" sz="1800" dirty="0"/>
          </a:p>
        </p:txBody>
      </p:sp>
      <p:sp xmlns:p="http://schemas.openxmlformats.org/presentationml/2006/main" xmlns:a="http://schemas.openxmlformats.org/drawingml/2006/main" xmlns:r="http://schemas.openxmlformats.org/officeDocument/2006/relationships">
        <p:nvSpPr>
          <p:cNvPr id="45" name="Shape 62"/>
          <p:cNvSpPr/>
          <p:nvPr/>
        </p:nvSpPr>
        <p:spPr>
          <a:xfrm>
            <a:off x="1810512" y="7626096"/>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6" name="Text 63"/>
          <p:cNvSpPr txBox="1"/>
          <p:nvPr/>
        </p:nvSpPr>
        <p:spPr>
          <a:xfrm>
            <a:off x="4636008" y="7173468"/>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Integrator and debugger</a:t>
            </a:r>
            <a:endParaRPr lang="en-US" sz="1800" dirty="0"/>
          </a:p>
        </p:txBody>
      </p:sp>
      <p:sp xmlns:p="http://schemas.openxmlformats.org/presentationml/2006/main" xmlns:a="http://schemas.openxmlformats.org/drawingml/2006/main" xmlns:r="http://schemas.openxmlformats.org/officeDocument/2006/relationships">
        <p:nvSpPr>
          <p:cNvPr id="47" name="Shape 64"/>
          <p:cNvSpPr/>
          <p:nvPr/>
        </p:nvSpPr>
        <p:spPr>
          <a:xfrm>
            <a:off x="4462272" y="7626096"/>
            <a:ext cx="43891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8" name="Text 65"/>
          <p:cNvSpPr txBox="1"/>
          <p:nvPr/>
        </p:nvSpPr>
        <p:spPr>
          <a:xfrm>
            <a:off x="9025128" y="7173468"/>
            <a:ext cx="44074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Specifier, reviewer, and tester</a:t>
            </a:r>
            <a:endParaRPr lang="en-US" sz="1800" dirty="0"/>
          </a:p>
        </p:txBody>
      </p:sp>
      <p:sp xmlns:p="http://schemas.openxmlformats.org/presentationml/2006/main" xmlns:a="http://schemas.openxmlformats.org/drawingml/2006/main" xmlns:r="http://schemas.openxmlformats.org/officeDocument/2006/relationships">
        <p:nvSpPr>
          <p:cNvPr id="49" name="Shape 66"/>
          <p:cNvSpPr/>
          <p:nvPr/>
        </p:nvSpPr>
        <p:spPr>
          <a:xfrm>
            <a:off x="8851392" y="7626096"/>
            <a:ext cx="46360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50" name="Text 67"/>
          <p:cNvSpPr txBox="1"/>
          <p:nvPr/>
        </p:nvSpPr>
        <p:spPr>
          <a:xfrm>
            <a:off x="1810512" y="7872984"/>
            <a:ext cx="11704320" cy="822960"/>
          </a:xfrm>
          <a:prstGeom prst="rect">
            <a:avLst/>
          </a:prstGeom>
          <a:noFill/>
          <a:ln/>
        </p:spPr>
        <p:txBody>
          <a:bodyPr wrap="square" lIns="25400" tIns="25400" rIns="25400" bIns="25400" rtlCol="0" anchor="t">
            <a:noAutofit/>
          </a:bodyPr>
          <a:lstStyle/>
          <a:p>
            <a:pPr algn="l" indent="0" marL="0">
              <a:buNone/>
            </a:pPr>
            <a:r>
              <a:rPr lang="en-US" sz="2025" b="1" dirty="0">
                <a:solidFill>
                  <a:srgbClr val="000000"/>
                </a:solidFill>
                <a:latin typeface="+mn-lt"/>
                <a:ea typeface="+mn-ea"/>
                <a:cs typeface="+mn-cs"/>
              </a:rPr>
              <a:t>An agent does more work per prompt. Each prompt needs a clearer specification, and each result needs a closer review.</a:t>
            </a:r>
            <a:endParaRPr lang="en-US" sz="2025" dirty="0"/>
          </a:p>
        </p:txBody>
      </p:sp>
      <p:sp xmlns:p="http://schemas.openxmlformats.org/presentationml/2006/main" xmlns:a="http://schemas.openxmlformats.org/drawingml/2006/main" xmlns:r="http://schemas.openxmlformats.org/officeDocument/2006/relationships">
        <p:nvSpPr>
          <p:cNvPr id="51"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5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5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The Method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578608" cy="118872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901952"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00B0F0"/>
                </a:solidFill>
                <a:latin typeface="+mn-lt"/>
                <a:ea typeface="+mn-ea"/>
                <a:cs typeface="+mn-cs"/>
              </a:rPr>
              <a:t>SPECIFY</a:t>
            </a:r>
            <a:endParaRPr lang="en-US" sz="2025"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901952"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mn-lt"/>
                <a:ea typeface="+mn-ea"/>
                <a:cs typeface="+mn-cs"/>
              </a:rPr>
              <a:t>Verifiable requirements</a:t>
            </a:r>
            <a:endParaRPr lang="en-US" sz="1650" dirty="0"/>
          </a:p>
        </p:txBody>
      </p:sp>
      <p:sp xmlns:p="http://schemas.openxmlformats.org/presentationml/2006/main" xmlns:a="http://schemas.openxmlformats.org/drawingml/2006/main" xmlns:r="http://schemas.openxmlformats.org/officeDocument/2006/relationships">
        <p:nvSpPr>
          <p:cNvPr id="6" name="Shape 23"/>
          <p:cNvSpPr/>
          <p:nvPr/>
        </p:nvSpPr>
        <p:spPr>
          <a:xfrm>
            <a:off x="4425696" y="2011680"/>
            <a:ext cx="329184" cy="310896"/>
          </a:xfrm>
          <a:prstGeom prst="rightArrow">
            <a:avLst/>
          </a:prstGeom>
          <a:solidFill>
            <a:srgbClr val="1F6FB2"/>
          </a:solidFill>
          <a:ln/>
        </p:spPr>
      </p:sp>
      <p:sp xmlns:p="http://schemas.openxmlformats.org/presentationml/2006/main" xmlns:a="http://schemas.openxmlformats.org/drawingml/2006/main" xmlns:r="http://schemas.openxmlformats.org/officeDocument/2006/relationships">
        <p:nvSpPr>
          <p:cNvPr id="7" name="Shape 24"/>
          <p:cNvSpPr/>
          <p:nvPr/>
        </p:nvSpPr>
        <p:spPr>
          <a:xfrm>
            <a:off x="4800600" y="1572768"/>
            <a:ext cx="2578608" cy="118872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8" name="Text 25"/>
          <p:cNvSpPr txBox="1"/>
          <p:nvPr/>
        </p:nvSpPr>
        <p:spPr>
          <a:xfrm>
            <a:off x="4892040"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FFFFFF"/>
                </a:solidFill>
                <a:latin typeface="+mn-lt"/>
                <a:ea typeface="+mn-ea"/>
                <a:cs typeface="+mn-cs"/>
              </a:rPr>
              <a:t>GENERATE</a:t>
            </a:r>
            <a:endParaRPr lang="en-US" sz="2025"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4892040"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mn-lt"/>
                <a:ea typeface="+mn-ea"/>
                <a:cs typeface="+mn-cs"/>
              </a:rPr>
              <a:t>Agent proposes a design</a:t>
            </a:r>
            <a:endParaRPr lang="en-US" sz="1650" dirty="0"/>
          </a:p>
        </p:txBody>
      </p:sp>
      <p:sp xmlns:p="http://schemas.openxmlformats.org/presentationml/2006/main" xmlns:a="http://schemas.openxmlformats.org/drawingml/2006/main" xmlns:r="http://schemas.openxmlformats.org/officeDocument/2006/relationships">
        <p:nvSpPr>
          <p:cNvPr id="10" name="Shape 27"/>
          <p:cNvSpPr/>
          <p:nvPr/>
        </p:nvSpPr>
        <p:spPr>
          <a:xfrm>
            <a:off x="7415784" y="2011680"/>
            <a:ext cx="329184" cy="310896"/>
          </a:xfrm>
          <a:prstGeom prst="rightArrow">
            <a:avLst/>
          </a:prstGeom>
          <a:solidFill>
            <a:srgbClr val="1F6FB2"/>
          </a:solidFill>
          <a:ln/>
        </p:spPr>
      </p:sp>
      <p:sp xmlns:p="http://schemas.openxmlformats.org/presentationml/2006/main" xmlns:a="http://schemas.openxmlformats.org/drawingml/2006/main" xmlns:r="http://schemas.openxmlformats.org/officeDocument/2006/relationships">
        <p:nvSpPr>
          <p:cNvPr id="11" name="Shape 28"/>
          <p:cNvSpPr/>
          <p:nvPr/>
        </p:nvSpPr>
        <p:spPr>
          <a:xfrm>
            <a:off x="7790688" y="1572768"/>
            <a:ext cx="2578608" cy="118872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12" name="Text 29"/>
          <p:cNvSpPr txBox="1"/>
          <p:nvPr/>
        </p:nvSpPr>
        <p:spPr>
          <a:xfrm>
            <a:off x="7882128"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FFFFFF"/>
                </a:solidFill>
                <a:latin typeface="+mn-lt"/>
                <a:ea typeface="+mn-ea"/>
                <a:cs typeface="+mn-cs"/>
              </a:rPr>
              <a:t>IMPLEMENT</a:t>
            </a:r>
            <a:endParaRPr lang="en-US" sz="2025"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7882128"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mn-lt"/>
                <a:ea typeface="+mn-ea"/>
                <a:cs typeface="+mn-cs"/>
              </a:rPr>
              <a:t>Trusted tools make it real</a:t>
            </a:r>
            <a:endParaRPr lang="en-US" sz="1650" dirty="0"/>
          </a:p>
        </p:txBody>
      </p:sp>
      <p:sp xmlns:p="http://schemas.openxmlformats.org/presentationml/2006/main" xmlns:a="http://schemas.openxmlformats.org/drawingml/2006/main" xmlns:r="http://schemas.openxmlformats.org/officeDocument/2006/relationships">
        <p:nvSpPr>
          <p:cNvPr id="14" name="Shape 31"/>
          <p:cNvSpPr/>
          <p:nvPr/>
        </p:nvSpPr>
        <p:spPr>
          <a:xfrm>
            <a:off x="10405872" y="2011680"/>
            <a:ext cx="329184" cy="310896"/>
          </a:xfrm>
          <a:prstGeom prst="rightArrow">
            <a:avLst/>
          </a:prstGeom>
          <a:solidFill>
            <a:srgbClr val="1F6FB2"/>
          </a:solidFill>
          <a:ln/>
        </p:spPr>
      </p:sp>
      <p:sp xmlns:p="http://schemas.openxmlformats.org/presentationml/2006/main" xmlns:a="http://schemas.openxmlformats.org/drawingml/2006/main" xmlns:r="http://schemas.openxmlformats.org/officeDocument/2006/relationships">
        <p:nvSpPr>
          <p:cNvPr id="15" name="Shape 32"/>
          <p:cNvSpPr/>
          <p:nvPr/>
        </p:nvSpPr>
        <p:spPr>
          <a:xfrm>
            <a:off x="10780776" y="1572768"/>
            <a:ext cx="2578608" cy="118872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6" name="Text 33"/>
          <p:cNvSpPr txBox="1"/>
          <p:nvPr/>
        </p:nvSpPr>
        <p:spPr>
          <a:xfrm>
            <a:off x="10872216" y="1691640"/>
            <a:ext cx="2395728" cy="411480"/>
          </a:xfrm>
          <a:prstGeom prst="rect">
            <a:avLst/>
          </a:prstGeom>
          <a:noFill/>
          <a:ln/>
        </p:spPr>
        <p:txBody>
          <a:bodyPr wrap="square" lIns="25400" tIns="25400" rIns="25400" bIns="25400" rtlCol="0" anchor="t">
            <a:noAutofit/>
          </a:bodyPr>
          <a:lstStyle/>
          <a:p>
            <a:pPr algn="ctr" indent="0" marL="0">
              <a:buNone/>
            </a:pPr>
            <a:r>
              <a:rPr lang="en-US" sz="2025" b="1" dirty="0">
                <a:solidFill>
                  <a:srgbClr val="00B0F0"/>
                </a:solidFill>
                <a:latin typeface="+mn-lt"/>
                <a:ea typeface="+mn-ea"/>
                <a:cs typeface="+mn-cs"/>
              </a:rPr>
              <a:t>ADJUDICATE</a:t>
            </a:r>
            <a:endParaRPr lang="en-US" sz="2025"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10872216" y="2103120"/>
            <a:ext cx="2395728" cy="548640"/>
          </a:xfrm>
          <a:prstGeom prst="rect">
            <a:avLst/>
          </a:prstGeom>
          <a:noFill/>
          <a:ln/>
        </p:spPr>
        <p:txBody>
          <a:bodyPr wrap="square" lIns="25400" tIns="25400" rIns="25400" bIns="25400" rtlCol="0" anchor="t">
            <a:noAutofit/>
          </a:bodyPr>
          <a:lstStyle/>
          <a:p>
            <a:pPr algn="ctr" indent="0" marL="0">
              <a:buNone/>
            </a:pPr>
            <a:r>
              <a:rPr lang="en-US" sz="1650" dirty="0">
                <a:solidFill>
                  <a:srgbClr val="FFFFFF"/>
                </a:solidFill>
                <a:latin typeface="+mn-lt"/>
                <a:ea typeface="+mn-ea"/>
                <a:cs typeface="+mn-cs"/>
              </a:rPr>
              <a:t>Engineer owns the call</a:t>
            </a:r>
            <a:endParaRPr lang="en-US" sz="1650" dirty="0"/>
          </a:p>
        </p:txBody>
      </p:sp>
      <p:sp xmlns:p="http://schemas.openxmlformats.org/presentationml/2006/main" xmlns:a="http://schemas.openxmlformats.org/drawingml/2006/main" xmlns:r="http://schemas.openxmlformats.org/officeDocument/2006/relationships">
        <p:nvSpPr>
          <p:cNvPr id="18" name="Shape 35"/>
          <p:cNvSpPr/>
          <p:nvPr/>
        </p:nvSpPr>
        <p:spPr>
          <a:xfrm>
            <a:off x="12051792" y="2761488"/>
            <a:ext cx="36576" cy="384048"/>
          </a:xfrm>
          <a:prstGeom prst="rect">
            <a:avLst/>
          </a:prstGeom>
          <a:solidFill>
            <a:srgbClr val="595959"/>
          </a:solidFill>
          <a:ln/>
        </p:spPr>
      </p:sp>
      <p:sp xmlns:p="http://schemas.openxmlformats.org/presentationml/2006/main" xmlns:a="http://schemas.openxmlformats.org/drawingml/2006/main" xmlns:r="http://schemas.openxmlformats.org/officeDocument/2006/relationships">
        <p:nvSpPr>
          <p:cNvPr id="19" name="Shape 36"/>
          <p:cNvSpPr/>
          <p:nvPr/>
        </p:nvSpPr>
        <p:spPr>
          <a:xfrm>
            <a:off x="6071616" y="3127248"/>
            <a:ext cx="6016752" cy="36576"/>
          </a:xfrm>
          <a:prstGeom prst="rect">
            <a:avLst/>
          </a:prstGeom>
          <a:solidFill>
            <a:srgbClr val="595959"/>
          </a:solidFill>
          <a:ln/>
        </p:spPr>
      </p:sp>
      <p:sp xmlns:p="http://schemas.openxmlformats.org/presentationml/2006/main" xmlns:a="http://schemas.openxmlformats.org/drawingml/2006/main" xmlns:r="http://schemas.openxmlformats.org/officeDocument/2006/relationships">
        <p:nvSpPr>
          <p:cNvPr id="20" name="Shape 37"/>
          <p:cNvSpPr/>
          <p:nvPr/>
        </p:nvSpPr>
        <p:spPr>
          <a:xfrm>
            <a:off x="6071616" y="2834640"/>
            <a:ext cx="36576" cy="310896"/>
          </a:xfrm>
          <a:prstGeom prst="rect">
            <a:avLst/>
          </a:prstGeom>
          <a:solidFill>
            <a:srgbClr val="595959"/>
          </a:solidFill>
          <a:ln/>
        </p:spPr>
      </p:sp>
      <p:sp xmlns:p="http://schemas.openxmlformats.org/presentationml/2006/main" xmlns:a="http://schemas.openxmlformats.org/drawingml/2006/main" xmlns:r="http://schemas.openxmlformats.org/officeDocument/2006/relationships">
        <p:nvSpPr>
          <p:cNvPr id="21" name="Shape 38"/>
          <p:cNvSpPr/>
          <p:nvPr/>
        </p:nvSpPr>
        <p:spPr>
          <a:xfrm>
            <a:off x="5971032" y="2770632"/>
            <a:ext cx="237744" cy="155448"/>
          </a:xfrm>
          <a:prstGeom prst="triangle">
            <a:avLst/>
          </a:prstGeom>
          <a:solidFill>
            <a:srgbClr val="595959"/>
          </a:solidFill>
          <a:ln/>
        </p:spPr>
      </p:sp>
      <p:sp xmlns:p="http://schemas.openxmlformats.org/presentationml/2006/main" xmlns:a="http://schemas.openxmlformats.org/drawingml/2006/main" xmlns:r="http://schemas.openxmlformats.org/officeDocument/2006/relationships">
        <p:nvSpPr>
          <p:cNvPr id="22" name="Shape 39"/>
          <p:cNvSpPr/>
          <p:nvPr/>
        </p:nvSpPr>
        <p:spPr>
          <a:xfrm>
            <a:off x="7269480" y="2971800"/>
            <a:ext cx="1463040" cy="347472"/>
          </a:xfrm>
          <a:prstGeom prst="rect">
            <a:avLst/>
          </a:prstGeom>
          <a:solidFill>
            <a:srgbClr val="FFFFFF"/>
          </a:solidFill>
          <a:ln/>
        </p:spPr>
      </p:sp>
      <p:sp xmlns:p="http://schemas.openxmlformats.org/presentationml/2006/main" xmlns:a="http://schemas.openxmlformats.org/drawingml/2006/main" xmlns:r="http://schemas.openxmlformats.org/officeDocument/2006/relationships">
        <p:nvSpPr>
          <p:cNvPr id="23" name="Text 40"/>
          <p:cNvSpPr txBox="1"/>
          <p:nvPr/>
        </p:nvSpPr>
        <p:spPr>
          <a:xfrm>
            <a:off x="7269480" y="2971800"/>
            <a:ext cx="14630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595959"/>
                </a:solidFill>
                <a:latin typeface="+mn-lt"/>
                <a:ea typeface="+mn-ea"/>
                <a:cs typeface="+mn-cs"/>
              </a:rPr>
              <a:t>ITERATE</a:t>
            </a:r>
            <a:endParaRPr lang="en-US" sz="165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1810512" y="3611880"/>
            <a:ext cx="12847320"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The five workflow steps, for any coding agent:</a:t>
            </a:r>
            <a:endParaRPr lang="en-US" sz="2100" dirty="0"/>
          </a:p>
        </p:txBody>
      </p:sp>
      <p:sp xmlns:p="http://schemas.openxmlformats.org/presentationml/2006/main" xmlns:a="http://schemas.openxmlformats.org/drawingml/2006/main" xmlns:r="http://schemas.openxmlformats.org/officeDocument/2006/relationships">
        <p:nvSpPr>
          <p:cNvPr id="25" name="Text 42"/>
          <p:cNvSpPr txBox="1"/>
          <p:nvPr/>
        </p:nvSpPr>
        <p:spPr>
          <a:xfrm>
            <a:off x="1810512" y="41605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26" name="Text 43"/>
          <p:cNvSpPr txBox="1"/>
          <p:nvPr/>
        </p:nvSpPr>
        <p:spPr>
          <a:xfrm>
            <a:off x="2340864" y="4160520"/>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 xml:space="preserve">Put your project in a GitHub repo  </a:t>
            </a:r>
            <a:r>
              <a:rPr lang="en-US" sz="2025" dirty="0">
                <a:solidFill>
                  <a:srgbClr val="595959"/>
                </a:solidFill>
                <a:latin typeface="+mn-lt"/>
                <a:ea typeface="+mn-ea"/>
                <a:cs typeface="+mn-cs"/>
              </a:rPr>
              <a:t>(done in Lesson 1)</a:t>
            </a:r>
            <a:endParaRPr lang="en-US" sz="2025" dirty="0"/>
          </a:p>
        </p:txBody>
      </p:sp>
      <p:sp xmlns:p="http://schemas.openxmlformats.org/presentationml/2006/main" xmlns:a="http://schemas.openxmlformats.org/drawingml/2006/main" xmlns:r="http://schemas.openxmlformats.org/officeDocument/2006/relationships">
        <p:nvSpPr>
          <p:cNvPr id="27" name="Text 44"/>
          <p:cNvSpPr txBox="1"/>
          <p:nvPr/>
        </p:nvSpPr>
        <p:spPr>
          <a:xfrm>
            <a:off x="1810512" y="4697651"/>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28" name="Text 45"/>
          <p:cNvSpPr txBox="1"/>
          <p:nvPr/>
        </p:nvSpPr>
        <p:spPr>
          <a:xfrm>
            <a:off x="2340864" y="4697651"/>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Open a session in Claude Code, Codex, or another coding agent</a:t>
            </a:r>
            <a:endParaRPr lang="en-US" sz="2025" dirty="0"/>
          </a:p>
        </p:txBody>
      </p:sp>
      <p:sp xmlns:p="http://schemas.openxmlformats.org/presentationml/2006/main" xmlns:a="http://schemas.openxmlformats.org/drawingml/2006/main" xmlns:r="http://schemas.openxmlformats.org/officeDocument/2006/relationships">
        <p:nvSpPr>
          <p:cNvPr id="29" name="Text 46"/>
          <p:cNvSpPr txBox="1"/>
          <p:nvPr/>
        </p:nvSpPr>
        <p:spPr>
          <a:xfrm>
            <a:off x="1810512" y="523478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30" name="Text 47"/>
          <p:cNvSpPr txBox="1"/>
          <p:nvPr/>
        </p:nvSpPr>
        <p:spPr>
          <a:xfrm>
            <a:off x="2340864" y="5234783"/>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Connect your repo to the session, with a context file (CLAUDE.md)</a:t>
            </a:r>
            <a:endParaRPr lang="en-US" sz="2025" dirty="0"/>
          </a:p>
        </p:txBody>
      </p:sp>
      <p:sp xmlns:p="http://schemas.openxmlformats.org/presentationml/2006/main" xmlns:a="http://schemas.openxmlformats.org/drawingml/2006/main" xmlns:r="http://schemas.openxmlformats.org/officeDocument/2006/relationships">
        <p:nvSpPr>
          <p:cNvPr id="31" name="Text 48"/>
          <p:cNvSpPr txBox="1"/>
          <p:nvPr/>
        </p:nvSpPr>
        <p:spPr>
          <a:xfrm>
            <a:off x="1810512" y="5771914"/>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32" name="Text 49"/>
          <p:cNvSpPr txBox="1"/>
          <p:nvPr/>
        </p:nvSpPr>
        <p:spPr>
          <a:xfrm>
            <a:off x="2340864" y="5771914"/>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Work with the agent to generate commits on a branch</a:t>
            </a:r>
            <a:endParaRPr lang="en-US" sz="2025" dirty="0"/>
          </a:p>
        </p:txBody>
      </p:sp>
      <p:sp xmlns:p="http://schemas.openxmlformats.org/presentationml/2006/main" xmlns:a="http://schemas.openxmlformats.org/drawingml/2006/main" xmlns:r="http://schemas.openxmlformats.org/officeDocument/2006/relationships">
        <p:nvSpPr>
          <p:cNvPr id="33" name="Text 50"/>
          <p:cNvSpPr txBox="1"/>
          <p:nvPr/>
        </p:nvSpPr>
        <p:spPr>
          <a:xfrm>
            <a:off x="1810512" y="6309046"/>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34" name="Text 51"/>
          <p:cNvSpPr txBox="1"/>
          <p:nvPr/>
        </p:nvSpPr>
        <p:spPr>
          <a:xfrm>
            <a:off x="2340864" y="6309046"/>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25" dirty="0">
                <a:solidFill>
                  <a:srgbClr val="000000"/>
                </a:solidFill>
                <a:latin typeface="+mn-lt"/>
                <a:ea typeface="+mn-ea"/>
                <a:cs typeface="+mn-cs"/>
              </a:rPr>
              <a:t>Adjudicate the agent’s work yourself, and iterate</a:t>
            </a:r>
            <a:endParaRPr lang="en-US" sz="2025" dirty="0"/>
          </a:p>
        </p:txBody>
      </p:sp>
      <p:sp xmlns:p="http://schemas.openxmlformats.org/presentationml/2006/main" xmlns:a="http://schemas.openxmlformats.org/drawingml/2006/main" xmlns:r="http://schemas.openxmlformats.org/officeDocument/2006/relationships">
        <p:nvSpPr>
          <p:cNvPr id="35"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3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 Tool Options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69748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246888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mn-lt"/>
                <a:ea typeface="+mn-ea"/>
                <a:cs typeface="+mn-cs"/>
              </a:rPr>
              <a:t>Tool</a:t>
            </a:r>
            <a:endParaRPr lang="en-US" sz="1725" dirty="0"/>
          </a:p>
        </p:txBody>
      </p:sp>
      <p:sp xmlns:p="http://schemas.openxmlformats.org/presentationml/2006/main" xmlns:a="http://schemas.openxmlformats.org/drawingml/2006/main" xmlns:r="http://schemas.openxmlformats.org/officeDocument/2006/relationships">
        <p:nvSpPr>
          <p:cNvPr id="5" name="Shape 22"/>
          <p:cNvSpPr/>
          <p:nvPr/>
        </p:nvSpPr>
        <p:spPr>
          <a:xfrm>
            <a:off x="4507992" y="1572768"/>
            <a:ext cx="365760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4681728" y="1705356"/>
            <a:ext cx="342900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mn-lt"/>
                <a:ea typeface="+mn-ea"/>
                <a:cs typeface="+mn-cs"/>
              </a:rPr>
              <a:t>Where it runs</a:t>
            </a:r>
            <a:endParaRPr lang="en-US" sz="1725" dirty="0"/>
          </a:p>
        </p:txBody>
      </p:sp>
      <p:sp xmlns:p="http://schemas.openxmlformats.org/presentationml/2006/main" xmlns:a="http://schemas.openxmlformats.org/drawingml/2006/main" xmlns:r="http://schemas.openxmlformats.org/officeDocument/2006/relationships">
        <p:nvSpPr>
          <p:cNvPr id="7" name="Shape 24"/>
          <p:cNvSpPr/>
          <p:nvPr/>
        </p:nvSpPr>
        <p:spPr>
          <a:xfrm>
            <a:off x="8165592" y="1572768"/>
            <a:ext cx="274320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5"/>
          <p:cNvSpPr txBox="1"/>
          <p:nvPr/>
        </p:nvSpPr>
        <p:spPr>
          <a:xfrm>
            <a:off x="8339328" y="1705356"/>
            <a:ext cx="2514600"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mn-lt"/>
                <a:ea typeface="+mn-ea"/>
                <a:cs typeface="+mn-cs"/>
              </a:rPr>
              <a:t>Access</a:t>
            </a:r>
            <a:endParaRPr lang="en-US" sz="1725" dirty="0"/>
          </a:p>
        </p:txBody>
      </p:sp>
      <p:sp xmlns:p="http://schemas.openxmlformats.org/presentationml/2006/main" xmlns:a="http://schemas.openxmlformats.org/drawingml/2006/main" xmlns:r="http://schemas.openxmlformats.org/officeDocument/2006/relationships">
        <p:nvSpPr>
          <p:cNvPr id="9" name="Shape 26"/>
          <p:cNvSpPr/>
          <p:nvPr/>
        </p:nvSpPr>
        <p:spPr>
          <a:xfrm>
            <a:off x="10908792" y="1572768"/>
            <a:ext cx="2578608"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0" name="Text 27"/>
          <p:cNvSpPr txBox="1"/>
          <p:nvPr/>
        </p:nvSpPr>
        <p:spPr>
          <a:xfrm>
            <a:off x="11082528" y="1705356"/>
            <a:ext cx="2350008" cy="347472"/>
          </a:xfrm>
          <a:prstGeom prst="rect">
            <a:avLst/>
          </a:prstGeom>
          <a:noFill/>
          <a:ln/>
        </p:spPr>
        <p:txBody>
          <a:bodyPr wrap="square" lIns="25400" tIns="25400" rIns="25400" bIns="25400" rtlCol="0" anchor="t">
            <a:noAutofit/>
          </a:bodyPr>
          <a:lstStyle/>
          <a:p>
            <a:pPr algn="l" indent="0" marL="0">
              <a:buNone/>
            </a:pPr>
            <a:r>
              <a:rPr lang="en-US" sz="1725" b="1" dirty="0">
                <a:solidFill>
                  <a:srgbClr val="FFFFFF"/>
                </a:solidFill>
                <a:latin typeface="+mn-lt"/>
                <a:ea typeface="+mn-ea"/>
                <a:cs typeface="+mn-cs"/>
              </a:rPr>
              <a:t>Context file</a:t>
            </a:r>
            <a:endParaRPr lang="en-US" sz="1725"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984248" y="2313432"/>
            <a:ext cx="2468880" cy="625983"/>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mn-lt"/>
                <a:ea typeface="+mn-ea"/>
                <a:cs typeface="+mn-cs"/>
              </a:rPr>
              <a:t xml:space="preserve">Claude Code on the web </a:t>
            </a:r>
            <a:r>
              <a:rPr lang="en-US" sz="1725" b="1" dirty="0">
                <a:solidFill>
                  <a:srgbClr val="404040"/>
                </a:solidFill>
                <a:latin typeface="+mn-lt"/>
                <a:ea typeface="+mn-ea"/>
                <a:cs typeface="+mn-cs"/>
              </a:rPr>
              <a:t>(this lesson)</a:t>
            </a:r>
            <a:endParaRPr lang="en-US" sz="1725"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049143"/>
            <a:ext cx="26974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3" name="Text 30"/>
          <p:cNvSpPr txBox="1"/>
          <p:nvPr/>
        </p:nvSpPr>
        <p:spPr>
          <a:xfrm>
            <a:off x="4681728" y="2313432"/>
            <a:ext cx="34290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Cloud sandbox, working from your GitHub repo</a:t>
            </a:r>
            <a:endParaRPr lang="en-US" sz="1725" dirty="0"/>
          </a:p>
        </p:txBody>
      </p:sp>
      <p:sp xmlns:p="http://schemas.openxmlformats.org/presentationml/2006/main" xmlns:a="http://schemas.openxmlformats.org/drawingml/2006/main" xmlns:r="http://schemas.openxmlformats.org/officeDocument/2006/relationships">
        <p:nvSpPr>
          <p:cNvPr id="14" name="Shape 31"/>
          <p:cNvSpPr/>
          <p:nvPr/>
        </p:nvSpPr>
        <p:spPr>
          <a:xfrm>
            <a:off x="4507992" y="3049143"/>
            <a:ext cx="36576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Text 32"/>
          <p:cNvSpPr txBox="1"/>
          <p:nvPr/>
        </p:nvSpPr>
        <p:spPr>
          <a:xfrm>
            <a:off x="8339328" y="2313432"/>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Claude Pro plan or higher</a:t>
            </a:r>
            <a:endParaRPr lang="en-US" sz="1725" dirty="0"/>
          </a:p>
        </p:txBody>
      </p:sp>
      <p:sp xmlns:p="http://schemas.openxmlformats.org/presentationml/2006/main" xmlns:a="http://schemas.openxmlformats.org/drawingml/2006/main" xmlns:r="http://schemas.openxmlformats.org/officeDocument/2006/relationships">
        <p:nvSpPr>
          <p:cNvPr id="16" name="Shape 33"/>
          <p:cNvSpPr/>
          <p:nvPr/>
        </p:nvSpPr>
        <p:spPr>
          <a:xfrm>
            <a:off x="8165592" y="3049143"/>
            <a:ext cx="27432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11082528" y="2313432"/>
            <a:ext cx="2350008" cy="358711"/>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CLAUDE.md</a:t>
            </a:r>
            <a:endParaRPr lang="en-US" sz="1725" dirty="0"/>
          </a:p>
        </p:txBody>
      </p:sp>
      <p:sp xmlns:p="http://schemas.openxmlformats.org/presentationml/2006/main" xmlns:a="http://schemas.openxmlformats.org/drawingml/2006/main" xmlns:r="http://schemas.openxmlformats.org/officeDocument/2006/relationships">
        <p:nvSpPr>
          <p:cNvPr id="18" name="Shape 35"/>
          <p:cNvSpPr/>
          <p:nvPr/>
        </p:nvSpPr>
        <p:spPr>
          <a:xfrm>
            <a:off x="10908792" y="3049143"/>
            <a:ext cx="2578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9" name="Text 36"/>
          <p:cNvSpPr txBox="1"/>
          <p:nvPr/>
        </p:nvSpPr>
        <p:spPr>
          <a:xfrm>
            <a:off x="1984248" y="3195447"/>
            <a:ext cx="2468880" cy="358711"/>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mn-lt"/>
                <a:ea typeface="+mn-ea"/>
                <a:cs typeface="+mn-cs"/>
              </a:rPr>
              <a:t>OpenAI Codex</a:t>
            </a:r>
            <a:endParaRPr lang="en-US" sz="1725"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4198430"/>
            <a:ext cx="26974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Text 38"/>
          <p:cNvSpPr txBox="1"/>
          <p:nvPr/>
        </p:nvSpPr>
        <p:spPr>
          <a:xfrm>
            <a:off x="4681728" y="3195447"/>
            <a:ext cx="3429000" cy="893254"/>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Cloud tasks from your GitHub repo; also an app, CLI, and VS Code extension</a:t>
            </a:r>
            <a:endParaRPr lang="en-US" sz="1725" dirty="0"/>
          </a:p>
        </p:txBody>
      </p:sp>
      <p:sp xmlns:p="http://schemas.openxmlformats.org/presentationml/2006/main" xmlns:a="http://schemas.openxmlformats.org/drawingml/2006/main" xmlns:r="http://schemas.openxmlformats.org/officeDocument/2006/relationships">
        <p:nvSpPr>
          <p:cNvPr id="22" name="Shape 39"/>
          <p:cNvSpPr/>
          <p:nvPr/>
        </p:nvSpPr>
        <p:spPr>
          <a:xfrm>
            <a:off x="4507992" y="4198430"/>
            <a:ext cx="36576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3" name="Text 40"/>
          <p:cNvSpPr txBox="1"/>
          <p:nvPr/>
        </p:nvSpPr>
        <p:spPr>
          <a:xfrm>
            <a:off x="8339328" y="3195447"/>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ChatGPT plans; limits vary by plan</a:t>
            </a:r>
            <a:endParaRPr lang="en-US" sz="1725" dirty="0"/>
          </a:p>
        </p:txBody>
      </p:sp>
      <p:sp xmlns:p="http://schemas.openxmlformats.org/presentationml/2006/main" xmlns:a="http://schemas.openxmlformats.org/drawingml/2006/main" xmlns:r="http://schemas.openxmlformats.org/officeDocument/2006/relationships">
        <p:nvSpPr>
          <p:cNvPr id="24" name="Shape 41"/>
          <p:cNvSpPr/>
          <p:nvPr/>
        </p:nvSpPr>
        <p:spPr>
          <a:xfrm>
            <a:off x="8165592" y="4198430"/>
            <a:ext cx="27432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5" name="Text 42"/>
          <p:cNvSpPr txBox="1"/>
          <p:nvPr/>
        </p:nvSpPr>
        <p:spPr>
          <a:xfrm>
            <a:off x="11082528" y="3195447"/>
            <a:ext cx="2350008" cy="358711"/>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AGENTS.md</a:t>
            </a:r>
            <a:endParaRPr lang="en-US" sz="1725" dirty="0"/>
          </a:p>
        </p:txBody>
      </p:sp>
      <p:sp xmlns:p="http://schemas.openxmlformats.org/presentationml/2006/main" xmlns:a="http://schemas.openxmlformats.org/drawingml/2006/main" xmlns:r="http://schemas.openxmlformats.org/officeDocument/2006/relationships">
        <p:nvSpPr>
          <p:cNvPr id="26" name="Shape 43"/>
          <p:cNvSpPr/>
          <p:nvPr/>
        </p:nvSpPr>
        <p:spPr>
          <a:xfrm>
            <a:off x="10908792" y="4198430"/>
            <a:ext cx="2578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7" name="Text 44"/>
          <p:cNvSpPr txBox="1"/>
          <p:nvPr/>
        </p:nvSpPr>
        <p:spPr>
          <a:xfrm>
            <a:off x="1984248" y="4344734"/>
            <a:ext cx="2468880" cy="625983"/>
          </a:xfrm>
          <a:prstGeom prst="rect">
            <a:avLst/>
          </a:prstGeom>
          <a:noFill/>
          <a:ln/>
        </p:spPr>
        <p:txBody>
          <a:bodyPr wrap="square" lIns="25400" tIns="25400" rIns="25400" bIns="25400" rtlCol="0" anchor="t">
            <a:noAutofit/>
          </a:bodyPr>
          <a:lstStyle/>
          <a:p>
            <a:pPr algn="l" indent="0" marL="0">
              <a:buNone/>
            </a:pPr>
            <a:r>
              <a:rPr lang="en-US" sz="1725" b="1" dirty="0">
                <a:solidFill>
                  <a:srgbClr val="000000"/>
                </a:solidFill>
                <a:latin typeface="+mn-lt"/>
                <a:ea typeface="+mn-ea"/>
                <a:cs typeface="+mn-cs"/>
              </a:rPr>
              <a:t>GitHub Copilot agent mode</a:t>
            </a:r>
            <a:endParaRPr lang="en-US" sz="1725"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5080445"/>
            <a:ext cx="26974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9" name="Text 46"/>
          <p:cNvSpPr txBox="1"/>
          <p:nvPr/>
        </p:nvSpPr>
        <p:spPr>
          <a:xfrm>
            <a:off x="4681728" y="4344734"/>
            <a:ext cx="34290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VS Code on your laptop; coding agent on GitHub</a:t>
            </a:r>
            <a:endParaRPr lang="en-US" sz="1725" dirty="0"/>
          </a:p>
        </p:txBody>
      </p:sp>
      <p:sp xmlns:p="http://schemas.openxmlformats.org/presentationml/2006/main" xmlns:a="http://schemas.openxmlformats.org/drawingml/2006/main" xmlns:r="http://schemas.openxmlformats.org/officeDocument/2006/relationships">
        <p:nvSpPr>
          <p:cNvPr id="30" name="Shape 47"/>
          <p:cNvSpPr/>
          <p:nvPr/>
        </p:nvSpPr>
        <p:spPr>
          <a:xfrm>
            <a:off x="4507992" y="5080445"/>
            <a:ext cx="36576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1" name="Text 48"/>
          <p:cNvSpPr txBox="1"/>
          <p:nvPr/>
        </p:nvSpPr>
        <p:spPr>
          <a:xfrm>
            <a:off x="8339328" y="4344734"/>
            <a:ext cx="2514600"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Copilot Free (limited) or paid plans</a:t>
            </a:r>
            <a:endParaRPr lang="en-US" sz="1725" dirty="0"/>
          </a:p>
        </p:txBody>
      </p:sp>
      <p:sp xmlns:p="http://schemas.openxmlformats.org/presentationml/2006/main" xmlns:a="http://schemas.openxmlformats.org/drawingml/2006/main" xmlns:r="http://schemas.openxmlformats.org/officeDocument/2006/relationships">
        <p:nvSpPr>
          <p:cNvPr id="32" name="Shape 49"/>
          <p:cNvSpPr/>
          <p:nvPr/>
        </p:nvSpPr>
        <p:spPr>
          <a:xfrm>
            <a:off x="8165592" y="5080445"/>
            <a:ext cx="27432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3" name="Text 50"/>
          <p:cNvSpPr txBox="1"/>
          <p:nvPr/>
        </p:nvSpPr>
        <p:spPr>
          <a:xfrm>
            <a:off x="11082528" y="4344734"/>
            <a:ext cx="2350008" cy="625983"/>
          </a:xfrm>
          <a:prstGeom prst="rect">
            <a:avLst/>
          </a:prstGeom>
          <a:noFill/>
          <a:ln/>
        </p:spPr>
        <p:txBody>
          <a:bodyPr wrap="square" lIns="25400" tIns="25400" rIns="25400" bIns="25400" rtlCol="0" anchor="t">
            <a:noAutofit/>
          </a:bodyPr>
          <a:lstStyle/>
          <a:p>
            <a:pPr algn="l" indent="0" marL="0">
              <a:buNone/>
            </a:pPr>
            <a:r>
              <a:rPr lang="en-US" sz="1725" dirty="0">
                <a:solidFill>
                  <a:srgbClr val="000000"/>
                </a:solidFill>
                <a:latin typeface="+mn-lt"/>
                <a:ea typeface="+mn-ea"/>
                <a:cs typeface="+mn-cs"/>
              </a:rPr>
              <a:t>.github/copilot-</a:t>
            </a:r>
            <a:endParaRPr lang="en-US" sz="1725" dirty="0"/>
          </a:p>
          <a:p>
            <a:pPr algn="l" indent="0" marL="0">
              <a:buNone/>
            </a:pPr>
            <a:r>
              <a:rPr lang="en-US" sz="1725" dirty="0">
                <a:solidFill>
                  <a:srgbClr val="000000"/>
                </a:solidFill>
                <a:latin typeface="+mn-lt"/>
                <a:ea typeface="+mn-ea"/>
                <a:cs typeface="+mn-cs"/>
              </a:rPr>
              <a:t>instructions.md</a:t>
            </a:r>
            <a:endParaRPr lang="en-US" sz="1725" dirty="0"/>
          </a:p>
        </p:txBody>
      </p:sp>
      <p:sp xmlns:p="http://schemas.openxmlformats.org/presentationml/2006/main" xmlns:a="http://schemas.openxmlformats.org/drawingml/2006/main" xmlns:r="http://schemas.openxmlformats.org/officeDocument/2006/relationships">
        <p:nvSpPr>
          <p:cNvPr id="34" name="Shape 51"/>
          <p:cNvSpPr/>
          <p:nvPr/>
        </p:nvSpPr>
        <p:spPr>
          <a:xfrm>
            <a:off x="10908792" y="5080445"/>
            <a:ext cx="2578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5" name="Text 52"/>
          <p:cNvSpPr txBox="1"/>
          <p:nvPr/>
        </p:nvSpPr>
        <p:spPr>
          <a:xfrm>
            <a:off x="1810512" y="541877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36" name="Text 53"/>
          <p:cNvSpPr txBox="1"/>
          <p:nvPr/>
        </p:nvSpPr>
        <p:spPr>
          <a:xfrm>
            <a:off x="2340864" y="541877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The five workflow steps are the same for every tool.</a:t>
            </a:r>
            <a:endParaRPr lang="en-US" sz="1950" dirty="0"/>
          </a:p>
        </p:txBody>
      </p:sp>
      <p:sp xmlns:p="http://schemas.openxmlformats.org/presentationml/2006/main" xmlns:a="http://schemas.openxmlformats.org/drawingml/2006/main" xmlns:r="http://schemas.openxmlformats.org/officeDocument/2006/relationships">
        <p:nvSpPr>
          <p:cNvPr id="37" name="Text 54"/>
          <p:cNvSpPr txBox="1"/>
          <p:nvPr/>
        </p:nvSpPr>
        <p:spPr>
          <a:xfrm>
            <a:off x="1810512" y="5953282"/>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38" name="Text 55"/>
          <p:cNvSpPr txBox="1"/>
          <p:nvPr/>
        </p:nvSpPr>
        <p:spPr>
          <a:xfrm>
            <a:off x="2340864" y="5953282"/>
            <a:ext cx="1117396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With a local agent, Exercises 2–3 become “open the repo folder in VS Code.” The agent edits your working copy; you review and commit in GitHub Desktop.</a:t>
            </a:r>
            <a:endParaRPr lang="en-US" sz="1950" dirty="0"/>
          </a:p>
        </p:txBody>
      </p:sp>
      <p:sp xmlns:p="http://schemas.openxmlformats.org/presentationml/2006/main" xmlns:a="http://schemas.openxmlformats.org/drawingml/2006/main" xmlns:r="http://schemas.openxmlformats.org/officeDocument/2006/relationships">
        <p:nvSpPr>
          <p:cNvPr id="39" name="Text 56"/>
          <p:cNvSpPr txBox="1"/>
          <p:nvPr/>
        </p:nvSpPr>
        <p:spPr>
          <a:xfrm>
            <a:off x="1810512" y="7247572"/>
            <a:ext cx="11704320" cy="731520"/>
          </a:xfrm>
          <a:prstGeom prst="rect">
            <a:avLst/>
          </a:prstGeom>
          <a:noFill/>
          <a:ln/>
        </p:spPr>
        <p:txBody>
          <a:bodyPr wrap="square" lIns="25400" tIns="25400" rIns="25400" bIns="25400" rtlCol="0" anchor="t">
            <a:noAutofit/>
          </a:bodyPr>
          <a:lstStyle/>
          <a:p>
            <a:pPr algn="l" indent="0" marL="0">
              <a:buNone/>
            </a:pPr>
            <a:r>
              <a:rPr lang="en-US" sz="1800" i="1" dirty="0">
                <a:solidFill>
                  <a:srgbClr val="404040"/>
                </a:solidFill>
                <a:latin typeface="+mn-lt"/>
                <a:ea typeface="+mn-ea"/>
                <a:cs typeface="+mn-cs"/>
              </a:rPr>
              <a:t>Plans and limits change often. Check each tool’s current plan page, and use the tools your organization approves.</a:t>
            </a:r>
            <a:endParaRPr lang="en-US" sz="1800" dirty="0"/>
          </a:p>
        </p:txBody>
      </p:sp>
      <p:sp xmlns:p="http://schemas.openxmlformats.org/presentationml/2006/main" xmlns:a="http://schemas.openxmlformats.org/drawingml/2006/main" xmlns:r="http://schemas.openxmlformats.org/officeDocument/2006/relationships">
        <p:nvSpPr>
          <p:cNvPr id="40" name="Nav highlight"/>
          <p:cNvSpPr txBox="1"/>
          <p:nvPr userDrawn="1"/>
        </p:nvSpPr>
        <p:spPr>
          <a:xfrm>
            <a:off x="133350" y="2762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4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2"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Example: Distributed Load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220724" cy="381305"/>
          </a:xfrm>
          <a:prstGeom prst="roundRect">
            <a:avLst>
              <a:gd name="adj" fmla="val 15000"/>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165860"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SPECIFY</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4884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STARTING POINT</a:t>
            </a:r>
            <a:endParaRPr lang="en-US" sz="16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514600"/>
            <a:ext cx="6949440" cy="10972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Your </a:t>
            </a:r>
            <a:r>
              <a:rPr lang="en-US" sz="1950" b="1" dirty="0">
                <a:solidFill>
                  <a:srgbClr val="000000"/>
                </a:solidFill>
                <a:latin typeface="+mn-lt"/>
                <a:ea typeface="+mn-ea"/>
                <a:cs typeface="+mn-cs"/>
              </a:rPr>
              <a:t>beam-calc</a:t>
            </a:r>
            <a:r>
              <a:rPr lang="en-US" sz="1950" dirty="0">
                <a:solidFill>
                  <a:srgbClr val="000000"/>
                </a:solidFill>
                <a:latin typeface="+mn-lt"/>
                <a:ea typeface="+mn-ea"/>
                <a:cs typeface="+mn-cs"/>
              </a:rPr>
              <a:t xml:space="preserve"> repo from Lesson 1. </a:t>
            </a:r>
            <a:r>
              <a:rPr lang="en-US" sz="1950" dirty="0">
                <a:solidFill>
                  <a:srgbClr val="000000"/>
                </a:solidFill>
                <a:latin typeface="Consolas" pitchFamily="34" charset="0"/>
                <a:ea typeface="Consolas" pitchFamily="34" charset="-122"/>
                <a:cs typeface="Consolas" pitchFamily="34" charset="-120"/>
              </a:rPr>
              <a:t>beam.m</a:t>
            </a:r>
            <a:r>
              <a:rPr lang="en-US" sz="1950" dirty="0">
                <a:solidFill>
                  <a:srgbClr val="000000"/>
                </a:solidFill>
                <a:latin typeface="+mn-lt"/>
                <a:ea typeface="+mn-ea"/>
                <a:cs typeface="+mn-cs"/>
              </a:rPr>
              <a:t xml:space="preserve"> computes cantilever tip deflection for a point load; </a:t>
            </a:r>
            <a:r>
              <a:rPr lang="en-US" sz="1950" dirty="0">
                <a:solidFill>
                  <a:srgbClr val="000000"/>
                </a:solidFill>
                <a:latin typeface="Consolas" pitchFamily="34" charset="0"/>
                <a:ea typeface="Consolas" pitchFamily="34" charset="-122"/>
                <a:cs typeface="Consolas" pitchFamily="34" charset="-120"/>
              </a:rPr>
              <a:t>tests/testBeam.m</a:t>
            </a:r>
            <a:r>
              <a:rPr lang="en-US" sz="1950" dirty="0">
                <a:solidFill>
                  <a:srgbClr val="000000"/>
                </a:solidFill>
                <a:latin typeface="+mn-lt"/>
                <a:ea typeface="+mn-ea"/>
                <a:cs typeface="+mn-cs"/>
              </a:rPr>
              <a:t xml:space="preserve"> checks it.</a:t>
            </a:r>
            <a:endParaRPr lang="en-US" sz="19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365760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REQUIREMENT</a:t>
            </a:r>
            <a:endParaRPr lang="en-US" sz="16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810512" y="4023360"/>
            <a:ext cx="6949440" cy="173736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beam-calc shall compute the tip deflection for a uniformly distributed load w (N/m) with a function tipDeflectionUDL(w, L, E, I), and beam.m shall print it below the point-load result.</a:t>
            </a:r>
            <a:endParaRPr lang="en-US" sz="19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5760720"/>
            <a:ext cx="694944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VERIFICATION</a:t>
            </a:r>
            <a:endParaRPr lang="en-US" sz="16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6126480"/>
            <a:ext cx="6949440" cy="146304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Test: a new case in </a:t>
            </a:r>
            <a:r>
              <a:rPr lang="en-US" sz="1950" dirty="0">
                <a:solidFill>
                  <a:srgbClr val="000000"/>
                </a:solidFill>
                <a:latin typeface="Consolas" pitchFamily="34" charset="0"/>
                <a:ea typeface="Consolas" pitchFamily="34" charset="-122"/>
                <a:cs typeface="Consolas" pitchFamily="34" charset="-120"/>
              </a:rPr>
              <a:t>tests/testBeam.m</a:t>
            </a:r>
            <a:r>
              <a:rPr lang="en-US" sz="1950" dirty="0">
                <a:solidFill>
                  <a:srgbClr val="000000"/>
                </a:solidFill>
                <a:latin typeface="+mn-lt"/>
                <a:ea typeface="+mn-ea"/>
                <a:cs typeface="+mn-cs"/>
              </a:rPr>
              <a:t xml:space="preserve"> matches the hand calculation within 0.1%, and </a:t>
            </a:r>
            <a:r>
              <a:rPr lang="en-US" sz="1950" dirty="0">
                <a:solidFill>
                  <a:srgbClr val="000000"/>
                </a:solidFill>
                <a:latin typeface="Consolas" pitchFamily="34" charset="0"/>
                <a:ea typeface="Consolas" pitchFamily="34" charset="-122"/>
                <a:cs typeface="Consolas" pitchFamily="34" charset="-120"/>
              </a:rPr>
              <a:t>runtests('tests')</a:t>
            </a:r>
            <a:r>
              <a:rPr lang="en-US" sz="1950" dirty="0">
                <a:solidFill>
                  <a:srgbClr val="000000"/>
                </a:solidFill>
                <a:latin typeface="+mn-lt"/>
                <a:ea typeface="+mn-ea"/>
                <a:cs typeface="+mn-cs"/>
              </a:rPr>
              <a:t xml:space="preserve"> passes in MATLAB. The point-load result is unchanged.</a:t>
            </a:r>
            <a:endParaRPr lang="en-US" sz="1950" dirty="0"/>
          </a:p>
        </p:txBody>
      </p:sp>
      <p:sp xmlns:p="http://schemas.openxmlformats.org/presentationml/2006/main" xmlns:a="http://schemas.openxmlformats.org/drawingml/2006/main" xmlns:r="http://schemas.openxmlformats.org/officeDocument/2006/relationships">
        <p:nvSpPr>
          <p:cNvPr id="11" name="Shape 28"/>
          <p:cNvSpPr/>
          <p:nvPr/>
        </p:nvSpPr>
        <p:spPr>
          <a:xfrm>
            <a:off x="9098280" y="1527048"/>
            <a:ext cx="4389120" cy="292608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9"/>
          <p:cNvSpPr txBox="1"/>
          <p:nvPr/>
        </p:nvSpPr>
        <p:spPr>
          <a:xfrm>
            <a:off x="9299448" y="1691640"/>
            <a:ext cx="402336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mn-lt"/>
                <a:ea typeface="+mn-ea"/>
                <a:cs typeface="+mn-cs"/>
              </a:rPr>
              <a:t>Theory</a:t>
            </a:r>
            <a:endParaRPr lang="en-US" sz="19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299448" y="2148840"/>
            <a:ext cx="4023360" cy="50292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Point load:   δ = P L³ / (3 E I)</a:t>
            </a:r>
            <a:endParaRPr lang="en-US" sz="195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9299448" y="2670048"/>
            <a:ext cx="4023360" cy="50292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Distributed:  δ = w L⁴ / (8 E I)</a:t>
            </a:r>
            <a:endParaRPr lang="en-US" sz="195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9299448" y="3291840"/>
            <a:ext cx="4023360" cy="1005840"/>
          </a:xfrm>
          <a:prstGeom prst="rect">
            <a:avLst/>
          </a:prstGeom>
          <a:noFill/>
          <a:ln/>
        </p:spPr>
        <p:txBody>
          <a:bodyPr wrap="square" lIns="25400" tIns="25400" rIns="25400" bIns="25400" rtlCol="0" anchor="t">
            <a:noAutofit/>
          </a:bodyPr>
          <a:lstStyle/>
          <a:p>
            <a:pPr algn="l" indent="0" marL="0">
              <a:buNone/>
            </a:pPr>
            <a:r>
              <a:rPr lang="en-US" sz="1725" dirty="0">
                <a:solidFill>
                  <a:srgbClr val="404040"/>
                </a:solidFill>
                <a:latin typeface="+mn-lt"/>
                <a:ea typeface="+mn-ea"/>
                <a:cs typeface="+mn-cs"/>
              </a:rPr>
              <a:t>Same beam, P = wL: the distributed result is 3/8 of the point-load result.</a:t>
            </a:r>
            <a:endParaRPr lang="en-US" sz="1725" dirty="0"/>
          </a:p>
        </p:txBody>
      </p:sp>
      <p:sp xmlns:p="http://schemas.openxmlformats.org/presentationml/2006/main" xmlns:a="http://schemas.openxmlformats.org/drawingml/2006/main" xmlns:r="http://schemas.openxmlformats.org/officeDocument/2006/relationships">
        <p:nvSpPr>
          <p:cNvPr id="16" name="Shape 33"/>
          <p:cNvSpPr/>
          <p:nvPr/>
        </p:nvSpPr>
        <p:spPr>
          <a:xfrm>
            <a:off x="9098280" y="4709160"/>
            <a:ext cx="4389120" cy="2277427"/>
          </a:xfrm>
          <a:prstGeom prst="roundRect">
            <a:avLst>
              <a:gd name="adj" fmla="val 9033"/>
            </a:avLst>
          </a:prstGeom>
          <a:solidFill>
            <a:srgbClr val="1E1E1E"/>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9326880" y="4937760"/>
            <a:ext cx="3931920" cy="1820227"/>
          </a:xfrm>
          <a:prstGeom prst="rect">
            <a:avLst/>
          </a:prstGeom>
          <a:noFill/>
          <a:ln/>
        </p:spPr>
        <p:txBody>
          <a:bodyPr wrap="none" lIns="25400" tIns="25400" rIns="25400" bIns="25400" rtlCol="0" anchor="t">
            <a:noAutofit/>
          </a:bodyPr>
          <a:lstStyle/>
          <a:p>
            <a:pPr algn="l" indent="0" marL="0">
              <a:lnSpc>
                <a:spcPct val="135000"/>
              </a:lnSpc>
              <a:buNone/>
            </a:pPr>
            <a:r>
              <a:rPr lang="en-US" sz="1725" dirty="0">
                <a:solidFill>
                  <a:srgbClr val="6A9955"/>
                </a:solidFill>
                <a:latin typeface="Consolas" pitchFamily="34" charset="0"/>
                <a:ea typeface="Consolas" pitchFamily="34" charset="-122"/>
                <a:cs typeface="Consolas" pitchFamily="34" charset="-120"/>
              </a:rPr>
              <a:t>% Hand check</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w = 1000;  L = 2.0;</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E = 200e9;</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I = 0.05*0.10^3/12;</a:t>
            </a:r>
            <a:endParaRPr lang="en-US" sz="1725" dirty="0"/>
          </a:p>
          <a:p>
            <a:pPr algn="l" indent="0" marL="0">
              <a:lnSpc>
                <a:spcPct val="135000"/>
              </a:lnSpc>
              <a:buNone/>
            </a:pPr>
            <a:r>
              <a:rPr lang="en-US" sz="1725" dirty="0">
                <a:solidFill>
                  <a:srgbClr val="89D185"/>
                </a:solidFill>
                <a:latin typeface="Consolas" pitchFamily="34" charset="0"/>
                <a:ea typeface="Consolas" pitchFamily="34" charset="-122"/>
                <a:cs typeface="Consolas" pitchFamily="34" charset="-120"/>
              </a:rPr>
              <a:t>% δ = 2.40 mm</a:t>
            </a:r>
            <a:endParaRPr lang="en-US" sz="1725" dirty="0"/>
          </a:p>
        </p:txBody>
      </p:sp>
      <p:sp xmlns:p="http://schemas.openxmlformats.org/presentationml/2006/main" xmlns:a="http://schemas.openxmlformats.org/drawingml/2006/main" xmlns:r="http://schemas.openxmlformats.org/officeDocument/2006/relationships">
        <p:nvSpPr>
          <p:cNvPr id="18" name="Nav highlight"/>
          <p:cNvSpPr txBox="1"/>
          <p:nvPr userDrawn="1"/>
        </p:nvSpPr>
        <p:spPr>
          <a:xfrm>
            <a:off x="133350" y="3143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Specify</a:t>
            </a:r>
            <a:endParaRPr lang="en-US" sz="1800" b="1" dirty="0"/>
          </a:p>
        </p:txBody>
      </p:sp>
      <p:sp xmlns:p="http://schemas.openxmlformats.org/presentationml/2006/main" xmlns:a="http://schemas.openxmlformats.org/drawingml/2006/main" xmlns:r="http://schemas.openxmlformats.org/officeDocument/2006/relationships">
        <p:nvSpPr>
          <p:cNvPr id="1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1: Add CLAUDE.md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5943600" cy="5843930"/>
          </a:xfrm>
          <a:prstGeom prst="roundRect">
            <a:avLst>
              <a:gd name="adj" fmla="val 3520"/>
            </a:avLst>
          </a:prstGeom>
          <a:solidFill>
            <a:srgbClr val="1E1E1E"/>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2039112" y="1801368"/>
            <a:ext cx="5486400" cy="5386730"/>
          </a:xfrm>
          <a:prstGeom prst="rect">
            <a:avLst/>
          </a:prstGeom>
          <a:noFill/>
          <a:ln/>
        </p:spPr>
        <p:txBody>
          <a:bodyPr wrap="none" lIns="25400" tIns="25400" rIns="25400" bIns="25400" rtlCol="0" anchor="t">
            <a:noAutofit/>
          </a:bodyPr>
          <a:lstStyle/>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beam-calc</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@AGENTS.md</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xml:space="preserve"> </a:t>
            </a:r>
            <a:endParaRPr lang="en-US" sz="1650" dirty="0"/>
          </a:p>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About me</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Instructor. Fluent in MATLAB,</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xml:space="preserve">  new to coding agents. Explain</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xml:space="preserve">  each change before coding.</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Prefer simple, readable MATLAB.</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xml:space="preserve"> </a:t>
            </a:r>
            <a:endParaRPr lang="en-US" sz="1650" dirty="0"/>
          </a:p>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Environment</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You can't run MATLAB in your</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xml:space="preserve">  sandbox. List the checks I</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xml:space="preserve">  must run myself.</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xml:space="preserve"> </a:t>
            </a:r>
            <a:endParaRPr lang="en-US" sz="1650" dirty="0"/>
          </a:p>
          <a:p>
            <a:pPr algn="l" indent="0" marL="0">
              <a:lnSpc>
                <a:spcPct val="118000"/>
              </a:lnSpc>
              <a:buNone/>
            </a:pPr>
            <a:r>
              <a:rPr lang="en-US" sz="1650" dirty="0">
                <a:solidFill>
                  <a:srgbClr val="00B0F0"/>
                </a:solidFill>
                <a:latin typeface="Consolas" pitchFamily="34" charset="0"/>
                <a:ea typeface="Consolas" pitchFamily="34" charset="-122"/>
                <a:cs typeface="Consolas" pitchFamily="34" charset="-120"/>
              </a:rPr>
              <a:t>## Rules</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One function per file.</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Never change an existing</a:t>
            </a:r>
            <a:endParaRPr lang="en-US" sz="1650" dirty="0"/>
          </a:p>
          <a:p>
            <a:pPr algn="l" indent="0" marL="0">
              <a:lnSpc>
                <a:spcPct val="118000"/>
              </a:lnSpc>
              <a:buNone/>
            </a:pPr>
            <a:r>
              <a:rPr lang="en-US" sz="1650" dirty="0">
                <a:solidFill>
                  <a:srgbClr val="D4D4D4"/>
                </a:solidFill>
                <a:latin typeface="Consolas" pitchFamily="34" charset="0"/>
                <a:ea typeface="Consolas" pitchFamily="34" charset="-122"/>
                <a:cs typeface="Consolas" pitchFamily="34" charset="-120"/>
              </a:rPr>
              <a:t xml:space="preserve">  result or test without asking.</a:t>
            </a:r>
            <a:endParaRPr lang="en-US" sz="1650" dirty="0"/>
          </a:p>
        </p:txBody>
      </p:sp>
      <p:sp xmlns:p="http://schemas.openxmlformats.org/presentationml/2006/main" xmlns:a="http://schemas.openxmlformats.org/drawingml/2006/main" xmlns:r="http://schemas.openxmlformats.org/officeDocument/2006/relationships">
        <p:nvSpPr>
          <p:cNvPr id="5" name="Shape 22"/>
          <p:cNvSpPr/>
          <p:nvPr/>
        </p:nvSpPr>
        <p:spPr>
          <a:xfrm>
            <a:off x="8138160" y="1572768"/>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8165592" y="160934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8138160" y="2194560"/>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8668512" y="2194560"/>
            <a:ext cx="486460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In VS Code, create </a:t>
            </a:r>
            <a:r>
              <a:rPr lang="en-US" sz="1950" b="1" dirty="0">
                <a:solidFill>
                  <a:srgbClr val="000000"/>
                </a:solidFill>
                <a:latin typeface="+mn-lt"/>
                <a:ea typeface="+mn-ea"/>
                <a:cs typeface="+mn-cs"/>
              </a:rPr>
              <a:t>CLAUDE.md</a:t>
            </a:r>
            <a:r>
              <a:rPr lang="en-US" sz="1950" dirty="0">
                <a:solidFill>
                  <a:srgbClr val="000000"/>
                </a:solidFill>
                <a:latin typeface="+mn-lt"/>
                <a:ea typeface="+mn-ea"/>
                <a:cs typeface="+mn-cs"/>
              </a:rPr>
              <a:t xml:space="preserve"> at the repo root. Adapt the example to you.</a:t>
            </a:r>
            <a:endParaRPr lang="en-US" sz="19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8138160" y="3080699"/>
            <a:ext cx="612648" cy="100916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8668512" y="3080699"/>
            <a:ext cx="4864608" cy="100916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Line 2, </a:t>
            </a:r>
            <a:r>
              <a:rPr lang="en-US" sz="1950" b="1" dirty="0">
                <a:solidFill>
                  <a:srgbClr val="000000"/>
                </a:solidFill>
                <a:latin typeface="+mn-lt"/>
                <a:ea typeface="+mn-ea"/>
                <a:cs typeface="+mn-cs"/>
              </a:rPr>
              <a:t>@AGENTS.md</a:t>
            </a:r>
            <a:r>
              <a:rPr lang="en-US" sz="1950" dirty="0">
                <a:solidFill>
                  <a:srgbClr val="000000"/>
                </a:solidFill>
                <a:latin typeface="+mn-lt"/>
                <a:ea typeface="+mn-ea"/>
                <a:cs typeface="+mn-cs"/>
              </a:rPr>
              <a:t>, imports the rules you wrote in Lesson 1. One set of rules for every agent.</a:t>
            </a:r>
            <a:endParaRPr lang="en-US" sz="19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8138160" y="4272748"/>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8668512" y="4272748"/>
            <a:ext cx="486460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Commit to main: </a:t>
            </a:r>
            <a:r>
              <a:rPr lang="en-US" sz="1950" i="1" dirty="0">
                <a:solidFill>
                  <a:srgbClr val="000000"/>
                </a:solidFill>
                <a:latin typeface="+mn-lt"/>
                <a:ea typeface="+mn-ea"/>
                <a:cs typeface="+mn-cs"/>
              </a:rPr>
              <a:t>Add CLAUDE.md</a:t>
            </a:r>
            <a:r>
              <a:rPr lang="en-US" sz="1950" dirty="0">
                <a:solidFill>
                  <a:srgbClr val="000000"/>
                </a:solidFill>
                <a:latin typeface="+mn-lt"/>
                <a:ea typeface="+mn-ea"/>
                <a:cs typeface="+mn-cs"/>
              </a:rPr>
              <a:t xml:space="preserve">. </a:t>
            </a:r>
            <a:r>
              <a:rPr lang="en-US" sz="1950" b="1" dirty="0">
                <a:solidFill>
                  <a:srgbClr val="000000"/>
                </a:solidFill>
                <a:latin typeface="+mn-lt"/>
                <a:ea typeface="+mn-ea"/>
                <a:cs typeface="+mn-cs"/>
              </a:rPr>
              <a:t>Push origin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8138160" y="5296048"/>
            <a:ext cx="5394960" cy="11887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Claude Code reads CLAUDE.md at the start of every session. Include what a new colleague would need.</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8138160" y="6484768"/>
            <a:ext cx="5394960" cy="11887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Keep it short. Add a rule each time the agent repeats a mistake.</a:t>
            </a:r>
            <a:endParaRPr lang="en-US" sz="1800"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2: Open a Session</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383280" cy="1143000"/>
          </a:xfrm>
          <a:prstGeom prst="roundRect">
            <a:avLst>
              <a:gd name="adj" fmla="val 10995"/>
            </a:avLst>
          </a:prstGeom>
          <a:noFill/>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4" name="Text 21"/>
          <p:cNvSpPr txBox="1"/>
          <p:nvPr/>
        </p:nvSpPr>
        <p:spPr>
          <a:xfrm>
            <a:off x="18562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mn-lt"/>
                <a:ea typeface="+mn-ea"/>
                <a:cs typeface="+mn-cs"/>
              </a:rPr>
              <a:t>Claude Code</a:t>
            </a:r>
            <a:endParaRPr lang="en-US" sz="225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562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cloud sandbox</a:t>
            </a:r>
            <a:endParaRPr lang="en-US" sz="1800" dirty="0"/>
          </a:p>
        </p:txBody>
      </p:sp>
      <p:sp xmlns:p="http://schemas.openxmlformats.org/presentationml/2006/main" xmlns:a="http://schemas.openxmlformats.org/drawingml/2006/main" xmlns:r="http://schemas.openxmlformats.org/officeDocument/2006/relationships">
        <p:nvSpPr>
          <p:cNvPr id="6" name="Shape 23"/>
          <p:cNvSpPr/>
          <p:nvPr/>
        </p:nvSpPr>
        <p:spPr>
          <a:xfrm>
            <a:off x="5239512" y="2112264"/>
            <a:ext cx="640080" cy="36576"/>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7" name="Shape 24"/>
          <p:cNvSpPr/>
          <p:nvPr/>
        </p:nvSpPr>
        <p:spPr>
          <a:xfrm>
            <a:off x="5925312" y="1572768"/>
            <a:ext cx="3383280" cy="1143000"/>
          </a:xfrm>
          <a:prstGeom prst="roundRect">
            <a:avLst>
              <a:gd name="adj" fmla="val 10995"/>
            </a:avLst>
          </a:prstGeom>
          <a:noFill/>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8" name="Text 25"/>
          <p:cNvSpPr txBox="1"/>
          <p:nvPr/>
        </p:nvSpPr>
        <p:spPr>
          <a:xfrm>
            <a:off x="59710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mn-lt"/>
                <a:ea typeface="+mn-ea"/>
                <a:cs typeface="+mn-cs"/>
              </a:rPr>
              <a:t>GitHub repo</a:t>
            </a:r>
            <a:endParaRPr lang="en-US" sz="22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59710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shared source</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9354312" y="2112264"/>
            <a:ext cx="640080" cy="36576"/>
          </a:xfrm>
          <a:prstGeom prst="rect">
            <a:avLst/>
          </a:prstGeom>
          <a:solidFill>
            <a:srgbClr val="000000"/>
          </a:solidFill>
          <a:ln/>
        </p:spPr>
      </p:sp>
      <p:sp xmlns:p="http://schemas.openxmlformats.org/presentationml/2006/main" xmlns:a="http://schemas.openxmlformats.org/drawingml/2006/main" xmlns:r="http://schemas.openxmlformats.org/officeDocument/2006/relationships">
        <p:nvSpPr>
          <p:cNvPr id="11" name="Shape 28"/>
          <p:cNvSpPr/>
          <p:nvPr/>
        </p:nvSpPr>
        <p:spPr>
          <a:xfrm>
            <a:off x="10040112" y="1572768"/>
            <a:ext cx="3383280" cy="1143000"/>
          </a:xfrm>
          <a:prstGeom prst="roundRect">
            <a:avLst>
              <a:gd name="adj" fmla="val 10995"/>
            </a:avLst>
          </a:prstGeom>
          <a:noFill/>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2" name="Text 29"/>
          <p:cNvSpPr txBox="1"/>
          <p:nvPr/>
        </p:nvSpPr>
        <p:spPr>
          <a:xfrm>
            <a:off x="10085832" y="1755648"/>
            <a:ext cx="3291840" cy="420624"/>
          </a:xfrm>
          <a:prstGeom prst="rect">
            <a:avLst/>
          </a:prstGeom>
          <a:noFill/>
          <a:ln/>
        </p:spPr>
        <p:txBody>
          <a:bodyPr wrap="square" lIns="25400" tIns="25400" rIns="25400" bIns="25400" rtlCol="0" anchor="t">
            <a:noAutofit/>
          </a:bodyPr>
          <a:lstStyle/>
          <a:p>
            <a:pPr algn="ctr" indent="0" marL="0">
              <a:buNone/>
            </a:pPr>
            <a:r>
              <a:rPr lang="en-US" sz="2250" b="1" dirty="0">
                <a:solidFill>
                  <a:srgbClr val="000000"/>
                </a:solidFill>
                <a:latin typeface="+mn-lt"/>
                <a:ea typeface="+mn-ea"/>
                <a:cs typeface="+mn-cs"/>
              </a:rPr>
              <a:t>Your laptop</a:t>
            </a:r>
            <a:endParaRPr lang="en-US" sz="22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100858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Desktop + MATLAB</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2926080"/>
            <a:ext cx="11704320" cy="77724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mn-lt"/>
                <a:ea typeface="+mn-ea"/>
                <a:cs typeface="+mn-cs"/>
              </a:rPr>
              <a:t>The session can read and change your repo. It cannot reach your laptop, your MATLAB license, or any file outside the repo.</a:t>
            </a:r>
            <a:endParaRPr lang="en-US" sz="195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3840480"/>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16" name="Text 33"/>
          <p:cNvSpPr txBox="1"/>
          <p:nvPr/>
        </p:nvSpPr>
        <p:spPr>
          <a:xfrm>
            <a:off x="1837944" y="3877056"/>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1810512" y="443484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2340864" y="4434840"/>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Go to </a:t>
            </a:r>
            <a:r>
              <a:rPr lang="en-US" sz="1950" b="1" dirty="0">
                <a:solidFill>
                  <a:srgbClr val="000000"/>
                </a:solidFill>
                <a:latin typeface="+mn-lt"/>
                <a:ea typeface="+mn-ea"/>
                <a:cs typeface="+mn-cs"/>
              </a:rPr>
              <a:t>claude.ai/code</a:t>
            </a:r>
            <a:r>
              <a:rPr lang="en-US" sz="1950" dirty="0">
                <a:solidFill>
                  <a:srgbClr val="000000"/>
                </a:solidFill>
                <a:latin typeface="+mn-lt"/>
                <a:ea typeface="+mn-ea"/>
                <a:cs typeface="+mn-cs"/>
              </a:rPr>
              <a:t xml:space="preserve"> and sign in.</a:t>
            </a:r>
            <a:endParaRPr lang="en-US" sz="195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1810512" y="499678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2340864" y="499678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Connect GitHub when prompted. Install the Claude GitHub App on </a:t>
            </a:r>
            <a:r>
              <a:rPr lang="en-US" sz="1950" b="1" dirty="0">
                <a:solidFill>
                  <a:srgbClr val="000000"/>
                </a:solidFill>
                <a:latin typeface="+mn-lt"/>
                <a:ea typeface="+mn-ea"/>
                <a:cs typeface="+mn-cs"/>
              </a:rPr>
              <a:t>your beam-calc repo only</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21" name="Text 38"/>
          <p:cNvSpPr txBox="1"/>
          <p:nvPr/>
        </p:nvSpPr>
        <p:spPr>
          <a:xfrm>
            <a:off x="1810512" y="555872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2340864" y="5558723"/>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Accept the </a:t>
            </a:r>
            <a:r>
              <a:rPr lang="en-US" sz="1950" b="1" dirty="0">
                <a:solidFill>
                  <a:srgbClr val="000000"/>
                </a:solidFill>
                <a:latin typeface="+mn-lt"/>
                <a:ea typeface="+mn-ea"/>
                <a:cs typeface="+mn-cs"/>
              </a:rPr>
              <a:t>Default</a:t>
            </a:r>
            <a:r>
              <a:rPr lang="en-US" sz="1950" dirty="0">
                <a:solidFill>
                  <a:srgbClr val="000000"/>
                </a:solidFill>
                <a:latin typeface="+mn-lt"/>
                <a:ea typeface="+mn-ea"/>
                <a:cs typeface="+mn-cs"/>
              </a:rPr>
              <a:t xml:space="preserve"> environment.</a:t>
            </a:r>
            <a:endParaRPr lang="en-US" sz="1950"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1810512" y="6120665"/>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2340864" y="6120665"/>
            <a:ext cx="1117396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New session: select </a:t>
            </a:r>
            <a:r>
              <a:rPr lang="en-US" sz="1950" b="1" dirty="0">
                <a:solidFill>
                  <a:srgbClr val="000000"/>
                </a:solidFill>
                <a:latin typeface="+mn-lt"/>
                <a:ea typeface="+mn-ea"/>
                <a:cs typeface="+mn-cs"/>
              </a:rPr>
              <a:t>beam-calc</a:t>
            </a:r>
            <a:r>
              <a:rPr lang="en-US" sz="1950" dirty="0">
                <a:solidFill>
                  <a:srgbClr val="000000"/>
                </a:solidFill>
                <a:latin typeface="+mn-lt"/>
                <a:ea typeface="+mn-ea"/>
                <a:cs typeface="+mn-cs"/>
              </a:rPr>
              <a:t xml:space="preserve"> and the </a:t>
            </a:r>
            <a:r>
              <a:rPr lang="en-US" sz="1950" b="1" dirty="0">
                <a:solidFill>
                  <a:srgbClr val="000000"/>
                </a:solidFill>
                <a:latin typeface="+mn-lt"/>
                <a:ea typeface="+mn-ea"/>
                <a:cs typeface="+mn-cs"/>
              </a:rPr>
              <a:t>main</a:t>
            </a:r>
            <a:r>
              <a:rPr lang="en-US" sz="1950" dirty="0">
                <a:solidFill>
                  <a:srgbClr val="000000"/>
                </a:solidFill>
                <a:latin typeface="+mn-lt"/>
                <a:ea typeface="+mn-ea"/>
                <a:cs typeface="+mn-cs"/>
              </a:rPr>
              <a:t xml:space="preserve"> branch. The session clones the repo and loads CLAUDE.md.</a:t>
            </a:r>
            <a:endParaRPr lang="en-US" sz="195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3: Orient the Agent</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1170432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Send an orientation prompt before asking for any change:</a:t>
            </a:r>
            <a:endParaRPr lang="en-US" sz="1950" dirty="0"/>
          </a:p>
        </p:txBody>
      </p:sp>
      <p:sp xmlns:p="http://schemas.openxmlformats.org/presentationml/2006/main" xmlns:a="http://schemas.openxmlformats.org/drawingml/2006/main" xmlns:r="http://schemas.openxmlformats.org/officeDocument/2006/relationships">
        <p:nvSpPr>
          <p:cNvPr id="6" name="Shape 23"/>
          <p:cNvSpPr/>
          <p:nvPr/>
        </p:nvSpPr>
        <p:spPr>
          <a:xfrm>
            <a:off x="1810512" y="2697480"/>
            <a:ext cx="11676888" cy="1426464"/>
          </a:xfrm>
          <a:prstGeom prst="roundRect">
            <a:avLst>
              <a:gd name="adj" fmla="val 4000"/>
            </a:avLst>
          </a:prstGeom>
          <a:solidFill>
            <a:srgbClr val="F2F2F2"/>
          </a:solidFill>
          <a:ln/>
        </p:spPr>
      </p:sp>
      <p:sp xmlns:p="http://schemas.openxmlformats.org/presentationml/2006/main" xmlns:a="http://schemas.openxmlformats.org/drawingml/2006/main" xmlns:r="http://schemas.openxmlformats.org/officeDocument/2006/relationships">
        <p:nvSpPr>
          <p:cNvPr id="7" name="Text 24"/>
          <p:cNvSpPr txBox="1"/>
          <p:nvPr/>
        </p:nvSpPr>
        <p:spPr>
          <a:xfrm>
            <a:off x="2011680" y="2834640"/>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mn-lt"/>
                <a:ea typeface="+mn-ea"/>
                <a:cs typeface="+mn-cs"/>
              </a:rPr>
              <a:t>YOU</a:t>
            </a:r>
            <a:endParaRPr lang="en-US" sz="16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011680" y="3200400"/>
            <a:ext cx="11311128" cy="832104"/>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Read CLAUDE.md, AGENTS.md, beam.m, and tests/testBeam.m. Summarize what the code computes, its units, and how it is tested. Don’t change any files.</a:t>
            </a:r>
            <a:endParaRPr lang="en-US" sz="1800" dirty="0"/>
          </a:p>
        </p:txBody>
      </p:sp>
      <p:sp xmlns:p="http://schemas.openxmlformats.org/presentationml/2006/main" xmlns:a="http://schemas.openxmlformats.org/drawingml/2006/main" xmlns:r="http://schemas.openxmlformats.org/officeDocument/2006/relationships">
        <p:nvSpPr>
          <p:cNvPr id="9" name="Shape 26"/>
          <p:cNvSpPr/>
          <p:nvPr/>
        </p:nvSpPr>
        <p:spPr>
          <a:xfrm>
            <a:off x="1810512" y="4398264"/>
            <a:ext cx="11676888" cy="1705356"/>
          </a:xfrm>
          <a:prstGeom prst="roundRect">
            <a:avLst>
              <a:gd name="adj" fmla="val 4000"/>
            </a:avLst>
          </a:prstGeom>
          <a:solidFill>
            <a:srgbClr val="152A47"/>
          </a:solidFill>
          <a:ln/>
        </p:spPr>
      </p:sp>
      <p:sp xmlns:p="http://schemas.openxmlformats.org/presentationml/2006/main" xmlns:a="http://schemas.openxmlformats.org/drawingml/2006/main" xmlns:r="http://schemas.openxmlformats.org/officeDocument/2006/relationships">
        <p:nvSpPr>
          <p:cNvPr id="10" name="Text 27"/>
          <p:cNvSpPr txBox="1"/>
          <p:nvPr/>
        </p:nvSpPr>
        <p:spPr>
          <a:xfrm>
            <a:off x="2011680" y="4535424"/>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00B0F0"/>
                </a:solidFill>
                <a:latin typeface="+mn-lt"/>
                <a:ea typeface="+mn-ea"/>
                <a:cs typeface="+mn-cs"/>
              </a:rPr>
              <a:t>AGENT</a:t>
            </a:r>
            <a:endParaRPr lang="en-US" sz="16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2011680" y="4901184"/>
            <a:ext cx="11311128" cy="1110996"/>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FFFFFF"/>
                </a:solidFill>
                <a:latin typeface="+mn-lt"/>
                <a:ea typeface="+mn-ea"/>
                <a:cs typeface="+mn-cs"/>
              </a:rPr>
              <a:t>beam.m computes the tip deflection of a cantilever under a point load, δ = PL³/(3EI), in SI units, and prints it in mm. tests/testBeam.m checks that result; run it with runtests('tests'). I can’t run MATLAB here, so I haven’t executed the tests.</a:t>
            </a:r>
            <a:endParaRPr lang="en-US" sz="18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810512" y="6423660"/>
            <a:ext cx="11704320" cy="822960"/>
          </a:xfrm>
          <a:prstGeom prst="rect">
            <a:avLst/>
          </a:prstGeom>
          <a:noFill/>
          <a:ln/>
        </p:spPr>
        <p:txBody>
          <a:bodyPr wrap="square" lIns="25400" tIns="25400" rIns="25400" bIns="25400" rtlCol="0" anchor="t">
            <a:noAutofit/>
          </a:bodyPr>
          <a:lstStyle/>
          <a:p>
            <a:pPr algn="l" indent="0" marL="0">
              <a:buNone/>
            </a:pPr>
            <a:r>
              <a:rPr lang="en-US" sz="1950" b="1" dirty="0">
                <a:solidFill>
                  <a:srgbClr val="000000"/>
                </a:solidFill>
                <a:latin typeface="+mn-lt"/>
                <a:ea typeface="+mn-ea"/>
                <a:cs typeface="+mn-cs"/>
              </a:rPr>
              <a:t>Check the summary against the code. If the agent misunderstands the code now, its changes will be wrong too.</a:t>
            </a:r>
            <a:endParaRPr lang="en-US" sz="1950" dirty="0"/>
          </a:p>
        </p:txBody>
      </p:sp>
      <p:sp xmlns:p="http://schemas.openxmlformats.org/presentationml/2006/main" xmlns:a="http://schemas.openxmlformats.org/drawingml/2006/main" xmlns:r="http://schemas.openxmlformats.org/officeDocument/2006/relationships">
        <p:nvSpPr>
          <p:cNvPr id="13" name="Nav highlight"/>
          <p:cNvSpPr txBox="1"/>
          <p:nvPr userDrawn="1"/>
        </p:nvSpPr>
        <p:spPr>
          <a:xfrm>
            <a:off x="133350" y="3524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4: Plan Before Code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1810512" y="2103120"/>
            <a:ext cx="5715000" cy="3383280"/>
          </a:xfrm>
          <a:prstGeom prst="roundRect">
            <a:avLst>
              <a:gd name="adj" fmla="val 4000"/>
            </a:avLst>
          </a:prstGeom>
          <a:solidFill>
            <a:srgbClr val="F2F2F2"/>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2011680" y="2240280"/>
            <a:ext cx="534924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mn-lt"/>
                <a:ea typeface="+mn-ea"/>
                <a:cs typeface="+mn-cs"/>
              </a:rPr>
              <a:t>YOU</a:t>
            </a:r>
            <a:endParaRPr lang="en-US" sz="16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011680" y="2606040"/>
            <a:ext cx="5349240" cy="278892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Implement the requirement: add tipDeflectionUDL(w, L, E, I), δ = wL⁴/(8EI), print it from beam.m, and add a test against the hand calculation (2.40 mm).</a:t>
            </a:r>
            <a:endParaRPr lang="en-US" sz="1800" dirty="0"/>
          </a:p>
          <a:p>
            <a:pPr algn="l" indent="0" marL="0">
              <a:spcAft>
                <a:spcPts val="400"/>
              </a:spcAft>
              <a:buNone/>
            </a:pPr>
            <a:r>
              <a:rPr lang="en-US" sz="1800" b="1" dirty="0">
                <a:solidFill>
                  <a:srgbClr val="000000"/>
                </a:solidFill>
                <a:latin typeface="+mn-lt"/>
                <a:ea typeface="+mn-ea"/>
                <a:cs typeface="+mn-cs"/>
              </a:rPr>
              <a:t>Don’t write code yet. Give me a plan: files and functions you’ll change, and any questions.</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7772400" y="2103120"/>
            <a:ext cx="5715000" cy="3383280"/>
          </a:xfrm>
          <a:prstGeom prst="roundRect">
            <a:avLst>
              <a:gd name="adj" fmla="val 4000"/>
            </a:avLst>
          </a:prstGeom>
          <a:solidFill>
            <a:srgbClr val="152A47"/>
          </a:solidFill>
          <a:ln/>
        </p:spPr>
      </p:sp>
      <p:sp xmlns:p="http://schemas.openxmlformats.org/presentationml/2006/main" xmlns:a="http://schemas.openxmlformats.org/drawingml/2006/main" xmlns:r="http://schemas.openxmlformats.org/officeDocument/2006/relationships">
        <p:nvSpPr>
          <p:cNvPr id="9" name="Text 26"/>
          <p:cNvSpPr txBox="1"/>
          <p:nvPr/>
        </p:nvSpPr>
        <p:spPr>
          <a:xfrm>
            <a:off x="7973568" y="2240280"/>
            <a:ext cx="534924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00B0F0"/>
                </a:solidFill>
                <a:latin typeface="+mn-lt"/>
                <a:ea typeface="+mn-ea"/>
                <a:cs typeface="+mn-cs"/>
              </a:rPr>
              <a:t>AGENT</a:t>
            </a:r>
            <a:endParaRPr lang="en-US" sz="16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7973568" y="2606040"/>
            <a:ext cx="5349240" cy="278892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FFFFFF"/>
                </a:solidFill>
                <a:latin typeface="+mn-lt"/>
                <a:ea typeface="+mn-ea"/>
                <a:cs typeface="+mn-cs"/>
              </a:rPr>
              <a:t>Plan:</a:t>
            </a:r>
            <a:endParaRPr lang="en-US" sz="1800" dirty="0"/>
          </a:p>
          <a:p>
            <a:pPr algn="l" indent="0" marL="0">
              <a:spcAft>
                <a:spcPts val="400"/>
              </a:spcAft>
              <a:buNone/>
            </a:pPr>
            <a:r>
              <a:rPr lang="en-US" sz="1800" dirty="0">
                <a:solidFill>
                  <a:srgbClr val="FFFFFF"/>
                </a:solidFill>
                <a:latin typeface="+mn-lt"/>
                <a:ea typeface="+mn-ea"/>
                <a:cs typeface="+mn-cs"/>
              </a:rPr>
              <a:t>1. New file tipDeflectionUDL.m.</a:t>
            </a:r>
            <a:endParaRPr lang="en-US" sz="1800" dirty="0"/>
          </a:p>
          <a:p>
            <a:pPr algn="l" indent="0" marL="0">
              <a:spcAft>
                <a:spcPts val="400"/>
              </a:spcAft>
              <a:buNone/>
            </a:pPr>
            <a:r>
              <a:rPr lang="en-US" sz="1800" dirty="0">
                <a:solidFill>
                  <a:srgbClr val="FFFFFF"/>
                </a:solidFill>
                <a:latin typeface="+mn-lt"/>
                <a:ea typeface="+mn-ea"/>
                <a:cs typeface="+mn-cs"/>
              </a:rPr>
              <a:t>2. beam.m: add w = 1000 N/m; print the result after the point load.</a:t>
            </a:r>
            <a:endParaRPr lang="en-US" sz="1800" dirty="0"/>
          </a:p>
          <a:p>
            <a:pPr algn="l" indent="0" marL="0">
              <a:spcAft>
                <a:spcPts val="400"/>
              </a:spcAft>
              <a:buNone/>
            </a:pPr>
            <a:r>
              <a:rPr lang="en-US" sz="1800" dirty="0">
                <a:solidFill>
                  <a:srgbClr val="FFFFFF"/>
                </a:solidFill>
                <a:latin typeface="+mn-lt"/>
                <a:ea typeface="+mn-ea"/>
                <a:cs typeface="+mn-cs"/>
              </a:rPr>
              <a:t>3. tests/testBeam.m: add testUDLHandCalc.</a:t>
            </a:r>
            <a:endParaRPr lang="en-US" sz="1800" dirty="0"/>
          </a:p>
          <a:p>
            <a:pPr algn="l" indent="0" marL="0">
              <a:spcAft>
                <a:spcPts val="400"/>
              </a:spcAft>
              <a:buNone/>
            </a:pPr>
            <a:r>
              <a:rPr lang="en-US" sz="1800" dirty="0">
                <a:solidFill>
                  <a:srgbClr val="FFC000"/>
                </a:solidFill>
                <a:latin typeface="+mn-lt"/>
                <a:ea typeface="+mn-ea"/>
                <a:cs typeface="+mn-cs"/>
              </a:rPr>
              <a:t>Question: does w act over the full length?</a:t>
            </a:r>
            <a:endParaRPr lang="en-US" sz="1800" dirty="0"/>
          </a:p>
        </p:txBody>
      </p:sp>
      <p:sp xmlns:p="http://schemas.openxmlformats.org/presentationml/2006/main" xmlns:a="http://schemas.openxmlformats.org/drawingml/2006/main" xmlns:r="http://schemas.openxmlformats.org/officeDocument/2006/relationships">
        <p:nvSpPr>
          <p:cNvPr id="11" name="Shape 28"/>
          <p:cNvSpPr/>
          <p:nvPr/>
        </p:nvSpPr>
        <p:spPr>
          <a:xfrm>
            <a:off x="1810512" y="5760720"/>
            <a:ext cx="11676888" cy="1051560"/>
          </a:xfrm>
          <a:prstGeom prst="roundRect">
            <a:avLst>
              <a:gd name="adj" fmla="val 4000"/>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9"/>
          <p:cNvSpPr txBox="1"/>
          <p:nvPr/>
        </p:nvSpPr>
        <p:spPr>
          <a:xfrm>
            <a:off x="2011680" y="5897880"/>
            <a:ext cx="11311128"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mn-lt"/>
                <a:ea typeface="+mn-ea"/>
                <a:cs typeface="+mn-cs"/>
              </a:rPr>
              <a:t>YOU</a:t>
            </a:r>
            <a:endParaRPr lang="en-US" sz="16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2011680" y="6263640"/>
            <a:ext cx="11311128" cy="45720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Full length. Plan approved. Implement it and commit.</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7086600"/>
            <a:ext cx="11704320" cy="7315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Check the plan for: expected files only · real MATLAB functions · questions answered by you, not guessed.</a:t>
            </a:r>
            <a:endParaRPr lang="en-US" sz="1800"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5: Review the Diff</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7543800" cy="5111496"/>
          </a:xfrm>
          <a:prstGeom prst="roundRect">
            <a:avLst>
              <a:gd name="adj" fmla="val 4025"/>
            </a:avLst>
          </a:prstGeom>
          <a:solidFill>
            <a:srgbClr val="1E1E1E"/>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2011680" y="1728216"/>
            <a:ext cx="7141464" cy="4709160"/>
          </a:xfrm>
          <a:prstGeom prst="rect">
            <a:avLst/>
          </a:prstGeom>
          <a:noFill/>
          <a:ln/>
        </p:spPr>
        <p:txBody>
          <a:bodyPr wrap="none" lIns="25400" tIns="25400" rIns="25400" bIns="25400" rtlCol="0" anchor="t">
            <a:noAutofit/>
          </a:bodyPr>
          <a:lstStyle/>
          <a:p>
            <a:pPr algn="l" indent="0" marL="0">
              <a:lnSpc>
                <a:spcPct val="120000"/>
              </a:lnSpc>
              <a:buNone/>
            </a:pPr>
            <a:r>
              <a:rPr lang="en-US" sz="1500" dirty="0">
                <a:solidFill>
                  <a:srgbClr val="00B0F0"/>
                </a:solidFill>
                <a:latin typeface="Consolas" pitchFamily="34" charset="0"/>
                <a:ea typeface="Consolas" pitchFamily="34" charset="-122"/>
                <a:cs typeface="Consolas" pitchFamily="34" charset="-120"/>
              </a:rPr>
              <a:t>claude/udl-deflection · 3 files  +12 −0</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tipDeflectionUDL.m (new)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+function d = tipDeflectionUDL(w, L, E,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 Tip deflection, uniform load w (N/m)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 = w*L^4/(8*E*I);       % 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+end</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beam.m @@</a:t>
            </a:r>
            <a:endParaRPr lang="en-US" sz="1500" dirty="0"/>
          </a:p>
          <a:p>
            <a:pPr algn="l" indent="0" marL="0">
              <a:lnSpc>
                <a:spcPct val="120000"/>
              </a:lnSpc>
              <a:buNone/>
            </a:pPr>
            <a:r>
              <a:rPr lang="en-US" sz="1500" dirty="0">
                <a:solidFill>
                  <a:srgbClr val="D4D4D4"/>
                </a:solidFill>
                <a:latin typeface="Consolas" pitchFamily="34" charset="0"/>
                <a:ea typeface="Consolas" pitchFamily="34" charset="-122"/>
                <a:cs typeface="Consolas" pitchFamily="34" charset="-120"/>
              </a:rPr>
              <a:t xml:space="preserve"> fprintf('Tip deflection: %.2f mm\n',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+w = 1000;                % N/m, uniform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+dW = tipDeflectionUDL(w, L, E,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+fprintf('UDL deflection: %.2f mm\n', ...)</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tests/testBeam.m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+function testUDLHandCalc(tc)</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+I = 0.05*0.10^3/12;</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 = tipDeflectionUDL(1000, 2.0, 200e9,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+verifyEqual(tc, d, 2.40e-3, 'RelTol', 1e-3)</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+end</a:t>
            </a:r>
            <a:endParaRPr lang="en-US" sz="1500" dirty="0"/>
          </a:p>
        </p:txBody>
      </p:sp>
      <p:sp xmlns:p="http://schemas.openxmlformats.org/presentationml/2006/main" xmlns:a="http://schemas.openxmlformats.org/drawingml/2006/main" xmlns:r="http://schemas.openxmlformats.org/officeDocument/2006/relationships">
        <p:nvSpPr>
          <p:cNvPr id="5" name="Shape 22"/>
          <p:cNvSpPr/>
          <p:nvPr/>
        </p:nvSpPr>
        <p:spPr>
          <a:xfrm>
            <a:off x="9646920" y="1527048"/>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9674352"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9646920" y="2103120"/>
            <a:ext cx="612648" cy="973872"/>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0177272" y="2103120"/>
            <a:ext cx="3355848" cy="973872"/>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Read every line. Green </a:t>
            </a:r>
            <a:r>
              <a:rPr lang="en-US" sz="1875" b="1" dirty="0">
                <a:solidFill>
                  <a:srgbClr val="000000"/>
                </a:solidFill>
                <a:latin typeface="+mn-lt"/>
                <a:ea typeface="+mn-ea"/>
                <a:cs typeface="+mn-cs"/>
              </a:rPr>
              <a:t>+</a:t>
            </a:r>
            <a:r>
              <a:rPr lang="en-US" sz="1875" dirty="0">
                <a:solidFill>
                  <a:srgbClr val="000000"/>
                </a:solidFill>
                <a:latin typeface="+mn-lt"/>
                <a:ea typeface="+mn-ea"/>
                <a:cs typeface="+mn-cs"/>
              </a:rPr>
              <a:t xml:space="preserve"> lines were added; red </a:t>
            </a:r>
            <a:r>
              <a:rPr lang="en-US" sz="1875" b="1" dirty="0">
                <a:solidFill>
                  <a:srgbClr val="000000"/>
                </a:solidFill>
                <a:latin typeface="+mn-lt"/>
                <a:ea typeface="+mn-ea"/>
                <a:cs typeface="+mn-cs"/>
              </a:rPr>
              <a:t>−</a:t>
            </a:r>
            <a:r>
              <a:rPr lang="en-US" sz="1875" dirty="0">
                <a:solidFill>
                  <a:srgbClr val="000000"/>
                </a:solidFill>
                <a:latin typeface="+mn-lt"/>
                <a:ea typeface="+mn-ea"/>
                <a:cs typeface="+mn-cs"/>
              </a:rPr>
              <a:t xml:space="preserve"> lines were removed.</a:t>
            </a:r>
            <a:endParaRPr lang="en-US" sz="1875"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9646920" y="324158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0177272" y="3241584"/>
            <a:ext cx="335584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Ask about anything unclear: </a:t>
            </a:r>
            <a:r>
              <a:rPr lang="en-US" sz="1875" i="1" dirty="0">
                <a:solidFill>
                  <a:srgbClr val="000000"/>
                </a:solidFill>
                <a:latin typeface="+mn-lt"/>
                <a:ea typeface="+mn-ea"/>
                <a:cs typeface="+mn-cs"/>
              </a:rPr>
              <a:t>Why RelTol 1e-3?</a:t>
            </a:r>
            <a:endParaRPr lang="en-US" sz="1875"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9646920" y="408590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0177272" y="4085904"/>
            <a:ext cx="335584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Select </a:t>
            </a:r>
            <a:r>
              <a:rPr lang="en-US" sz="1875" b="1" dirty="0">
                <a:solidFill>
                  <a:srgbClr val="000000"/>
                </a:solidFill>
                <a:latin typeface="+mn-lt"/>
                <a:ea typeface="+mn-ea"/>
                <a:cs typeface="+mn-cs"/>
              </a:rPr>
              <a:t>Create PR</a:t>
            </a:r>
            <a:r>
              <a:rPr lang="en-US" sz="1875" dirty="0">
                <a:solidFill>
                  <a:srgbClr val="000000"/>
                </a:solidFill>
                <a:latin typeface="+mn-lt"/>
                <a:ea typeface="+mn-ea"/>
                <a:cs typeface="+mn-cs"/>
              </a:rPr>
              <a:t xml:space="preserve"> in the session.</a:t>
            </a:r>
            <a:endParaRPr lang="en-US" sz="1875"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646920" y="5067383"/>
            <a:ext cx="3886200" cy="146304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You are accountable for every line you merge, as cadets are for every line they submit.</a:t>
            </a:r>
            <a:endParaRPr lang="en-US" sz="1800"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 Branches &amp; PRs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2468880" y="3429000"/>
            <a:ext cx="10515600" cy="45720"/>
          </a:xfrm>
          <a:prstGeom prst="rect">
            <a:avLst/>
          </a:prstGeom>
          <a:solidFill>
            <a:srgbClr val="595959"/>
          </a:solidFill>
          <a:ln/>
        </p:spPr>
      </p:sp>
      <p:sp xmlns:p="http://schemas.openxmlformats.org/presentationml/2006/main" xmlns:a="http://schemas.openxmlformats.org/drawingml/2006/main" xmlns:r="http://schemas.openxmlformats.org/officeDocument/2006/relationships">
        <p:nvSpPr>
          <p:cNvPr id="4" name="Shape 21"/>
          <p:cNvSpPr/>
          <p:nvPr/>
        </p:nvSpPr>
        <p:spPr>
          <a:xfrm>
            <a:off x="3657600" y="2468880"/>
            <a:ext cx="45720" cy="978408"/>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5" name="Shape 22"/>
          <p:cNvSpPr/>
          <p:nvPr/>
        </p:nvSpPr>
        <p:spPr>
          <a:xfrm>
            <a:off x="3657600" y="2468880"/>
            <a:ext cx="6400800" cy="45720"/>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6" name="Shape 23"/>
          <p:cNvSpPr/>
          <p:nvPr/>
        </p:nvSpPr>
        <p:spPr>
          <a:xfrm>
            <a:off x="10040112" y="2468880"/>
            <a:ext cx="45720" cy="978408"/>
          </a:xfrm>
          <a:prstGeom prst="rect">
            <a:avLst/>
          </a:prstGeom>
          <a:solidFill>
            <a:srgbClr val="1F6FB2"/>
          </a:solidFill>
          <a:ln/>
        </p:spPr>
      </p:sp>
      <p:sp xmlns:p="http://schemas.openxmlformats.org/presentationml/2006/main" xmlns:a="http://schemas.openxmlformats.org/drawingml/2006/main" xmlns:r="http://schemas.openxmlformats.org/officeDocument/2006/relationships">
        <p:nvSpPr>
          <p:cNvPr id="7" name="Shape 24"/>
          <p:cNvSpPr/>
          <p:nvPr/>
        </p:nvSpPr>
        <p:spPr>
          <a:xfrm>
            <a:off x="3547872" y="3300984"/>
            <a:ext cx="274320" cy="274320"/>
          </a:xfrm>
          <a:prstGeom prst="ellipse">
            <a:avLst/>
          </a:prstGeom>
          <a:solidFill>
            <a:srgbClr val="FFFFFF"/>
          </a:solidFill>
          <a:ln w="25400">
            <a:solidFill>
              <a:srgbClr val="595959"/>
            </a:solidFill>
            <a:prstDash val="solid"/>
          </a:ln>
        </p:spPr>
      </p:sp>
      <p:sp xmlns:p="http://schemas.openxmlformats.org/presentationml/2006/main" xmlns:a="http://schemas.openxmlformats.org/drawingml/2006/main" xmlns:r="http://schemas.openxmlformats.org/officeDocument/2006/relationships">
        <p:nvSpPr>
          <p:cNvPr id="8" name="Text 25"/>
          <p:cNvSpPr txBox="1"/>
          <p:nvPr/>
        </p:nvSpPr>
        <p:spPr>
          <a:xfrm>
            <a:off x="2724912" y="3657600"/>
            <a:ext cx="19202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mn-lt"/>
                <a:ea typeface="+mn-ea"/>
                <a:cs typeface="+mn-cs"/>
              </a:rPr>
              <a:t>Lesson 1 work</a:t>
            </a:r>
            <a:endParaRPr lang="en-US" sz="16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724912" y="3977640"/>
            <a:ext cx="192024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10" name="Shape 27"/>
          <p:cNvSpPr/>
          <p:nvPr/>
        </p:nvSpPr>
        <p:spPr>
          <a:xfrm>
            <a:off x="9921240" y="3300984"/>
            <a:ext cx="274320" cy="274320"/>
          </a:xfrm>
          <a:prstGeom prst="ellipse">
            <a:avLst/>
          </a:prstGeom>
          <a:solidFill>
            <a:srgbClr val="FFFFFF"/>
          </a:solidFill>
          <a:ln w="25400">
            <a:solidFill>
              <a:srgbClr val="595959"/>
            </a:solidFill>
            <a:prstDash val="solid"/>
          </a:ln>
        </p:spPr>
      </p:sp>
      <p:sp xmlns:p="http://schemas.openxmlformats.org/presentationml/2006/main" xmlns:a="http://schemas.openxmlformats.org/drawingml/2006/main" xmlns:r="http://schemas.openxmlformats.org/officeDocument/2006/relationships">
        <p:nvSpPr>
          <p:cNvPr id="11" name="Text 28"/>
          <p:cNvSpPr txBox="1"/>
          <p:nvPr/>
        </p:nvSpPr>
        <p:spPr>
          <a:xfrm>
            <a:off x="9098280" y="3657600"/>
            <a:ext cx="1920240" cy="347472"/>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mn-lt"/>
                <a:ea typeface="+mn-ea"/>
                <a:cs typeface="+mn-cs"/>
              </a:rPr>
              <a:t>Merge PR</a:t>
            </a:r>
            <a:endParaRPr lang="en-US" sz="165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9098280" y="3977640"/>
            <a:ext cx="192024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13" name="Shape 30"/>
          <p:cNvSpPr/>
          <p:nvPr/>
        </p:nvSpPr>
        <p:spPr>
          <a:xfrm>
            <a:off x="5943600" y="2350008"/>
            <a:ext cx="274320" cy="274320"/>
          </a:xfrm>
          <a:prstGeom prst="ellipse">
            <a:avLst/>
          </a:prstGeom>
          <a:solidFill>
            <a:srgbClr val="1F6FB2"/>
          </a:solidFill>
          <a:ln/>
        </p:spPr>
      </p:sp>
      <p:sp xmlns:p="http://schemas.openxmlformats.org/presentationml/2006/main" xmlns:a="http://schemas.openxmlformats.org/drawingml/2006/main" xmlns:r="http://schemas.openxmlformats.org/officeDocument/2006/relationships">
        <p:nvSpPr>
          <p:cNvPr id="14" name="Text 31"/>
          <p:cNvSpPr txBox="1"/>
          <p:nvPr/>
        </p:nvSpPr>
        <p:spPr>
          <a:xfrm>
            <a:off x="4846320" y="1874520"/>
            <a:ext cx="2468880" cy="365760"/>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mn-lt"/>
                <a:ea typeface="+mn-ea"/>
                <a:cs typeface="+mn-cs"/>
              </a:rPr>
              <a:t>Add UDL deflection</a:t>
            </a:r>
            <a:endParaRPr lang="en-US" sz="165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4846320" y="2679192"/>
            <a:ext cx="246888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a1b2c3d</a:t>
            </a:r>
            <a:endParaRPr lang="en-US" sz="1500" dirty="0"/>
          </a:p>
        </p:txBody>
      </p:sp>
      <p:sp xmlns:p="http://schemas.openxmlformats.org/presentationml/2006/main" xmlns:a="http://schemas.openxmlformats.org/drawingml/2006/main" xmlns:r="http://schemas.openxmlformats.org/officeDocument/2006/relationships">
        <p:nvSpPr>
          <p:cNvPr id="16" name="Shape 33"/>
          <p:cNvSpPr/>
          <p:nvPr/>
        </p:nvSpPr>
        <p:spPr>
          <a:xfrm>
            <a:off x="8503920" y="2350008"/>
            <a:ext cx="274320" cy="274320"/>
          </a:xfrm>
          <a:prstGeom prst="ellipse">
            <a:avLst/>
          </a:prstGeom>
          <a:solidFill>
            <a:srgbClr val="1F6FB2"/>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7406640" y="1874520"/>
            <a:ext cx="2468880" cy="365760"/>
          </a:xfrm>
          <a:prstGeom prst="rect">
            <a:avLst/>
          </a:prstGeom>
          <a:noFill/>
          <a:ln/>
        </p:spPr>
        <p:txBody>
          <a:bodyPr wrap="square" lIns="25400" tIns="25400" rIns="25400" bIns="25400" rtlCol="0" anchor="t">
            <a:noAutofit/>
          </a:bodyPr>
          <a:lstStyle/>
          <a:p>
            <a:pPr algn="ctr" indent="0" marL="0">
              <a:buNone/>
            </a:pPr>
            <a:r>
              <a:rPr lang="en-US" sz="1650" b="1" dirty="0">
                <a:solidFill>
                  <a:srgbClr val="000000"/>
                </a:solidFill>
                <a:latin typeface="+mn-lt"/>
                <a:ea typeface="+mn-ea"/>
                <a:cs typeface="+mn-cs"/>
              </a:rPr>
              <a:t>Fix test units</a:t>
            </a:r>
            <a:endParaRPr lang="en-US" sz="165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7406640" y="2679192"/>
            <a:ext cx="246888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e4f5a6b</a:t>
            </a:r>
            <a:endParaRPr lang="en-US" sz="150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3794760" y="2788920"/>
            <a:ext cx="1280160" cy="365760"/>
          </a:xfrm>
          <a:prstGeom prst="rect">
            <a:avLst/>
          </a:prstGeom>
          <a:noFill/>
          <a:ln/>
        </p:spPr>
        <p:txBody>
          <a:bodyPr wrap="square" lIns="25400" tIns="25400" rIns="25400" bIns="25400" rtlCol="0" anchor="t">
            <a:noAutofit/>
          </a:bodyPr>
          <a:lstStyle/>
          <a:p>
            <a:pPr algn="l" indent="0" marL="0">
              <a:buNone/>
            </a:pPr>
            <a:r>
              <a:rPr lang="en-US" sz="1500" b="1" dirty="0">
                <a:solidFill>
                  <a:srgbClr val="1F6FB2"/>
                </a:solidFill>
                <a:latin typeface="+mn-lt"/>
                <a:ea typeface="+mn-ea"/>
                <a:cs typeface="+mn-cs"/>
              </a:rPr>
              <a:t>claude/…</a:t>
            </a:r>
            <a:endParaRPr lang="en-US" sz="15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1810512" y="3291840"/>
            <a:ext cx="731520" cy="320040"/>
          </a:xfrm>
          <a:prstGeom prst="rect">
            <a:avLst/>
          </a:prstGeom>
          <a:noFill/>
          <a:ln/>
        </p:spPr>
        <p:txBody>
          <a:bodyPr wrap="square" lIns="25400" tIns="25400" rIns="25400" bIns="25400" rtlCol="0" anchor="t">
            <a:noAutofit/>
          </a:bodyPr>
          <a:lstStyle/>
          <a:p>
            <a:pPr algn="l" indent="0" marL="0">
              <a:buNone/>
            </a:pPr>
            <a:r>
              <a:rPr lang="en-US" sz="1500" b="1" dirty="0">
                <a:solidFill>
                  <a:srgbClr val="00000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21" name="Text 38"/>
          <p:cNvSpPr txBox="1"/>
          <p:nvPr/>
        </p:nvSpPr>
        <p:spPr>
          <a:xfrm>
            <a:off x="1810512" y="466344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Branch</a:t>
            </a:r>
            <a:endParaRPr lang="en-US" sz="210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1810512" y="5120640"/>
            <a:ext cx="5669280" cy="2286000"/>
          </a:xfrm>
          <a:prstGeom prst="rect">
            <a:avLst/>
          </a:prstGeom>
          <a:noFill/>
          <a:ln/>
        </p:spPr>
        <p:txBody>
          <a:bodyPr wrap="square" lIns="25400" tIns="25400" rIns="25400" bIns="25400" rtlCol="0" anchor="t">
            <a:noAutofit/>
          </a:bodyPr>
          <a:lstStyle/>
          <a:p>
            <a:pPr algn="l" indent="0" marL="0">
              <a:spcAft>
                <a:spcPts val="800"/>
              </a:spcAft>
              <a:buNone/>
            </a:pPr>
            <a:r>
              <a:rPr lang="en-US" sz="1875" dirty="0">
                <a:solidFill>
                  <a:srgbClr val="000000"/>
                </a:solidFill>
                <a:latin typeface="+mn-lt"/>
                <a:ea typeface="+mn-ea"/>
                <a:cs typeface="+mn-cs"/>
              </a:rPr>
              <a:t>Each session creates its own claude/… branch and pushes every commit there, including fixes.</a:t>
            </a:r>
            <a:endParaRPr lang="en-US" sz="1875" dirty="0"/>
          </a:p>
          <a:p>
            <a:pPr algn="l" indent="0" marL="0">
              <a:spcAft>
                <a:spcPts val="800"/>
              </a:spcAft>
              <a:buNone/>
            </a:pPr>
            <a:r>
              <a:rPr lang="en-US" sz="1875" dirty="0">
                <a:solidFill>
                  <a:srgbClr val="000000"/>
                </a:solidFill>
                <a:latin typeface="+mn-lt"/>
                <a:ea typeface="+mn-ea"/>
                <a:cs typeface="+mn-cs"/>
              </a:rPr>
              <a:t>main is unchanged until you merge.</a:t>
            </a:r>
            <a:endParaRPr lang="en-US" sz="1875"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7818120" y="466344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Pull request (PR)</a:t>
            </a:r>
            <a:endParaRPr lang="en-US" sz="210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7818120" y="516636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25" name="Text 42"/>
          <p:cNvSpPr txBox="1"/>
          <p:nvPr/>
        </p:nvSpPr>
        <p:spPr>
          <a:xfrm>
            <a:off x="8348472" y="5166360"/>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Select </a:t>
            </a:r>
            <a:r>
              <a:rPr lang="en-US" sz="1875" b="1" dirty="0">
                <a:solidFill>
                  <a:srgbClr val="000000"/>
                </a:solidFill>
                <a:latin typeface="+mn-lt"/>
                <a:ea typeface="+mn-ea"/>
                <a:cs typeface="+mn-cs"/>
              </a:rPr>
              <a:t>Create PR</a:t>
            </a:r>
            <a:r>
              <a:rPr lang="en-US" sz="1875" dirty="0">
                <a:solidFill>
                  <a:srgbClr val="000000"/>
                </a:solidFill>
                <a:latin typeface="+mn-lt"/>
                <a:ea typeface="+mn-ea"/>
                <a:cs typeface="+mn-cs"/>
              </a:rPr>
              <a:t xml:space="preserve"> in the session.</a:t>
            </a:r>
            <a:endParaRPr lang="en-US" sz="1875" dirty="0"/>
          </a:p>
        </p:txBody>
      </p:sp>
      <p:sp xmlns:p="http://schemas.openxmlformats.org/presentationml/2006/main" xmlns:a="http://schemas.openxmlformats.org/drawingml/2006/main" xmlns:r="http://schemas.openxmlformats.org/officeDocument/2006/relationships">
        <p:nvSpPr>
          <p:cNvPr id="26" name="Text 43"/>
          <p:cNvSpPr txBox="1"/>
          <p:nvPr/>
        </p:nvSpPr>
        <p:spPr>
          <a:xfrm>
            <a:off x="7818120" y="566167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27" name="Text 44"/>
          <p:cNvSpPr txBox="1"/>
          <p:nvPr/>
        </p:nvSpPr>
        <p:spPr>
          <a:xfrm>
            <a:off x="8348472" y="5661672"/>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On GitHub, read </a:t>
            </a:r>
            <a:r>
              <a:rPr lang="en-US" sz="1875" b="1" dirty="0">
                <a:solidFill>
                  <a:srgbClr val="000000"/>
                </a:solidFill>
                <a:latin typeface="+mn-lt"/>
                <a:ea typeface="+mn-ea"/>
                <a:cs typeface="+mn-cs"/>
              </a:rPr>
              <a:t>Files changed</a:t>
            </a:r>
            <a:r>
              <a:rPr lang="en-US" sz="1875" dirty="0">
                <a:solidFill>
                  <a:srgbClr val="000000"/>
                </a:solidFill>
                <a:latin typeface="+mn-lt"/>
                <a:ea typeface="+mn-ea"/>
                <a:cs typeface="+mn-cs"/>
              </a:rPr>
              <a:t>.</a:t>
            </a:r>
            <a:endParaRPr lang="en-US" sz="1875" dirty="0"/>
          </a:p>
        </p:txBody>
      </p:sp>
      <p:sp xmlns:p="http://schemas.openxmlformats.org/presentationml/2006/main" xmlns:a="http://schemas.openxmlformats.org/drawingml/2006/main" xmlns:r="http://schemas.openxmlformats.org/officeDocument/2006/relationships">
        <p:nvSpPr>
          <p:cNvPr id="28" name="Text 45"/>
          <p:cNvSpPr txBox="1"/>
          <p:nvPr/>
        </p:nvSpPr>
        <p:spPr>
          <a:xfrm>
            <a:off x="7818120" y="6156984"/>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29" name="Text 46"/>
          <p:cNvSpPr txBox="1"/>
          <p:nvPr/>
        </p:nvSpPr>
        <p:spPr>
          <a:xfrm>
            <a:off x="8348472" y="6156984"/>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Test the branch yourself (next).</a:t>
            </a:r>
            <a:endParaRPr lang="en-US" sz="1875" dirty="0"/>
          </a:p>
        </p:txBody>
      </p:sp>
      <p:sp xmlns:p="http://schemas.openxmlformats.org/presentationml/2006/main" xmlns:a="http://schemas.openxmlformats.org/drawingml/2006/main" xmlns:r="http://schemas.openxmlformats.org/officeDocument/2006/relationships">
        <p:nvSpPr>
          <p:cNvPr id="30" name="Text 47"/>
          <p:cNvSpPr txBox="1"/>
          <p:nvPr/>
        </p:nvSpPr>
        <p:spPr>
          <a:xfrm>
            <a:off x="7818120" y="6652296"/>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31" name="Text 48"/>
          <p:cNvSpPr txBox="1"/>
          <p:nvPr/>
        </p:nvSpPr>
        <p:spPr>
          <a:xfrm>
            <a:off x="8348472" y="6652296"/>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Merge only after it passes.</a:t>
            </a:r>
            <a:endParaRPr lang="en-US" sz="1875" dirty="0"/>
          </a:p>
        </p:txBody>
      </p:sp>
      <p:sp xmlns:p="http://schemas.openxmlformats.org/presentationml/2006/main" xmlns:a="http://schemas.openxmlformats.org/drawingml/2006/main" xmlns:r="http://schemas.openxmlformats.org/officeDocument/2006/relationships">
        <p:nvSpPr>
          <p:cNvPr id="32" name="Nav highlight"/>
          <p:cNvSpPr txBox="1"/>
          <p:nvPr userDrawn="1"/>
        </p:nvSpPr>
        <p:spPr>
          <a:xfrm>
            <a:off x="133350" y="3905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33"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6: Test It Yourself</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103120"/>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GitHub Desktop: </a:t>
            </a:r>
            <a:r>
              <a:rPr lang="en-US" sz="1950" b="1" dirty="0">
                <a:solidFill>
                  <a:srgbClr val="000000"/>
                </a:solidFill>
                <a:latin typeface="+mn-lt"/>
                <a:ea typeface="+mn-ea"/>
                <a:cs typeface="+mn-cs"/>
              </a:rPr>
              <a:t>Fetch origin</a:t>
            </a:r>
            <a:r>
              <a:rPr lang="en-US" sz="1950" dirty="0">
                <a:solidFill>
                  <a:srgbClr val="000000"/>
                </a:solidFill>
                <a:latin typeface="+mn-lt"/>
                <a:ea typeface="+mn-ea"/>
                <a:cs typeface="+mn-cs"/>
              </a:rPr>
              <a:t xml:space="preserve">, then switch Current branch to </a:t>
            </a:r>
            <a:r>
              <a:rPr lang="en-US" sz="1950" b="1" dirty="0">
                <a:solidFill>
                  <a:srgbClr val="000000"/>
                </a:solidFill>
                <a:latin typeface="+mn-lt"/>
                <a:ea typeface="+mn-ea"/>
                <a:cs typeface="+mn-cs"/>
              </a:rPr>
              <a:t>claude/udl-deflection</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266506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266506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MATLAB: open the repo folder. Run </a:t>
            </a:r>
            <a:r>
              <a:rPr lang="en-US" sz="1950" dirty="0">
                <a:solidFill>
                  <a:srgbClr val="000000"/>
                </a:solidFill>
                <a:latin typeface="Consolas" pitchFamily="34" charset="0"/>
                <a:ea typeface="Consolas" pitchFamily="34" charset="-122"/>
                <a:cs typeface="Consolas" pitchFamily="34" charset="-120"/>
              </a:rPr>
              <a:t>beam</a:t>
            </a:r>
            <a:r>
              <a:rPr lang="en-US" sz="1950" dirty="0">
                <a:solidFill>
                  <a:srgbClr val="000000"/>
                </a:solidFill>
                <a:latin typeface="+mn-lt"/>
                <a:ea typeface="+mn-ea"/>
                <a:cs typeface="+mn-cs"/>
              </a:rPr>
              <a:t xml:space="preserve">, then </a:t>
            </a:r>
            <a:r>
              <a:rPr lang="en-US" sz="1950" dirty="0">
                <a:solidFill>
                  <a:srgbClr val="000000"/>
                </a:solidFill>
                <a:latin typeface="Consolas" pitchFamily="34" charset="0"/>
                <a:ea typeface="Consolas" pitchFamily="34" charset="-122"/>
                <a:cs typeface="Consolas" pitchFamily="34" charset="-120"/>
              </a:rPr>
              <a:t>runtests('tests')</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322700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3227003"/>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Check the result against your own hand calculation, not the agent’s.</a:t>
            </a:r>
            <a:endParaRPr lang="en-US" sz="19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4206240"/>
            <a:ext cx="11704320" cy="365760"/>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PASS CRITERIA (FROM THE REQUIREMENT)</a:t>
            </a:r>
            <a:endParaRPr lang="en-US" sz="165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4663440"/>
            <a:ext cx="338328" cy="338328"/>
          </a:xfrm>
          <a:prstGeom prst="rect">
            <a:avLst/>
          </a:prstGeom>
          <a:noFill/>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3" name="Text 30"/>
          <p:cNvSpPr txBox="1"/>
          <p:nvPr/>
        </p:nvSpPr>
        <p:spPr>
          <a:xfrm>
            <a:off x="2359152" y="46177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All tests pass, including </a:t>
            </a:r>
            <a:r>
              <a:rPr lang="en-US" sz="1950" b="1" dirty="0">
                <a:solidFill>
                  <a:srgbClr val="000000"/>
                </a:solidFill>
                <a:latin typeface="+mn-lt"/>
                <a:ea typeface="+mn-ea"/>
                <a:cs typeface="+mn-cs"/>
              </a:rPr>
              <a:t>testUDLHandCalc</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4" name="Shape 31"/>
          <p:cNvSpPr/>
          <p:nvPr/>
        </p:nvSpPr>
        <p:spPr>
          <a:xfrm>
            <a:off x="1810512" y="5166360"/>
            <a:ext cx="11676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Shape 32"/>
          <p:cNvSpPr/>
          <p:nvPr/>
        </p:nvSpPr>
        <p:spPr>
          <a:xfrm>
            <a:off x="1810512" y="5349240"/>
            <a:ext cx="338328" cy="338328"/>
          </a:xfrm>
          <a:prstGeom prst="rect">
            <a:avLst/>
          </a:prstGeom>
          <a:noFill/>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6" name="Text 33"/>
          <p:cNvSpPr txBox="1"/>
          <p:nvPr/>
        </p:nvSpPr>
        <p:spPr>
          <a:xfrm>
            <a:off x="2359152" y="53035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Hand check: w = 1000 N/m, L = 2.0 m, steel, 50 × 100 mm → </a:t>
            </a:r>
            <a:r>
              <a:rPr lang="en-US" sz="1950" b="1" dirty="0">
                <a:solidFill>
                  <a:srgbClr val="000000"/>
                </a:solidFill>
                <a:latin typeface="+mn-lt"/>
                <a:ea typeface="+mn-ea"/>
                <a:cs typeface="+mn-cs"/>
              </a:rPr>
              <a:t>δ = 2.40 mm</a:t>
            </a:r>
            <a:r>
              <a:rPr lang="en-US" sz="1950" dirty="0">
                <a:solidFill>
                  <a:srgbClr val="000000"/>
                </a:solidFill>
                <a:latin typeface="+mn-lt"/>
                <a:ea typeface="+mn-ea"/>
                <a:cs typeface="+mn-cs"/>
              </a:rPr>
              <a:t>.</a:t>
            </a:r>
            <a:endParaRPr lang="en-US" sz="1950" dirty="0"/>
          </a:p>
        </p:txBody>
      </p:sp>
      <p:sp xmlns:p="http://schemas.openxmlformats.org/presentationml/2006/main" xmlns:a="http://schemas.openxmlformats.org/drawingml/2006/main" xmlns:r="http://schemas.openxmlformats.org/officeDocument/2006/relationships">
        <p:nvSpPr>
          <p:cNvPr id="17" name="Shape 34"/>
          <p:cNvSpPr/>
          <p:nvPr/>
        </p:nvSpPr>
        <p:spPr>
          <a:xfrm>
            <a:off x="1810512" y="5852160"/>
            <a:ext cx="11676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8" name="Shape 35"/>
          <p:cNvSpPr/>
          <p:nvPr/>
        </p:nvSpPr>
        <p:spPr>
          <a:xfrm>
            <a:off x="1810512" y="6035040"/>
            <a:ext cx="338328" cy="338328"/>
          </a:xfrm>
          <a:prstGeom prst="rect">
            <a:avLst/>
          </a:prstGeom>
          <a:noFill/>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19" name="Text 36"/>
          <p:cNvSpPr txBox="1"/>
          <p:nvPr/>
        </p:nvSpPr>
        <p:spPr>
          <a:xfrm>
            <a:off x="2359152" y="59893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 xml:space="preserve">With P = wL, the distributed result is </a:t>
            </a:r>
            <a:r>
              <a:rPr lang="en-US" sz="1950" b="1" dirty="0">
                <a:solidFill>
                  <a:srgbClr val="000000"/>
                </a:solidFill>
                <a:latin typeface="+mn-lt"/>
                <a:ea typeface="+mn-ea"/>
                <a:cs typeface="+mn-cs"/>
              </a:rPr>
              <a:t>3/8</a:t>
            </a:r>
            <a:r>
              <a:rPr lang="en-US" sz="1950" dirty="0">
                <a:solidFill>
                  <a:srgbClr val="000000"/>
                </a:solidFill>
                <a:latin typeface="+mn-lt"/>
                <a:ea typeface="+mn-ea"/>
                <a:cs typeface="+mn-cs"/>
              </a:rPr>
              <a:t xml:space="preserve"> of the point-load result.</a:t>
            </a:r>
            <a:endParaRPr lang="en-US" sz="195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6537960"/>
            <a:ext cx="11676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Shape 38"/>
          <p:cNvSpPr/>
          <p:nvPr/>
        </p:nvSpPr>
        <p:spPr>
          <a:xfrm>
            <a:off x="1810512" y="6720840"/>
            <a:ext cx="338328" cy="338328"/>
          </a:xfrm>
          <a:prstGeom prst="rect">
            <a:avLst/>
          </a:prstGeom>
          <a:noFill/>
          <a:ln w="25400">
            <a:solidFill>
              <a:srgbClr val="152A47"/>
            </a:solidFill>
            <a:prstDash val="solid"/>
          </a:ln>
        </p:spPr>
      </p:sp>
      <p:sp xmlns:p="http://schemas.openxmlformats.org/presentationml/2006/main" xmlns:a="http://schemas.openxmlformats.org/drawingml/2006/main" xmlns:r="http://schemas.openxmlformats.org/officeDocument/2006/relationships">
        <p:nvSpPr>
          <p:cNvPr id="22" name="Text 39"/>
          <p:cNvSpPr txBox="1"/>
          <p:nvPr/>
        </p:nvSpPr>
        <p:spPr>
          <a:xfrm>
            <a:off x="2359152" y="6675120"/>
            <a:ext cx="11155680" cy="411480"/>
          </a:xfrm>
          <a:prstGeom prst="rect">
            <a:avLst/>
          </a:prstGeom>
          <a:noFill/>
          <a:ln/>
        </p:spPr>
        <p:txBody>
          <a:bodyPr wrap="square" lIns="25400" tIns="25400" rIns="25400" bIns="25400" rtlCol="0" anchor="t">
            <a:noAutofit/>
          </a:bodyPr>
          <a:lstStyle/>
          <a:p>
            <a:pPr algn="l" indent="0" marL="0">
              <a:buNone/>
            </a:pPr>
            <a:r>
              <a:rPr lang="en-US" sz="1950" dirty="0">
                <a:solidFill>
                  <a:srgbClr val="000000"/>
                </a:solidFill>
                <a:latin typeface="+mn-lt"/>
                <a:ea typeface="+mn-ea"/>
                <a:cs typeface="+mn-cs"/>
              </a:rPr>
              <a:t>The point-load line prints the same value as on main.</a:t>
            </a:r>
            <a:endParaRPr lang="en-US" sz="1950" dirty="0"/>
          </a:p>
        </p:txBody>
      </p:sp>
      <p:sp xmlns:p="http://schemas.openxmlformats.org/presentationml/2006/main" xmlns:a="http://schemas.openxmlformats.org/drawingml/2006/main" xmlns:r="http://schemas.openxmlformats.org/officeDocument/2006/relationships">
        <p:nvSpPr>
          <p:cNvPr id="23" name="Shape 40"/>
          <p:cNvSpPr/>
          <p:nvPr/>
        </p:nvSpPr>
        <p:spPr>
          <a:xfrm>
            <a:off x="1810512" y="7223760"/>
            <a:ext cx="11676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4" name="Shape 41"/>
          <p:cNvSpPr/>
          <p:nvPr/>
        </p:nvSpPr>
        <p:spPr>
          <a:xfrm>
            <a:off x="1810512" y="7543800"/>
            <a:ext cx="11676888" cy="91440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25" name="Text 42"/>
          <p:cNvSpPr txBox="1"/>
          <p:nvPr/>
        </p:nvSpPr>
        <p:spPr>
          <a:xfrm>
            <a:off x="2057400" y="7543800"/>
            <a:ext cx="11247120" cy="914400"/>
          </a:xfrm>
          <a:prstGeom prst="rect">
            <a:avLst/>
          </a:prstGeom>
          <a:noFill/>
          <a:ln/>
        </p:spPr>
        <p:txBody>
          <a:bodyPr wrap="square" lIns="25400" tIns="25400" rIns="25400" bIns="25400" rtlCol="0" anchor="ctr">
            <a:noAutofit/>
          </a:bodyPr>
          <a:lstStyle/>
          <a:p>
            <a:pPr algn="l" indent="0" marL="0">
              <a:buNone/>
            </a:pPr>
            <a:r>
              <a:rPr lang="en-US" sz="2025" b="1" dirty="0">
                <a:solidFill>
                  <a:srgbClr val="FFFFFF"/>
                </a:solidFill>
                <a:latin typeface="+mn-lt"/>
                <a:ea typeface="+mn-ea"/>
                <a:cs typeface="+mn-cs"/>
              </a:rPr>
              <a:t>Until you run it, the agent’s commit is a proposal.</a:t>
            </a:r>
            <a:endParaRPr lang="en-US" sz="2025"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4286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Adjudicate</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Iterate &amp; Merge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220724" cy="381305"/>
          </a:xfrm>
          <a:prstGeom prst="roundRect">
            <a:avLst>
              <a:gd name="adj" fmla="val 15000"/>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165860"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ITERATE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58521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If it fails</a:t>
            </a:r>
            <a:endParaRPr lang="en-US" sz="21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560320"/>
            <a:ext cx="5852160" cy="777240"/>
          </a:xfrm>
          <a:prstGeom prst="rect">
            <a:avLst/>
          </a:prstGeom>
          <a:noFill/>
          <a:ln/>
        </p:spPr>
        <p:txBody>
          <a:bodyPr wrap="square" lIns="25400" tIns="25400" rIns="25400" bIns="25400" rtlCol="0" anchor="t">
            <a:noAutofit/>
          </a:bodyPr>
          <a:lstStyle/>
          <a:p>
            <a:pPr algn="l" indent="0" marL="0">
              <a:buNone/>
            </a:pPr>
            <a:r>
              <a:rPr lang="en-US" sz="1875" dirty="0">
                <a:solidFill>
                  <a:srgbClr val="000000"/>
                </a:solidFill>
                <a:latin typeface="+mn-lt"/>
                <a:ea typeface="+mn-ea"/>
                <a:cs typeface="+mn-cs"/>
              </a:rPr>
              <a:t>Report what you observed and paste the output.</a:t>
            </a:r>
            <a:endParaRPr lang="en-US" sz="1875" dirty="0"/>
          </a:p>
        </p:txBody>
      </p:sp>
      <p:sp xmlns:p="http://schemas.openxmlformats.org/presentationml/2006/main" xmlns:a="http://schemas.openxmlformats.org/drawingml/2006/main" xmlns:r="http://schemas.openxmlformats.org/officeDocument/2006/relationships">
        <p:nvSpPr>
          <p:cNvPr id="7" name="Shape 24"/>
          <p:cNvSpPr/>
          <p:nvPr/>
        </p:nvSpPr>
        <p:spPr>
          <a:xfrm>
            <a:off x="1810512" y="3291840"/>
            <a:ext cx="5852160" cy="2029206"/>
          </a:xfrm>
          <a:prstGeom prst="roundRect">
            <a:avLst>
              <a:gd name="adj" fmla="val 4000"/>
            </a:avLst>
          </a:prstGeom>
          <a:solidFill>
            <a:srgbClr val="F2F2F2"/>
          </a:solidFill>
          <a:ln/>
        </p:spPr>
      </p:sp>
      <p:sp xmlns:p="http://schemas.openxmlformats.org/presentationml/2006/main" xmlns:a="http://schemas.openxmlformats.org/drawingml/2006/main" xmlns:r="http://schemas.openxmlformats.org/officeDocument/2006/relationships">
        <p:nvSpPr>
          <p:cNvPr id="8" name="Text 25"/>
          <p:cNvSpPr txBox="1"/>
          <p:nvPr/>
        </p:nvSpPr>
        <p:spPr>
          <a:xfrm>
            <a:off x="2011680" y="3429000"/>
            <a:ext cx="548640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1F6FB2"/>
                </a:solidFill>
                <a:latin typeface="+mn-lt"/>
                <a:ea typeface="+mn-ea"/>
                <a:cs typeface="+mn-cs"/>
              </a:rPr>
              <a:t>YOU</a:t>
            </a:r>
            <a:endParaRPr lang="en-US" sz="16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011680" y="3794760"/>
            <a:ext cx="5486400" cy="1434846"/>
          </a:xfrm>
          <a:prstGeom prst="rect">
            <a:avLst/>
          </a:prstGeom>
          <a:noFill/>
          <a:ln/>
        </p:spPr>
        <p:txBody>
          <a:bodyPr wrap="square" lIns="25400" tIns="25400" rIns="25400" bIns="25400" rtlCol="0" anchor="t">
            <a:noAutofit/>
          </a:bodyPr>
          <a:lstStyle/>
          <a:p>
            <a:pPr algn="l" indent="0" marL="0">
              <a:spcAft>
                <a:spcPts val="400"/>
              </a:spcAft>
              <a:buNone/>
            </a:pPr>
            <a:r>
              <a:rPr lang="en-US" sz="1725" dirty="0">
                <a:solidFill>
                  <a:srgbClr val="000000"/>
                </a:solidFill>
                <a:latin typeface="+mn-lt"/>
                <a:ea typeface="+mn-ea"/>
                <a:cs typeface="+mn-cs"/>
              </a:rPr>
              <a:t>testUDLHandCalc fails: expected 2.4000e-03, got 2.4000e-06. Output below. Find the cause and explain it before changing code.</a:t>
            </a:r>
            <a:endParaRPr lang="en-US" sz="1725" dirty="0"/>
          </a:p>
          <a:p>
            <a:pPr algn="l" indent="0" marL="0">
              <a:spcAft>
                <a:spcPts val="400"/>
              </a:spcAft>
              <a:buNone/>
            </a:pPr>
            <a:r>
              <a:rPr lang="en-US" sz="1725" dirty="0">
                <a:solidFill>
                  <a:srgbClr val="404040"/>
                </a:solidFill>
                <a:latin typeface="+mn-lt"/>
                <a:ea typeface="+mn-ea"/>
                <a:cs typeface="+mn-cs"/>
              </a:rPr>
              <a:t>[paste MATLAB output]</a:t>
            </a:r>
            <a:endParaRPr lang="en-US" sz="1725"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5549646"/>
            <a:ext cx="5852160" cy="1097280"/>
          </a:xfrm>
          <a:prstGeom prst="rect">
            <a:avLst/>
          </a:prstGeom>
          <a:noFill/>
          <a:ln/>
        </p:spPr>
        <p:txBody>
          <a:bodyPr wrap="square" lIns="25400" tIns="25400" rIns="25400" bIns="25400" rtlCol="0" anchor="t">
            <a:noAutofit/>
          </a:bodyPr>
          <a:lstStyle/>
          <a:p>
            <a:pPr algn="l" indent="0" marL="0">
              <a:buNone/>
            </a:pPr>
            <a:r>
              <a:rPr lang="en-US" sz="1875" dirty="0">
                <a:solidFill>
                  <a:srgbClr val="404040"/>
                </a:solidFill>
                <a:latin typeface="+mn-lt"/>
                <a:ea typeface="+mn-ea"/>
                <a:cs typeface="+mn-cs"/>
              </a:rPr>
              <a:t>The agent pushes a new commit to the same branch. Fetch, rerun, retest.</a:t>
            </a:r>
            <a:endParaRPr lang="en-US" sz="1875"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7818120" y="210312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If it passes</a:t>
            </a:r>
            <a:endParaRPr lang="en-US" sz="21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7818120" y="260604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8348472" y="2606040"/>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Merge the PR on GitHub.</a:t>
            </a:r>
            <a:endParaRPr lang="en-US" sz="1875"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7818120" y="312878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8348472" y="3128784"/>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 xml:space="preserve">GitHub Desktop: switch to main, </a:t>
            </a:r>
            <a:r>
              <a:rPr lang="en-US" sz="1875" b="1" dirty="0">
                <a:solidFill>
                  <a:srgbClr val="000000"/>
                </a:solidFill>
                <a:latin typeface="+mn-lt"/>
                <a:ea typeface="+mn-ea"/>
                <a:cs typeface="+mn-cs"/>
              </a:rPr>
              <a:t>Pull origin</a:t>
            </a:r>
            <a:r>
              <a:rPr lang="en-US" sz="1875" dirty="0">
                <a:solidFill>
                  <a:srgbClr val="000000"/>
                </a:solidFill>
                <a:latin typeface="+mn-lt"/>
                <a:ea typeface="+mn-ea"/>
                <a:cs typeface="+mn-cs"/>
              </a:rPr>
              <a:t>.</a:t>
            </a:r>
            <a:endParaRPr lang="en-US" sz="1875" dirty="0"/>
          </a:p>
        </p:txBody>
      </p:sp>
      <p:sp xmlns:p="http://schemas.openxmlformats.org/presentationml/2006/main" xmlns:a="http://schemas.openxmlformats.org/drawingml/2006/main" xmlns:r="http://schemas.openxmlformats.org/officeDocument/2006/relationships">
        <p:nvSpPr>
          <p:cNvPr id="16" name="Text 33"/>
          <p:cNvSpPr txBox="1"/>
          <p:nvPr/>
        </p:nvSpPr>
        <p:spPr>
          <a:xfrm>
            <a:off x="7818120" y="3945672"/>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8348472" y="3945672"/>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Start a new session for the next requirement.</a:t>
            </a:r>
            <a:endParaRPr lang="en-US" sz="1875"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7818120" y="4762560"/>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8348472" y="4762560"/>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875" dirty="0">
                <a:solidFill>
                  <a:srgbClr val="000000"/>
                </a:solidFill>
                <a:latin typeface="+mn-lt"/>
                <a:ea typeface="+mn-ea"/>
                <a:cs typeface="+mn-cs"/>
              </a:rPr>
              <a:t>Add a rule to CLAUDE.md for any mistake the agent made twice.</a:t>
            </a:r>
            <a:endParaRPr lang="en-US" sz="1875" dirty="0"/>
          </a:p>
        </p:txBody>
      </p:sp>
      <p:sp xmlns:p="http://schemas.openxmlformats.org/presentationml/2006/main" xmlns:a="http://schemas.openxmlformats.org/drawingml/2006/main" xmlns:r="http://schemas.openxmlformats.org/officeDocument/2006/relationships">
        <p:nvSpPr>
          <p:cNvPr id="20" name="Nav highlight"/>
          <p:cNvSpPr txBox="1"/>
          <p:nvPr userDrawn="1"/>
        </p:nvSpPr>
        <p:spPr>
          <a:xfrm>
            <a:off x="133350" y="4286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Adjudicate</a:t>
            </a:r>
            <a:endParaRPr lang="en-US" sz="1800" b="1" dirty="0"/>
          </a:p>
        </p:txBody>
      </p:sp>
      <p:sp xmlns:p="http://schemas.openxmlformats.org/presentationml/2006/main" xmlns:a="http://schemas.openxmlformats.org/drawingml/2006/main" xmlns:r="http://schemas.openxmlformats.org/officeDocument/2006/relationships">
        <p:nvSpPr>
          <p:cNvPr id="2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2"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Common Failure Modes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65176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242316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Failure</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4462272" y="1572768"/>
            <a:ext cx="484632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4636008" y="1705356"/>
            <a:ext cx="461772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beam-calc example</a:t>
            </a:r>
            <a:endParaRPr lang="en-US" sz="1800" dirty="0"/>
          </a:p>
        </p:txBody>
      </p:sp>
      <p:sp xmlns:p="http://schemas.openxmlformats.org/presentationml/2006/main" xmlns:a="http://schemas.openxmlformats.org/drawingml/2006/main" xmlns:r="http://schemas.openxmlformats.org/officeDocument/2006/relationships">
        <p:nvSpPr>
          <p:cNvPr id="7" name="Shape 24"/>
          <p:cNvSpPr/>
          <p:nvPr/>
        </p:nvSpPr>
        <p:spPr>
          <a:xfrm>
            <a:off x="9308592" y="1572768"/>
            <a:ext cx="4178808"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5"/>
          <p:cNvSpPr txBox="1"/>
          <p:nvPr/>
        </p:nvSpPr>
        <p:spPr>
          <a:xfrm>
            <a:off x="9482328" y="1705356"/>
            <a:ext cx="39502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How you catch it</a:t>
            </a:r>
            <a:endParaRPr lang="en-US" sz="18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984248" y="231343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Wrong formula</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1810512" y="3072384"/>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1" name="Text 28"/>
          <p:cNvSpPr txBox="1"/>
          <p:nvPr/>
        </p:nvSpPr>
        <p:spPr>
          <a:xfrm>
            <a:off x="4636008" y="2313432"/>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w L⁴ / (3 E I): the point-load denominator reused</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4462272" y="3072384"/>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3" name="Text 30"/>
          <p:cNvSpPr txBox="1"/>
          <p:nvPr/>
        </p:nvSpPr>
        <p:spPr>
          <a:xfrm>
            <a:off x="9482328" y="2313432"/>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Hand calc; the 3/8 ratio</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9308592" y="3072384"/>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Text 32"/>
          <p:cNvSpPr txBox="1"/>
          <p:nvPr/>
        </p:nvSpPr>
        <p:spPr>
          <a:xfrm>
            <a:off x="1984248" y="321868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Unit slip</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3698748"/>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4636008" y="3218688"/>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Section entered in mm in an SI file</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4462272" y="3698748"/>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9" name="Text 36"/>
          <p:cNvSpPr txBox="1"/>
          <p:nvPr/>
        </p:nvSpPr>
        <p:spPr>
          <a:xfrm>
            <a:off x="9482328" y="3218688"/>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Result off by a power of 10</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9308592" y="3698748"/>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Text 38"/>
          <p:cNvSpPr txBox="1"/>
          <p:nvPr/>
        </p:nvSpPr>
        <p:spPr>
          <a:xfrm>
            <a:off x="1984248" y="384505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Weakened test</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1810512" y="4604004"/>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3" name="Text 40"/>
          <p:cNvSpPr txBox="1"/>
          <p:nvPr/>
        </p:nvSpPr>
        <p:spPr>
          <a:xfrm>
            <a:off x="4636008" y="3845052"/>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Expected value or tolerance edited until the test passes</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4462272" y="4604004"/>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5" name="Text 42"/>
          <p:cNvSpPr txBox="1"/>
          <p:nvPr/>
        </p:nvSpPr>
        <p:spPr>
          <a:xfrm>
            <a:off x="9482328" y="3845052"/>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 test diffs line by line</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9308592" y="4604004"/>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7" name="Text 44"/>
          <p:cNvSpPr txBox="1"/>
          <p:nvPr/>
        </p:nvSpPr>
        <p:spPr>
          <a:xfrm>
            <a:off x="1984248" y="475030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Missing toolbox</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5509260"/>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9" name="Text 46"/>
          <p:cNvSpPr txBox="1"/>
          <p:nvPr/>
        </p:nvSpPr>
        <p:spPr>
          <a:xfrm>
            <a:off x="4636008" y="4750308"/>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Calls a function from a toolbox you don’t have</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4462272" y="5509260"/>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1" name="Text 48"/>
          <p:cNvSpPr txBox="1"/>
          <p:nvPr/>
        </p:nvSpPr>
        <p:spPr>
          <a:xfrm>
            <a:off x="9482328" y="4750308"/>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Run it; AGENTS.md toolbox rule</a:t>
            </a:r>
            <a:endParaRPr lang="en-US" sz="1800" dirty="0"/>
          </a:p>
        </p:txBody>
      </p:sp>
      <p:sp xmlns:p="http://schemas.openxmlformats.org/presentationml/2006/main" xmlns:a="http://schemas.openxmlformats.org/drawingml/2006/main" xmlns:r="http://schemas.openxmlformats.org/officeDocument/2006/relationships">
        <p:nvSpPr>
          <p:cNvPr id="32" name="Shape 49"/>
          <p:cNvSpPr/>
          <p:nvPr/>
        </p:nvSpPr>
        <p:spPr>
          <a:xfrm>
            <a:off x="9308592" y="5509260"/>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3" name="Text 50"/>
          <p:cNvSpPr txBox="1"/>
          <p:nvPr/>
        </p:nvSpPr>
        <p:spPr>
          <a:xfrm>
            <a:off x="1984248" y="5655564"/>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Scope creep</a:t>
            </a:r>
            <a:endParaRPr lang="en-US" sz="1800" dirty="0"/>
          </a:p>
        </p:txBody>
      </p:sp>
      <p:sp xmlns:p="http://schemas.openxmlformats.org/presentationml/2006/main" xmlns:a="http://schemas.openxmlformats.org/drawingml/2006/main" xmlns:r="http://schemas.openxmlformats.org/officeDocument/2006/relationships">
        <p:nvSpPr>
          <p:cNvPr id="34" name="Shape 51"/>
          <p:cNvSpPr/>
          <p:nvPr/>
        </p:nvSpPr>
        <p:spPr>
          <a:xfrm>
            <a:off x="1810512" y="6414516"/>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5" name="Text 52"/>
          <p:cNvSpPr txBox="1"/>
          <p:nvPr/>
        </p:nvSpPr>
        <p:spPr>
          <a:xfrm>
            <a:off x="4636008" y="5655564"/>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Unrequested “cleanup” of beam.m</a:t>
            </a:r>
            <a:endParaRPr lang="en-US" sz="1800" dirty="0"/>
          </a:p>
        </p:txBody>
      </p:sp>
      <p:sp xmlns:p="http://schemas.openxmlformats.org/presentationml/2006/main" xmlns:a="http://schemas.openxmlformats.org/drawingml/2006/main" xmlns:r="http://schemas.openxmlformats.org/officeDocument/2006/relationships">
        <p:nvSpPr>
          <p:cNvPr id="36" name="Shape 53"/>
          <p:cNvSpPr/>
          <p:nvPr/>
        </p:nvSpPr>
        <p:spPr>
          <a:xfrm>
            <a:off x="4462272" y="6414516"/>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7" name="Text 54"/>
          <p:cNvSpPr txBox="1"/>
          <p:nvPr/>
        </p:nvSpPr>
        <p:spPr>
          <a:xfrm>
            <a:off x="9482328" y="5655564"/>
            <a:ext cx="39502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Diff touches lines you didn’t expect</a:t>
            </a:r>
            <a:endParaRPr lang="en-US" sz="1800" dirty="0"/>
          </a:p>
        </p:txBody>
      </p:sp>
      <p:sp xmlns:p="http://schemas.openxmlformats.org/presentationml/2006/main" xmlns:a="http://schemas.openxmlformats.org/drawingml/2006/main" xmlns:r="http://schemas.openxmlformats.org/officeDocument/2006/relationships">
        <p:nvSpPr>
          <p:cNvPr id="38" name="Shape 55"/>
          <p:cNvSpPr/>
          <p:nvPr/>
        </p:nvSpPr>
        <p:spPr>
          <a:xfrm>
            <a:off x="9308592" y="6414516"/>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9" name="Text 56"/>
          <p:cNvSpPr txBox="1"/>
          <p:nvPr/>
        </p:nvSpPr>
        <p:spPr>
          <a:xfrm>
            <a:off x="1984248" y="6560820"/>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Unverified claim</a:t>
            </a:r>
            <a:endParaRPr lang="en-US" sz="1800" dirty="0"/>
          </a:p>
        </p:txBody>
      </p:sp>
      <p:sp xmlns:p="http://schemas.openxmlformats.org/presentationml/2006/main" xmlns:a="http://schemas.openxmlformats.org/drawingml/2006/main" xmlns:r="http://schemas.openxmlformats.org/officeDocument/2006/relationships">
        <p:nvSpPr>
          <p:cNvPr id="40" name="Shape 57"/>
          <p:cNvSpPr/>
          <p:nvPr/>
        </p:nvSpPr>
        <p:spPr>
          <a:xfrm>
            <a:off x="1810512" y="7040880"/>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1" name="Text 58"/>
          <p:cNvSpPr txBox="1"/>
          <p:nvPr/>
        </p:nvSpPr>
        <p:spPr>
          <a:xfrm>
            <a:off x="4636008" y="6560820"/>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“All tests pass”</a:t>
            </a:r>
            <a:endParaRPr lang="en-US" sz="1800" dirty="0"/>
          </a:p>
        </p:txBody>
      </p:sp>
      <p:sp xmlns:p="http://schemas.openxmlformats.org/presentationml/2006/main" xmlns:a="http://schemas.openxmlformats.org/drawingml/2006/main" xmlns:r="http://schemas.openxmlformats.org/officeDocument/2006/relationships">
        <p:nvSpPr>
          <p:cNvPr id="42" name="Shape 59"/>
          <p:cNvSpPr/>
          <p:nvPr/>
        </p:nvSpPr>
        <p:spPr>
          <a:xfrm>
            <a:off x="4462272" y="7040880"/>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3" name="Text 60"/>
          <p:cNvSpPr txBox="1"/>
          <p:nvPr/>
        </p:nvSpPr>
        <p:spPr>
          <a:xfrm>
            <a:off x="9482328" y="6560820"/>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It can’t run MATLAB; you run them</a:t>
            </a:r>
            <a:endParaRPr lang="en-US" sz="1800" dirty="0"/>
          </a:p>
        </p:txBody>
      </p:sp>
      <p:sp xmlns:p="http://schemas.openxmlformats.org/presentationml/2006/main" xmlns:a="http://schemas.openxmlformats.org/drawingml/2006/main" xmlns:r="http://schemas.openxmlformats.org/officeDocument/2006/relationships">
        <p:nvSpPr>
          <p:cNvPr id="44" name="Shape 61"/>
          <p:cNvSpPr/>
          <p:nvPr/>
        </p:nvSpPr>
        <p:spPr>
          <a:xfrm>
            <a:off x="9308592" y="7040880"/>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5" name="Nav highlight"/>
          <p:cNvSpPr txBox="1"/>
          <p:nvPr userDrawn="1"/>
        </p:nvSpPr>
        <p:spPr>
          <a:xfrm>
            <a:off x="133350" y="4667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Pitfalls</a:t>
            </a:r>
            <a:endParaRPr lang="en-US" sz="1800" b="1" dirty="0"/>
          </a:p>
        </p:txBody>
      </p:sp>
      <p:sp xmlns:p="http://schemas.openxmlformats.org/presentationml/2006/main" xmlns:a="http://schemas.openxmlformats.org/drawingml/2006/main" xmlns:r="http://schemas.openxmlformats.org/officeDocument/2006/relationships">
        <p:nvSpPr>
          <p:cNvPr id="4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Documenting GenAI Use</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572768"/>
            <a:ext cx="11704320" cy="82296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mn-lt"/>
                <a:ea typeface="+mn-ea"/>
                <a:cs typeface="+mn-cs"/>
              </a:rPr>
              <a:t>Model the documentation you require of cadets. Follow current USAFA and department guidance for your course.</a:t>
            </a:r>
            <a:endParaRPr lang="en-US" sz="2025"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1810512" y="2468880"/>
            <a:ext cx="11704320" cy="41148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mn-lt"/>
                <a:ea typeface="+mn-ea"/>
                <a:cs typeface="+mn-cs"/>
              </a:rPr>
              <a:t xml:space="preserve">Keep an </a:t>
            </a:r>
            <a:r>
              <a:rPr lang="en-US" sz="2025" b="1" dirty="0">
                <a:solidFill>
                  <a:srgbClr val="000000"/>
                </a:solidFill>
                <a:latin typeface="+mn-lt"/>
                <a:ea typeface="+mn-ea"/>
                <a:cs typeface="+mn-cs"/>
              </a:rPr>
              <a:t>AI_LOG.md</a:t>
            </a:r>
            <a:r>
              <a:rPr lang="en-US" sz="2025" dirty="0">
                <a:solidFill>
                  <a:srgbClr val="000000"/>
                </a:solidFill>
                <a:latin typeface="+mn-lt"/>
                <a:ea typeface="+mn-ea"/>
                <a:cs typeface="+mn-cs"/>
              </a:rPr>
              <a:t xml:space="preserve"> in the repo, with one entry per session:</a:t>
            </a:r>
            <a:endParaRPr lang="en-US" sz="2025" dirty="0"/>
          </a:p>
        </p:txBody>
      </p:sp>
      <p:sp xmlns:p="http://schemas.openxmlformats.org/presentationml/2006/main" xmlns:a="http://schemas.openxmlformats.org/drawingml/2006/main" xmlns:r="http://schemas.openxmlformats.org/officeDocument/2006/relationships">
        <p:nvSpPr>
          <p:cNvPr id="5" name="Shape 22"/>
          <p:cNvSpPr/>
          <p:nvPr/>
        </p:nvSpPr>
        <p:spPr>
          <a:xfrm>
            <a:off x="1810512" y="3063240"/>
            <a:ext cx="11676888" cy="2987230"/>
          </a:xfrm>
          <a:prstGeom prst="roundRect">
            <a:avLst>
              <a:gd name="adj" fmla="val 6887"/>
            </a:avLst>
          </a:prstGeom>
          <a:solidFill>
            <a:srgbClr val="1E1E1E"/>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2039112" y="3291840"/>
            <a:ext cx="11219688" cy="2530030"/>
          </a:xfrm>
          <a:prstGeom prst="rect">
            <a:avLst/>
          </a:prstGeom>
          <a:noFill/>
          <a:ln/>
        </p:spPr>
        <p:txBody>
          <a:bodyPr wrap="none" lIns="25400" tIns="25400" rIns="25400" bIns="25400" rtlCol="0" anchor="t">
            <a:noAutofit/>
          </a:bodyPr>
          <a:lstStyle/>
          <a:p>
            <a:pPr algn="l" indent="0" marL="0">
              <a:lnSpc>
                <a:spcPct val="135000"/>
              </a:lnSpc>
              <a:buNone/>
            </a:pPr>
            <a:r>
              <a:rPr lang="en-US" sz="1725" dirty="0">
                <a:solidFill>
                  <a:srgbClr val="00B0F0"/>
                </a:solidFill>
                <a:latin typeface="Consolas" pitchFamily="34" charset="0"/>
                <a:ea typeface="Consolas" pitchFamily="34" charset="-122"/>
                <a:cs typeface="Consolas" pitchFamily="34" charset="-120"/>
              </a:rPr>
              <a:t>## 2026-10-14 · UDL tip deflection</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Session:      claude.ai/code link</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Prompts:      orientation, plan, implement, fix test units</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Agent made:   commits a1b2c3d, e4f5a6b (PR #2)</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I decided:    load acts over the full length</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Verified:     runtests passes; hand calc 2.40 mm; 3/8 ratio</a:t>
            </a:r>
            <a:endParaRPr lang="en-US" sz="1725" dirty="0"/>
          </a:p>
          <a:p>
            <a:pPr algn="l" indent="0" marL="0">
              <a:lnSpc>
                <a:spcPct val="135000"/>
              </a:lnSpc>
              <a:buNone/>
            </a:pPr>
            <a:r>
              <a:rPr lang="en-US" sz="1725" dirty="0">
                <a:solidFill>
                  <a:srgbClr val="D4D4D4"/>
                </a:solidFill>
                <a:latin typeface="Consolas" pitchFamily="34" charset="0"/>
                <a:ea typeface="Consolas" pitchFamily="34" charset="-122"/>
                <a:cs typeface="Consolas" pitchFamily="34" charset="-120"/>
              </a:rPr>
              <a:t>Issue found:  test section entered in mm on first try</a:t>
            </a:r>
            <a:endParaRPr lang="en-US" sz="1725"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6400800"/>
            <a:ext cx="11704320" cy="411480"/>
          </a:xfrm>
          <a:prstGeom prst="rect">
            <a:avLst/>
          </a:prstGeom>
          <a:noFill/>
          <a:ln/>
        </p:spPr>
        <p:txBody>
          <a:bodyPr wrap="square" lIns="25400" tIns="25400" rIns="25400" bIns="25400" rtlCol="0" anchor="t">
            <a:noAutofit/>
          </a:bodyPr>
          <a:lstStyle/>
          <a:p>
            <a:pPr algn="l" indent="0" marL="0">
              <a:buNone/>
            </a:pPr>
            <a:r>
              <a:rPr lang="en-US" sz="1950" dirty="0">
                <a:solidFill>
                  <a:srgbClr val="404040"/>
                </a:solidFill>
                <a:latin typeface="+mn-lt"/>
                <a:ea typeface="+mn-ea"/>
                <a:cs typeface="+mn-cs"/>
              </a:rPr>
              <a:t>The commit history and PR discussion are also part of the record.</a:t>
            </a:r>
            <a:endParaRPr lang="en-US" sz="1950" dirty="0"/>
          </a:p>
        </p:txBody>
      </p:sp>
      <p:sp xmlns:p="http://schemas.openxmlformats.org/presentationml/2006/main" xmlns:a="http://schemas.openxmlformats.org/drawingml/2006/main" xmlns:r="http://schemas.openxmlformats.org/officeDocument/2006/relationships">
        <p:nvSpPr>
          <p:cNvPr id="8" name="Nav highlight"/>
          <p:cNvSpPr txBox="1"/>
          <p:nvPr userDrawn="1"/>
        </p:nvSpPr>
        <p:spPr>
          <a:xfrm>
            <a:off x="133350" y="5048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GenAI Use</a:t>
            </a:r>
            <a:endParaRPr lang="en-US" sz="1800" b="1" dirty="0"/>
          </a:p>
        </p:txBody>
      </p:sp>
      <p:sp xmlns:p="http://schemas.openxmlformats.org/presentationml/2006/main" xmlns:a="http://schemas.openxmlformats.org/drawingml/2006/main" xmlns:r="http://schemas.openxmlformats.org/officeDocument/2006/relationships">
        <p:nvSpPr>
          <p:cNvPr id="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7: Your Own Repo</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1</a:t>
            </a:r>
            <a:endParaRPr lang="en-US" sz="22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103120"/>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Open your Agent-Ready repo from Lesson 1.</a:t>
            </a:r>
            <a:endParaRPr lang="en-US" sz="19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2646774"/>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2</a:t>
            </a:r>
            <a:endParaRPr lang="en-US" sz="225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2646774"/>
            <a:ext cx="605332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Write one small requirement </a:t>
            </a:r>
            <a:r>
              <a:rPr lang="en-US" sz="1950" b="1" dirty="0">
                <a:solidFill>
                  <a:srgbClr val="000000"/>
                </a:solidFill>
                <a:latin typeface="+mn-lt"/>
                <a:ea typeface="+mn-ea"/>
                <a:cs typeface="+mn-cs"/>
              </a:rPr>
              <a:t>and how you’ll verify it</a:t>
            </a:r>
            <a:r>
              <a:rPr lang="en-US" sz="1950" dirty="0">
                <a:solidFill>
                  <a:srgbClr val="000000"/>
                </a:solidFill>
                <a:latin typeface="+mn-lt"/>
                <a:ea typeface="+mn-ea"/>
                <a:cs typeface="+mn-cs"/>
              </a:rPr>
              <a:t>, before opening a session.</a:t>
            </a:r>
            <a:endParaRPr lang="en-US" sz="195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3496337"/>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3</a:t>
            </a:r>
            <a:endParaRPr lang="en-US" sz="22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3496337"/>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 xml:space="preserve">Add CLAUDE.md, or run </a:t>
            </a:r>
            <a:r>
              <a:rPr lang="en-US" sz="1950" b="1" dirty="0">
                <a:solidFill>
                  <a:srgbClr val="000000"/>
                </a:solidFill>
                <a:latin typeface="+mn-lt"/>
                <a:ea typeface="+mn-ea"/>
                <a:cs typeface="+mn-cs"/>
              </a:rPr>
              <a:t>/init</a:t>
            </a:r>
            <a:r>
              <a:rPr lang="en-US" sz="1950" dirty="0">
                <a:solidFill>
                  <a:srgbClr val="000000"/>
                </a:solidFill>
                <a:latin typeface="+mn-lt"/>
                <a:ea typeface="+mn-ea"/>
                <a:cs typeface="+mn-cs"/>
              </a:rPr>
              <a:t xml:space="preserve"> and correct it.</a:t>
            </a:r>
            <a:endParaRPr lang="en-US" sz="19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4039991"/>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4</a:t>
            </a:r>
            <a:endParaRPr lang="en-US" sz="225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2340864" y="4039991"/>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Orient → plan → implement.</a:t>
            </a:r>
            <a:endParaRPr lang="en-US" sz="195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1810512" y="4583644"/>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5</a:t>
            </a:r>
            <a:endParaRPr lang="en-US" sz="225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2340864" y="4583644"/>
            <a:ext cx="6053328" cy="703259"/>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Review the PR and test it yourself. Merge only if it passes.</a:t>
            </a:r>
            <a:endParaRPr lang="en-US" sz="195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1810512" y="5433208"/>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50" b="1" dirty="0">
                <a:solidFill>
                  <a:srgbClr val="1F6FB2"/>
                </a:solidFill>
                <a:latin typeface="+mn-lt"/>
                <a:ea typeface="+mn-ea"/>
                <a:cs typeface="+mn-cs"/>
              </a:rPr>
              <a:t>6</a:t>
            </a:r>
            <a:endParaRPr lang="en-US" sz="2250" dirty="0"/>
          </a:p>
        </p:txBody>
      </p:sp>
      <p:sp xmlns:p="http://schemas.openxmlformats.org/presentationml/2006/main" xmlns:a="http://schemas.openxmlformats.org/drawingml/2006/main" xmlns:r="http://schemas.openxmlformats.org/officeDocument/2006/relationships">
        <p:nvSpPr>
          <p:cNvPr id="16" name="Text 33"/>
          <p:cNvSpPr txBox="1"/>
          <p:nvPr/>
        </p:nvSpPr>
        <p:spPr>
          <a:xfrm>
            <a:off x="2340864" y="5433208"/>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50" dirty="0">
                <a:solidFill>
                  <a:srgbClr val="000000"/>
                </a:solidFill>
                <a:latin typeface="+mn-lt"/>
                <a:ea typeface="+mn-ea"/>
                <a:cs typeface="+mn-cs"/>
              </a:rPr>
              <a:t>Add an entry to AI_LOG.md.</a:t>
            </a:r>
            <a:endParaRPr lang="en-US" sz="1950" dirty="0"/>
          </a:p>
        </p:txBody>
      </p:sp>
      <p:sp xmlns:p="http://schemas.openxmlformats.org/presentationml/2006/main" xmlns:a="http://schemas.openxmlformats.org/drawingml/2006/main" xmlns:r="http://schemas.openxmlformats.org/officeDocument/2006/relationships">
        <p:nvSpPr>
          <p:cNvPr id="17" name="Shape 34"/>
          <p:cNvSpPr/>
          <p:nvPr/>
        </p:nvSpPr>
        <p:spPr>
          <a:xfrm>
            <a:off x="8778240" y="1527048"/>
            <a:ext cx="4709160" cy="342900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8" name="Text 35"/>
          <p:cNvSpPr txBox="1"/>
          <p:nvPr/>
        </p:nvSpPr>
        <p:spPr>
          <a:xfrm>
            <a:off x="8979408" y="1709928"/>
            <a:ext cx="434340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mn-lt"/>
                <a:ea typeface="+mn-ea"/>
                <a:cs typeface="+mn-cs"/>
              </a:rPr>
              <a:t>Good first requests</a:t>
            </a:r>
            <a:endParaRPr lang="en-US" sz="195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8979408" y="2167128"/>
            <a:ext cx="4343400" cy="2697480"/>
          </a:xfrm>
          <a:prstGeom prst="rect">
            <a:avLst/>
          </a:prstGeom>
          <a:noFill/>
          <a:ln/>
        </p:spPr>
        <p:txBody>
          <a:bodyPr wrap="square" lIns="25400" tIns="25400" rIns="25400" bIns="25400" rtlCol="0" anchor="t">
            <a:noAutofit/>
          </a:bodyPr>
          <a:lstStyle/>
          <a:p>
            <a:pPr algn="l" indent="0" marL="0">
              <a:spcAft>
                <a:spcPts val="800"/>
              </a:spcAft>
              <a:buNone/>
            </a:pPr>
            <a:r>
              <a:rPr lang="en-US" sz="1725" dirty="0">
                <a:solidFill>
                  <a:srgbClr val="000000"/>
                </a:solidFill>
                <a:latin typeface="+mn-lt"/>
                <a:ea typeface="+mn-ea"/>
                <a:cs typeface="+mn-cs"/>
              </a:rPr>
              <a:t>Add a test for an existing function</a:t>
            </a:r>
            <a:endParaRPr lang="en-US" sz="1725" dirty="0"/>
          </a:p>
          <a:p>
            <a:pPr algn="l" indent="0" marL="0">
              <a:spcAft>
                <a:spcPts val="800"/>
              </a:spcAft>
              <a:buNone/>
            </a:pPr>
            <a:r>
              <a:rPr lang="en-US" sz="1725" dirty="0">
                <a:solidFill>
                  <a:srgbClr val="000000"/>
                </a:solidFill>
                <a:latin typeface="+mn-lt"/>
                <a:ea typeface="+mn-ea"/>
                <a:cs typeface="+mn-cs"/>
              </a:rPr>
              <a:t>Add input checks with clear errors</a:t>
            </a:r>
            <a:endParaRPr lang="en-US" sz="1725" dirty="0"/>
          </a:p>
          <a:p>
            <a:pPr algn="l" indent="0" marL="0">
              <a:spcAft>
                <a:spcPts val="800"/>
              </a:spcAft>
              <a:buNone/>
            </a:pPr>
            <a:r>
              <a:rPr lang="en-US" sz="1725" dirty="0">
                <a:solidFill>
                  <a:srgbClr val="000000"/>
                </a:solidFill>
                <a:latin typeface="+mn-lt"/>
                <a:ea typeface="+mn-ea"/>
                <a:cs typeface="+mn-cs"/>
              </a:rPr>
              <a:t>Explain how to run it in the README</a:t>
            </a:r>
            <a:endParaRPr lang="en-US" sz="1725" dirty="0"/>
          </a:p>
          <a:p>
            <a:pPr algn="l" indent="0" marL="0">
              <a:spcAft>
                <a:spcPts val="800"/>
              </a:spcAft>
              <a:buNone/>
            </a:pPr>
            <a:r>
              <a:rPr lang="en-US" sz="1725" dirty="0">
                <a:solidFill>
                  <a:srgbClr val="000000"/>
                </a:solidFill>
                <a:latin typeface="+mn-lt"/>
                <a:ea typeface="+mn-ea"/>
                <a:cs typeface="+mn-cs"/>
              </a:rPr>
              <a:t>Replace hard-coded values with parameters</a:t>
            </a:r>
            <a:endParaRPr lang="en-US" sz="1725" dirty="0"/>
          </a:p>
        </p:txBody>
      </p:sp>
      <p:sp xmlns:p="http://schemas.openxmlformats.org/presentationml/2006/main" xmlns:a="http://schemas.openxmlformats.org/drawingml/2006/main" xmlns:r="http://schemas.openxmlformats.org/officeDocument/2006/relationships">
        <p:nvSpPr>
          <p:cNvPr id="20" name="Shape 37"/>
          <p:cNvSpPr/>
          <p:nvPr/>
        </p:nvSpPr>
        <p:spPr>
          <a:xfrm>
            <a:off x="8778240" y="5184648"/>
            <a:ext cx="4709160" cy="237744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21" name="Text 38"/>
          <p:cNvSpPr txBox="1"/>
          <p:nvPr/>
        </p:nvSpPr>
        <p:spPr>
          <a:xfrm>
            <a:off x="8979408" y="5367528"/>
            <a:ext cx="4343400" cy="384048"/>
          </a:xfrm>
          <a:prstGeom prst="rect">
            <a:avLst/>
          </a:prstGeom>
          <a:noFill/>
          <a:ln/>
        </p:spPr>
        <p:txBody>
          <a:bodyPr wrap="square" lIns="25400" tIns="25400" rIns="25400" bIns="25400" rtlCol="0" anchor="t">
            <a:noAutofit/>
          </a:bodyPr>
          <a:lstStyle/>
          <a:p>
            <a:pPr algn="l" indent="0" marL="0">
              <a:buNone/>
            </a:pPr>
            <a:r>
              <a:rPr lang="en-US" sz="1950" b="1" dirty="0">
                <a:solidFill>
                  <a:srgbClr val="152A47"/>
                </a:solidFill>
                <a:latin typeface="+mn-lt"/>
                <a:ea typeface="+mn-ea"/>
                <a:cs typeface="+mn-cs"/>
              </a:rPr>
              <a:t>Avoid for now</a:t>
            </a:r>
            <a:endParaRPr lang="en-US" sz="195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8979408" y="5824728"/>
            <a:ext cx="4343400" cy="1645920"/>
          </a:xfrm>
          <a:prstGeom prst="rect">
            <a:avLst/>
          </a:prstGeom>
          <a:noFill/>
          <a:ln/>
        </p:spPr>
        <p:txBody>
          <a:bodyPr wrap="square" lIns="25400" tIns="25400" rIns="25400" bIns="25400" rtlCol="0" anchor="t">
            <a:noAutofit/>
          </a:bodyPr>
          <a:lstStyle/>
          <a:p>
            <a:pPr algn="l" indent="0" marL="0">
              <a:spcAft>
                <a:spcPts val="800"/>
              </a:spcAft>
              <a:buNone/>
            </a:pPr>
            <a:r>
              <a:rPr lang="en-US" sz="1725" dirty="0">
                <a:solidFill>
                  <a:srgbClr val="000000"/>
                </a:solidFill>
                <a:latin typeface="+mn-lt"/>
                <a:ea typeface="+mn-ea"/>
                <a:cs typeface="+mn-cs"/>
              </a:rPr>
              <a:t>“Rewrite the whole project”</a:t>
            </a:r>
            <a:endParaRPr lang="en-US" sz="1725" dirty="0"/>
          </a:p>
          <a:p>
            <a:pPr algn="l" indent="0" marL="0">
              <a:spcAft>
                <a:spcPts val="800"/>
              </a:spcAft>
              <a:buNone/>
            </a:pPr>
            <a:r>
              <a:rPr lang="en-US" sz="1725" dirty="0">
                <a:solidFill>
                  <a:srgbClr val="000000"/>
                </a:solidFill>
                <a:latin typeface="+mn-lt"/>
                <a:ea typeface="+mn-ea"/>
                <a:cs typeface="+mn-cs"/>
              </a:rPr>
              <a:t>Anything you can’t check yourself</a:t>
            </a:r>
            <a:endParaRPr lang="en-US" sz="1725" dirty="0"/>
          </a:p>
        </p:txBody>
      </p:sp>
      <p:sp xmlns:p="http://schemas.openxmlformats.org/presentationml/2006/main" xmlns:a="http://schemas.openxmlformats.org/drawingml/2006/main" xmlns:r="http://schemas.openxmlformats.org/officeDocument/2006/relationships">
        <p:nvSpPr>
          <p:cNvPr id="23" name="Nav highlight"/>
          <p:cNvSpPr txBox="1"/>
          <p:nvPr userDrawn="1"/>
        </p:nvSpPr>
        <p:spPr>
          <a:xfrm>
            <a:off x="133350" y="5429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Your Repo</a:t>
            </a:r>
            <a:endParaRPr lang="en-US" sz="1800" b="1" dirty="0"/>
          </a:p>
        </p:txBody>
      </p:sp>
      <p:sp xmlns:p="http://schemas.openxmlformats.org/presentationml/2006/main" xmlns:a="http://schemas.openxmlformats.org/drawingml/2006/main" xmlns:r="http://schemas.openxmlformats.org/officeDocument/2006/relationships">
        <p:nvSpPr>
          <p:cNvPr id="2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Cadet Teams &amp; Agents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572768"/>
            <a:ext cx="11704320" cy="822960"/>
          </a:xfrm>
          <a:prstGeom prst="rect">
            <a:avLst/>
          </a:prstGeom>
          <a:noFill/>
          <a:ln/>
        </p:spPr>
        <p:txBody>
          <a:bodyPr wrap="square" lIns="25400" tIns="25400" rIns="25400" bIns="25400" rtlCol="0" anchor="t">
            <a:noAutofit/>
          </a:bodyPr>
          <a:lstStyle/>
          <a:p>
            <a:pPr algn="l" indent="0" marL="0">
              <a:buNone/>
            </a:pPr>
            <a:r>
              <a:rPr lang="en-US" sz="2025" dirty="0">
                <a:solidFill>
                  <a:srgbClr val="000000"/>
                </a:solidFill>
                <a:latin typeface="+mn-lt"/>
                <a:ea typeface="+mn-ea"/>
                <a:cs typeface="+mn-cs"/>
              </a:rPr>
              <a:t>An agent session belongs to one account; teammates can’t join it. The GitHub repo is the team’s shared workspace.</a:t>
            </a:r>
            <a:endParaRPr lang="en-US" sz="2025" dirty="0"/>
          </a:p>
        </p:txBody>
      </p:sp>
      <p:sp xmlns:p="http://schemas.openxmlformats.org/presentationml/2006/main" xmlns:a="http://schemas.openxmlformats.org/drawingml/2006/main" xmlns:r="http://schemas.openxmlformats.org/officeDocument/2006/relationships">
        <p:nvSpPr>
          <p:cNvPr id="4" name="Shape 21"/>
          <p:cNvSpPr/>
          <p:nvPr/>
        </p:nvSpPr>
        <p:spPr>
          <a:xfrm>
            <a:off x="1810512" y="2606040"/>
            <a:ext cx="5669280" cy="352044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5" name="Text 22"/>
          <p:cNvSpPr txBox="1"/>
          <p:nvPr/>
        </p:nvSpPr>
        <p:spPr>
          <a:xfrm>
            <a:off x="2011680" y="2743200"/>
            <a:ext cx="530352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OPTION A</a:t>
            </a:r>
            <a:endParaRPr lang="en-US" sz="165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011680" y="3090672"/>
            <a:ext cx="5303520" cy="438912"/>
          </a:xfrm>
          <a:prstGeom prst="rect">
            <a:avLst/>
          </a:prstGeom>
          <a:noFill/>
          <a:ln/>
        </p:spPr>
        <p:txBody>
          <a:bodyPr wrap="square" lIns="25400" tIns="25400" rIns="25400" bIns="25400" rtlCol="0" anchor="t">
            <a:noAutofit/>
          </a:bodyPr>
          <a:lstStyle/>
          <a:p>
            <a:pPr algn="l" indent="0" marL="0">
              <a:buNone/>
            </a:pPr>
            <a:r>
              <a:rPr lang="en-US" sz="2250" b="1" dirty="0">
                <a:solidFill>
                  <a:srgbClr val="152A47"/>
                </a:solidFill>
                <a:latin typeface="+mn-lt"/>
                <a:ea typeface="+mn-ea"/>
                <a:cs typeface="+mn-cs"/>
              </a:rPr>
              <a:t>One driver</a:t>
            </a:r>
            <a:endParaRPr lang="en-US" sz="225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011680" y="3657600"/>
            <a:ext cx="5303520" cy="2377440"/>
          </a:xfrm>
          <a:prstGeom prst="rect">
            <a:avLst/>
          </a:prstGeom>
          <a:noFill/>
          <a:ln/>
        </p:spPr>
        <p:txBody>
          <a:bodyPr wrap="square" lIns="25400" tIns="25400" rIns="25400" bIns="25400" rtlCol="0" anchor="t">
            <a:noAutofit/>
          </a:bodyPr>
          <a:lstStyle/>
          <a:p>
            <a:pPr algn="l" indent="0" marL="0">
              <a:spcAft>
                <a:spcPts val="800"/>
              </a:spcAft>
              <a:buNone/>
            </a:pPr>
            <a:r>
              <a:rPr lang="en-US" sz="1800" dirty="0">
                <a:solidFill>
                  <a:srgbClr val="000000"/>
                </a:solidFill>
                <a:latin typeface="+mn-lt"/>
                <a:ea typeface="+mn-ea"/>
                <a:cs typeface="+mn-cs"/>
              </a:rPr>
              <a:t>One cadet with agent access runs the sessions.</a:t>
            </a:r>
            <a:endParaRPr lang="en-US" sz="1800" dirty="0"/>
          </a:p>
          <a:p>
            <a:pPr algn="l" indent="0" marL="0">
              <a:spcAft>
                <a:spcPts val="800"/>
              </a:spcAft>
              <a:buNone/>
            </a:pPr>
            <a:r>
              <a:rPr lang="en-US" sz="1800" dirty="0">
                <a:solidFill>
                  <a:srgbClr val="000000"/>
                </a:solidFill>
                <a:latin typeface="+mn-lt"/>
                <a:ea typeface="+mn-ea"/>
                <a:cs typeface="+mn-cs"/>
              </a:rPr>
              <a:t>The others review plans and PRs, and test.</a:t>
            </a:r>
            <a:endParaRPr lang="en-US" sz="1800" dirty="0"/>
          </a:p>
          <a:p>
            <a:pPr algn="l" indent="0" marL="0">
              <a:spcAft>
                <a:spcPts val="800"/>
              </a:spcAft>
              <a:buNone/>
            </a:pPr>
            <a:r>
              <a:rPr lang="en-US" sz="1800" dirty="0">
                <a:solidFill>
                  <a:srgbClr val="000000"/>
                </a:solidFill>
                <a:latin typeface="+mn-lt"/>
                <a:ea typeface="+mn-ea"/>
                <a:cs typeface="+mn-cs"/>
              </a:rPr>
              <a:t>Rotate the driver each requirement.</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7818120" y="2606040"/>
            <a:ext cx="5669280" cy="352044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9" name="Text 26"/>
          <p:cNvSpPr txBox="1"/>
          <p:nvPr/>
        </p:nvSpPr>
        <p:spPr>
          <a:xfrm>
            <a:off x="8019288" y="2743200"/>
            <a:ext cx="5303520" cy="347472"/>
          </a:xfrm>
          <a:prstGeom prst="rect">
            <a:avLst/>
          </a:prstGeom>
          <a:noFill/>
          <a:ln/>
        </p:spPr>
        <p:txBody>
          <a:bodyPr wrap="square" lIns="25400" tIns="25400" rIns="25400" bIns="25400" rtlCol="0" anchor="t">
            <a:noAutofit/>
          </a:bodyPr>
          <a:lstStyle/>
          <a:p>
            <a:pPr algn="l" indent="0" marL="0">
              <a:buNone/>
            </a:pPr>
            <a:r>
              <a:rPr lang="en-US" sz="1650" b="1" dirty="0">
                <a:solidFill>
                  <a:srgbClr val="404040"/>
                </a:solidFill>
                <a:latin typeface="+mn-lt"/>
                <a:ea typeface="+mn-ea"/>
                <a:cs typeface="+mn-cs"/>
              </a:rPr>
              <a:t>OPTION B</a:t>
            </a:r>
            <a:endParaRPr lang="en-US" sz="165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8019288" y="3090672"/>
            <a:ext cx="5303520" cy="438912"/>
          </a:xfrm>
          <a:prstGeom prst="rect">
            <a:avLst/>
          </a:prstGeom>
          <a:noFill/>
          <a:ln/>
        </p:spPr>
        <p:txBody>
          <a:bodyPr wrap="square" lIns="25400" tIns="25400" rIns="25400" bIns="25400" rtlCol="0" anchor="t">
            <a:noAutofit/>
          </a:bodyPr>
          <a:lstStyle/>
          <a:p>
            <a:pPr algn="l" indent="0" marL="0">
              <a:buNone/>
            </a:pPr>
            <a:r>
              <a:rPr lang="en-US" sz="2250" b="1" dirty="0">
                <a:solidFill>
                  <a:srgbClr val="152A47"/>
                </a:solidFill>
                <a:latin typeface="+mn-lt"/>
                <a:ea typeface="+mn-ea"/>
                <a:cs typeface="+mn-cs"/>
              </a:rPr>
              <a:t>Parallel drivers</a:t>
            </a:r>
            <a:endParaRPr lang="en-US" sz="225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8019288" y="3657600"/>
            <a:ext cx="5303520" cy="2377440"/>
          </a:xfrm>
          <a:prstGeom prst="rect">
            <a:avLst/>
          </a:prstGeom>
          <a:noFill/>
          <a:ln/>
        </p:spPr>
        <p:txBody>
          <a:bodyPr wrap="square" lIns="25400" tIns="25400" rIns="25400" bIns="25400" rtlCol="0" anchor="t">
            <a:noAutofit/>
          </a:bodyPr>
          <a:lstStyle/>
          <a:p>
            <a:pPr algn="l" indent="0" marL="0">
              <a:spcAft>
                <a:spcPts val="800"/>
              </a:spcAft>
              <a:buNone/>
            </a:pPr>
            <a:r>
              <a:rPr lang="en-US" sz="1800" dirty="0">
                <a:solidFill>
                  <a:srgbClr val="000000"/>
                </a:solidFill>
                <a:latin typeface="+mn-lt"/>
                <a:ea typeface="+mn-ea"/>
                <a:cs typeface="+mn-cs"/>
              </a:rPr>
              <a:t>Each cadet runs sessions on their own requirement and branch.</a:t>
            </a:r>
            <a:endParaRPr lang="en-US" sz="1800" dirty="0"/>
          </a:p>
          <a:p>
            <a:pPr algn="l" indent="0" marL="0">
              <a:spcAft>
                <a:spcPts val="800"/>
              </a:spcAft>
              <a:buNone/>
            </a:pPr>
            <a:r>
              <a:rPr lang="en-US" sz="1800" dirty="0">
                <a:solidFill>
                  <a:srgbClr val="000000"/>
                </a:solidFill>
                <a:latin typeface="+mn-lt"/>
                <a:ea typeface="+mn-ea"/>
                <a:cs typeface="+mn-cs"/>
              </a:rPr>
              <a:t>Merge through PRs.</a:t>
            </a:r>
            <a:endParaRPr lang="en-US" sz="1800" dirty="0"/>
          </a:p>
          <a:p>
            <a:pPr algn="l" indent="0" marL="0">
              <a:spcAft>
                <a:spcPts val="800"/>
              </a:spcAft>
              <a:buNone/>
            </a:pPr>
            <a:r>
              <a:rPr lang="en-US" sz="1800" dirty="0">
                <a:solidFill>
                  <a:srgbClr val="000000"/>
                </a:solidFill>
                <a:latin typeface="+mn-lt"/>
                <a:ea typeface="+mn-ea"/>
                <a:cs typeface="+mn-cs"/>
              </a:rPr>
              <a:t>Don’t let two sessions edit the same function.</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6355080"/>
            <a:ext cx="11676888" cy="137160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3" name="Text 30"/>
          <p:cNvSpPr txBox="1"/>
          <p:nvPr/>
        </p:nvSpPr>
        <p:spPr>
          <a:xfrm>
            <a:off x="2057400" y="6355080"/>
            <a:ext cx="11247120" cy="1371600"/>
          </a:xfrm>
          <a:prstGeom prst="rect">
            <a:avLst/>
          </a:prstGeom>
          <a:noFill/>
          <a:ln/>
        </p:spPr>
        <p:txBody>
          <a:bodyPr wrap="square" lIns="25400" tIns="25400" rIns="25400" bIns="25400" rtlCol="0" anchor="ctr">
            <a:noAutofit/>
          </a:bodyPr>
          <a:lstStyle/>
          <a:p>
            <a:pPr algn="l" indent="0" marL="0">
              <a:spcAft>
                <a:spcPts val="600"/>
              </a:spcAft>
              <a:buNone/>
            </a:pPr>
            <a:r>
              <a:rPr lang="en-US" sz="1875" b="1" dirty="0">
                <a:solidFill>
                  <a:srgbClr val="FFFFFF"/>
                </a:solidFill>
                <a:latin typeface="+mn-lt"/>
                <a:ea typeface="+mn-ea"/>
                <a:cs typeface="+mn-cs"/>
              </a:rPr>
              <a:t>Grade the process:</a:t>
            </a:r>
            <a:r>
              <a:rPr lang="en-US" sz="1875" dirty="0">
                <a:solidFill>
                  <a:srgbClr val="FFFFFF"/>
                </a:solidFill>
                <a:latin typeface="+mn-lt"/>
                <a:ea typeface="+mn-ea"/>
                <a:cs typeface="+mn-cs"/>
              </a:rPr>
              <a:t xml:space="preserve"> requirement, plan, PR review, test evidence, AI_LOG.md.</a:t>
            </a:r>
            <a:endParaRPr lang="en-US" sz="1875" dirty="0"/>
          </a:p>
          <a:p>
            <a:pPr algn="l" indent="0" marL="0">
              <a:spcAft>
                <a:spcPts val="600"/>
              </a:spcAft>
              <a:buNone/>
            </a:pPr>
            <a:r>
              <a:rPr lang="en-US" sz="1875" dirty="0">
                <a:solidFill>
                  <a:srgbClr val="FFFFFF"/>
                </a:solidFill>
                <a:latin typeface="+mn-lt"/>
                <a:ea typeface="+mn-ea"/>
                <a:cs typeface="+mn-cs"/>
              </a:rPr>
              <a:t>Add every teammate as a repo collaborator. Never share agent account logins.</a:t>
            </a:r>
            <a:endParaRPr lang="en-US" sz="1875"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5810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Teaching</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Troubleshooting</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457200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434340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Symptom</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6382512" y="1572768"/>
            <a:ext cx="7104888"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6556248" y="1705356"/>
            <a:ext cx="687628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Fix</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984248" y="2304288"/>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Repo missing from the session list</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1810512" y="3054096"/>
            <a:ext cx="45720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9" name="Text 26"/>
          <p:cNvSpPr txBox="1"/>
          <p:nvPr/>
        </p:nvSpPr>
        <p:spPr>
          <a:xfrm>
            <a:off x="6556248" y="2304288"/>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Grant the Claude GitHub App access to that repo (GitHub › Settings › Applications).</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6382512" y="3054096"/>
            <a:ext cx="7104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1" name="Text 28"/>
          <p:cNvSpPr txBox="1"/>
          <p:nvPr/>
        </p:nvSpPr>
        <p:spPr>
          <a:xfrm>
            <a:off x="1984248" y="3191256"/>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 ignores your rules</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941064"/>
            <a:ext cx="45720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3" name="Text 30"/>
          <p:cNvSpPr txBox="1"/>
          <p:nvPr/>
        </p:nvSpPr>
        <p:spPr>
          <a:xfrm>
            <a:off x="6556248" y="3191256"/>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Check CLAUDE.md is at the repo root on the branch the session uses. Shorten it.</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6382512" y="3941064"/>
            <a:ext cx="7104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Text 32"/>
          <p:cNvSpPr txBox="1"/>
          <p:nvPr/>
        </p:nvSpPr>
        <p:spPr>
          <a:xfrm>
            <a:off x="1984248" y="4078224"/>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Agent’s branch not in GitHub Desktop</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4549140"/>
            <a:ext cx="45720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6556248" y="4078224"/>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Fetch origin first, then open the Current branch menu.</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6382512" y="4549140"/>
            <a:ext cx="7104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9" name="Text 36"/>
          <p:cNvSpPr txBox="1"/>
          <p:nvPr/>
        </p:nvSpPr>
        <p:spPr>
          <a:xfrm>
            <a:off x="1984248" y="4686300"/>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 says tests pass</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5157216"/>
            <a:ext cx="45720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Text 38"/>
          <p:cNvSpPr txBox="1"/>
          <p:nvPr/>
        </p:nvSpPr>
        <p:spPr>
          <a:xfrm>
            <a:off x="6556248" y="4686300"/>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It can’t run MATLAB. Run runtests('tests') yourself.</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6382512" y="5157216"/>
            <a:ext cx="7104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3" name="Text 40"/>
          <p:cNvSpPr txBox="1"/>
          <p:nvPr/>
        </p:nvSpPr>
        <p:spPr>
          <a:xfrm>
            <a:off x="1984248" y="5294376"/>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PR changes lines you didn’t ask for</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1810512" y="6044184"/>
            <a:ext cx="45720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5" name="Text 42"/>
          <p:cNvSpPr txBox="1"/>
          <p:nvPr/>
        </p:nvSpPr>
        <p:spPr>
          <a:xfrm>
            <a:off x="6556248" y="5294376"/>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Comment on those lines in the PR, or ask the agent to revert them.</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6382512" y="6044184"/>
            <a:ext cx="7104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7" name="Text 44"/>
          <p:cNvSpPr txBox="1"/>
          <p:nvPr/>
        </p:nvSpPr>
        <p:spPr>
          <a:xfrm>
            <a:off x="1984248" y="6181344"/>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Answers drift in a long session</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6652260"/>
            <a:ext cx="457200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9" name="Text 46"/>
          <p:cNvSpPr txBox="1"/>
          <p:nvPr/>
        </p:nvSpPr>
        <p:spPr>
          <a:xfrm>
            <a:off x="6556248" y="6181344"/>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Merge what works, then start a new session per requirement.</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6382512" y="6652260"/>
            <a:ext cx="710488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1"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3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Quick Reference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38328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315468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To…</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5193792" y="1572768"/>
            <a:ext cx="8293608"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5367528" y="1705356"/>
            <a:ext cx="80650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Prompt or action</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984248" y="2295144"/>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Orient the agent</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1810512" y="2756916"/>
            <a:ext cx="33832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9" name="Text 26"/>
          <p:cNvSpPr txBox="1"/>
          <p:nvPr/>
        </p:nvSpPr>
        <p:spPr>
          <a:xfrm>
            <a:off x="5367528" y="2295144"/>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 CLAUDE.md and … Summarize … Don’t change any files.”</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5193792" y="2756916"/>
            <a:ext cx="8293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1" name="Text 28"/>
          <p:cNvSpPr txBox="1"/>
          <p:nvPr/>
        </p:nvSpPr>
        <p:spPr>
          <a:xfrm>
            <a:off x="1984248" y="2884932"/>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Get a plan</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625596"/>
            <a:ext cx="33832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3" name="Text 30"/>
          <p:cNvSpPr txBox="1"/>
          <p:nvPr/>
        </p:nvSpPr>
        <p:spPr>
          <a:xfrm>
            <a:off x="5367528" y="2884932"/>
            <a:ext cx="80650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“Don’t write code yet. Give me a plan: files, functions, and questions.”</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5193792" y="3625596"/>
            <a:ext cx="8293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Text 32"/>
          <p:cNvSpPr txBox="1"/>
          <p:nvPr/>
        </p:nvSpPr>
        <p:spPr>
          <a:xfrm>
            <a:off x="1984248" y="3753612"/>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Approve the plan</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4215384"/>
            <a:ext cx="33832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5367528" y="3753612"/>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“Plan approved. Implement it and commit.”</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5193792" y="4215384"/>
            <a:ext cx="8293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9" name="Text 36"/>
          <p:cNvSpPr txBox="1"/>
          <p:nvPr/>
        </p:nvSpPr>
        <p:spPr>
          <a:xfrm>
            <a:off x="1984248" y="4343400"/>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Report a failure</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5084064"/>
            <a:ext cx="33832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Text 38"/>
          <p:cNvSpPr txBox="1"/>
          <p:nvPr/>
        </p:nvSpPr>
        <p:spPr>
          <a:xfrm>
            <a:off x="5367528" y="4343400"/>
            <a:ext cx="80650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“Observed …; expected …. Output below. Find the cause and explain it before changing code.”</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5193792" y="5084064"/>
            <a:ext cx="8293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3" name="Text 40"/>
          <p:cNvSpPr txBox="1"/>
          <p:nvPr/>
        </p:nvSpPr>
        <p:spPr>
          <a:xfrm>
            <a:off x="1984248" y="5212080"/>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Draft CLAUDE.md</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1810512" y="5673852"/>
            <a:ext cx="33832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5" name="Text 42"/>
          <p:cNvSpPr txBox="1"/>
          <p:nvPr/>
        </p:nvSpPr>
        <p:spPr>
          <a:xfrm>
            <a:off x="5367528" y="5212080"/>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/init in a session, then correct it</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5193792" y="5673852"/>
            <a:ext cx="8293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7" name="Text 44"/>
          <p:cNvSpPr txBox="1"/>
          <p:nvPr/>
        </p:nvSpPr>
        <p:spPr>
          <a:xfrm>
            <a:off x="1984248" y="5801868"/>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Open a PR</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6263640"/>
            <a:ext cx="33832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9" name="Text 46"/>
          <p:cNvSpPr txBox="1"/>
          <p:nvPr/>
        </p:nvSpPr>
        <p:spPr>
          <a:xfrm>
            <a:off x="5367528" y="5801868"/>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Create PR in the session</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5193792" y="6263640"/>
            <a:ext cx="8293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1" name="Text 48"/>
          <p:cNvSpPr txBox="1"/>
          <p:nvPr/>
        </p:nvSpPr>
        <p:spPr>
          <a:xfrm>
            <a:off x="1984248" y="6391656"/>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Test the agent’s branch</a:t>
            </a:r>
            <a:endParaRPr lang="en-US" sz="1800" dirty="0"/>
          </a:p>
        </p:txBody>
      </p:sp>
      <p:sp xmlns:p="http://schemas.openxmlformats.org/presentationml/2006/main" xmlns:a="http://schemas.openxmlformats.org/drawingml/2006/main" xmlns:r="http://schemas.openxmlformats.org/officeDocument/2006/relationships">
        <p:nvSpPr>
          <p:cNvPr id="32" name="Shape 49"/>
          <p:cNvSpPr/>
          <p:nvPr/>
        </p:nvSpPr>
        <p:spPr>
          <a:xfrm>
            <a:off x="1810512" y="6853428"/>
            <a:ext cx="33832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3" name="Text 50"/>
          <p:cNvSpPr txBox="1"/>
          <p:nvPr/>
        </p:nvSpPr>
        <p:spPr>
          <a:xfrm>
            <a:off x="5367528" y="6391656"/>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Fetch origin › Current branch › claude/…</a:t>
            </a:r>
            <a:endParaRPr lang="en-US" sz="1800" dirty="0"/>
          </a:p>
        </p:txBody>
      </p:sp>
      <p:sp xmlns:p="http://schemas.openxmlformats.org/presentationml/2006/main" xmlns:a="http://schemas.openxmlformats.org/drawingml/2006/main" xmlns:r="http://schemas.openxmlformats.org/officeDocument/2006/relationships">
        <p:nvSpPr>
          <p:cNvPr id="34" name="Shape 51"/>
          <p:cNvSpPr/>
          <p:nvPr/>
        </p:nvSpPr>
        <p:spPr>
          <a:xfrm>
            <a:off x="5193792" y="6853428"/>
            <a:ext cx="8293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5" name="Text 52"/>
          <p:cNvSpPr txBox="1"/>
          <p:nvPr/>
        </p:nvSpPr>
        <p:spPr>
          <a:xfrm>
            <a:off x="1984248" y="6981444"/>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Finish</a:t>
            </a:r>
            <a:endParaRPr lang="en-US" sz="1800" dirty="0"/>
          </a:p>
        </p:txBody>
      </p:sp>
      <p:sp xmlns:p="http://schemas.openxmlformats.org/presentationml/2006/main" xmlns:a="http://schemas.openxmlformats.org/drawingml/2006/main" xmlns:r="http://schemas.openxmlformats.org/officeDocument/2006/relationships">
        <p:nvSpPr>
          <p:cNvPr id="36" name="Shape 53"/>
          <p:cNvSpPr/>
          <p:nvPr/>
        </p:nvSpPr>
        <p:spPr>
          <a:xfrm>
            <a:off x="1810512" y="7443216"/>
            <a:ext cx="338328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7" name="Text 54"/>
          <p:cNvSpPr txBox="1"/>
          <p:nvPr/>
        </p:nvSpPr>
        <p:spPr>
          <a:xfrm>
            <a:off x="5367528" y="6981444"/>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Merge the PR, switch to main, Pull origin</a:t>
            </a:r>
            <a:endParaRPr lang="en-US" sz="1800" dirty="0"/>
          </a:p>
        </p:txBody>
      </p:sp>
      <p:sp xmlns:p="http://schemas.openxmlformats.org/presentationml/2006/main" xmlns:a="http://schemas.openxmlformats.org/drawingml/2006/main" xmlns:r="http://schemas.openxmlformats.org/officeDocument/2006/relationships">
        <p:nvSpPr>
          <p:cNvPr id="38" name="Shape 55"/>
          <p:cNvSpPr/>
          <p:nvPr/>
        </p:nvSpPr>
        <p:spPr>
          <a:xfrm>
            <a:off x="5193792" y="7443216"/>
            <a:ext cx="82936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9"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4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Knowledge Check</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719072"/>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1</a:t>
            </a:r>
            <a:endParaRPr lang="en-US" sz="2400"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2340864" y="1719072"/>
            <a:ext cx="11155680" cy="765429"/>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What can a coding agent do that a chat LLM can’t, and how does that change your role?</a:t>
            </a:r>
            <a:endParaRPr lang="en-US" sz="2175"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822829"/>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2</a:t>
            </a:r>
            <a:endParaRPr lang="en-US" sz="24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822829"/>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What belongs in CLAUDE.md, and how does it relate to AGENTS.md?</a:t>
            </a:r>
            <a:endParaRPr lang="en-US" sz="2175"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3627501"/>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3</a:t>
            </a:r>
            <a:endParaRPr lang="en-US" sz="24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3627501"/>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Why ask for a plan before any code is written?</a:t>
            </a:r>
            <a:endParaRPr lang="en-US" sz="2175"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4432173"/>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4</a:t>
            </a:r>
            <a:endParaRPr lang="en-US" sz="24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4432173"/>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The agent reports “All tests pass.” What do you do?</a:t>
            </a:r>
            <a:endParaRPr lang="en-US" sz="2175"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5236845"/>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5</a:t>
            </a:r>
            <a:endParaRPr lang="en-US" sz="24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2340864" y="5236845"/>
            <a:ext cx="11155680" cy="428434"/>
          </a:xfrm>
          <a:prstGeom prst="rect">
            <a:avLst/>
          </a:prstGeom>
          <a:noFill/>
          <a:ln/>
        </p:spPr>
        <p:txBody>
          <a:bodyPr wrap="square" lIns="25400" tIns="25400" rIns="25400" bIns="25400" rtlCol="0" anchor="t">
            <a:noAutofit/>
          </a:bodyPr>
          <a:lstStyle/>
          <a:p>
            <a:pPr algn="l" indent="0" marL="0">
              <a:buNone/>
            </a:pPr>
            <a:r>
              <a:rPr lang="en-US" sz="2175" dirty="0">
                <a:solidFill>
                  <a:srgbClr val="000000"/>
                </a:solidFill>
                <a:latin typeface="+mn-lt"/>
                <a:ea typeface="+mn-ea"/>
                <a:cs typeface="+mn-cs"/>
              </a:rPr>
              <a:t>A PR changes a test’s expected value so the test passes. Merge it?</a:t>
            </a:r>
            <a:endParaRPr lang="en-US" sz="2175" dirty="0"/>
          </a:p>
        </p:txBody>
      </p:sp>
      <p:sp xmlns:p="http://schemas.openxmlformats.org/presentationml/2006/main" xmlns:a="http://schemas.openxmlformats.org/drawingml/2006/main" xmlns:r="http://schemas.openxmlformats.org/officeDocument/2006/relationships">
        <p:nvSpPr>
          <p:cNvPr id="13" name="Shape 30"/>
          <p:cNvSpPr/>
          <p:nvPr/>
        </p:nvSpPr>
        <p:spPr>
          <a:xfrm>
            <a:off x="1810512" y="6217920"/>
            <a:ext cx="11676888" cy="1143000"/>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14" name="Text 31"/>
          <p:cNvSpPr txBox="1"/>
          <p:nvPr/>
        </p:nvSpPr>
        <p:spPr>
          <a:xfrm>
            <a:off x="2057400" y="6217920"/>
            <a:ext cx="11338560" cy="1143000"/>
          </a:xfrm>
          <a:prstGeom prst="rect">
            <a:avLst/>
          </a:prstGeom>
          <a:noFill/>
          <a:ln/>
        </p:spPr>
        <p:txBody>
          <a:bodyPr wrap="square" lIns="25400" tIns="25400" rIns="25400" bIns="25400" rtlCol="0" anchor="ctr">
            <a:noAutofit/>
          </a:bodyPr>
          <a:lstStyle/>
          <a:p>
            <a:pPr algn="l" indent="0" marL="0">
              <a:buNone/>
            </a:pPr>
            <a:r>
              <a:rPr lang="en-US" sz="2025" b="1" dirty="0">
                <a:solidFill>
                  <a:srgbClr val="FFFFFF"/>
                </a:solidFill>
                <a:latin typeface="+mn-lt"/>
                <a:ea typeface="+mn-ea"/>
                <a:cs typeface="+mn-cs"/>
              </a:rPr>
              <a:t>Next: Lesson 3</a:t>
            </a:r>
            <a:r>
              <a:rPr lang="en-US" sz="2025" dirty="0">
                <a:solidFill>
                  <a:srgbClr val="FFFFFF"/>
                </a:solidFill>
                <a:latin typeface="+mn-lt"/>
                <a:ea typeface="+mn-ea"/>
                <a:cs typeface="+mn-cs"/>
              </a:rPr>
              <a:t xml:space="preserve"> · Agentic AI for course app development using GitHub Pages.</a:t>
            </a:r>
            <a:endParaRPr lang="en-US" sz="2025"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6191250"/>
            <a:ext cx="1442184"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theme/theme1.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Agentic AI for Engineering · Lesson 2</dc:title>
  <dc:creator>Agentic AI for Engineering</dc:creator>
</cp:coreProperties>
</file>